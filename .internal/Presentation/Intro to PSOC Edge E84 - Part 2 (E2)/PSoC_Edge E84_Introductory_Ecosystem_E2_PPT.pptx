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heme/theme2.xml" ContentType="application/vnd.openxmlformats-officedocument.them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heme/theme3.xml" ContentType="application/vnd.openxmlformats-officedocument.them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7BBF5748_C75B05ED.xml" ContentType="application/vnd.ms-powerpoint.comments+xml"/>
  <Override PartName="/ppt/comments/modernComment_7BBF5754_F7C57701.xml" ContentType="application/vnd.ms-powerpoint.comments+xml"/>
  <Override PartName="/ppt/comments/modernComment_7BBF5752_D8F952C7.xml" ContentType="application/vnd.ms-powerpoint.comments+xml"/>
  <Override PartName="/ppt/comments/modernComment_7BBF5750_D092CBC0.xml" ContentType="application/vnd.ms-powerpoint.comment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7" r:id="rId4"/>
  </p:sldMasterIdLst>
  <p:notesMasterIdLst>
    <p:notesMasterId r:id="rId58"/>
  </p:notesMasterIdLst>
  <p:handoutMasterIdLst>
    <p:handoutMasterId r:id="rId59"/>
  </p:handoutMasterIdLst>
  <p:sldIdLst>
    <p:sldId id="2076137255" r:id="rId5"/>
    <p:sldId id="2076137257" r:id="rId6"/>
    <p:sldId id="2076137258" r:id="rId7"/>
    <p:sldId id="2076137259" r:id="rId8"/>
    <p:sldId id="2076137260" r:id="rId9"/>
    <p:sldId id="2147480810" r:id="rId10"/>
    <p:sldId id="273" r:id="rId11"/>
    <p:sldId id="275" r:id="rId12"/>
    <p:sldId id="276" r:id="rId13"/>
    <p:sldId id="277" r:id="rId14"/>
    <p:sldId id="2076137261" r:id="rId15"/>
    <p:sldId id="2076137262" r:id="rId16"/>
    <p:sldId id="2076137263" r:id="rId17"/>
    <p:sldId id="2076137264" r:id="rId18"/>
    <p:sldId id="2076137265" r:id="rId19"/>
    <p:sldId id="2076137266" r:id="rId20"/>
    <p:sldId id="2076137267" r:id="rId21"/>
    <p:sldId id="2076137268" r:id="rId22"/>
    <p:sldId id="2076137269" r:id="rId23"/>
    <p:sldId id="2147480811" r:id="rId24"/>
    <p:sldId id="2147480812" r:id="rId25"/>
    <p:sldId id="2147480817" r:id="rId26"/>
    <p:sldId id="2147480818" r:id="rId27"/>
    <p:sldId id="2147480819" r:id="rId28"/>
    <p:sldId id="2076137270" r:id="rId29"/>
    <p:sldId id="2076137291" r:id="rId30"/>
    <p:sldId id="2076137292" r:id="rId31"/>
    <p:sldId id="2076137293" r:id="rId32"/>
    <p:sldId id="2076137294" r:id="rId33"/>
    <p:sldId id="2076137280" r:id="rId34"/>
    <p:sldId id="2076137281" r:id="rId35"/>
    <p:sldId id="2076137295" r:id="rId36"/>
    <p:sldId id="2147480827" r:id="rId37"/>
    <p:sldId id="2147480820" r:id="rId38"/>
    <p:sldId id="2147480823" r:id="rId39"/>
    <p:sldId id="2147480824" r:id="rId40"/>
    <p:sldId id="2147480825" r:id="rId41"/>
    <p:sldId id="2076137297" r:id="rId42"/>
    <p:sldId id="2147480826" r:id="rId43"/>
    <p:sldId id="2147480813" r:id="rId44"/>
    <p:sldId id="2147480814" r:id="rId45"/>
    <p:sldId id="2147480815" r:id="rId46"/>
    <p:sldId id="2147480816" r:id="rId47"/>
    <p:sldId id="2076137306" r:id="rId48"/>
    <p:sldId id="2076137307" r:id="rId49"/>
    <p:sldId id="2076137308" r:id="rId50"/>
    <p:sldId id="2076137309" r:id="rId51"/>
    <p:sldId id="2076137310" r:id="rId52"/>
    <p:sldId id="2076137311" r:id="rId53"/>
    <p:sldId id="2076137312" r:id="rId54"/>
    <p:sldId id="2076137314" r:id="rId55"/>
    <p:sldId id="2076137316" r:id="rId56"/>
    <p:sldId id="2076137317" r:id="rId57"/>
  </p:sldIdLst>
  <p:sldSz cx="12192000" cy="6858000"/>
  <p:notesSz cx="7104063" cy="10234613"/>
  <p:custDataLst>
    <p:tags r:id="rId60"/>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userDrawn="1">
          <p15:clr>
            <a:srgbClr val="A4A3A4"/>
          </p15:clr>
        </p15:guide>
        <p15:guide id="2" orient="horz" pos="638" userDrawn="1">
          <p15:clr>
            <a:srgbClr val="A4A3A4"/>
          </p15:clr>
        </p15:guide>
        <p15:guide id="3" orient="horz" pos="453" userDrawn="1">
          <p15:clr>
            <a:srgbClr val="A4A3A4"/>
          </p15:clr>
        </p15:guide>
        <p15:guide id="4" orient="horz" pos="6262" userDrawn="1">
          <p15:clr>
            <a:srgbClr val="A4A3A4"/>
          </p15:clr>
        </p15:guide>
        <p15:guide id="5" pos="4189" userDrawn="1">
          <p15:clr>
            <a:srgbClr val="A4A3A4"/>
          </p15:clr>
        </p15:guide>
        <p15:guide id="6" pos="286" userDrawn="1">
          <p15:clr>
            <a:srgbClr val="A4A3A4"/>
          </p15:clr>
        </p15:guide>
        <p15:guide id="7" pos="831" userDrawn="1">
          <p15:clr>
            <a:srgbClr val="A4A3A4"/>
          </p15:clr>
        </p15:guide>
        <p15:guide id="8" pos="387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FDC7A1"/>
    <a:srgbClr val="CD5C12"/>
    <a:srgbClr val="FFFFFF"/>
    <a:srgbClr val="EFF3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4" autoAdjust="0"/>
    <p:restoredTop sz="81690" autoAdjust="0"/>
  </p:normalViewPr>
  <p:slideViewPr>
    <p:cSldViewPr snapToObjects="1" showGuides="1">
      <p:cViewPr varScale="1">
        <p:scale>
          <a:sx n="129" d="100"/>
          <a:sy n="129" d="100"/>
        </p:scale>
        <p:origin x="1872" y="120"/>
      </p:cViewPr>
      <p:guideLst>
        <p:guide pos="3840"/>
        <p:guide orient="horz" pos="2160"/>
      </p:guideLst>
    </p:cSldViewPr>
  </p:slideViewPr>
  <p:outlineViewPr>
    <p:cViewPr>
      <p:scale>
        <a:sx n="33" d="100"/>
        <a:sy n="33" d="100"/>
      </p:scale>
      <p:origin x="0" y="-2964"/>
    </p:cViewPr>
  </p:outlineViewPr>
  <p:notesTextViewPr>
    <p:cViewPr>
      <p:scale>
        <a:sx n="3" d="2"/>
        <a:sy n="3" d="2"/>
      </p:scale>
      <p:origin x="0" y="0"/>
    </p:cViewPr>
  </p:notesTextViewPr>
  <p:sorterViewPr>
    <p:cViewPr>
      <p:scale>
        <a:sx n="200" d="100"/>
        <a:sy n="200" d="100"/>
      </p:scale>
      <p:origin x="0" y="0"/>
    </p:cViewPr>
  </p:sorterViewPr>
  <p:notesViewPr>
    <p:cSldViewPr snapToObjects="1" showGuides="1">
      <p:cViewPr varScale="1">
        <p:scale>
          <a:sx n="105" d="100"/>
          <a:sy n="105" d="100"/>
        </p:scale>
        <p:origin x="2694" y="132"/>
      </p:cViewPr>
      <p:guideLst>
        <p:guide orient="horz" pos="187"/>
        <p:guide orient="horz" pos="638"/>
        <p:guide orient="horz" pos="453"/>
        <p:guide orient="horz" pos="6262"/>
        <p:guide pos="4189"/>
        <p:guide pos="286"/>
        <p:guide pos="831"/>
        <p:guide pos="387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s>
</file>

<file path=ppt/comments/modernComment_7BBF5748_C75B05ED.xml><?xml version="1.0" encoding="utf-8"?>
<p188:cmLst xmlns:a="http://schemas.openxmlformats.org/drawingml/2006/main" xmlns:r="http://schemas.openxmlformats.org/officeDocument/2006/relationships" xmlns:p188="http://schemas.microsoft.com/office/powerpoint/2018/8/main">
  <p188:cm id="{DB1E262B-D92A-4DF6-8149-C0772DDFD16F}" authorId="{49565E6A-6322-29A9-D6DD-55CF7191FAB5}" created="2025-10-31T18:57:48.827">
    <pc:sldMkLst xmlns:pc="http://schemas.microsoft.com/office/powerpoint/2013/main/command">
      <pc:docMk/>
      <pc:sldMk cId="3344631277" sldId="2076137288"/>
    </pc:sldMkLst>
    <p188:txBody>
      <a:bodyPr/>
      <a:lstStyle/>
      <a:p>
        <a:r>
          <a:rPr lang="en-US"/>
          <a:t>Edited to reflect Memory Configuration</a:t>
        </a:r>
      </a:p>
    </p188:txBody>
  </p188:cm>
</p188:cmLst>
</file>

<file path=ppt/comments/modernComment_7BBF5750_D092CBC0.xml><?xml version="1.0" encoding="utf-8"?>
<p188:cmLst xmlns:a="http://schemas.openxmlformats.org/drawingml/2006/main" xmlns:r="http://schemas.openxmlformats.org/officeDocument/2006/relationships" xmlns:p188="http://schemas.microsoft.com/office/powerpoint/2018/8/main">
  <p188:cm id="{CB35CE97-91DC-497A-9767-DA137A378D97}" authorId="{49565E6A-6322-29A9-D6DD-55CF7191FAB5}" created="2025-10-31T17:36:48.421">
    <pc:sldMkLst xmlns:pc="http://schemas.microsoft.com/office/powerpoint/2013/main/command">
      <pc:docMk/>
      <pc:sldMk cId="3499281344" sldId="2076137296"/>
    </pc:sldMkLst>
    <p188:replyLst>
      <p188:reply id="{618D55AD-8FEE-4B54-A6E3-92B0392A1014}" authorId="{49565E6A-6322-29A9-D6DD-55CF7191FAB5}" created="2025-10-31T18:58:17.513">
        <p188:txBody>
          <a:bodyPr/>
          <a:lstStyle/>
          <a:p>
            <a:r>
              <a:rPr lang="en-US"/>
              <a:t>Updated to reflect PDL/Middleware Portability</a:t>
            </a:r>
          </a:p>
        </p188:txBody>
      </p188:reply>
    </p188:replyLst>
    <p188:txBody>
      <a:bodyPr/>
      <a:lstStyle/>
      <a:p>
        <a:r>
          <a:rPr lang="en-US"/>
          <a:t>Updated to reflect latest block diagram</a:t>
        </a:r>
      </a:p>
    </p188:txBody>
  </p188:cm>
</p188:cmLst>
</file>

<file path=ppt/comments/modernComment_7BBF5752_D8F952C7.xml><?xml version="1.0" encoding="utf-8"?>
<p188:cmLst xmlns:a="http://schemas.openxmlformats.org/drawingml/2006/main" xmlns:r="http://schemas.openxmlformats.org/officeDocument/2006/relationships" xmlns:p188="http://schemas.microsoft.com/office/powerpoint/2018/8/main">
  <p188:cm id="{0D299D96-5DA3-4B6F-8359-75066D6D5C6E}" authorId="{49565E6A-6322-29A9-D6DD-55CF7191FAB5}" created="2025-10-31T18:58:22.646">
    <pc:sldMkLst xmlns:pc="http://schemas.microsoft.com/office/powerpoint/2013/main/command">
      <pc:docMk/>
      <pc:sldMk cId="3640218311" sldId="2076137298"/>
    </pc:sldMkLst>
    <p188:txBody>
      <a:bodyPr/>
      <a:lstStyle/>
      <a:p>
        <a:r>
          <a:rPr lang="en-US"/>
          <a:t>Updated to reflect PDL/Middleware Portability</a:t>
        </a:r>
      </a:p>
    </p188:txBody>
  </p188:cm>
</p188:cmLst>
</file>

<file path=ppt/comments/modernComment_7BBF5754_F7C57701.xml><?xml version="1.0" encoding="utf-8"?>
<p188:cmLst xmlns:a="http://schemas.openxmlformats.org/drawingml/2006/main" xmlns:r="http://schemas.openxmlformats.org/officeDocument/2006/relationships" xmlns:p188="http://schemas.microsoft.com/office/powerpoint/2018/8/main">
  <p188:cm id="{66789A86-079D-414E-BE7F-539FD08B38C9}" authorId="{49565E6A-6322-29A9-D6DD-55CF7191FAB5}" created="2025-10-31T18:58:27.534">
    <pc:sldMkLst xmlns:pc="http://schemas.microsoft.com/office/powerpoint/2013/main/command">
      <pc:docMk/>
      <pc:sldMk cId="4156913409" sldId="2076137300"/>
    </pc:sldMkLst>
    <p188:txBody>
      <a:bodyPr/>
      <a:lstStyle/>
      <a:p>
        <a:r>
          <a:rPr lang="en-US"/>
          <a:t>Updated to reflect PDL/Middleware Portability</a:t>
        </a:r>
      </a:p>
    </p188:txBody>
  </p188:cm>
</p188:cmLst>
</file>

<file path=ppt/handoutMasters/_rels/handoutMaster1.xml.rels><?xml version="1.0" encoding="UTF-8" standalone="yes"?>
<Relationships xmlns="http://schemas.openxmlformats.org/package/2006/relationships"><Relationship Id="rId8" Type="http://schemas.openxmlformats.org/officeDocument/2006/relationships/tags" Target="../tags/tag211.xml"/><Relationship Id="rId3" Type="http://schemas.openxmlformats.org/officeDocument/2006/relationships/tags" Target="../tags/tag206.xml"/><Relationship Id="rId7" Type="http://schemas.openxmlformats.org/officeDocument/2006/relationships/tags" Target="../tags/tag210.xml"/><Relationship Id="rId12" Type="http://schemas.openxmlformats.org/officeDocument/2006/relationships/image" Target="../media/image11.png"/><Relationship Id="rId2" Type="http://schemas.openxmlformats.org/officeDocument/2006/relationships/tags" Target="../tags/tag205.xml"/><Relationship Id="rId1" Type="http://schemas.openxmlformats.org/officeDocument/2006/relationships/theme" Target="../theme/theme3.xml"/><Relationship Id="rId6" Type="http://schemas.openxmlformats.org/officeDocument/2006/relationships/tags" Target="../tags/tag209.xml"/><Relationship Id="rId11" Type="http://schemas.openxmlformats.org/officeDocument/2006/relationships/tags" Target="../tags/tag214.xml"/><Relationship Id="rId5" Type="http://schemas.openxmlformats.org/officeDocument/2006/relationships/tags" Target="../tags/tag208.xml"/><Relationship Id="rId10" Type="http://schemas.openxmlformats.org/officeDocument/2006/relationships/tags" Target="../tags/tag213.xml"/><Relationship Id="rId4" Type="http://schemas.openxmlformats.org/officeDocument/2006/relationships/tags" Target="../tags/tag207.xml"/><Relationship Id="rId9" Type="http://schemas.openxmlformats.org/officeDocument/2006/relationships/tags" Target="../tags/tag2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104063"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104063"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restricted</a:t>
            </a:r>
          </a:p>
        </p:txBody>
      </p:sp>
      <p:sp>
        <p:nvSpPr>
          <p:cNvPr id="9" name="Date Placeholder" hidden="1"/>
          <p:cNvSpPr>
            <a:spLocks noGrp="1"/>
          </p:cNvSpPr>
          <p:nvPr>
            <p:ph type="dt" sz="quarter" idx="1"/>
            <p:custDataLst>
              <p:tags r:id="rId4"/>
            </p:custDataLst>
          </p:nvPr>
        </p:nvSpPr>
        <p:spPr>
          <a:xfrm>
            <a:off x="7104063" y="10234613"/>
            <a:ext cx="0" cy="0"/>
          </a:xfrm>
          <a:prstGeom prst="rect">
            <a:avLst/>
          </a:prstGeom>
        </p:spPr>
        <p:txBody>
          <a:bodyPr vert="horz" lIns="91440" tIns="45720" rIns="91440" bIns="45720" rtlCol="0" anchor="ctr"/>
          <a:lstStyle>
            <a:lvl1pPr algn="r">
              <a:defRPr sz="1200"/>
            </a:lvl1pPr>
          </a:lstStyle>
          <a:p>
            <a:pPr algn="l"/>
            <a:fld id="{A8F4C974-FF7A-4D7E-875F-E87C01A76215}" type="datetime7">
              <a:rPr lang="en-US" sz="100" smtClean="0">
                <a:noFill/>
                <a:latin typeface="Arial" panose="020B0604020202020204" pitchFamily="34" charset="0"/>
                <a:ea typeface="Verdana" pitchFamily="34" charset="0"/>
                <a:cs typeface="Arial" panose="020B0604020202020204" pitchFamily="34" charset="0"/>
              </a:rPr>
              <a:t>Nov-25</a:t>
            </a:fld>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6001946" y="9833798"/>
            <a:ext cx="612411"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638" y="426585"/>
            <a:ext cx="2593739"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41705" y="9545798"/>
            <a:ext cx="97265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638" y="9545798"/>
            <a:ext cx="360604"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2823" y="9833798"/>
            <a:ext cx="309842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hidden="1">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5779" y="426585"/>
            <a:ext cx="972507"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public</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4382" y="426585"/>
            <a:ext cx="973904"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public</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637" y="9833798"/>
            <a:ext cx="612411"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11 Nov 2025</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60867" y="295163"/>
            <a:ext cx="881477"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1.png"/><Relationship Id="rId2" Type="http://schemas.openxmlformats.org/officeDocument/2006/relationships/tags" Target="../tags/tag195.xml"/><Relationship Id="rId1" Type="http://schemas.openxmlformats.org/officeDocument/2006/relationships/theme" Target="../theme/theme2.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Slide"/>
          <p:cNvSpPr>
            <a:spLocks noGrp="1" noRot="1" noChangeAspect="1" noChangeArrowheads="1" noTextEdit="1"/>
          </p:cNvSpPr>
          <p:nvPr>
            <p:ph type="sldImg" idx="2"/>
          </p:nvPr>
        </p:nvSpPr>
        <p:spPr bwMode="auto">
          <a:xfrm>
            <a:off x="455613" y="1012825"/>
            <a:ext cx="6192837" cy="3482975"/>
          </a:xfrm>
          <a:prstGeom prst="rect">
            <a:avLst/>
          </a:prstGeom>
          <a:noFill/>
          <a:ln w="9525">
            <a:solidFill>
              <a:srgbClr val="000000"/>
            </a:solidFill>
            <a:miter lim="800000"/>
            <a:headEnd/>
            <a:tailEnd/>
          </a:ln>
          <a:effectLst/>
        </p:spPr>
      </p:sp>
      <p:sp>
        <p:nvSpPr>
          <p:cNvPr id="84997" name="Notes"/>
          <p:cNvSpPr>
            <a:spLocks noGrp="1" noChangeArrowheads="1"/>
          </p:cNvSpPr>
          <p:nvPr>
            <p:ph type="body" sz="quarter" idx="3"/>
          </p:nvPr>
        </p:nvSpPr>
        <p:spPr bwMode="auto">
          <a:xfrm>
            <a:off x="453610" y="4757266"/>
            <a:ext cx="6196122"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Header Placeholder" hidden="1"/>
          <p:cNvSpPr>
            <a:spLocks noGrp="1" noChangeArrowheads="1"/>
          </p:cNvSpPr>
          <p:nvPr>
            <p:ph type="hdr" sz="quarter"/>
            <p:custDataLst>
              <p:tags r:id="rId2"/>
            </p:custDataLst>
          </p:nvPr>
        </p:nvSpPr>
        <p:spPr bwMode="auto">
          <a:xfrm>
            <a:off x="7104063"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00">
                <a:noFill/>
                <a:latin typeface="Arial" panose="020B0604020202020204" pitchFamily="34" charset="0"/>
                <a:cs typeface="Arial" panose="020B0604020202020204" pitchFamily="34" charset="0"/>
              </a:defRPr>
            </a:lvl1pPr>
          </a:lstStyle>
          <a:p>
            <a:endParaRPr lang="en-US" sz="100" dirty="0"/>
          </a:p>
        </p:txBody>
      </p:sp>
      <p:sp>
        <p:nvSpPr>
          <p:cNvPr id="10" name="Footer Placeholder" hidden="1"/>
          <p:cNvSpPr>
            <a:spLocks noGrp="1"/>
          </p:cNvSpPr>
          <p:nvPr>
            <p:ph type="ftr" sz="quarter" idx="4"/>
            <p:custDataLst>
              <p:tags r:id="rId3"/>
            </p:custDataLst>
          </p:nvPr>
        </p:nvSpPr>
        <p:spPr>
          <a:xfrm>
            <a:off x="7104063" y="10234613"/>
            <a:ext cx="0" cy="0"/>
          </a:xfrm>
          <a:prstGeom prst="rect">
            <a:avLst/>
          </a:prstGeom>
        </p:spPr>
        <p:txBody>
          <a:bodyPr vert="horz" lIns="91440" tIns="45720" rIns="91440" bIns="45720" rtlCol="0" anchor="ctr"/>
          <a:lstStyle>
            <a:lvl1pPr algn="ctr">
              <a:defRPr sz="100">
                <a:noFill/>
                <a:latin typeface="Verdana" pitchFamily="34" charset="0"/>
                <a:ea typeface="Verdana" pitchFamily="34" charset="0"/>
                <a:cs typeface="Verdana" pitchFamily="34" charset="0"/>
              </a:defRPr>
            </a:lvl1p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11" name="Date Placeholder" hidden="1"/>
          <p:cNvSpPr>
            <a:spLocks noGrp="1"/>
          </p:cNvSpPr>
          <p:nvPr>
            <p:ph type="dt" idx="1"/>
            <p:custDataLst>
              <p:tags r:id="rId4"/>
            </p:custDataLst>
          </p:nvPr>
        </p:nvSpPr>
        <p:spPr>
          <a:xfrm>
            <a:off x="7104063" y="10234613"/>
            <a:ext cx="0" cy="0"/>
          </a:xfrm>
          <a:prstGeom prst="rect">
            <a:avLst/>
          </a:prstGeom>
        </p:spPr>
        <p:txBody>
          <a:bodyPr vert="horz" lIns="91440" tIns="45720" rIns="91440" bIns="45720" rtlCol="0" anchor="ctr"/>
          <a:lstStyle>
            <a:lvl1pPr algn="l">
              <a:defRPr sz="100">
                <a:noFill/>
                <a:latin typeface="Arial" panose="020B0604020202020204" pitchFamily="34" charset="0"/>
                <a:ea typeface="Verdana" pitchFamily="34" charset="0"/>
                <a:cs typeface="Arial" panose="020B0604020202020204" pitchFamily="34" charset="0"/>
              </a:defRPr>
            </a:lvl1pPr>
          </a:lstStyle>
          <a:p>
            <a:fld id="{7934E32A-B485-42C1-9192-CCC268DBD90E}" type="datetime7">
              <a:rPr lang="en-US" smtClean="0"/>
              <a:t>Nov-25</a:t>
            </a:fld>
            <a:endParaRPr lang="en-US" dirty="0"/>
          </a:p>
        </p:txBody>
      </p:sp>
      <p:sp>
        <p:nvSpPr>
          <p:cNvPr id="12" name="Slide Number Placeholder"/>
          <p:cNvSpPr>
            <a:spLocks noGrp="1"/>
          </p:cNvSpPr>
          <p:nvPr>
            <p:ph type="sldNum" sz="quarter" idx="5"/>
          </p:nvPr>
        </p:nvSpPr>
        <p:spPr>
          <a:xfrm>
            <a:off x="6037322" y="9833798"/>
            <a:ext cx="612411" cy="288000"/>
          </a:xfrm>
          <a:prstGeom prst="rect">
            <a:avLst/>
          </a:prstGeom>
        </p:spPr>
        <p:txBody>
          <a:bodyPr vert="horz" lIns="0" tIns="0" rIns="0" bIns="0" rtlCol="0" anchor="ctr"/>
          <a:lstStyle>
            <a:lvl1pPr algn="r">
              <a:defRPr sz="800">
                <a:solidFill>
                  <a:srgbClr val="928285"/>
                </a:solidFill>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E8AE2277-2635-47CE-8461-F921E010AD66}"/>
              </a:ext>
            </a:extLst>
          </p:cNvPr>
          <p:cNvSpPr txBox="1"/>
          <p:nvPr userDrawn="1">
            <p:custDataLst>
              <p:tags r:id="rId5"/>
            </p:custDataLst>
          </p:nvPr>
        </p:nvSpPr>
        <p:spPr bwMode="auto">
          <a:xfrm>
            <a:off x="453610" y="426585"/>
            <a:ext cx="2593739"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1ED6373F-3656-4DFD-9B9C-BC0ABABA2CBF}"/>
              </a:ext>
            </a:extLst>
          </p:cNvPr>
          <p:cNvSpPr txBox="1"/>
          <p:nvPr userDrawn="1">
            <p:custDataLst>
              <p:tags r:id="rId6"/>
            </p:custDataLst>
          </p:nvPr>
        </p:nvSpPr>
        <p:spPr bwMode="auto">
          <a:xfrm>
            <a:off x="5677080" y="9545798"/>
            <a:ext cx="97265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3D3123B4-E08C-4CCD-9703-AD1F689F1FB7}"/>
              </a:ext>
            </a:extLst>
          </p:cNvPr>
          <p:cNvSpPr txBox="1"/>
          <p:nvPr userDrawn="1">
            <p:custDataLst>
              <p:tags r:id="rId7"/>
            </p:custDataLst>
          </p:nvPr>
        </p:nvSpPr>
        <p:spPr bwMode="auto">
          <a:xfrm>
            <a:off x="453610" y="9545798"/>
            <a:ext cx="360604"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7E51E007-F5B3-45C7-900F-9B0FFE9F37F6}"/>
              </a:ext>
            </a:extLst>
          </p:cNvPr>
          <p:cNvSpPr txBox="1"/>
          <p:nvPr userDrawn="1">
            <p:custDataLst>
              <p:tags r:id="rId8"/>
            </p:custDataLst>
          </p:nvPr>
        </p:nvSpPr>
        <p:spPr bwMode="auto">
          <a:xfrm>
            <a:off x="2002823" y="9833798"/>
            <a:ext cx="309842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6" name="empower_classification_attention_placeholder" hidden="1">
            <a:extLst>
              <a:ext uri="{FF2B5EF4-FFF2-40B4-BE49-F238E27FC236}">
                <a16:creationId xmlns:a16="http://schemas.microsoft.com/office/drawing/2014/main" id="{CD1E0C77-9862-4B96-A3C1-8F3320EB5330}"/>
              </a:ext>
            </a:extLst>
          </p:cNvPr>
          <p:cNvSpPr txBox="1"/>
          <p:nvPr userDrawn="1">
            <p:custDataLst>
              <p:tags r:id="rId9"/>
            </p:custDataLst>
          </p:nvPr>
        </p:nvSpPr>
        <p:spPr bwMode="auto">
          <a:xfrm>
            <a:off x="3065779" y="426585"/>
            <a:ext cx="972507"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public</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7" name="empower_classification_placeholder">
            <a:extLst>
              <a:ext uri="{FF2B5EF4-FFF2-40B4-BE49-F238E27FC236}">
                <a16:creationId xmlns:a16="http://schemas.microsoft.com/office/drawing/2014/main" id="{9F464BB7-63C3-4B8A-A50E-5FC32FA6A18F}"/>
              </a:ext>
            </a:extLst>
          </p:cNvPr>
          <p:cNvSpPr txBox="1"/>
          <p:nvPr userDrawn="1">
            <p:custDataLst>
              <p:tags r:id="rId10"/>
            </p:custDataLst>
          </p:nvPr>
        </p:nvSpPr>
        <p:spPr bwMode="auto">
          <a:xfrm>
            <a:off x="3064382" y="426585"/>
            <a:ext cx="973904"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public</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8" name="empower_date_placeholder">
            <a:extLst>
              <a:ext uri="{FF2B5EF4-FFF2-40B4-BE49-F238E27FC236}">
                <a16:creationId xmlns:a16="http://schemas.microsoft.com/office/drawing/2014/main" id="{7E930412-6BBA-43BF-B0D5-11DDE46E471E}"/>
              </a:ext>
            </a:extLst>
          </p:cNvPr>
          <p:cNvSpPr txBox="1"/>
          <p:nvPr userDrawn="1">
            <p:custDataLst>
              <p:tags r:id="rId11"/>
            </p:custDataLst>
          </p:nvPr>
        </p:nvSpPr>
        <p:spPr bwMode="auto">
          <a:xfrm>
            <a:off x="453610" y="9833798"/>
            <a:ext cx="612411"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11 Nov 2025</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32" name="Logo"/>
          <p:cNvPicPr>
            <a:picLocks noChangeAspect="1" noChangeArrowheads="1"/>
          </p:cNvPicPr>
          <p:nvPr/>
        </p:nvPicPr>
        <p:blipFill>
          <a:blip r:embed="rId12" cstate="print"/>
          <a:srcRect/>
          <a:stretch>
            <a:fillRect/>
          </a:stretch>
        </p:blipFill>
        <p:spPr bwMode="auto">
          <a:xfrm>
            <a:off x="5660867" y="295163"/>
            <a:ext cx="881477" cy="419422"/>
          </a:xfrm>
          <a:prstGeom prst="rect">
            <a:avLst/>
          </a:prstGeom>
          <a:noFill/>
          <a:ln w="9525">
            <a:noFill/>
            <a:miter lim="800000"/>
            <a:headEnd/>
            <a:tailEnd/>
          </a:ln>
          <a:effectLst/>
        </p:spPr>
      </p:pic>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Hello attendees, a warm welcome to all of you. This presentation provides an overview of the development ecosystem and resources available for PSOC Edge E84.</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It also explains how to get started on PSOC Edge E84 through code examples at the end of the presentation.</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610C3EC-8897-4A61-8514-DCC69BBB3EE8}"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6632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today’s agenda. We will cover the</a:t>
            </a:r>
          </a:p>
          <a:p>
            <a:endParaRPr lang="en-US" dirty="0"/>
          </a:p>
          <a:p>
            <a:pPr marL="171450" indent="-171450">
              <a:lnSpc>
                <a:spcPct val="200000"/>
              </a:lnSpc>
              <a:buClr>
                <a:srgbClr val="5EA290"/>
              </a:buClr>
              <a:buFont typeface="Arial" panose="020B0604020202020204" pitchFamily="34" charset="0"/>
              <a:buChar char="•"/>
            </a:pPr>
            <a:r>
              <a:rPr lang="en-US" sz="1200" b="0" dirty="0"/>
              <a:t> Development Ecosystem for PSOC™ Edge E84 </a:t>
            </a:r>
          </a:p>
          <a:p>
            <a:pPr marL="781035" lvl="1" indent="-171450">
              <a:lnSpc>
                <a:spcPct val="200000"/>
              </a:lnSpc>
              <a:buClr>
                <a:srgbClr val="5EA290"/>
              </a:buClr>
              <a:buFont typeface="Arial" panose="020B0604020202020204" pitchFamily="34" charset="0"/>
              <a:buChar char="•"/>
            </a:pPr>
            <a:r>
              <a:rPr lang="en-US" sz="1600" b="0" dirty="0"/>
              <a:t>Some technical details related to Boot sequence, device life cycle, and memory layouts discuss through the relevant sections</a:t>
            </a:r>
          </a:p>
          <a:p>
            <a:pPr marL="171450" indent="-171450">
              <a:lnSpc>
                <a:spcPct val="200000"/>
              </a:lnSpc>
              <a:buClr>
                <a:srgbClr val="5EA290"/>
              </a:buClr>
              <a:buFont typeface="Arial" panose="020B0604020202020204" pitchFamily="34" charset="0"/>
              <a:buChar char="•"/>
            </a:pPr>
            <a:r>
              <a:rPr lang="en-US" sz="1200" b="0" dirty="0"/>
              <a:t> Code Example 1 – Hello World</a:t>
            </a:r>
          </a:p>
          <a:p>
            <a:pPr marL="171450" indent="-171450">
              <a:lnSpc>
                <a:spcPct val="200000"/>
              </a:lnSpc>
              <a:buClr>
                <a:srgbClr val="5EA290"/>
              </a:buClr>
              <a:buFont typeface="Arial" panose="020B0604020202020204" pitchFamily="34" charset="0"/>
              <a:buChar char="•"/>
            </a:pPr>
            <a:r>
              <a:rPr lang="en-US" sz="1200" b="0" dirty="0"/>
              <a:t> Code Example 2 – IPC Queues using HAL</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8BA8251-E777-463D-9DB6-4AE92831CC45}"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647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IN" dirty="0"/>
              <a:t>Here is the list of PSOC Edge E84 resources. Resources play a vital role in the success of any product.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IN" sz="1200" b="0" dirty="0"/>
              <a:t>PSOC™ Edge E84 MCU product page for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PSOC™ Edge E84 MCU related documents</a:t>
            </a:r>
            <a:endParaRPr lang="en-IN" sz="1200" b="0"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IN" sz="1200" b="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IN" sz="1200" b="0" i="0" u="none" strike="noStrike" kern="1200" baseline="0" dirty="0">
                <a:solidFill>
                  <a:schemeClr val="tx1"/>
                </a:solidFill>
                <a:latin typeface="Arial" panose="020B0604020202020204" pitchFamily="34" charset="0"/>
                <a:ea typeface="+mn-ea"/>
                <a:cs typeface="Arial" panose="020B0604020202020204" pitchFamily="34" charset="0"/>
              </a:rPr>
              <a:t>PSOC™ Edge E84 MCU </a:t>
            </a:r>
            <a:r>
              <a:rPr lang="en-GB" b="0" dirty="0"/>
              <a:t>d</a:t>
            </a:r>
            <a:r>
              <a:rPr lang="en-GB" dirty="0"/>
              <a:t>atasheets that describe and provide electrical specifications for each device family</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sz="1200" b="1"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Technical</a:t>
            </a:r>
            <a:r>
              <a:rPr lang="en-GB" dirty="0"/>
              <a:t> reference manuals (TRMs) provide detailed descriptions of the architecture and registers in each device family.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b="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b="0" dirty="0"/>
              <a:t>[Press Enter for animation] </a:t>
            </a:r>
            <a:r>
              <a:rPr lang="en-GB" dirty="0"/>
              <a:t>Application notes and Code examples cover a broad range of topics, from basic to advanced. You can browse our collection of application notes and code examples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8881FA0-515F-4122-844C-8C35E7170143}"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7943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Arial" panose="020B0604020202020204" pitchFamily="34" charset="0"/>
              </a:rPr>
              <a:t>For Firmware or application development, development tools are necessary.</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kern="1200" dirty="0" err="1">
                <a:solidFill>
                  <a:schemeClr val="tx1"/>
                </a:solidFill>
                <a:effectLst/>
                <a:latin typeface="Arial" panose="020B0604020202020204" pitchFamily="34" charset="0"/>
                <a:ea typeface="+mn-ea"/>
                <a:cs typeface="Arial" panose="020B0604020202020204" pitchFamily="34" charset="0"/>
              </a:rPr>
              <a:t>ModusToolbox</a:t>
            </a:r>
            <a:r>
              <a:rPr lang="en-US" sz="1200" b="0" i="0" kern="1200" dirty="0">
                <a:solidFill>
                  <a:schemeClr val="tx1"/>
                </a:solidFill>
                <a:effectLst/>
                <a:latin typeface="Arial" panose="020B0604020202020204" pitchFamily="34" charset="0"/>
                <a:ea typeface="+mn-ea"/>
                <a:cs typeface="Arial" panose="020B0604020202020204" pitchFamily="34" charset="0"/>
              </a:rPr>
              <a:t>™ Software is a modern, extensible development environment supporting a wide range of Infineon MCUs, including PSOC Edge E84.</a:t>
            </a:r>
          </a:p>
          <a:p>
            <a:endParaRPr lang="en-US" sz="1200" b="0" i="0" kern="1200" dirty="0">
              <a:solidFill>
                <a:schemeClr val="tx1"/>
              </a:solidFill>
              <a:effectLst/>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tools package includes tools and configurators for creating your application, managing it and configuring your device. This means you choose your compiler, IDE, RTOS, and ecosystem without compromising usability and can create applications easily to leverage our industry-leading CAPSENSE™ (Human-Machine Interface), AIROC™ Wi-Fi and Bluetooth®, security, and various other features.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It also comes with the build system infrastructure that helps you control the build flow and build your application using make across platforms.</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DA07B6B-2C78-44BC-B297-C840B774EB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7794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ModusToolbox</a:t>
            </a:r>
            <a:r>
              <a:rPr lang="en-US" dirty="0"/>
              <a:t>™ software supports 3rd-party IDEs like Eclipse IDE, Visual Studio Code, Arm® MDK (</a:t>
            </a:r>
            <a:r>
              <a:rPr lang="en-US" dirty="0" err="1"/>
              <a:t>μVision</a:t>
            </a:r>
            <a:r>
              <a:rPr lang="en-US" dirty="0"/>
              <a:t>), and IAR Embedded Workbench. The tools package includes Eclipse IDE for your convenience. Additionally, a command line interface is also available for developers who prefer working without a graphical interface.</a:t>
            </a:r>
          </a:p>
          <a:p>
            <a:endParaRPr lang="en-US" dirty="0"/>
          </a:p>
          <a:p>
            <a:r>
              <a:rPr lang="en-US" dirty="0"/>
              <a:t>In the next section of this video walk through tools like Project Creator, Library Manager, and a few of the configurators available in </a:t>
            </a:r>
            <a:r>
              <a:rPr lang="en-US" dirty="0" err="1"/>
              <a:t>ModusToolbox</a:t>
            </a:r>
            <a:r>
              <a:rPr lang="en-US" dirty="0"/>
              <a:t> for PSOC Edge Development.</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0F89330-3EBF-4746-B0DD-6F53889724B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4172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At first, we have the Project Creator tool.</a:t>
            </a:r>
          </a:p>
          <a:p>
            <a:endParaRPr lang="en-US" dirty="0"/>
          </a:p>
          <a:p>
            <a:r>
              <a:rPr lang="en-US" dirty="0"/>
              <a:t>The Project Creator tool is used to create applications targeting specific Board Support Packages (BSPs) from available code example templates.</a:t>
            </a:r>
          </a:p>
          <a:p>
            <a:r>
              <a:rPr lang="en-US" dirty="0"/>
              <a:t> </a:t>
            </a:r>
          </a:p>
          <a:p>
            <a:r>
              <a:rPr lang="en-US" dirty="0"/>
              <a:t>It is available both as a graphical user interface (GUI) and a command-line interface (CLI) to create applications for use in any software environment as per preference.</a:t>
            </a:r>
          </a:p>
          <a:p>
            <a:endParaRPr lang="en-US" dirty="0"/>
          </a:p>
          <a:p>
            <a:r>
              <a:rPr lang="en-US" dirty="0"/>
              <a:t>To launch Project Creator, </a:t>
            </a:r>
          </a:p>
          <a:p>
            <a:endParaRPr lang="en-US" dirty="0"/>
          </a:p>
          <a:p>
            <a:pPr>
              <a:buFont typeface="Wingdings" panose="05000000000000000000" pitchFamily="2" charset="2"/>
              <a:buNone/>
            </a:pPr>
            <a:r>
              <a:rPr lang="en-US" dirty="0"/>
              <a:t>Open Eclipse IDE for </a:t>
            </a:r>
            <a:r>
              <a:rPr lang="en-US" dirty="0" err="1"/>
              <a:t>ModusToolbox</a:t>
            </a:r>
            <a:r>
              <a:rPr lang="en-US" dirty="0"/>
              <a:t>™</a:t>
            </a:r>
          </a:p>
          <a:p>
            <a:pPr>
              <a:buFont typeface="Wingdings" panose="05000000000000000000" pitchFamily="2" charset="2"/>
              <a:buNone/>
            </a:pPr>
            <a:endParaRPr lang="en-US" dirty="0"/>
          </a:p>
          <a:p>
            <a:pPr>
              <a:buFont typeface="Wingdings" panose="05000000000000000000" pitchFamily="2" charset="2"/>
              <a:buNone/>
            </a:pPr>
            <a:r>
              <a:rPr lang="en-US" b="0" dirty="0"/>
              <a:t>[Press Enter for animation] </a:t>
            </a:r>
            <a:r>
              <a:rPr lang="en-US" dirty="0"/>
              <a:t>Launch Project Creator by clicking New Application in the Quick Panel </a:t>
            </a:r>
          </a:p>
          <a:p>
            <a:pPr>
              <a:buFont typeface="Wingdings" panose="05000000000000000000" pitchFamily="2" charset="2"/>
              <a:buNone/>
            </a:pPr>
            <a:endParaRPr lang="en-US" dirty="0"/>
          </a:p>
          <a:p>
            <a:pPr>
              <a:buFont typeface="Wingdings" panose="05000000000000000000" pitchFamily="2" charset="2"/>
              <a:buNone/>
            </a:pPr>
            <a:r>
              <a:rPr lang="en-US" b="0" dirty="0"/>
              <a:t>[Press Enter for animation] </a:t>
            </a:r>
            <a:r>
              <a:rPr lang="en-US" dirty="0"/>
              <a:t>Project Creator lists all the BSPs you can select from</a:t>
            </a:r>
          </a:p>
          <a:p>
            <a:pPr>
              <a:buFont typeface="Wingdings" panose="05000000000000000000" pitchFamily="2" charset="2"/>
              <a:buNone/>
            </a:pPr>
            <a:r>
              <a:rPr lang="en-US" b="0" dirty="0"/>
              <a:t>[Press Enter for animation] The </a:t>
            </a:r>
            <a:r>
              <a:rPr lang="en-US" dirty="0"/>
              <a:t>PSOC Edge E84 MCU development kit is listed as KIT_PSOCE84_EVAL_EPC2 under PSOC Edge BSPs. We will be using this in our training, please take note of it.</a:t>
            </a:r>
          </a:p>
          <a:p>
            <a:pPr>
              <a:buFont typeface="Wingdings" panose="05000000000000000000" pitchFamily="2" charset="2"/>
              <a:buNone/>
            </a:pPr>
            <a:endParaRPr lang="en-US" dirty="0"/>
          </a:p>
          <a:p>
            <a:pPr>
              <a:buFont typeface="Wingdings" panose="05000000000000000000" pitchFamily="2" charset="2"/>
              <a:buNone/>
            </a:pPr>
            <a:r>
              <a:rPr lang="en-US" dirty="0"/>
              <a:t>You can also launch the tool standalone by running the executable of the tool.</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35D5F8B-8E96-49FF-AACD-3CE23F07B439}"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6233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After creating an application, it will be located in a top-level container, or workspace directory, that contains multiple files, one or more application directories, plus a </a:t>
            </a:r>
            <a:r>
              <a:rPr lang="en-US" dirty="0" err="1"/>
              <a:t>mtb_shared</a:t>
            </a:r>
            <a:r>
              <a:rPr lang="en-US" dirty="0"/>
              <a:t> directory. </a:t>
            </a:r>
          </a:p>
          <a:p>
            <a:endParaRPr lang="en-US" dirty="0"/>
          </a:p>
          <a:p>
            <a:r>
              <a:rPr lang="en-US" dirty="0"/>
              <a:t>A typical PSOC edge application contains three projects: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Proj_cm33_s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 stands for secure),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Proj_cm33_ns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 stands for non secure) and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proj_CM55</a:t>
            </a:r>
          </a:p>
          <a:p>
            <a:endParaRPr lang="en-US" dirty="0"/>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common.mk : </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is shared across all projects. It contains variables including: MTB_TYPE, TARGET,TOOLCHAIN, and CONFIG. In this case, we have a multi-project structure for all Explorer MCU applications, hence MTB_TYPE=PROJECT. This file includes a reference to the common_app.mk file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common_app.mk</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is shared across the entire application and all its projects. It contains path information to indicate the location of the installation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tools_version</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Application Level </a:t>
            </a:r>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Makefile</a:t>
            </a: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 application contains a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which is in the application's root folder. This file contains the set of directives that the make tool uses to compile and link the application project. This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contains the MTB_TYPE variable set to APPLICATION, plus the MTB_PROJECTS variable to specify the included projects. This file also includes the common_app.mk file and the path information to the application.mk file in the installation tools_&lt;version&gt; directory. This is responsible for forwarding build-related requests to the individual core projects and dealing with post-build activities (for example, generating single monolithic HEX files that can be used to program all projects simultaneously) when they are complete.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bsps</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bsps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folder is common to all projects in a multi-core application. The files provided by the BSP are present here and are listed under TARGET_&lt;</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bsp</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name&gt; sub-folders. All the input files for the device and peripheral configurators are in the config folder inside the BSP. The Generated Source folder in the BSP contains the files that are generated by the configurators and are prefixed with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cycfg</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_. These files contain the design configuration as defined by the BSP. From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3.x or later, you can directly customize configurator files of BSP for your application rather than overriding the default design configurator files with custom design configurator files since BSPs are completely owned by the application.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BSP folder also contains the linker scripts and the start-up code for the Explorer MCU used on the board.</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main.c</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file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is the file containing the source code of the project. Each project has its own source code file. If a project has multiple source code files, they can be grouped under a "source" folder</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Project Level </a:t>
            </a:r>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Makefile</a:t>
            </a:r>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is the project's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Makefile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includes numerous variables used for the projects, such as COMPONENTS, CORE, CORE_NAME, and other variables used to specify flags and pre-build and post build commands. This file also includes path information for source code discovery, shared repo location, and path to the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complier. Plus, it includes the common.mk file from the application and the path information to the start.mk file in the installation tools_ directory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libs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libs folder also contains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In this case, they point to libraries that are included indirectly as a dependency of a BSP or another library. For each indirect dependency, the Library Manager places an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 in this folder. These files have been populated based on the targets available in deps folder. For example using BSP KIT_PSOCE84_EVK populates libs folder with the following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files:cmsis.mtb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core-</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lib.mtb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core-</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make.mtb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mtb-hal-cat1.mtb, mtb-pdl-cat1.mtb, recipe-make-cat1d.mtb The libs folder contains the file mtb.mk, which stores the relative paths of the all the libraries required by the application. The build system uses this file to find all the libraries required by the application. Everything in the libs folder is generated by the Library Manager so you should not manually edit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anything in that folder</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build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build folder contains all the artifacts resulting from a build of the project. The output files are organized by target BSPs</a:t>
            </a:r>
          </a:p>
          <a:p>
            <a:endParaRPr lang="en-US" sz="1200" b="1"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deps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deps folder contains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which provide the locations from which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ModusToolbox</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pulls the libraries that are directly referenced by the application. These files typically each contain the GitHub location of a library.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files also contain a git Commit Hash or Tag that tells which version of the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library is to be fetched and a path as to where the library should be stored locally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For example, Here, retarget-</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io.mtb</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points to mtb://retarget-io#latest-v1.X#$$ASSET_REPO$$/retarget-io/latest-v1.X. The variable $$ASSET_REPO$$ points to the root of the shared location which defaults to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If the library must be local to the application instead of shared, use $$LOCAL$$ instead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 $$ASSET_REPO$$.This subdirectory also contains the locking_commit.log file, which keeps track of the version for each dependent library</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 folder</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By default, when creating a new application or adding a library to an existing application and specifying it as shared, all libraries are placed in an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adjacent to the application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directories.The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folder is shared between different applications within a workspace. Different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applications may use different versions of shared libraries if necessary Each workspace you create with one or more applications will include a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adjacent to the application directories, and this is where the shared libraries are cloned by default. This location can be modified by specifying the CY_GETLIBS_PATH variable. Duplicate libraries are checked to see if they point to the same commit, and if so, only one copy is kept in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mtb_shared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directory. You can regenerate these files using the Library Manager as and when needed</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Similar project structure can be observed in our created hello world project </a:t>
            </a:r>
            <a:endParaRPr lang="en-US" b="1"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2DB2A601-12D2-4AE1-BDDD-99AB8A0D83C6}"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2878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Next we have the Library Manager</a:t>
            </a:r>
          </a:p>
          <a:p>
            <a:endParaRPr lang="en-US" dirty="0"/>
          </a:p>
          <a:p>
            <a:r>
              <a:rPr lang="en-US" dirty="0"/>
              <a:t>The Library Manager provides a GUI to select which Board Support Package (BSP) and version should be used when building a </a:t>
            </a:r>
            <a:r>
              <a:rPr lang="en-US" dirty="0" err="1"/>
              <a:t>ModusToolbox</a:t>
            </a:r>
            <a:r>
              <a:rPr lang="en-US" dirty="0"/>
              <a:t> application. </a:t>
            </a:r>
          </a:p>
          <a:p>
            <a:endParaRPr lang="en-US" dirty="0"/>
          </a:p>
          <a:p>
            <a:r>
              <a:rPr lang="en-US" dirty="0"/>
              <a:t>The tool also allows you to add and remove libraries, as well as change their versions for the selected project. This way you can easily manage libraries without having to create a new project.</a:t>
            </a:r>
          </a:p>
          <a:p>
            <a:endParaRPr lang="en-US" dirty="0"/>
          </a:p>
          <a:p>
            <a:r>
              <a:rPr lang="en-US" dirty="0"/>
              <a:t>Launch library manager from windows. Click Browse and point to the application directory. </a:t>
            </a:r>
          </a:p>
          <a:p>
            <a:r>
              <a:rPr lang="en-US" b="0" dirty="0"/>
              <a:t>[Press Enter for animation] The tool will list all the libraries, middleware's and BSP’s added for each project in the application</a:t>
            </a:r>
          </a:p>
          <a:p>
            <a:r>
              <a:rPr lang="en-US" b="0" dirty="0"/>
              <a:t>[Press Enter for animation] Once you click on particular library, Properties tab on the right hand side shows the details of the library like name, version, type etc. Specific versions can be selected using the properties tab</a:t>
            </a:r>
          </a:p>
          <a:p>
            <a:r>
              <a:rPr lang="en-US" b="0" dirty="0"/>
              <a:t>[Press Enter for animation] More BSPs can be added using “Add BSP”, </a:t>
            </a:r>
          </a:p>
          <a:p>
            <a:r>
              <a:rPr lang="en-US" b="0" dirty="0"/>
              <a:t>[Press Enter for animation] More libraries can be added using “Add library” </a:t>
            </a:r>
          </a:p>
          <a:p>
            <a:r>
              <a:rPr lang="en-US" b="0" dirty="0"/>
              <a:t>[Press Enter for animation] Once all the changes are made, click on Update for changes to reflect in your project </a:t>
            </a:r>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C0F8A453-1D65-4F54-B812-FB420469063C}"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0898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Moving on to configurators </a:t>
            </a:r>
          </a:p>
          <a:p>
            <a:endParaRPr lang="en-US" dirty="0"/>
          </a:p>
          <a:p>
            <a:r>
              <a:rPr lang="en-US" dirty="0"/>
              <a:t>Modus Toolbox™ software provides configurators that make it easier to configure a hardware block. Some functionalities include</a:t>
            </a:r>
          </a:p>
          <a:p>
            <a:r>
              <a:rPr lang="en-US" dirty="0"/>
              <a:t>• Setting options and generating code to configure drivers </a:t>
            </a:r>
          </a:p>
          <a:p>
            <a:r>
              <a:rPr lang="en-US" dirty="0"/>
              <a:t>• Setting up connections such as pins and clocks for a peripheral </a:t>
            </a:r>
          </a:p>
          <a:p>
            <a:r>
              <a:rPr lang="en-US" dirty="0"/>
              <a:t>• Setting options and generating code to configure middleware</a:t>
            </a:r>
          </a:p>
          <a:p>
            <a:endParaRPr lang="en-US" dirty="0"/>
          </a:p>
          <a:p>
            <a:r>
              <a:rPr lang="en-US" dirty="0"/>
              <a:t>For PSOC™ Edge E84 MCU applications are supported by many configurators such as Device, ML, USB, QSPI Configurators, etc.</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NOTE : Configurators make initial setup easier for hardware accessed using the PDL. The configurators create structures that the PDL requires. You don’t need to know the exact composition of each structure. If you use the HAL for a peripheral, it creates the necessary structures – called HAL objects - for you, so you should NOT use a configurator to set them up. HAL objects are accessible;  after you initialize a peripheral with the HAL you can view and modify the object.</a:t>
            </a: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endParaRPr lang="en-US" dirty="0"/>
          </a:p>
          <a:p>
            <a:pPr>
              <a:buFont typeface="Wingdings" panose="05000000000000000000" pitchFamily="2" charset="2"/>
              <a:buChar char="q"/>
            </a:pPr>
            <a:r>
              <a:rPr lang="en-US" b="0" dirty="0"/>
              <a:t>[Press Enter for animation] </a:t>
            </a:r>
            <a:r>
              <a:rPr lang="en-US" b="1" dirty="0"/>
              <a:t>Quick panel list all configurators or Right click on project on select </a:t>
            </a:r>
            <a:r>
              <a:rPr lang="en-US" b="1" dirty="0" err="1"/>
              <a:t>ModusToolbox</a:t>
            </a:r>
            <a:r>
              <a:rPr lang="en-US" b="1" dirty="0"/>
              <a:t>™ </a:t>
            </a:r>
          </a:p>
          <a:p>
            <a:pPr marL="0" indent="0">
              <a:buNone/>
            </a:pPr>
            <a:r>
              <a:rPr lang="en-US" b="1" dirty="0"/>
              <a:t>option for list of configurators </a:t>
            </a:r>
          </a:p>
          <a:p>
            <a:pPr marL="0" indent="0">
              <a:buNone/>
            </a:pPr>
            <a:endParaRPr lang="en-US" b="1" dirty="0"/>
          </a:p>
          <a:p>
            <a:pPr marL="0" indent="0">
              <a:buNone/>
            </a:pPr>
            <a:r>
              <a:rPr lang="en-US" b="1" dirty="0"/>
              <a:t>Lets look at the configurators in detail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C16DC70-1928-40FE-8617-1DA20C6F7A99}"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0557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Device Configurator helps in setting up the system-level functions, pins, and basic peripherals like UART, Timer, PWM, etc. </a:t>
            </a:r>
          </a:p>
          <a:p>
            <a:endParaRPr lang="en-US" dirty="0"/>
          </a:p>
          <a:p>
            <a:r>
              <a:rPr lang="en-US" dirty="0"/>
              <a:t>The Device Configurator GUI contains menus, icons, tabs, and several panes used to configure MCU peripherals. Let’s look at a few important ones.</a:t>
            </a:r>
          </a:p>
          <a:p>
            <a:endParaRPr lang="en-US" dirty="0"/>
          </a:p>
          <a:p>
            <a:r>
              <a:rPr lang="en-US" b="0" dirty="0"/>
              <a:t>[Press Enter for animation]  </a:t>
            </a:r>
            <a:r>
              <a:rPr lang="en-US" dirty="0"/>
              <a:t>Peripherals tab: The Peripherals tab is where you enable various analog, digital, system, and communication peripherals for the device to include in your application.</a:t>
            </a:r>
          </a:p>
          <a:p>
            <a:endParaRPr lang="en-US" dirty="0"/>
          </a:p>
          <a:p>
            <a:r>
              <a:rPr lang="en-US" b="0" dirty="0"/>
              <a:t>[Press Enter for animation] </a:t>
            </a:r>
            <a:r>
              <a:rPr lang="en-US" dirty="0"/>
              <a:t>By selecting the specific peripheral as shown here - “serial communication block (SCB) 1 with UART”, a parameter pane on the right-hand side shows up and contains all the parameters for the enabled resource.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CD983E1-13C2-45A9-949A-51537C56D7C7}"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1227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endParaRPr lang="en-US" b="0" dirty="0"/>
          </a:p>
          <a:p>
            <a:endParaRPr lang="en-US" b="0" dirty="0"/>
          </a:p>
          <a:p>
            <a:r>
              <a:rPr lang="en-US" b="0" dirty="0"/>
              <a:t>[Press Enter for animation] </a:t>
            </a:r>
            <a:r>
              <a:rPr lang="en-US" dirty="0"/>
              <a:t>The Pins tab is where you configure all the pin-related settings. All available pins are shown in an expandable tree, arranged by port number.</a:t>
            </a:r>
          </a:p>
          <a:p>
            <a:r>
              <a:rPr lang="en-US" b="0" dirty="0"/>
              <a:t>[Press Enter for animation] </a:t>
            </a:r>
            <a:r>
              <a:rPr lang="en-US" dirty="0"/>
              <a:t>The interactive pin package diagram shows the different states of the pins; there is a legend on the diagram. You can enable/disable a pin by double-clicking it in the diagram.</a:t>
            </a:r>
          </a:p>
          <a:p>
            <a:endParaRPr lang="en-US" dirty="0"/>
          </a:p>
          <a:p>
            <a:r>
              <a:rPr lang="en-US" dirty="0"/>
              <a:t>Pin states are shown in different colors: ◼ White – GPIO  ◼ Green – Assigned  ◼ Grey – Power/ground pins ◼ Orange – Fixed function pins ◼ Red – Error state ◼ Semi-transparent – Indicates the hardware resource has been locked.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23C1C92F-063E-4527-900B-B41E9C1769A4}"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1095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Analog and Analog-Routing tabs help configure the various analog resources in your application. Enabled resources are indicated in green.</a:t>
            </a:r>
          </a:p>
          <a:p>
            <a:endParaRPr lang="en-US" dirty="0"/>
          </a:p>
          <a:p>
            <a:r>
              <a:rPr lang="en-US" dirty="0"/>
              <a:t>The Analog Routing allows you to manually edit the routing of analog resources in your application. It also provides the ability to lock down all or some of the results.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F53D827-310F-4380-B976-CD67DD99806C}"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185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System tab provides access to system-level functions, such as system clocks, power management, and debug interfaces.</a:t>
            </a:r>
          </a:p>
          <a:p>
            <a:endParaRPr lang="en-US" dirty="0"/>
          </a:p>
          <a:p>
            <a:r>
              <a:rPr lang="en-US" dirty="0"/>
              <a:t>The interactive clock diagram shows all the system clocks and how they connect to each other. You can enable/disable a clock by double-clicking it in the diagram. Enabled clocks are green, disabled clocks are white, and clocks in error state are red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8497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System tab provides access to system-level functions, such as system clocks, power management, and debug interfaces.</a:t>
            </a:r>
          </a:p>
          <a:p>
            <a:endParaRPr lang="en-US" dirty="0"/>
          </a:p>
          <a:p>
            <a:r>
              <a:rPr lang="en-US" dirty="0"/>
              <a:t>The interactive clock diagram shows all the system clocks and how they connect to each other. You can enable/disable a clock by double-clicking it in the diagram. Enabled clocks are green, disabled clocks are white, and clocks in error state are red</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8803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Memory tab provided access to the various memory regions to enable, disable, or create additional regions. Some memory regions cannot be modified.</a:t>
            </a:r>
          </a:p>
          <a:p>
            <a:endParaRPr lang="en-US" dirty="0"/>
          </a:p>
          <a:p>
            <a:r>
              <a:rPr lang="en-US" dirty="0"/>
              <a:t>The Memory Regions view shows a detailed view of types of memory allocated and their associated size.</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113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Memory tab provided access to the various memory regions to enable, disable, or create additional regions. Some memory regions cannot be modified.</a:t>
            </a:r>
          </a:p>
          <a:p>
            <a:endParaRPr lang="en-US" dirty="0"/>
          </a:p>
          <a:p>
            <a:r>
              <a:rPr lang="en-US" dirty="0"/>
              <a:t>The Memory Address View shows the memory map for the various cores and how the IDAU, SAU, and MPC are configured along with the associated regions.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120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Memory tab provided access to the various memory regions to enable, disable, or create additional regions. Some memory regions cannot be modified.</a:t>
            </a:r>
          </a:p>
          <a:p>
            <a:endParaRPr lang="en-US" dirty="0"/>
          </a:p>
          <a:p>
            <a:r>
              <a:rPr lang="en-US" dirty="0"/>
              <a:t>The Peripheral Address View shows the memory map for the various cores and peripheral region and location.</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5397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r>
              <a:rPr lang="en-US" dirty="0"/>
              <a:t>The Memory tab provided access to the various memory regions to enable, disable, or create additional regions. Some memory regions cannot be modified.</a:t>
            </a:r>
          </a:p>
          <a:p>
            <a:endParaRPr lang="en-US" dirty="0"/>
          </a:p>
          <a:p>
            <a:r>
              <a:rPr lang="en-US" dirty="0"/>
              <a:t>The Read Me tab gives you an overview of the various types of memory and links to various How </a:t>
            </a:r>
            <a:r>
              <a:rPr lang="en-US" dirty="0" err="1"/>
              <a:t>Tos</a:t>
            </a:r>
            <a:r>
              <a:rPr lang="en-US" dirty="0"/>
              <a:t> when configuring and utilizing the various memories.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CAE826C-32BE-4CAB-9110-6E8B05C203A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2567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b="0" dirty="0"/>
              <a:t>[Press Enter for animation] </a:t>
            </a:r>
          </a:p>
          <a:p>
            <a:r>
              <a:rPr lang="en-US" dirty="0"/>
              <a:t>The DMA tab lists all the DMA resources in the design</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a:t>The Device Configurator saves configuration information in a </a:t>
            </a:r>
            <a:r>
              <a:rPr lang="en-US" b="0" dirty="0" err="1"/>
              <a:t>design.modus</a:t>
            </a:r>
            <a:r>
              <a:rPr lang="en-US" b="0" dirty="0"/>
              <a:t> file, which contains all the required information about the device and the application. When you save changes, the Device Configurator generates/updates firmware in the BSP’s "</a:t>
            </a:r>
            <a:r>
              <a:rPr lang="en-US" b="0" dirty="0" err="1"/>
              <a:t>GeneratedSource</a:t>
            </a:r>
            <a:r>
              <a:rPr lang="en-US" b="0" dirty="0"/>
              <a:t>" folder</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99B5F25B-F531-4031-A954-A1AC76726BD2}"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6988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Now let’s look at the QSPI Configurator</a:t>
            </a:r>
          </a:p>
          <a:p>
            <a:endParaRPr lang="en-US" dirty="0"/>
          </a:p>
          <a:p>
            <a:r>
              <a:rPr lang="en-US" dirty="0"/>
              <a:t>The Quad Serial Peripheral Interface (QSPI) Configurator helps configure external memories and generate code for easy integration into the application. You can open or create memory configuration files, configure memory slots, and generate code for your application. </a:t>
            </a:r>
          </a:p>
          <a:p>
            <a:endParaRPr lang="en-US" dirty="0"/>
          </a:p>
          <a:p>
            <a:r>
              <a:rPr lang="en-US" dirty="0"/>
              <a:t>The CAT1D category of devices where PSOC Edge E84 MCUs fall under, supports extending the default RAM and flash with external memory chips of the following types: flash, non-volatile FRAM, or RAM. </a:t>
            </a:r>
          </a:p>
          <a:p>
            <a:endParaRPr lang="en-US" dirty="0"/>
          </a:p>
          <a:p>
            <a:r>
              <a:rPr lang="en-US" dirty="0"/>
              <a:t>The QSPI Configurator holds information about the set of default memory parts. However, if your specific memory part is not present, you can create a new one.</a:t>
            </a:r>
          </a:p>
          <a:p>
            <a:endParaRPr lang="en-US" dirty="0"/>
          </a:p>
          <a:p>
            <a:r>
              <a:rPr lang="en-US" b="0" dirty="0"/>
              <a:t>The QSPI Configurator saves configuration information in a .</a:t>
            </a:r>
            <a:r>
              <a:rPr lang="en-US" b="0" dirty="0" err="1"/>
              <a:t>cyqspi</a:t>
            </a:r>
            <a:r>
              <a:rPr lang="en-US" b="0" dirty="0"/>
              <a:t> file, which contains all the required information about the device and the application. When you save changes, the QSPI Configurator generates/updates firmware in the BSP’s "</a:t>
            </a:r>
            <a:r>
              <a:rPr lang="en-US" b="0" dirty="0" err="1"/>
              <a:t>GeneratedSource</a:t>
            </a:r>
            <a:r>
              <a:rPr lang="en-US" b="0" dirty="0"/>
              <a:t>" folder.</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38AE9D4C-35CD-42B6-958E-4D928C5CE904}"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765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 – need to leverage overlay)</a:t>
            </a:r>
          </a:p>
          <a:p>
            <a:endParaRPr lang="en-US" dirty="0"/>
          </a:p>
          <a:p>
            <a:r>
              <a:rPr lang="en-US" dirty="0"/>
              <a:t>Moving further, we have the SMART I/O Configurator</a:t>
            </a:r>
          </a:p>
          <a:p>
            <a:endParaRPr lang="en-US" dirty="0"/>
          </a:p>
          <a:p>
            <a:r>
              <a:rPr lang="en-US" dirty="0"/>
              <a:t>The Smart I/O Configurator is part of a collection of tools included in the </a:t>
            </a:r>
            <a:r>
              <a:rPr lang="en-US" dirty="0" err="1"/>
              <a:t>ModusToolbox</a:t>
            </a:r>
            <a:r>
              <a:rPr lang="en-US" dirty="0"/>
              <a:t> software. It provides a GUI to configure the Smart I/O.</a:t>
            </a:r>
          </a:p>
          <a:p>
            <a:endParaRPr lang="en-US" dirty="0"/>
          </a:p>
          <a:p>
            <a:r>
              <a:rPr lang="en-US" dirty="0"/>
              <a:t>The Smart I/O block adds programmable logic to an I/O port.</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a:t>[Press Enter for animation] </a:t>
            </a:r>
          </a:p>
          <a:p>
            <a:r>
              <a:rPr lang="en-US" dirty="0"/>
              <a:t>It is positioned in the signal path between the highspeed I/O matrix (HSIOM) and the I/O port. The HSIOM multiplexes the output signals from fixed-function peripherals and the CPU to a specific port pin and vice-versa. The Smart I/O block is placed on this signal path, acting as a bridge that can process signals between port pins and the HSIOM.</a:t>
            </a:r>
          </a:p>
          <a:p>
            <a:endParaRPr lang="en-US" dirty="0"/>
          </a:p>
          <a:p>
            <a:r>
              <a:rPr lang="en-US" dirty="0"/>
              <a:t>There are several areas in the GUI to configure signals: Chip, I/O, Data Unit, and LUT. Inputs to the chip from the I/O port can be logically operated upon before being routed to the peripheral blocks or internal connections of the chip. Likewise, outputs from the peripheral blocks or internal connections of the chip can be logically operated upon before being routed to the I/O port.</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8EDDD615-7707-4163-B8F9-2334B1C5759E}"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2074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PSOC™ Edge E84 secured boot process starts with BOOT_ROM. As a root-of-trust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RoT</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entails the next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level software authentication through the public key cryptography to ensure that only authorized software is</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loaded and executed on the device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Secured enclave boot</a:t>
            </a:r>
          </a:p>
          <a:p>
            <a:endParaRPr lang="en-US" sz="1200" dirty="0"/>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PSOC™ Edge E84 secured enclave is based on the lock-step Cortex® -M0+ CPU, coupled with dedicated local</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ROM, SRAM, and islands of replication of hardware cryptographic accelerators. The secured enclave has</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exclusive access to the sensitive data on the device. It is isolated from the rest of the system and provides a</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secured environment for secure boot and PSA-compliant cryptographic services. APPCPUSS and SYSCPUSS can </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communicate with the secured enclave through a tightly-controlled IPC mechanism. The secure enclave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decides what information should be shared in response to an IPC request.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secured enclave provides multi-stage booting through immutable ROM_BOOT and RRAM_BOOT.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Together, BOOT_ROM and RRAM_BOOT offer the following functionality.</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Implements a hardware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RoT</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in protection-context 0 and provides an immutable trust anchor based 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authorization from Infineon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Applies the trims and performs authentication of Extended Boot  and launches them on successful</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authentication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Authenticates and launches the SE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(Secured Enclave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and enables the device</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provisioning</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Facilitates “secured debug” by enforcing access restrictions on the debug access port (SWD/JTAG)</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Provides PSA-compliant Crypto services for Application CPUs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the first code executed by the CM33 CPU of PSOC™ Edge E84. The secured enclave boot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software authenticates the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image on RRAM, and launches it if authentication is successful.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Devices are shipped out from Infineon in development lifecycles. In this lifecycles,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pre-programmed into</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device, but not locked down.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stock version of the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offers the serial interface (I2C, SPI,</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UART and USB) capability. Infineon also releases a version of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without alternate serial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interfaces, which reduces the footprint on RRAM. As long as the device is in development lifecycles,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can be re-programmed via the secured enclave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RAMApps</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provided by Infineon.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gets locked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down when device transitions to production lifecycle. Note that since Secured Enclave can only authenticate</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Infineon-signed versions of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Extended Boot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it is mandatory to use Infineon-released versions</a:t>
            </a:r>
            <a:endParaRPr lang="en-US" dirty="0"/>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Extended Boot launches CM33 Secure project present in RRAM from a fixed location, which then configures external QSPI flash in XIP mode and launches CM33 Non-Secure application. Additionally CM33 Non-Secure application enables CM55 CPU and launches the CM55 application in external flash.</a:t>
            </a:r>
            <a:endParaRPr lang="en-US" dirty="0"/>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3343E869-51C1-487E-A659-DF7459E7FCF9}"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28</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2249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rgbClr val="0A8276"/>
              </a:buClr>
              <a:buFont typeface="Wingdings" panose="05000000000000000000" pitchFamily="2" charset="2"/>
              <a:buNone/>
            </a:pPr>
            <a:r>
              <a:rPr lang="en-US" sz="1200" dirty="0"/>
              <a:t>Development : </a:t>
            </a:r>
          </a:p>
          <a:p>
            <a:pPr>
              <a:buClr>
                <a:srgbClr val="0A8276"/>
              </a:buClr>
              <a:buFont typeface="Wingdings" panose="05000000000000000000" pitchFamily="2" charset="2"/>
              <a:buChar char="q"/>
            </a:pPr>
            <a:r>
              <a:rPr lang="en-US" sz="1200" dirty="0"/>
              <a:t>PSOC Edge MCU is shipped from Infineon factory in the “Development” lifecycle. OEM can extend the ownership of the device by provisioning the device with OEM certificate.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 Provisioning process installs the OEM keys; debug, boot, and system configuration policies; as well as the extended boot software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The development lifecycle is recommended for all development activity until the device is ready to go for production</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In this lifecycle OEM can enable or disable the secure boot.</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None/>
            </a:pPr>
            <a:r>
              <a:rPr lang="en-US" sz="1200" dirty="0"/>
              <a:t>Production : </a:t>
            </a:r>
          </a:p>
          <a:p>
            <a:pPr>
              <a:buClr>
                <a:srgbClr val="0A8276"/>
              </a:buClr>
              <a:buFont typeface="Wingdings" panose="05000000000000000000" pitchFamily="2" charset="2"/>
              <a:buChar char="q"/>
            </a:pPr>
            <a:r>
              <a:rPr lang="en-US" sz="1200" dirty="0"/>
              <a:t> OEM can transition the device from “Development” to “Production” by provisioning the device with a OEM “Production certificate”.</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Re-provisioning is possible if allowed by the policy</a:t>
            </a:r>
          </a:p>
          <a:p>
            <a:pPr>
              <a:buClr>
                <a:srgbClr val="0A8276"/>
              </a:buClr>
              <a:buFont typeface="Wingdings" panose="05000000000000000000" pitchFamily="2" charset="2"/>
              <a:buChar char="q"/>
            </a:pPr>
            <a:endParaRPr lang="en-US" sz="1200" dirty="0"/>
          </a:p>
          <a:p>
            <a:pPr>
              <a:buClr>
                <a:srgbClr val="0A8276"/>
              </a:buClr>
              <a:buFont typeface="Wingdings" panose="05000000000000000000" pitchFamily="2" charset="2"/>
              <a:buChar char="q"/>
            </a:pPr>
            <a:r>
              <a:rPr lang="en-US" sz="1200" dirty="0"/>
              <a:t> Secure boot is always enabled in this lifecycle</a:t>
            </a:r>
          </a:p>
          <a:p>
            <a:pPr>
              <a:buClr>
                <a:srgbClr val="0A8276"/>
              </a:buClr>
              <a:buFont typeface="Wingdings" panose="05000000000000000000" pitchFamily="2" charset="2"/>
              <a:buNone/>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sz="1200" dirty="0"/>
              <a:t>Most device assets are “frozen” in the production lifecycle and cannot be changed unless allowed by the re-provisioning policy.</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sz="1200"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sz="1200" dirty="0"/>
              <a:t>Note: OEM certificate for provisioning is required to be signed by Infineon. Edge Protect Signing service can be availed to sign the certificate</a:t>
            </a:r>
            <a:r>
              <a:rPr lang="en-US" dirty="0"/>
              <a:t>. </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r>
              <a:rPr lang="en-US" dirty="0"/>
              <a:t>RMA :</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None/>
              <a:tabLst/>
              <a:defRPr/>
            </a:pPr>
            <a:endParaRPr lang="en-US" dirty="0"/>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dirty="0"/>
              <a:t>Transition to RMA is possible from development and production lifecycle</a:t>
            </a:r>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dirty="0"/>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dirty="0"/>
              <a:t>It is performed by an SE Service application, which is provided by Infineon</a:t>
            </a:r>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dirty="0"/>
          </a:p>
          <a:p>
            <a:pPr marL="171450" marR="0" lvl="0" indent="-17145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r>
              <a:rPr lang="en-US" dirty="0"/>
              <a:t>Device in RMA mode can be shipped to Infineon for failure analysis</a:t>
            </a:r>
          </a:p>
          <a:p>
            <a:pPr marL="0" marR="0" lvl="0" indent="0" algn="l" defTabSz="914400" rtl="0" eaLnBrk="1" fontAlgn="base" latinLnBrk="0" hangingPunct="1">
              <a:lnSpc>
                <a:spcPct val="100000"/>
              </a:lnSpc>
              <a:spcBef>
                <a:spcPct val="30000"/>
              </a:spcBef>
              <a:spcAft>
                <a:spcPct val="0"/>
              </a:spcAft>
              <a:buClr>
                <a:srgbClr val="0A8276"/>
              </a:buClr>
              <a:buSzTx/>
              <a:buFont typeface="Wingdings" panose="05000000000000000000" pitchFamily="2" charset="2"/>
              <a:buChar char="q"/>
              <a:tabLst/>
              <a:defRPr/>
            </a:pPr>
            <a:endParaRPr lang="en-US" sz="1200" dirty="0"/>
          </a:p>
          <a:p>
            <a:pPr>
              <a:buClr>
                <a:srgbClr val="0A8276"/>
              </a:buClr>
              <a:buFont typeface="Wingdings" panose="05000000000000000000" pitchFamily="2" charset="2"/>
              <a:buChar char="q"/>
            </a:pPr>
            <a:endParaRPr lang="en-US" dirty="0"/>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56CCE82-5A64-46D9-9D1E-096EC9A930DF}"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11/12/2025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427509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domain is a software abstraction that allows the grouping of resources into domains to isolate accesses between one another. </a:t>
            </a:r>
          </a:p>
          <a:p>
            <a:endParaRPr lang="en-US" dirty="0"/>
          </a:p>
          <a:p>
            <a:r>
              <a:rPr lang="en-US" dirty="0"/>
              <a:t>At isolation level 1, there’s two domains, the Secure Processing Environment (SPE) and Non-Secure Processing Environment (NSPE). The SPE represents in the Secure CM33 and the NSPE represents both the Non-Secure CM33 and Non-Secure CM55. </a:t>
            </a:r>
          </a:p>
          <a:p>
            <a:endParaRPr lang="en-US" dirty="0"/>
          </a:p>
          <a:p>
            <a:r>
              <a:rPr lang="en-US" dirty="0"/>
              <a:t>At isolation level 2, we drill down further into the SPE to isolate the Platform Root Of Trust and Application Root of Trust. </a:t>
            </a:r>
          </a:p>
          <a:p>
            <a:endParaRPr lang="en-US" dirty="0"/>
          </a:p>
          <a:p>
            <a:r>
              <a:rPr lang="en-US" dirty="0"/>
              <a:t>At isolation level 3, we isolate all the secure services that are offered as part of the Platform </a:t>
            </a:r>
            <a:r>
              <a:rPr lang="en-US" dirty="0" err="1"/>
              <a:t>RoT</a:t>
            </a:r>
            <a:r>
              <a:rPr lang="en-US" dirty="0"/>
              <a:t> and Application </a:t>
            </a:r>
            <a:r>
              <a:rPr lang="en-US" dirty="0" err="1"/>
              <a:t>RoT</a:t>
            </a:r>
            <a:r>
              <a:rPr lang="en-US" dirty="0"/>
              <a:t>.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739EDB7D-8C77-40C6-88E0-E30217972BEB}"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65262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resources can be assigned to a security domain in the device configurator to isolate them from one another.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2E1C4D55-AF10-4F66-A722-8697E4961800}"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5064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5B7323C1-379D-449B-BA8B-6B5859824FAF}"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6644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E1067919-F3AE-4952-B55B-CBEB47032509}"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98651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E1067919-F3AE-4952-B55B-CBEB47032509}"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23942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At the application level we provide code examples and reference designs that help you develop applications.</a:t>
            </a:r>
          </a:p>
          <a:p>
            <a:pPr>
              <a:lnSpc>
                <a:spcPct val="107000"/>
              </a:lnSpc>
              <a:spcAft>
                <a:spcPts val="800"/>
              </a:spcAft>
            </a:pPr>
            <a:endParaRPr lang="en-US" sz="1800" b="0" dirty="0"/>
          </a:p>
          <a:p>
            <a:pPr>
              <a:lnSpc>
                <a:spcPct val="107000"/>
              </a:lnSpc>
              <a:spcAft>
                <a:spcPts val="800"/>
              </a:spcAft>
            </a:pPr>
            <a:endParaRPr lang="en-US" sz="1800" b="0" dirty="0"/>
          </a:p>
          <a:p>
            <a:pPr>
              <a:lnSpc>
                <a:spcPct val="107000"/>
              </a:lnSpc>
              <a:spcAft>
                <a:spcPts val="800"/>
              </a:spcAft>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Next, the middleware provides an extensive set of libraries for different solutions including graphics, touch sensing, machine learning, USB, and security. They can be added to your application using the Library manager.</a:t>
            </a:r>
          </a:p>
          <a:p>
            <a:endParaRPr lang="en-US" dirty="0"/>
          </a:p>
          <a:p>
            <a:endParaRPr lang="en-US" dirty="0"/>
          </a:p>
        </p:txBody>
      </p:sp>
      <p:sp>
        <p:nvSpPr>
          <p:cNvPr id="4" name="Slide Number Placeholder 3"/>
          <p:cNvSpPr>
            <a:spLocks noGrp="1"/>
          </p:cNvSpPr>
          <p:nvPr>
            <p:ph type="sldNum" sz="quarter" idx="5"/>
          </p:nvPr>
        </p:nvSpPr>
        <p:spPr/>
        <p:txBody>
          <a:bodyPr/>
          <a:lstStyle/>
          <a:p>
            <a:fld id="{E1BF97BA-8199-46CD-BCC6-AEFD91915EAF}" type="slidenum">
              <a:rPr lang="en-US" smtClean="0"/>
              <a:t>35</a:t>
            </a:fld>
            <a:endParaRPr lang="en-US" dirty="0"/>
          </a:p>
        </p:txBody>
      </p:sp>
    </p:spTree>
    <p:extLst>
      <p:ext uri="{BB962C8B-B14F-4D97-AF65-F5344CB8AC3E}">
        <p14:creationId xmlns:p14="http://schemas.microsoft.com/office/powerpoint/2010/main" val="18709254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b="0" dirty="0"/>
              <a:t>Moving Further on Middleware Portability APIs</a:t>
            </a:r>
          </a:p>
          <a:p>
            <a:pPr>
              <a:lnSpc>
                <a:spcPct val="107000"/>
              </a:lnSpc>
              <a:spcAft>
                <a:spcPts val="800"/>
              </a:spcAft>
            </a:pPr>
            <a:endParaRPr lang="en-US" sz="1800" b="0" dirty="0"/>
          </a:p>
          <a:p>
            <a:pPr>
              <a:lnSpc>
                <a:spcPct val="107000"/>
              </a:lnSpc>
              <a:spcAft>
                <a:spcPts val="800"/>
              </a:spcAft>
            </a:pPr>
            <a:r>
              <a:rPr lang="en-US" sz="1800" b="0" dirty="0"/>
              <a:t>[Press Enter for animation]</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36</a:t>
            </a:fld>
            <a:endParaRPr lang="en-US" dirty="0"/>
          </a:p>
        </p:txBody>
      </p:sp>
    </p:spTree>
    <p:extLst>
      <p:ext uri="{BB962C8B-B14F-4D97-AF65-F5344CB8AC3E}">
        <p14:creationId xmlns:p14="http://schemas.microsoft.com/office/powerpoint/2010/main" val="36030353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Let’s now look at the available Software resources</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The software stack in this figure illustrates the different components that makeup </a:t>
            </a:r>
            <a:r>
              <a:rPr lang="en-US" sz="1800" kern="100" dirty="0" err="1">
                <a:effectLst/>
                <a:latin typeface="Source Sans Pro" panose="020B0503030403020204" pitchFamily="34" charset="0"/>
                <a:ea typeface="Verdana" panose="020B0604030504040204" pitchFamily="34" charset="0"/>
                <a:cs typeface="Verdana" panose="020B0604030504040204" pitchFamily="34" charset="0"/>
              </a:rPr>
              <a:t>ModusToolbox</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 </a:t>
            </a:r>
          </a:p>
          <a:p>
            <a:pPr>
              <a:lnSpc>
                <a:spcPct val="107000"/>
              </a:lnSpc>
              <a:spcAft>
                <a:spcPts val="800"/>
              </a:spcAft>
            </a:pPr>
            <a:r>
              <a:rPr lang="en-US" sz="1800" b="0" dirty="0"/>
              <a:t>[Press Enter for animation]  The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PDL contains a set of low-level APIs to control hardware peripherals such as UART and SPI. The interfaces are usually specific to a particular device. Since the PDL interacts with the hardware at a lower level it is less portable between devices.</a:t>
            </a:r>
          </a:p>
          <a:p>
            <a:pPr>
              <a:lnSpc>
                <a:spcPct val="107000"/>
              </a:lnSpc>
              <a:spcAft>
                <a:spcPts val="800"/>
              </a:spcAft>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a:lnSpc>
                <a:spcPct val="107000"/>
              </a:lnSpc>
              <a:spcAft>
                <a:spcPts val="800"/>
              </a:spcAft>
            </a:pP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37</a:t>
            </a:fld>
            <a:endParaRPr lang="en-US" dirty="0"/>
          </a:p>
        </p:txBody>
      </p:sp>
    </p:spTree>
    <p:extLst>
      <p:ext uri="{BB962C8B-B14F-4D97-AF65-F5344CB8AC3E}">
        <p14:creationId xmlns:p14="http://schemas.microsoft.com/office/powerpoint/2010/main" val="5297417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To understand or to learn about the PDL APIs, refer to the PDL documentation </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b="0" dirty="0"/>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b="0" dirty="0"/>
              <a:t>[Press Enter for animation] </a:t>
            </a: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Here is the link for PDL documentation,</a:t>
            </a:r>
            <a:endParaRPr lang="en-US" sz="1800" kern="10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p:cNvSpPr>
            <a:spLocks noGrp="1"/>
          </p:cNvSpPr>
          <p:nvPr>
            <p:ph type="sldNum" sz="quarter" idx="5"/>
          </p:nvPr>
        </p:nvSpPr>
        <p:spPr/>
        <p:txBody>
          <a:bodyPr/>
          <a:lstStyle/>
          <a:p>
            <a:fld id="{E1BF97BA-8199-46CD-BCC6-AEFD91915EAF}" type="slidenum">
              <a:rPr lang="en-US" smtClean="0"/>
              <a:t>38</a:t>
            </a:fld>
            <a:endParaRPr lang="en-US" dirty="0"/>
          </a:p>
        </p:txBody>
      </p:sp>
    </p:spTree>
    <p:extLst>
      <p:ext uri="{BB962C8B-B14F-4D97-AF65-F5344CB8AC3E}">
        <p14:creationId xmlns:p14="http://schemas.microsoft.com/office/powerpoint/2010/main" val="5106265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show actual tool)</a:t>
            </a:r>
          </a:p>
          <a:p>
            <a:endParaRPr lang="en-US" dirty="0"/>
          </a:p>
          <a:p>
            <a:r>
              <a:rPr lang="en-US" dirty="0"/>
              <a:t>Moving on lets look at how to add </a:t>
            </a:r>
            <a:r>
              <a:rPr lang="en-US" dirty="0" err="1"/>
              <a:t>Freertos</a:t>
            </a:r>
            <a:r>
              <a:rPr lang="en-US" dirty="0"/>
              <a:t> to your application	</a:t>
            </a:r>
          </a:p>
          <a:p>
            <a:endParaRPr lang="en-US" dirty="0"/>
          </a:p>
          <a:p>
            <a:r>
              <a:rPr lang="en-US" dirty="0"/>
              <a:t>Adding native </a:t>
            </a:r>
            <a:r>
              <a:rPr lang="en-US" dirty="0" err="1"/>
              <a:t>FreeRTOS</a:t>
            </a:r>
            <a:r>
              <a:rPr lang="en-US" dirty="0"/>
              <a:t> support to a </a:t>
            </a:r>
            <a:r>
              <a:rPr lang="en-US" dirty="0" err="1"/>
              <a:t>ModusToolbox</a:t>
            </a:r>
            <a:r>
              <a:rPr lang="en-US" dirty="0"/>
              <a:t>™ application project is like adding any middleware library. </a:t>
            </a:r>
          </a:p>
          <a:p>
            <a:endParaRPr lang="en-US" dirty="0"/>
          </a:p>
          <a:p>
            <a:r>
              <a:rPr lang="en-US" dirty="0"/>
              <a:t>You can include the </a:t>
            </a:r>
            <a:r>
              <a:rPr lang="en-US" dirty="0" err="1"/>
              <a:t>FreeRTOS</a:t>
            </a:r>
            <a:r>
              <a:rPr lang="en-US" dirty="0"/>
              <a:t> middleware in your application by using the Library Manager.</a:t>
            </a:r>
          </a:p>
          <a:p>
            <a:r>
              <a:rPr lang="en-US" dirty="0"/>
              <a:t>If using the Eclipse IDE, select the application and </a:t>
            </a:r>
          </a:p>
          <a:p>
            <a:r>
              <a:rPr lang="en-US" sz="1200" b="0" dirty="0"/>
              <a:t>[Press Enter for animation] </a:t>
            </a:r>
            <a:r>
              <a:rPr lang="en-US" dirty="0"/>
              <a:t>Click the Library Manager link in the Quick Panel. </a:t>
            </a:r>
          </a:p>
          <a:p>
            <a:r>
              <a:rPr lang="en-US" sz="1200" b="0" dirty="0"/>
              <a:t>[Press Enter for animation] </a:t>
            </a:r>
            <a:r>
              <a:rPr lang="en-US" dirty="0"/>
              <a:t>Click Add Library and </a:t>
            </a:r>
          </a:p>
          <a:p>
            <a:r>
              <a:rPr lang="en-US" sz="1200" b="0" dirty="0"/>
              <a:t>[Press Enter for animation] </a:t>
            </a:r>
            <a:r>
              <a:rPr lang="en-US" dirty="0"/>
              <a:t>Select </a:t>
            </a:r>
            <a:r>
              <a:rPr lang="en-US" dirty="0" err="1"/>
              <a:t>freertos</a:t>
            </a:r>
            <a:r>
              <a:rPr lang="en-US" dirty="0"/>
              <a:t> from the Core dialog. </a:t>
            </a:r>
          </a:p>
          <a:p>
            <a:r>
              <a:rPr lang="en-US" sz="1200" b="0" dirty="0"/>
              <a:t>[Press Enter for animation] </a:t>
            </a:r>
            <a:r>
              <a:rPr lang="en-US" dirty="0"/>
              <a:t>Click OK and </a:t>
            </a:r>
          </a:p>
          <a:p>
            <a:r>
              <a:rPr lang="en-US" sz="1200" b="0" dirty="0"/>
              <a:t>[Press Enter for animation] </a:t>
            </a:r>
            <a:r>
              <a:rPr lang="en-US" dirty="0"/>
              <a:t>Update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68C4B104-81A4-47F3-B35A-2D75CB8E3712}"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6844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will explain the features available in the board showing the board to the attendees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4AECB975-376F-417A-8F32-30B3894DAA59}"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1485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Presenter will explain the features available in the board showing the board to the attendees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12B00249-6362-45A1-8FDA-282CDAED790C}"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06752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Presenter will explain the features available in the board showing the board to the attendees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765EDF48-01B0-4A30-832A-3E415370A4E1}"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75910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Presenter will explain the features available in the board showing the board to the attendees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BEACFB63-2C96-45A6-9708-227D1108792C}"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50352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Let’s now look at programming and debugging </a:t>
            </a:r>
          </a:p>
          <a:p>
            <a:pPr marL="0" marR="0" lvl="0" indent="0" algn="l" defTabSz="914400" rtl="0" eaLnBrk="1" fontAlgn="base" latinLnBrk="0" hangingPunct="1">
              <a:lnSpc>
                <a:spcPct val="107000"/>
              </a:lnSpc>
              <a:spcBef>
                <a:spcPct val="30000"/>
              </a:spcBef>
              <a:spcAft>
                <a:spcPts val="800"/>
              </a:spcAft>
              <a:buClrTx/>
              <a:buSzTx/>
              <a:buFontTx/>
              <a:buNone/>
              <a:tabLst/>
              <a:defRPr/>
            </a:pPr>
            <a:endParaRPr lang="en-US" sz="1800" kern="100" dirty="0">
              <a:effectLst/>
              <a:latin typeface="Source Sans Pro" panose="020B0503030403020204" pitchFamily="34" charset="0"/>
              <a:ea typeface="Verdana" panose="020B0604030504040204" pitchFamily="34" charset="0"/>
              <a:cs typeface="Verdana" panose="020B0604030504040204" pitchFamily="34" charset="0"/>
            </a:endParaRPr>
          </a:p>
          <a:p>
            <a:pPr marL="0" marR="0" lvl="0" indent="0" algn="l" defTabSz="914400" rtl="0" eaLnBrk="1" fontAlgn="base" latinLnBrk="0" hangingPunct="1">
              <a:lnSpc>
                <a:spcPct val="107000"/>
              </a:lnSpc>
              <a:spcBef>
                <a:spcPct val="30000"/>
              </a:spcBef>
              <a:spcAft>
                <a:spcPts val="800"/>
              </a:spcAft>
              <a:buClrTx/>
              <a:buSzTx/>
              <a:buFontTx/>
              <a:buNone/>
              <a:tabLst/>
              <a:defRPr/>
            </a:pPr>
            <a:r>
              <a:rPr lang="en-US" sz="1800" kern="100" dirty="0">
                <a:effectLst/>
                <a:latin typeface="Source Sans Pro" panose="020B0503030403020204" pitchFamily="34" charset="0"/>
                <a:ea typeface="Verdana" panose="020B0604030504040204" pitchFamily="34" charset="0"/>
                <a:cs typeface="Verdana" panose="020B0604030504040204" pitchFamily="34" charset="0"/>
              </a:rPr>
              <a:t>ModusToolbox supports programming the device and debugging your code.</a:t>
            </a:r>
            <a:endParaRPr lang="en-US" dirty="0"/>
          </a:p>
          <a:p>
            <a:pPr>
              <a:lnSpc>
                <a:spcPct val="107000"/>
              </a:lnSpc>
              <a:spcAft>
                <a:spcPts val="800"/>
              </a:spcAft>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The PSOC Edge development kit has a KitProg3 onboard programmer and debugger. It supports the Cortex Microcontroller Software Interface Standard - Debug Access Port or in short the CMSIS-DAP.</a:t>
            </a:r>
          </a:p>
          <a:p>
            <a:pPr>
              <a:lnSpc>
                <a:spcPct val="107000"/>
              </a:lnSpc>
              <a:spcAft>
                <a:spcPts val="800"/>
              </a:spcAft>
            </a:pP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pPr>
              <a:lnSpc>
                <a:spcPct val="107000"/>
              </a:lnSpc>
              <a:spcAft>
                <a:spcPts val="800"/>
              </a:spcAft>
            </a:pP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Programming and debugging are native to your chosen development environment. Infineon devices are supported in major program and development solutions such as J-Link and </a:t>
            </a:r>
            <a:r>
              <a:rPr lang="en-US" sz="1200" kern="100" dirty="0" err="1">
                <a:effectLst/>
                <a:latin typeface="Source Sans Pro" panose="020B0503030403020204" pitchFamily="34" charset="0"/>
                <a:ea typeface="Verdana" panose="020B0604030504040204" pitchFamily="34" charset="0"/>
                <a:cs typeface="Verdana" panose="020B0604030504040204" pitchFamily="34" charset="0"/>
              </a:rPr>
              <a:t>OpenOCD</a:t>
            </a:r>
            <a:r>
              <a:rPr lang="en-US" sz="1200" kern="100" dirty="0">
                <a:effectLst/>
                <a:latin typeface="Source Sans Pro" panose="020B0503030403020204" pitchFamily="34" charset="0"/>
                <a:ea typeface="Verdana" panose="020B0604030504040204" pitchFamily="34" charset="0"/>
                <a:cs typeface="Verdana" panose="020B0604030504040204" pitchFamily="34" charset="0"/>
              </a:rPr>
              <a:t> - Open On-Chip Debugger.</a:t>
            </a:r>
            <a:endParaRPr lang="en-US" sz="1200" kern="100" dirty="0">
              <a:effectLst/>
              <a:latin typeface="Verdana" panose="020B0604030504040204" pitchFamily="34" charset="0"/>
              <a:ea typeface="Verdana" panose="020B0604030504040204" pitchFamily="34" charset="0"/>
              <a:cs typeface="Verdana" panose="020B0604030504040204" pitchFamily="34" charset="0"/>
            </a:endParaRPr>
          </a:p>
          <a:p>
            <a:endParaRPr lang="en-US" dirty="0"/>
          </a:p>
          <a:p>
            <a:r>
              <a:rPr lang="en-US" dirty="0"/>
              <a:t>There are a few specifics to be aware of regarding Debugging with the Early Access Pack of PSOC Edge and ModusToolbox v3.1</a:t>
            </a:r>
          </a:p>
          <a:p>
            <a:r>
              <a:rPr lang="en-US" dirty="0"/>
              <a:t>Reference the Getting Started Guide for installation details (Python and Edge Protect Tools) and the Early Access Pack Release Notes for specific launch configuration details</a:t>
            </a:r>
          </a:p>
          <a:p>
            <a:r>
              <a:rPr lang="en-US" dirty="0"/>
              <a:t>Let’s see Debugging in action</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B7997091-2A3D-4647-AF5D-338EE58D6EF2}"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44</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2349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description of the Hello World + Blinky example </a:t>
            </a:r>
          </a:p>
          <a:p>
            <a:endParaRPr lang="en-US" dirty="0"/>
          </a:p>
          <a:p>
            <a:pPr>
              <a:buFont typeface="Wingdings" panose="05000000000000000000" pitchFamily="2" charset="2"/>
              <a:buNone/>
            </a:pPr>
            <a:r>
              <a:rPr lang="en-US" sz="2400" b="1" dirty="0">
                <a:solidFill>
                  <a:srgbClr val="1D1D1D"/>
                </a:solidFill>
              </a:rPr>
              <a:t>This PSOC™ Edge E84 Hello World Code example demonstrates </a:t>
            </a:r>
          </a:p>
          <a:p>
            <a:pPr marL="0" indent="0">
              <a:buNone/>
            </a:pPr>
            <a:r>
              <a:rPr lang="en-US" sz="1200" b="1" dirty="0">
                <a:solidFill>
                  <a:srgbClr val="1D1D1D"/>
                </a:solidFill>
              </a:rPr>
              <a:t>Step 1: Initialize UART, GPIO and Timer</a:t>
            </a:r>
          </a:p>
          <a:p>
            <a:pPr marL="0" indent="0">
              <a:buNone/>
            </a:pPr>
            <a:r>
              <a:rPr lang="en-US" sz="1200" b="1" dirty="0">
                <a:solidFill>
                  <a:srgbClr val="1D1D1D"/>
                </a:solidFill>
              </a:rPr>
              <a:t> Step 2: Initiate UART communication by </a:t>
            </a:r>
          </a:p>
          <a:p>
            <a:pPr marL="0" indent="0">
              <a:buNone/>
            </a:pPr>
            <a:r>
              <a:rPr lang="en-US" sz="1200" b="1" dirty="0">
                <a:solidFill>
                  <a:srgbClr val="1D1D1D"/>
                </a:solidFill>
              </a:rPr>
              <a:t>            sending “Hello World” to Serial terminal</a:t>
            </a:r>
          </a:p>
          <a:p>
            <a:pPr marL="0" indent="0">
              <a:buNone/>
            </a:pPr>
            <a:r>
              <a:rPr lang="en-US" sz="1200" b="1" dirty="0">
                <a:solidFill>
                  <a:srgbClr val="1D1D1D"/>
                </a:solidFill>
              </a:rPr>
              <a:t>Step 3: Blink LED , On every 1 second timer interrupt</a:t>
            </a:r>
          </a:p>
          <a:p>
            <a:pPr marL="0" indent="0">
              <a:buNone/>
            </a:pPr>
            <a:r>
              <a:rPr lang="en-US" sz="1200" b="1" dirty="0">
                <a:solidFill>
                  <a:srgbClr val="1D1D1D"/>
                </a:solidFill>
              </a:rPr>
              <a:t>Step 4 : Wait for the user input from serial terminal </a:t>
            </a:r>
          </a:p>
          <a:p>
            <a:pPr marL="0" indent="0">
              <a:buNone/>
            </a:pPr>
            <a:r>
              <a:rPr lang="en-US" sz="1200" b="1" dirty="0">
                <a:solidFill>
                  <a:srgbClr val="1D1D1D"/>
                </a:solidFill>
              </a:rPr>
              <a:t>             to pause or resume the led blinking</a:t>
            </a:r>
          </a:p>
          <a:p>
            <a:endParaRPr lang="en-US" dirty="0"/>
          </a:p>
          <a:p>
            <a:r>
              <a:rPr lang="en-US" dirty="0"/>
              <a:t>We will be using HAL (Hardware Abstraction Layer) for this code example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9AB39965-86D5-4AC8-901B-E8CFFFF021E4}"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46</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21221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flow chart </a:t>
            </a:r>
          </a:p>
          <a:p>
            <a:endParaRPr lang="en-US" dirty="0"/>
          </a:p>
          <a:p>
            <a:r>
              <a:rPr lang="en-US" dirty="0"/>
              <a:t>Presenter will explain the flow chart </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D5679799-6EF4-4681-BC28-38FD91E6EF86}"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47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82528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Lets look at our second code example </a:t>
            </a:r>
            <a:r>
              <a:rPr lang="en-US" sz="1200" b="1" dirty="0"/>
              <a:t>PSOC™ Edge MCU: IPC Semaphores using PDL</a:t>
            </a:r>
            <a:endParaRPr lang="en-US" dirty="0"/>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Here are the steps we follow to develop our </a:t>
            </a:r>
            <a:r>
              <a:rPr lang="en-US" sz="1200" b="1" dirty="0"/>
              <a:t>PSOC™ Edge MCU: IPC Semaphores using PDL</a:t>
            </a:r>
          </a:p>
          <a:p>
            <a:endParaRPr lang="en-US" dirty="0"/>
          </a:p>
          <a:p>
            <a:endParaRPr lang="en-US" dirty="0"/>
          </a:p>
          <a:p>
            <a:endParaRPr lang="en-US" dirty="0"/>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A0E7009A-67A7-480D-B18C-AD92EDDDC510}"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11/12/2025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975138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discuss on IPC </a:t>
            </a:r>
          </a:p>
          <a:p>
            <a:endParaRPr lang="en-US" dirty="0"/>
          </a:p>
          <a:p>
            <a:r>
              <a:rPr lang="en-US" dirty="0"/>
              <a:t>The PSOC Edge E84 Inter-Processor Communication module is designed to facilitate the exchange of signaling messages between CPUs. The Inter-Processor Communication (IPC) module plays an important role in enabling multiple processors to effectively communicate and synchronize their operations.</a:t>
            </a:r>
            <a:br>
              <a:rPr lang="en-US" dirty="0"/>
            </a:b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IPC module support for up to 16 communication channels and 16 interrupts, adding a significant degree of versatility and flexibility to the communication framework. The IPC module operates when the CPU is in the Active power mode, but it becomes inactive the Sleep and Deep Sleep CPU power modes.</a:t>
            </a:r>
          </a:p>
          <a:p>
            <a:endParaRPr lang="en-US" dirty="0"/>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04917C2-1492-4418-BFF1-592B6F9B3DF9}"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11/12/2025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42380840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Arial" panose="020B0604020202020204" pitchFamily="34" charset="0"/>
                <a:ea typeface="+mn-ea"/>
                <a:cs typeface="Arial" panose="020B0604020202020204" pitchFamily="34" charset="0"/>
              </a:rPr>
              <a:t>The communication between more than one thread (CPU or task) is supported using an IPC driver. It implements two common methods, typically available in RTOS environments for thread interactions:</a:t>
            </a:r>
            <a:endParaRPr lang="en-US" sz="1200" i="1" kern="1200" dirty="0">
              <a:solidFill>
                <a:schemeClr val="tx1"/>
              </a:solidFill>
              <a:effectLst/>
              <a:latin typeface="Arial" panose="020B0604020202020204" pitchFamily="34" charset="0"/>
              <a:ea typeface="+mn-ea"/>
              <a:cs typeface="Arial" panose="020B0604020202020204" pitchFamily="34" charset="0"/>
            </a:endParaRPr>
          </a:p>
          <a:p>
            <a:pPr lvl="0"/>
            <a:r>
              <a:rPr lang="en-US" sz="1200" b="1" i="0" kern="1200" dirty="0">
                <a:solidFill>
                  <a:schemeClr val="tx1"/>
                </a:solidFill>
                <a:effectLst/>
                <a:latin typeface="Arial" panose="020B0604020202020204" pitchFamily="34" charset="0"/>
                <a:ea typeface="+mn-ea"/>
                <a:cs typeface="Arial" panose="020B0604020202020204" pitchFamily="34" charset="0"/>
              </a:rPr>
              <a:t>Semaphore (binary): </a:t>
            </a:r>
            <a:r>
              <a:rPr lang="en-US" sz="1200" i="0" kern="1200" dirty="0">
                <a:solidFill>
                  <a:schemeClr val="tx1"/>
                </a:solidFill>
                <a:effectLst/>
                <a:latin typeface="Arial" panose="020B0604020202020204" pitchFamily="34" charset="0"/>
                <a:ea typeface="+mn-ea"/>
                <a:cs typeface="Arial" panose="020B0604020202020204" pitchFamily="34" charset="0"/>
              </a:rPr>
              <a:t>used to regulate accesses to shared resources between two or more threads or used for signaling between two tasks. This type of semaphore can assume only values 0 or 1. Any thread can take (value set to 1) or give (value set to 0) the semaphore.</a:t>
            </a:r>
            <a:endParaRPr lang="en-US" sz="1200" i="1" kern="1200" dirty="0">
              <a:solidFill>
                <a:schemeClr val="tx1"/>
              </a:solidFill>
              <a:effectLst/>
              <a:latin typeface="Arial" panose="020B0604020202020204" pitchFamily="34" charset="0"/>
              <a:ea typeface="+mn-ea"/>
              <a:cs typeface="Arial" panose="020B0604020202020204" pitchFamily="34" charset="0"/>
            </a:endParaRPr>
          </a:p>
          <a:p>
            <a:pPr lvl="0"/>
            <a:r>
              <a:rPr lang="en-US" sz="1200" b="1" i="0" kern="1200" dirty="0">
                <a:solidFill>
                  <a:schemeClr val="tx1"/>
                </a:solidFill>
                <a:effectLst/>
                <a:latin typeface="Arial" panose="020B0604020202020204" pitchFamily="34" charset="0"/>
                <a:ea typeface="+mn-ea"/>
                <a:cs typeface="Arial" panose="020B0604020202020204" pitchFamily="34" charset="0"/>
              </a:rPr>
              <a:t>Queue:</a:t>
            </a:r>
            <a:r>
              <a:rPr lang="en-US" sz="1200" i="0" kern="1200" dirty="0">
                <a:solidFill>
                  <a:schemeClr val="tx1"/>
                </a:solidFill>
                <a:effectLst/>
                <a:latin typeface="Arial" panose="020B0604020202020204" pitchFamily="34" charset="0"/>
                <a:ea typeface="+mn-ea"/>
                <a:cs typeface="Arial" panose="020B0604020202020204" pitchFamily="34" charset="0"/>
              </a:rPr>
              <a:t> used to send any type of data between the threads. The user can set the number of items in each queue and define the item size. It implements a FIFO mechanism in firmware.</a:t>
            </a:r>
            <a:endParaRPr lang="en-US" sz="1200" i="1" kern="1200" dirty="0">
              <a:solidFill>
                <a:schemeClr val="tx1"/>
              </a:solidFill>
              <a:effectLst/>
              <a:latin typeface="Arial" panose="020B0604020202020204" pitchFamily="34" charset="0"/>
              <a:ea typeface="+mn-ea"/>
              <a:cs typeface="Arial" panose="020B0604020202020204" pitchFamily="34" charset="0"/>
            </a:endParaRPr>
          </a:p>
          <a:p>
            <a:endParaRPr lang="en-US" dirty="0"/>
          </a:p>
          <a:p>
            <a:r>
              <a:rPr lang="en-US" sz="1200" i="1" kern="1200" dirty="0">
                <a:solidFill>
                  <a:schemeClr val="tx1"/>
                </a:solidFill>
                <a:effectLst/>
                <a:latin typeface="Arial" panose="020B0604020202020204" pitchFamily="34" charset="0"/>
                <a:ea typeface="+mn-ea"/>
                <a:cs typeface="Arial" panose="020B0604020202020204" pitchFamily="34" charset="0"/>
              </a:rPr>
              <a:t>The IPC HAL driver will be built on top of the IPC PDL driver. The primary purpose of the IPC HAL driver is to provide a consistent, easy to use, API for customers to quickly implement their multiple CPU requirements, and for middleware that requires code to run on multiple CPUs</a:t>
            </a:r>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0D3D7130-9EF1-4911-BDBC-4B728CF12BDC}"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50</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08889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IPC Peripheral abstraction layer APIs for binary semaphores</a:t>
            </a:r>
          </a:p>
        </p:txBody>
      </p:sp>
      <p:sp>
        <p:nvSpPr>
          <p:cNvPr id="4" name="Header Placeholder 3"/>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00" b="0" i="0" u="none" strike="noStrike" kern="1200" cap="none" spc="0" normalizeH="0" baseline="0" noProof="0" dirty="0">
              <a:ln>
                <a:noFill/>
              </a:ln>
              <a:no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Copyright © Infineon Technologies AG 2020. All rights reserved.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 b="1"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248D6CF6-2243-41A7-80AD-F72536B252BA}" type="datetime1">
              <a:rPr kumimoji="0" lang="en-US" sz="100" b="0" i="0" u="none" strike="noStrike" kern="1200" cap="none" spc="0" normalizeH="0" baseline="0" noProof="0" smtClean="0">
                <a:ln>
                  <a:noFill/>
                </a:ln>
                <a:noFill/>
                <a:effectLst/>
                <a:uLnTx/>
                <a:uFillTx/>
                <a:latin typeface="Arial" panose="020B0604020202020204" pitchFamily="34" charset="0"/>
                <a:ea typeface="Verdana" pitchFamily="34" charset="0"/>
                <a:cs typeface="Arial" panose="020B0604020202020204" pitchFamily="34" charset="0"/>
              </a:rPr>
              <a:t>11/12/2025</a:t>
            </a:fld>
            <a:endParaRPr kumimoji="0" lang="en-US" sz="100" b="0" i="0" u="none" strike="noStrike" kern="1200" cap="none" spc="0" normalizeH="0" baseline="0" noProof="0" dirty="0">
              <a:ln>
                <a:noFill/>
              </a:ln>
              <a:noFill/>
              <a:effectLst/>
              <a:uLnTx/>
              <a:uFillTx/>
              <a:latin typeface="Arial" panose="020B0604020202020204" pitchFamily="34" charset="0"/>
              <a:ea typeface="Verdana" pitchFamily="34" charset="0"/>
              <a:cs typeface="Arial" panose="020B0604020202020204" pitchFamily="34" charset="0"/>
            </a:endParaRPr>
          </a:p>
        </p:txBody>
      </p:sp>
      <p:sp>
        <p:nvSpPr>
          <p:cNvPr id="7" name="Slide Number Placeholder 6"/>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65D906-55BD-49C5-997D-27A40DB53D15}" type="slidenum">
              <a:rPr kumimoji="0" lang="en-US" sz="800" b="0" i="0" u="none" strike="noStrike" kern="1200" cap="none" spc="0" normalizeH="0" baseline="0" noProof="0" smtClean="0">
                <a:ln>
                  <a:noFill/>
                </a:ln>
                <a:solidFill>
                  <a:srgbClr val="928285"/>
                </a:solidFill>
                <a:effectLst/>
                <a:uLnTx/>
                <a:uFillTx/>
                <a:latin typeface="Arial" panose="020B0604020202020204" pitchFamily="34" charset="0"/>
                <a:ea typeface="Verdana"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sz="800" b="0" i="0" u="none" strike="noStrike" kern="1200" cap="none" spc="0" normalizeH="0" baseline="0" noProof="0" dirty="0">
              <a:ln>
                <a:noFill/>
              </a:ln>
              <a:solidFill>
                <a:srgbClr val="928285"/>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3844998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flow chart </a:t>
            </a:r>
          </a:p>
          <a:p>
            <a:endParaRPr lang="en-US" dirty="0"/>
          </a:p>
          <a:p>
            <a:r>
              <a:rPr lang="en-US" dirty="0"/>
              <a:t>Presenter will explain the flow chart </a:t>
            </a:r>
          </a:p>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F31B47D0-07D2-445B-A17E-51FA99A850CD}"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4040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6" name="Date Placeholder 5"/>
          <p:cNvSpPr>
            <a:spLocks noGrp="1"/>
          </p:cNvSpPr>
          <p:nvPr>
            <p:ph type="dt" idx="1"/>
          </p:nvPr>
        </p:nvSpPr>
        <p:spPr/>
        <p:txBody>
          <a:bodyPr/>
          <a:lstStyle/>
          <a:p>
            <a:fld id="{44D4B532-2A48-4D91-AAAB-AAE9A1932A55}" type="datetime1">
              <a:rPr lang="en-US" smtClean="0"/>
              <a:t>11/12/2025</a:t>
            </a:fld>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53</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16169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2.jpg"/><Relationship Id="rId5" Type="http://schemas.openxmlformats.org/officeDocument/2006/relationships/tags" Target="../tags/tag10.xml"/><Relationship Id="rId10" Type="http://schemas.openxmlformats.org/officeDocument/2006/relationships/slideMaster" Target="../slideMasters/slideMaster1.xml"/><Relationship Id="rId4" Type="http://schemas.openxmlformats.org/officeDocument/2006/relationships/tags" Target="../tags/tag9.xml"/><Relationship Id="rId9" Type="http://schemas.openxmlformats.org/officeDocument/2006/relationships/tags" Target="../tags/tag1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5.sv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4.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jpeg"/><Relationship Id="rId5" Type="http://schemas.openxmlformats.org/officeDocument/2006/relationships/tags" Target="../tags/tag19.xml"/><Relationship Id="rId15" Type="http://schemas.openxmlformats.org/officeDocument/2006/relationships/image" Target="../media/image7.png"/><Relationship Id="rId10" Type="http://schemas.openxmlformats.org/officeDocument/2006/relationships/slideMaster" Target="../slideMasters/slideMaster1.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png"/><Relationship Id="rId5" Type="http://schemas.openxmlformats.org/officeDocument/2006/relationships/tags" Target="../tags/tag28.xml"/><Relationship Id="rId10" Type="http://schemas.openxmlformats.org/officeDocument/2006/relationships/image" Target="../media/image8.jpg"/><Relationship Id="rId4" Type="http://schemas.openxmlformats.org/officeDocument/2006/relationships/tags" Target="../tags/tag27.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6.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5.sv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4.png"/><Relationship Id="rId5" Type="http://schemas.openxmlformats.org/officeDocument/2006/relationships/tags" Target="../tags/tag36.xml"/><Relationship Id="rId10" Type="http://schemas.openxmlformats.org/officeDocument/2006/relationships/image" Target="../media/image9.jpeg"/><Relationship Id="rId4" Type="http://schemas.openxmlformats.org/officeDocument/2006/relationships/tags" Target="../tags/tag35.xml"/><Relationship Id="rId9" Type="http://schemas.openxmlformats.org/officeDocument/2006/relationships/slideMaster" Target="../slideMasters/slideMaster1.xml"/><Relationship Id="rId1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1.png"/><Relationship Id="rId5" Type="http://schemas.openxmlformats.org/officeDocument/2006/relationships/tags" Target="../tags/tag44.xml"/><Relationship Id="rId10" Type="http://schemas.openxmlformats.org/officeDocument/2006/relationships/slideMaster" Target="../slideMasters/slideMaster1.xml"/><Relationship Id="rId4" Type="http://schemas.openxmlformats.org/officeDocument/2006/relationships/tags" Target="../tags/tag43.xml"/><Relationship Id="rId9" Type="http://schemas.openxmlformats.org/officeDocument/2006/relationships/tags" Target="../tags/tag48.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Master" Target="../slideMasters/slideMaster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slideMaster" Target="../slideMasters/slideMaster1.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Master" Target="../slideMasters/slideMaster1.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slideMaster" Target="../slideMasters/slideMaster1.xml"/><Relationship Id="rId4" Type="http://schemas.openxmlformats.org/officeDocument/2006/relationships/tags" Target="../tags/tag8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10.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Master" Target="../slideMasters/slideMaster1.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slideMaster" Target="../slideMasters/slideMaster1.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Master" Target="../slideMasters/slideMaster1.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slideMaster" Target="../slideMasters/slideMaster1.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slideMaster" Target="../slideMasters/slideMaster1.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slideMaster" Target="../slideMasters/slideMaster1.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tags" Target="../tags/tag163.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0" Type="http://schemas.openxmlformats.org/officeDocument/2006/relationships/tags" Target="../tags/tag161.xml"/><Relationship Id="rId4" Type="http://schemas.openxmlformats.org/officeDocument/2006/relationships/tags" Target="../tags/tag155.xml"/><Relationship Id="rId9" Type="http://schemas.openxmlformats.org/officeDocument/2006/relationships/tags" Target="../tags/tag160.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Master" Target="../slideMasters/slideMaster1.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slideMaster" Target="../slideMasters/slideMaster1.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92.xml"/><Relationship Id="rId7" Type="http://schemas.openxmlformats.org/officeDocument/2006/relationships/image" Target="../media/image1.png"/><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slideMaster" Target="../slideMasters/slideMaster1.xml"/><Relationship Id="rId5" Type="http://schemas.openxmlformats.org/officeDocument/2006/relationships/tags" Target="../tags/tag194.xml"/><Relationship Id="rId4" Type="http://schemas.openxmlformats.org/officeDocument/2006/relationships/tags" Target="../tags/tag19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1"/>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3129440546"/>
      </p:ext>
    </p:extLst>
  </p:cSld>
  <p:clrMapOvr>
    <a:masterClrMapping/>
  </p:clrMapOvr>
  <p:hf sldNum="0"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4">
    <p:bg>
      <p:bgPr>
        <a:solidFill>
          <a:schemeClr val="bg1"/>
        </a:solidFill>
        <a:effectLst/>
      </p:bgPr>
    </p:bg>
    <p:spTree>
      <p:nvGrpSpPr>
        <p:cNvPr id="1" name=""/>
        <p:cNvGrpSpPr/>
        <p:nvPr/>
      </p:nvGrpSpPr>
      <p:grpSpPr>
        <a:xfrm>
          <a:off x="0" y="0"/>
          <a:ext cx="0" cy="0"/>
          <a:chOff x="0" y="0"/>
          <a:chExt cx="0" cy="0"/>
        </a:xfrm>
      </p:grpSpPr>
      <p:sp>
        <p:nvSpPr>
          <p:cNvPr id="6" name="LOGO PROTECTION">
            <a:extLst>
              <a:ext uri="{FF2B5EF4-FFF2-40B4-BE49-F238E27FC236}">
                <a16:creationId xmlns:a16="http://schemas.microsoft.com/office/drawing/2014/main" id="{193C101A-31DD-4FCB-8E69-ED3C115F16E0}"/>
              </a:ext>
            </a:extLst>
          </p:cNvPr>
          <p:cNvSpPr/>
          <p:nvPr>
            <p:custDataLst>
              <p:tags r:id="rId1"/>
            </p:custDataLst>
          </p:nvPr>
        </p:nvSpPr>
        <p:spPr bwMode="auto">
          <a:xfrm>
            <a:off x="9912424"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a:spLocks noGrp="1" noRot="1" noMove="1" noResize="1" noEditPoints="1" noAdjustHandles="1" noChangeArrowheads="1" noChangeShapeType="1"/>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13" name="Crystal Shape">
            <a:extLst>
              <a:ext uri="{FF2B5EF4-FFF2-40B4-BE49-F238E27FC236}">
                <a16:creationId xmlns:a16="http://schemas.microsoft.com/office/drawing/2014/main" id="{A4208110-E884-BAAA-527C-E592A2F7FA29}"/>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blipFill>
            <a:blip r:embed="rId11" cstate="screen">
              <a:extLst>
                <a:ext uri="{28A0092B-C50C-407E-A947-70E740481C1C}">
                  <a14:useLocalDpi xmlns:a14="http://schemas.microsoft.com/office/drawing/2010/main"/>
                </a:ext>
              </a:extLst>
            </a:blip>
            <a:srcRect/>
            <a:stretch>
              <a:fillRect/>
            </a:stretch>
          </a:blip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a:extLst>
              <a:ext uri="{FF2B5EF4-FFF2-40B4-BE49-F238E27FC236}">
                <a16:creationId xmlns:a16="http://schemas.microsoft.com/office/drawing/2014/main" id="{C370ED20-2DD7-4652-95B4-6C73AD11EB7F}"/>
              </a:ext>
            </a:extLst>
          </p:cNvPr>
          <p:cNvSpPr/>
          <p:nvPr userDrawn="1"/>
        </p:nvSpPr>
        <p:spPr bwMode="auto">
          <a:xfrm>
            <a:off x="0" y="18864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9994175" y="353272"/>
            <a:ext cx="1574433" cy="687428"/>
          </a:xfrm>
          <a:prstGeom prst="rect">
            <a:avLst/>
          </a:prstGeom>
        </p:spPr>
      </p:pic>
      <p:pic>
        <p:nvPicPr>
          <p:cNvPr id="22" name="LOGO Award Innovation" descr="Ein Bild, das Text, Screenshot, Schrift, Kreis enthält.&#10;&#10;KI-generierte Inhalte können fehlerhaft sein.">
            <a:extLst>
              <a:ext uri="{FF2B5EF4-FFF2-40B4-BE49-F238E27FC236}">
                <a16:creationId xmlns:a16="http://schemas.microsoft.com/office/drawing/2014/main" id="{5C8094CB-6CA5-4C8C-A34D-E405220AEA8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3" name="LOGO Award Sustainability" descr="Ein Bild, das Schwarz, Dunkelheit enthält.&#10;&#10;Automatisch generierte Beschreibung">
            <a:extLst>
              <a:ext uri="{FF2B5EF4-FFF2-40B4-BE49-F238E27FC236}">
                <a16:creationId xmlns:a16="http://schemas.microsoft.com/office/drawing/2014/main" id="{2580F642-116E-41DC-881C-366C1DFCA47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497659315"/>
      </p:ext>
    </p:extLst>
  </p:cSld>
  <p:clrMapOvr>
    <a:masterClrMapping/>
  </p:clrMapOvr>
  <p:hf sldNum="0" hdr="0"/>
  <p:extLst mod="1">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0"/>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1324864138"/>
      </p:ext>
    </p:extLst>
  </p:cSld>
  <p:clrMapOvr>
    <a:masterClrMapping/>
  </p:clrMapOvr>
  <p:hf sldNum="0"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5">
    <p:bg>
      <p:bgPr>
        <a:solidFill>
          <a:schemeClr val="bg1"/>
        </a:solidFill>
        <a:effectLst/>
      </p:bgPr>
    </p:bg>
    <p:spTree>
      <p:nvGrpSpPr>
        <p:cNvPr id="1" name=""/>
        <p:cNvGrpSpPr/>
        <p:nvPr/>
      </p:nvGrpSpPr>
      <p:grpSpPr>
        <a:xfrm>
          <a:off x="0" y="0"/>
          <a:ext cx="0" cy="0"/>
          <a:chOff x="0" y="0"/>
          <a:chExt cx="0" cy="0"/>
        </a:xfrm>
      </p:grpSpPr>
      <p:sp>
        <p:nvSpPr>
          <p:cNvPr id="4" name="LOGO PROTECTION">
            <a:extLst>
              <a:ext uri="{FF2B5EF4-FFF2-40B4-BE49-F238E27FC236}">
                <a16:creationId xmlns:a16="http://schemas.microsoft.com/office/drawing/2014/main" id="{4DCE96B1-83D3-EAE7-D992-044F49F60C08}"/>
              </a:ext>
            </a:extLst>
          </p:cNvPr>
          <p:cNvSpPr/>
          <p:nvPr userDrawn="1">
            <p:custDataLst>
              <p:tags r:id="rId1"/>
            </p:custDataLst>
          </p:nvPr>
        </p:nvSpPr>
        <p:spPr bwMode="auto">
          <a:xfrm>
            <a:off x="263352"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pic>
        <p:nvPicPr>
          <p:cNvPr id="2" name="Picture 1" descr="A close-up of a plant&#10;&#10;Description automatically generated">
            <a:extLst>
              <a:ext uri="{FF2B5EF4-FFF2-40B4-BE49-F238E27FC236}">
                <a16:creationId xmlns:a16="http://schemas.microsoft.com/office/drawing/2014/main" id="{D8A43A75-D6CE-2257-415C-1E0787C2AD10}"/>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0" y="0"/>
            <a:ext cx="5206538" cy="6858000"/>
          </a:xfrm>
          <a:prstGeom prst="rect">
            <a:avLst/>
          </a:prstGeom>
        </p:spPr>
      </p:pic>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12" name="LOGO">
            <a:extLst>
              <a:ext uri="{FF2B5EF4-FFF2-40B4-BE49-F238E27FC236}">
                <a16:creationId xmlns:a16="http://schemas.microsoft.com/office/drawing/2014/main" id="{1807AF6D-9E64-2C4F-72B8-8E1B696F07BF}"/>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334800" y="353272"/>
            <a:ext cx="1574433" cy="687428"/>
          </a:xfrm>
          <a:prstGeom prst="rect">
            <a:avLst/>
          </a:prstGeom>
        </p:spPr>
      </p:pic>
      <p:pic>
        <p:nvPicPr>
          <p:cNvPr id="20" name="LOGO Award Innovation" descr="Ein Bild, das Text, Screenshot, Schrift, Kreis enthält.&#10;&#10;KI-generierte Inhalte können fehlerhaft sein.">
            <a:extLst>
              <a:ext uri="{FF2B5EF4-FFF2-40B4-BE49-F238E27FC236}">
                <a16:creationId xmlns:a16="http://schemas.microsoft.com/office/drawing/2014/main" id="{B9B3D97A-9BFB-40A0-9441-80DA943DDD7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1" name="LOGO Award Sustainability" descr="Ein Bild, das Schwarz, Dunkelheit enthält.&#10;&#10;Automatisch generierte Beschreibung">
            <a:extLst>
              <a:ext uri="{FF2B5EF4-FFF2-40B4-BE49-F238E27FC236}">
                <a16:creationId xmlns:a16="http://schemas.microsoft.com/office/drawing/2014/main" id="{19FCA7E8-3379-4D22-BCD2-3178461C8B7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74452773"/>
      </p:ext>
    </p:extLst>
  </p:cSld>
  <p:clrMapOvr>
    <a:masterClrMapping/>
  </p:clrMapOvr>
  <p:hf sldNum="0" hdr="0"/>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public</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r>
              <a:rPr lang="en-US" b="1"/>
              <a:t> </a:t>
            </a:r>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3649978343"/>
      </p:ext>
    </p:extLst>
  </p:cSld>
  <p:clrMapOvr>
    <a:masterClrMapping/>
  </p:clrMapOvr>
  <p:hf sldNum="0"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public</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11 Nov 2025</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132035273"/>
      </p:ext>
    </p:extLst>
  </p:cSld>
  <p:clrMapOvr>
    <a:masterClrMapping/>
  </p:clrMapOvr>
  <p:hf sldNum="0" hdr="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endParaRPr lang="en-US" sz="800" kern="0" noProof="0" dirty="0">
              <a:solidFill>
                <a:schemeClr val="tx1"/>
              </a:solidFill>
              <a:latin typeface="+mn-lt"/>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r>
              <a:rPr lang="en-US" b="1"/>
              <a:t> </a:t>
            </a:r>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77498248"/>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endParaRPr lang="en-US" sz="800" kern="0" noProof="0" dirty="0">
              <a:solidFill>
                <a:schemeClr val="tx1"/>
              </a:solidFill>
              <a:latin typeface="+mn-lt"/>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r>
              <a:rPr lang="en-US" b="1"/>
              <a:t> </a:t>
            </a:r>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358708658"/>
      </p:ext>
    </p:extLst>
  </p:cSld>
  <p:clrMapOvr>
    <a:masterClrMapping/>
  </p:clrMapOvr>
  <p:hf sldNum="0" hdr="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756326672"/>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2760194416"/>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070169493"/>
      </p:ext>
    </p:extLst>
  </p:cSld>
  <p:clrMapOvr>
    <a:masterClrMapping/>
  </p:clrMapOvr>
  <p:hf sldNum="0" hdr="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endParaRPr lang="en-US" sz="800" kern="0" noProof="0" dirty="0">
              <a:solidFill>
                <a:schemeClr val="tx1"/>
              </a:solidFill>
              <a:latin typeface="+mn-lt"/>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598027942"/>
      </p:ext>
    </p:extLst>
  </p:cSld>
  <p:clrMapOvr>
    <a:masterClrMapping/>
  </p:clrMapOvr>
  <p:hf sldNum="0" hdr="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61849090"/>
      </p:ext>
    </p:extLst>
  </p:cSld>
  <p:clrMapOvr>
    <a:masterClrMapping/>
  </p:clrMapOvr>
  <p:hf sldNum="0" hdr="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022460848"/>
      </p:ext>
    </p:extLst>
  </p:cSld>
  <p:clrMapOvr>
    <a:masterClrMapping/>
  </p:clrMapOvr>
  <p:hf sldNum="0" hdr="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216808854"/>
      </p:ext>
    </p:extLst>
  </p:cSld>
  <p:clrMapOvr>
    <a:masterClrMapping/>
  </p:clrMapOvr>
  <p:hf sldNum="0" hdr="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dirty="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r>
              <a:rPr lang="en-US" b="1"/>
              <a:t> </a:t>
            </a:r>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013339047"/>
      </p:ext>
    </p:extLst>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public</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public</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11 Nov 2025</a:t>
            </a:r>
            <a:endParaRPr lang="en-US" sz="800" kern="0" noProof="0" dirty="0">
              <a:solidFill>
                <a:schemeClr val="tx1"/>
              </a:solidFill>
              <a:latin typeface="+mn-lt"/>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154077500"/>
      </p:ext>
    </p:extLst>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public</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public</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11 Nov 2025</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r>
              <a:rPr lang="en-US" b="1"/>
              <a:t> </a:t>
            </a:r>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471479017"/>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4020">
          <p15:clr>
            <a:srgbClr val="FBAE40"/>
          </p15:clr>
        </p15:guide>
        <p15:guide id="4" orient="horz" pos="79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r>
              <a:rPr lang="en-US" b="1"/>
              <a:t> </a:t>
            </a:r>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70400927"/>
      </p:ext>
    </p:extLst>
  </p:cSld>
  <p:clrMapOvr>
    <a:masterClrMapping/>
  </p:clrMapOvr>
  <p:hf sldNum="0" hdr="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660886092"/>
      </p:ext>
    </p:extLst>
  </p:cSld>
  <p:clrMapOvr>
    <a:masterClrMapping/>
  </p:clrMapOvr>
  <p:hf sldNum="0" hdr="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3"/>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4"/>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r>
              <a:rPr lang="en-US" b="1"/>
              <a:t> </a:t>
            </a:r>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p:custDataLst>
              <p:tags r:id="rId25"/>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en-US"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en-US"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375139196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Lst>
  <p:hf sldNum="0" hdr="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infineon.com/ModusToolboxInstallguide"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microsoft.com/office/2018/10/relationships/comments" Target="../comments/modernComment_7BBF5748_C75B05ED.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microsoft.com/office/2018/10/relationships/comments" Target="../comments/modernComment_7BBF5748_C75B05ED.xml"/><Relationship Id="rId5" Type="http://schemas.openxmlformats.org/officeDocument/2006/relationships/image" Target="../media/image47.png"/><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microsoft.com/office/2018/10/relationships/comments" Target="../comments/modernComment_7BBF5754_F7C57701.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microsoft.com/office/2018/10/relationships/comments" Target="../comments/modernComment_7BBF5752_D8F952C7.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microsoft.com/office/2018/10/relationships/comments" Target="../comments/modernComment_7BBF5750_D092CBC0.xml"/></Relationships>
</file>

<file path=ppt/slides/_rels/slide38.xml.rels><?xml version="1.0" encoding="UTF-8" standalone="yes"?>
<Relationships xmlns="http://schemas.openxmlformats.org/package/2006/relationships"><Relationship Id="rId3" Type="http://schemas.openxmlformats.org/officeDocument/2006/relationships/hyperlink" Target="https://infineon.github.io/mtb-dsl-pse8xxgp/html/index.html"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58.e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1589B28-D26E-44F4-8C62-FEE4AAED4A70}"/>
              </a:ext>
            </a:extLst>
          </p:cNvPr>
          <p:cNvSpPr>
            <a:spLocks noGrp="1"/>
          </p:cNvSpPr>
          <p:nvPr>
            <p:ph type="pic" sz="quarter" idx="15"/>
          </p:nvPr>
        </p:nvSpPr>
        <p:spPr/>
        <p:txBody>
          <a:bodyPr/>
          <a:lstStyle/>
          <a:p>
            <a:endParaRPr lang="en-US" dirty="0"/>
          </a:p>
        </p:txBody>
      </p:sp>
      <p:sp>
        <p:nvSpPr>
          <p:cNvPr id="7" name="Title 6">
            <a:extLst>
              <a:ext uri="{FF2B5EF4-FFF2-40B4-BE49-F238E27FC236}">
                <a16:creationId xmlns:a16="http://schemas.microsoft.com/office/drawing/2014/main" id="{3FB1C68C-D054-4F8D-AA7A-F778CCFFFD34}"/>
              </a:ext>
            </a:extLst>
          </p:cNvPr>
          <p:cNvSpPr>
            <a:spLocks noGrp="1"/>
          </p:cNvSpPr>
          <p:nvPr>
            <p:ph type="ctrTitle" hasCustomPrompt="1"/>
          </p:nvPr>
        </p:nvSpPr>
        <p:spPr>
          <a:xfrm>
            <a:off x="624000" y="4163051"/>
            <a:ext cx="10008504" cy="1118901"/>
          </a:xfrm>
        </p:spPr>
        <p:txBody>
          <a:bodyPr>
            <a:normAutofit fontScale="90000"/>
          </a:bodyPr>
          <a:lstStyle/>
          <a:p>
            <a:r>
              <a:rPr lang="en-US" dirty="0"/>
              <a:t>Introduction to </a:t>
            </a:r>
            <a:r>
              <a:rPr dirty="0"/>
              <a:t>PSOC™ Edge E84</a:t>
            </a:r>
            <a:br>
              <a:rPr lang="en-US" dirty="0"/>
            </a:br>
            <a:r>
              <a:rPr lang="en-US" dirty="0"/>
              <a:t>Getting Started with the Development Ecosystem</a:t>
            </a:r>
            <a:br>
              <a:rPr dirty="0"/>
            </a:br>
            <a:r>
              <a:rPr dirty="0"/>
              <a:t>(E2)</a:t>
            </a:r>
          </a:p>
        </p:txBody>
      </p:sp>
      <p:sp>
        <p:nvSpPr>
          <p:cNvPr id="2" name="Footer Placeholder 1">
            <a:extLst>
              <a:ext uri="{FF2B5EF4-FFF2-40B4-BE49-F238E27FC236}">
                <a16:creationId xmlns:a16="http://schemas.microsoft.com/office/drawing/2014/main" id="{4C7F14E6-7BEC-4EAC-B2E9-B9AB84CAD244}"/>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61214271"/>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560B38-ED9A-4688-A544-CA41460ADE15}"/>
              </a:ext>
            </a:extLst>
          </p:cNvPr>
          <p:cNvSpPr>
            <a:spLocks noGrp="1"/>
          </p:cNvSpPr>
          <p:nvPr>
            <p:ph sz="quarter" idx="13" hasCustomPrompt="1"/>
          </p:nvPr>
        </p:nvSpPr>
        <p:spPr/>
        <p:txBody>
          <a:bodyPr/>
          <a:lstStyle/>
          <a:p>
            <a:pPr>
              <a:lnSpc>
                <a:spcPct val="200000"/>
              </a:lnSpc>
              <a:buClr>
                <a:srgbClr val="5EA290"/>
              </a:buClr>
              <a:buFont typeface="Wingdings" panose="05000000000000000000" pitchFamily="2" charset="2"/>
              <a:buChar char="q"/>
            </a:pPr>
            <a:r>
              <a:rPr dirty="0"/>
              <a:t> Development ecosystem for PSOC™ Edge E84 </a:t>
            </a:r>
          </a:p>
          <a:p>
            <a:pPr lvl="2">
              <a:lnSpc>
                <a:spcPct val="200000"/>
              </a:lnSpc>
              <a:buClr>
                <a:srgbClr val="5EA290"/>
              </a:buClr>
              <a:buFont typeface="Wingdings" panose="05000000000000000000" pitchFamily="2" charset="2"/>
              <a:buChar char="q"/>
            </a:pPr>
            <a:r>
              <a:rPr dirty="0"/>
              <a:t> Resources ( Documentation / Application Notes )</a:t>
            </a:r>
          </a:p>
          <a:p>
            <a:pPr lvl="2">
              <a:lnSpc>
                <a:spcPct val="200000"/>
              </a:lnSpc>
              <a:buClr>
                <a:srgbClr val="5EA290"/>
              </a:buClr>
              <a:buFont typeface="Wingdings" panose="05000000000000000000" pitchFamily="2" charset="2"/>
              <a:buChar char="q"/>
            </a:pPr>
            <a:r>
              <a:rPr dirty="0"/>
              <a:t> Firmware / Application Development ( </a:t>
            </a:r>
            <a:r>
              <a:rPr dirty="0" err="1"/>
              <a:t>ModusToolbox</a:t>
            </a:r>
            <a:r>
              <a:rPr dirty="0"/>
              <a:t>™</a:t>
            </a:r>
            <a:r>
              <a:rPr lang="en-US" dirty="0"/>
              <a:t>, DEEPCRAFT™</a:t>
            </a:r>
            <a:r>
              <a:rPr dirty="0"/>
              <a:t> )</a:t>
            </a:r>
          </a:p>
          <a:p>
            <a:pPr>
              <a:lnSpc>
                <a:spcPct val="200000"/>
              </a:lnSpc>
              <a:buClr>
                <a:srgbClr val="5EA290"/>
              </a:buClr>
              <a:buFont typeface="Wingdings" panose="05000000000000000000" pitchFamily="2" charset="2"/>
              <a:buChar char="q"/>
            </a:pPr>
            <a:r>
              <a:rPr dirty="0"/>
              <a:t> Code Example #1: Hello World</a:t>
            </a:r>
            <a:r>
              <a:rPr lang="en-US" dirty="0"/>
              <a:t> + Blinky</a:t>
            </a:r>
            <a:endParaRPr dirty="0"/>
          </a:p>
          <a:p>
            <a:pPr>
              <a:lnSpc>
                <a:spcPct val="200000"/>
              </a:lnSpc>
              <a:buClr>
                <a:srgbClr val="5EA290"/>
              </a:buClr>
              <a:buFont typeface="Wingdings" panose="05000000000000000000" pitchFamily="2" charset="2"/>
              <a:buChar char="q"/>
            </a:pPr>
            <a:r>
              <a:rPr dirty="0"/>
              <a:t> Code Example #2: IPC </a:t>
            </a:r>
            <a:r>
              <a:rPr lang="en-US" dirty="0"/>
              <a:t>Semaphores</a:t>
            </a:r>
            <a:r>
              <a:rPr dirty="0"/>
              <a:t> using </a:t>
            </a:r>
            <a:r>
              <a:rPr lang="en-US" dirty="0"/>
              <a:t>PDL API</a:t>
            </a:r>
            <a:endParaRPr dirty="0"/>
          </a:p>
        </p:txBody>
      </p:sp>
      <p:sp>
        <p:nvSpPr>
          <p:cNvPr id="2" name="Title 1">
            <a:extLst>
              <a:ext uri="{FF2B5EF4-FFF2-40B4-BE49-F238E27FC236}">
                <a16:creationId xmlns:a16="http://schemas.microsoft.com/office/drawing/2014/main" id="{96B142A3-3E18-4302-85FC-39EF0216B791}"/>
              </a:ext>
            </a:extLst>
          </p:cNvPr>
          <p:cNvSpPr>
            <a:spLocks noGrp="1"/>
          </p:cNvSpPr>
          <p:nvPr>
            <p:ph type="title" hasCustomPrompt="1"/>
          </p:nvPr>
        </p:nvSpPr>
        <p:spPr/>
        <p:txBody>
          <a:bodyPr/>
          <a:lstStyle/>
          <a:p>
            <a:r>
              <a:rPr>
                <a:latin typeface="+mn-lt"/>
              </a:rPr>
              <a:t>Agenda</a:t>
            </a:r>
          </a:p>
        </p:txBody>
      </p:sp>
    </p:spTree>
    <p:extLst>
      <p:ext uri="{BB962C8B-B14F-4D97-AF65-F5344CB8AC3E}">
        <p14:creationId xmlns:p14="http://schemas.microsoft.com/office/powerpoint/2010/main" val="2224401809"/>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A27F10-987C-4773-9670-C2405C0139DA}"/>
              </a:ext>
            </a:extLst>
          </p:cNvPr>
          <p:cNvSpPr>
            <a:spLocks noGrp="1"/>
          </p:cNvSpPr>
          <p:nvPr>
            <p:ph sz="quarter" idx="13" hasCustomPrompt="1"/>
          </p:nvPr>
        </p:nvSpPr>
        <p:spPr/>
        <p:txBody>
          <a:bodyPr/>
          <a:lstStyle/>
          <a:p>
            <a:pPr>
              <a:lnSpc>
                <a:spcPct val="150000"/>
              </a:lnSpc>
              <a:buClr>
                <a:srgbClr val="5EA290"/>
              </a:buClr>
              <a:buFont typeface="Wingdings" panose="05000000000000000000" pitchFamily="2" charset="2"/>
              <a:buChar char="q"/>
            </a:pPr>
            <a:r>
              <a:rPr dirty="0"/>
              <a:t> PSOC™ Edge E84 MCU</a:t>
            </a:r>
          </a:p>
          <a:p>
            <a:pPr>
              <a:lnSpc>
                <a:spcPct val="150000"/>
              </a:lnSpc>
              <a:buClr>
                <a:srgbClr val="5EA290"/>
              </a:buClr>
              <a:buFont typeface="Wingdings" panose="05000000000000000000" pitchFamily="2" charset="2"/>
              <a:buChar char="q"/>
            </a:pPr>
            <a:r>
              <a:rPr dirty="0"/>
              <a:t> Datasheets </a:t>
            </a:r>
          </a:p>
          <a:p>
            <a:pPr>
              <a:lnSpc>
                <a:spcPct val="150000"/>
              </a:lnSpc>
              <a:buClr>
                <a:srgbClr val="5EA290"/>
              </a:buClr>
              <a:buFont typeface="Wingdings" panose="05000000000000000000" pitchFamily="2" charset="2"/>
              <a:buChar char="q"/>
            </a:pPr>
            <a:r>
              <a:rPr dirty="0"/>
              <a:t> Reference manuals (RM): architecture and registers</a:t>
            </a:r>
          </a:p>
          <a:p>
            <a:pPr>
              <a:lnSpc>
                <a:spcPct val="150000"/>
              </a:lnSpc>
              <a:buClr>
                <a:srgbClr val="5EA290"/>
              </a:buClr>
              <a:buFont typeface="Wingdings" panose="05000000000000000000" pitchFamily="2" charset="2"/>
              <a:buChar char="q"/>
            </a:pPr>
            <a:r>
              <a:rPr dirty="0"/>
              <a:t> Application notes </a:t>
            </a:r>
          </a:p>
          <a:p>
            <a:pPr>
              <a:lnSpc>
                <a:spcPct val="150000"/>
              </a:lnSpc>
              <a:buClr>
                <a:srgbClr val="5EA290"/>
              </a:buClr>
              <a:buFont typeface="Wingdings" panose="05000000000000000000" pitchFamily="2" charset="2"/>
              <a:buChar char="q"/>
            </a:pPr>
            <a:r>
              <a:rPr dirty="0"/>
              <a:t> Code examples </a:t>
            </a:r>
          </a:p>
          <a:p>
            <a:pPr>
              <a:lnSpc>
                <a:spcPct val="150000"/>
              </a:lnSpc>
              <a:buClr>
                <a:srgbClr val="5EA290"/>
              </a:buClr>
              <a:buFont typeface="Wingdings" panose="05000000000000000000" pitchFamily="2" charset="2"/>
              <a:buChar char="q"/>
            </a:pPr>
            <a:r>
              <a:rPr dirty="0"/>
              <a:t> Development kits </a:t>
            </a:r>
          </a:p>
          <a:p>
            <a:pPr>
              <a:lnSpc>
                <a:spcPct val="150000"/>
              </a:lnSpc>
              <a:buClr>
                <a:srgbClr val="5EA290"/>
              </a:buClr>
              <a:buFont typeface="Wingdings" panose="05000000000000000000" pitchFamily="2" charset="2"/>
              <a:buChar char="q"/>
            </a:pPr>
            <a:r>
              <a:rPr dirty="0"/>
              <a:t> KBAs and community forum</a:t>
            </a:r>
          </a:p>
          <a:p>
            <a:pPr>
              <a:lnSpc>
                <a:spcPct val="150000"/>
              </a:lnSpc>
              <a:buClr>
                <a:srgbClr val="5EA290"/>
              </a:buClr>
              <a:buNone/>
            </a:pPr>
            <a:endParaRPr lang="en-US" sz="2400" b="1" i="1" dirty="0">
              <a:solidFill>
                <a:srgbClr val="0A8276"/>
              </a:solidFill>
            </a:endParaRPr>
          </a:p>
          <a:p>
            <a:pPr>
              <a:lnSpc>
                <a:spcPct val="150000"/>
              </a:lnSpc>
              <a:buClr>
                <a:srgbClr val="5EA290"/>
              </a:buClr>
              <a:buFont typeface="Wingdings" panose="05000000000000000000" pitchFamily="2" charset="2"/>
              <a:buChar char="q"/>
            </a:pPr>
            <a:endParaRPr lang="en-US" sz="2200" b="1" dirty="0"/>
          </a:p>
          <a:p>
            <a:pPr>
              <a:lnSpc>
                <a:spcPct val="150000"/>
              </a:lnSpc>
              <a:buClr>
                <a:srgbClr val="5EA290"/>
              </a:buClr>
              <a:buFont typeface="Wingdings" panose="05000000000000000000" pitchFamily="2" charset="2"/>
              <a:buChar char="q"/>
            </a:pPr>
            <a:endParaRPr lang="en-US" sz="2200" b="1" dirty="0"/>
          </a:p>
        </p:txBody>
      </p:sp>
      <p:sp>
        <p:nvSpPr>
          <p:cNvPr id="3" name="Title 2">
            <a:extLst>
              <a:ext uri="{FF2B5EF4-FFF2-40B4-BE49-F238E27FC236}">
                <a16:creationId xmlns:a16="http://schemas.microsoft.com/office/drawing/2014/main" id="{D14CA30D-9474-49A7-9B49-1A4F8407DEED}"/>
              </a:ext>
            </a:extLst>
          </p:cNvPr>
          <p:cNvSpPr>
            <a:spLocks noGrp="1"/>
          </p:cNvSpPr>
          <p:nvPr>
            <p:ph type="title" hasCustomPrompt="1"/>
          </p:nvPr>
        </p:nvSpPr>
        <p:spPr/>
        <p:txBody>
          <a:bodyPr/>
          <a:lstStyle/>
          <a:p>
            <a:pPr>
              <a:lnSpc>
                <a:spcPct val="200000"/>
              </a:lnSpc>
            </a:pPr>
            <a:r>
              <a:t>PSOC™ Edge E84 Resources </a:t>
            </a:r>
          </a:p>
        </p:txBody>
      </p:sp>
    </p:spTree>
    <p:extLst>
      <p:ext uri="{BB962C8B-B14F-4D97-AF65-F5344CB8AC3E}">
        <p14:creationId xmlns:p14="http://schemas.microsoft.com/office/powerpoint/2010/main" val="7431668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798ED4-470F-4CAA-85BD-5CEDD36AB8BC}"/>
              </a:ext>
            </a:extLst>
          </p:cNvPr>
          <p:cNvSpPr>
            <a:spLocks noGrp="1"/>
          </p:cNvSpPr>
          <p:nvPr>
            <p:ph type="title" hasCustomPrompt="1"/>
          </p:nvPr>
        </p:nvSpPr>
        <p:spPr/>
        <p:txBody>
          <a:bodyPr/>
          <a:lstStyle/>
          <a:p>
            <a:r>
              <a:t>Firmware / Application Development</a:t>
            </a:r>
          </a:p>
        </p:txBody>
      </p:sp>
      <p:sp>
        <p:nvSpPr>
          <p:cNvPr id="5" name="Content Placeholder 1">
            <a:extLst>
              <a:ext uri="{FF2B5EF4-FFF2-40B4-BE49-F238E27FC236}">
                <a16:creationId xmlns:a16="http://schemas.microsoft.com/office/drawing/2014/main" id="{A011D990-3044-4ACB-9577-45308A449B3B}"/>
              </a:ext>
            </a:extLst>
          </p:cNvPr>
          <p:cNvSpPr txBox="1">
            <a:spLocks/>
          </p:cNvSpPr>
          <p:nvPr/>
        </p:nvSpPr>
        <p:spPr>
          <a:xfrm>
            <a:off x="334800" y="1268414"/>
            <a:ext cx="11161800" cy="5113337"/>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lnSpc>
                <a:spcPct val="150000"/>
              </a:lnSpc>
              <a:buFont typeface="Wingdings" panose="05000000000000000000" pitchFamily="2" charset="2"/>
              <a:buChar char="q"/>
            </a:pPr>
            <a:r>
              <a:rPr lang="en-US" sz="2400" b="1" kern="0" dirty="0"/>
              <a:t> ModusToolbox™ provides</a:t>
            </a:r>
          </a:p>
          <a:p>
            <a:pPr lvl="1">
              <a:lnSpc>
                <a:spcPct val="150000"/>
              </a:lnSpc>
              <a:buFont typeface="Wingdings" panose="05000000000000000000" pitchFamily="2" charset="2"/>
              <a:buChar char="q"/>
            </a:pPr>
            <a:r>
              <a:rPr lang="en-US" sz="2200" b="1" kern="0" dirty="0"/>
              <a:t> Development environment for Infineon MCUs </a:t>
            </a:r>
          </a:p>
          <a:p>
            <a:pPr lvl="1">
              <a:lnSpc>
                <a:spcPct val="150000"/>
              </a:lnSpc>
              <a:buFont typeface="Wingdings" panose="05000000000000000000" pitchFamily="2" charset="2"/>
              <a:buChar char="q"/>
            </a:pPr>
            <a:r>
              <a:rPr lang="en-US" sz="2200" b="1" kern="0" dirty="0"/>
              <a:t> Flexible set of tools for project and system</a:t>
            </a:r>
          </a:p>
          <a:p>
            <a:pPr marL="252000" lvl="1" indent="0">
              <a:lnSpc>
                <a:spcPct val="150000"/>
              </a:lnSpc>
              <a:buNone/>
            </a:pPr>
            <a:r>
              <a:rPr lang="en-US" sz="2200" b="1" kern="0" dirty="0"/>
              <a:t>     level configuration</a:t>
            </a:r>
          </a:p>
          <a:p>
            <a:pPr lvl="1">
              <a:lnSpc>
                <a:spcPct val="150000"/>
              </a:lnSpc>
              <a:buFont typeface="Wingdings" panose="05000000000000000000" pitchFamily="2" charset="2"/>
              <a:buChar char="q"/>
            </a:pPr>
            <a:r>
              <a:rPr lang="en-US" sz="2200" b="1" kern="0" dirty="0"/>
              <a:t> Low-level drivers</a:t>
            </a:r>
          </a:p>
          <a:p>
            <a:pPr lvl="1">
              <a:lnSpc>
                <a:spcPct val="150000"/>
              </a:lnSpc>
              <a:buFont typeface="Wingdings" panose="05000000000000000000" pitchFamily="2" charset="2"/>
              <a:buChar char="q"/>
            </a:pPr>
            <a:r>
              <a:rPr lang="en-US" sz="2200" b="1" kern="0" dirty="0"/>
              <a:t> Libraries</a:t>
            </a:r>
          </a:p>
          <a:p>
            <a:pPr lvl="1">
              <a:lnSpc>
                <a:spcPct val="150000"/>
              </a:lnSpc>
              <a:buFont typeface="Wingdings" panose="05000000000000000000" pitchFamily="2" charset="2"/>
              <a:buChar char="q"/>
            </a:pPr>
            <a:r>
              <a:rPr lang="en-US" sz="2200" b="1" kern="0" dirty="0"/>
              <a:t> Operating system support (Linux, macOS, </a:t>
            </a:r>
          </a:p>
          <a:p>
            <a:pPr marL="504000" lvl="2" indent="0">
              <a:lnSpc>
                <a:spcPct val="150000"/>
              </a:lnSpc>
              <a:buNone/>
            </a:pPr>
            <a:r>
              <a:rPr lang="en-US" sz="2200" b="1" kern="0" dirty="0"/>
              <a:t>  Windows)</a:t>
            </a:r>
          </a:p>
          <a:p>
            <a:pPr marL="504000" lvl="2" indent="0">
              <a:lnSpc>
                <a:spcPct val="150000"/>
              </a:lnSpc>
              <a:buNone/>
            </a:pPr>
            <a:endParaRPr lang="en-US" sz="2200" b="1" kern="0" dirty="0"/>
          </a:p>
          <a:p>
            <a:pPr marL="504000" lvl="2" indent="0">
              <a:lnSpc>
                <a:spcPct val="150000"/>
              </a:lnSpc>
              <a:buNone/>
            </a:pPr>
            <a:r>
              <a:rPr lang="en-US" sz="2200" b="1" kern="0" dirty="0"/>
              <a:t>Reference link : </a:t>
            </a:r>
            <a:r>
              <a:rPr lang="en-US" u="sng" dirty="0">
                <a:hlinkClick r:id="rId3"/>
              </a:rPr>
              <a:t>https://www.infineon.com/ModusToolboxInstallguide</a:t>
            </a:r>
            <a:endParaRPr lang="en-US" dirty="0"/>
          </a:p>
          <a:p>
            <a:pPr marL="504000" lvl="2" indent="0">
              <a:lnSpc>
                <a:spcPct val="150000"/>
              </a:lnSpc>
              <a:buNone/>
            </a:pPr>
            <a:endParaRPr lang="en-US" sz="2200" b="1" kern="0" dirty="0">
              <a:solidFill>
                <a:srgbClr val="FF0000"/>
              </a:solidFill>
            </a:endParaRPr>
          </a:p>
        </p:txBody>
      </p:sp>
      <p:pic>
        <p:nvPicPr>
          <p:cNvPr id="7" name="Picture 6">
            <a:extLst>
              <a:ext uri="{FF2B5EF4-FFF2-40B4-BE49-F238E27FC236}">
                <a16:creationId xmlns:a16="http://schemas.microsoft.com/office/drawing/2014/main" id="{78644AD9-BC39-4F15-969D-66670C793F8B}"/>
              </a:ext>
            </a:extLst>
          </p:cNvPr>
          <p:cNvPicPr>
            <a:picLocks noChangeAspect="1"/>
          </p:cNvPicPr>
          <p:nvPr/>
        </p:nvPicPr>
        <p:blipFill>
          <a:blip r:embed="rId4"/>
          <a:stretch>
            <a:fillRect/>
          </a:stretch>
        </p:blipFill>
        <p:spPr>
          <a:xfrm>
            <a:off x="7018016" y="1268414"/>
            <a:ext cx="4810125" cy="4657725"/>
          </a:xfrm>
          <a:prstGeom prst="rect">
            <a:avLst/>
          </a:prstGeom>
        </p:spPr>
      </p:pic>
    </p:spTree>
    <p:extLst>
      <p:ext uri="{BB962C8B-B14F-4D97-AF65-F5344CB8AC3E}">
        <p14:creationId xmlns:p14="http://schemas.microsoft.com/office/powerpoint/2010/main" val="240855858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192774-4AC7-429C-965F-F0EDCB59D815}"/>
              </a:ext>
            </a:extLst>
          </p:cNvPr>
          <p:cNvSpPr>
            <a:spLocks noGrp="1"/>
          </p:cNvSpPr>
          <p:nvPr>
            <p:ph type="title" hasCustomPrompt="1"/>
          </p:nvPr>
        </p:nvSpPr>
        <p:spPr/>
        <p:txBody>
          <a:bodyPr/>
          <a:lstStyle/>
          <a:p>
            <a:r>
              <a:rPr dirty="0"/>
              <a:t>Support for IDEs</a:t>
            </a:r>
          </a:p>
        </p:txBody>
      </p:sp>
      <p:sp>
        <p:nvSpPr>
          <p:cNvPr id="5" name="Rectangle: Rounded Corners 4">
            <a:extLst>
              <a:ext uri="{FF2B5EF4-FFF2-40B4-BE49-F238E27FC236}">
                <a16:creationId xmlns:a16="http://schemas.microsoft.com/office/drawing/2014/main" id="{7F567529-7468-4B84-A088-B334E46CCE48}"/>
              </a:ext>
            </a:extLst>
          </p:cNvPr>
          <p:cNvSpPr/>
          <p:nvPr/>
        </p:nvSpPr>
        <p:spPr bwMode="auto">
          <a:xfrm>
            <a:off x="4907358" y="1553618"/>
            <a:ext cx="2396211" cy="815800"/>
          </a:xfrm>
          <a:prstGeom prst="roundRect">
            <a:avLst/>
          </a:prstGeom>
          <a:solidFill>
            <a:srgbClr val="3B9B91"/>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dirty="0">
                <a:solidFill>
                  <a:schemeClr val="bg1"/>
                </a:solidFill>
                <a:latin typeface="+mn-lt"/>
              </a:rPr>
              <a:t>ModusToolbox™ </a:t>
            </a:r>
            <a:br>
              <a:rPr lang="en-US" sz="1600" dirty="0">
                <a:solidFill>
                  <a:schemeClr val="bg1"/>
                </a:solidFill>
                <a:latin typeface="+mn-lt"/>
              </a:rPr>
            </a:br>
            <a:r>
              <a:rPr lang="en-US" sz="1600" dirty="0">
                <a:solidFill>
                  <a:schemeClr val="bg1"/>
                </a:solidFill>
                <a:latin typeface="+mn-lt"/>
              </a:rPr>
              <a:t>IDE Tool Support</a:t>
            </a:r>
            <a:endParaRPr lang="en-US" sz="1600" baseline="0" dirty="0">
              <a:solidFill>
                <a:schemeClr val="bg1"/>
              </a:solidFill>
              <a:latin typeface="+mn-lt"/>
              <a:ea typeface="+mn-ea"/>
              <a:cs typeface="+mn-cs"/>
            </a:endParaRPr>
          </a:p>
        </p:txBody>
      </p:sp>
      <p:sp>
        <p:nvSpPr>
          <p:cNvPr id="6" name="Rectangle: Rounded Corners 5">
            <a:extLst>
              <a:ext uri="{FF2B5EF4-FFF2-40B4-BE49-F238E27FC236}">
                <a16:creationId xmlns:a16="http://schemas.microsoft.com/office/drawing/2014/main" id="{771B1FDA-4540-4254-A4B2-F005BC8751E7}"/>
              </a:ext>
            </a:extLst>
          </p:cNvPr>
          <p:cNvSpPr/>
          <p:nvPr/>
        </p:nvSpPr>
        <p:spPr bwMode="auto">
          <a:xfrm>
            <a:off x="610852" y="381264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Eclipse IDE </a:t>
            </a:r>
          </a:p>
        </p:txBody>
      </p:sp>
      <p:sp>
        <p:nvSpPr>
          <p:cNvPr id="7" name="Rectangle: Rounded Corners 6">
            <a:extLst>
              <a:ext uri="{FF2B5EF4-FFF2-40B4-BE49-F238E27FC236}">
                <a16:creationId xmlns:a16="http://schemas.microsoft.com/office/drawing/2014/main" id="{34C27D49-4522-4A43-9013-6E299EEF0237}"/>
              </a:ext>
            </a:extLst>
          </p:cNvPr>
          <p:cNvSpPr/>
          <p:nvPr/>
        </p:nvSpPr>
        <p:spPr bwMode="auto">
          <a:xfrm>
            <a:off x="3251374"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Visual Studio</a:t>
            </a:r>
          </a:p>
          <a:p>
            <a:pPr algn="ctr" defTabSz="576000" eaLnBrk="0" hangingPunct="0">
              <a:lnSpc>
                <a:spcPct val="120000"/>
              </a:lnSpc>
            </a:pPr>
            <a:r>
              <a:rPr lang="en-US" sz="1600">
                <a:solidFill>
                  <a:schemeClr val="bg1"/>
                </a:solidFill>
              </a:rPr>
              <a:t>Code</a:t>
            </a:r>
            <a:endParaRPr lang="en-US" sz="1600" dirty="0">
              <a:solidFill>
                <a:schemeClr val="bg1"/>
              </a:solidFill>
            </a:endParaRPr>
          </a:p>
        </p:txBody>
      </p:sp>
      <p:sp>
        <p:nvSpPr>
          <p:cNvPr id="8" name="Rectangle: Rounded Corners 7">
            <a:extLst>
              <a:ext uri="{FF2B5EF4-FFF2-40B4-BE49-F238E27FC236}">
                <a16:creationId xmlns:a16="http://schemas.microsoft.com/office/drawing/2014/main" id="{45660B57-ED20-41CE-8DBC-A735B278B8DD}"/>
              </a:ext>
            </a:extLst>
          </p:cNvPr>
          <p:cNvSpPr/>
          <p:nvPr/>
        </p:nvSpPr>
        <p:spPr bwMode="auto">
          <a:xfrm>
            <a:off x="9402869"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Arm® MDK</a:t>
            </a:r>
          </a:p>
          <a:p>
            <a:pPr algn="ctr" defTabSz="576000" eaLnBrk="0" hangingPunct="0">
              <a:lnSpc>
                <a:spcPct val="120000"/>
              </a:lnSpc>
            </a:pPr>
            <a:r>
              <a:rPr lang="en-US" sz="1600">
                <a:solidFill>
                  <a:schemeClr val="bg1"/>
                </a:solidFill>
              </a:rPr>
              <a:t>µVision</a:t>
            </a:r>
            <a:endParaRPr lang="en-US" sz="1600" dirty="0">
              <a:solidFill>
                <a:schemeClr val="bg1"/>
              </a:solidFill>
            </a:endParaRPr>
          </a:p>
        </p:txBody>
      </p:sp>
      <p:cxnSp>
        <p:nvCxnSpPr>
          <p:cNvPr id="9" name="Connector: Elbow 8">
            <a:extLst>
              <a:ext uri="{FF2B5EF4-FFF2-40B4-BE49-F238E27FC236}">
                <a16:creationId xmlns:a16="http://schemas.microsoft.com/office/drawing/2014/main" id="{86D81637-61E4-463A-A2CC-04A5BE30424E}"/>
              </a:ext>
            </a:extLst>
          </p:cNvPr>
          <p:cNvCxnSpPr>
            <a:cxnSpLocks/>
            <a:stCxn id="5" idx="2"/>
            <a:endCxn id="6" idx="0"/>
          </p:cNvCxnSpPr>
          <p:nvPr/>
        </p:nvCxnSpPr>
        <p:spPr>
          <a:xfrm rot="5400000">
            <a:off x="3235597" y="942779"/>
            <a:ext cx="1443228" cy="4296506"/>
          </a:xfrm>
          <a:prstGeom prst="bentConnector3">
            <a:avLst>
              <a:gd name="adj1" fmla="val 50000"/>
            </a:avLst>
          </a:prstGeom>
          <a:ln>
            <a:tailEnd type="none"/>
          </a:ln>
        </p:spPr>
        <p:style>
          <a:lnRef idx="3">
            <a:schemeClr val="accent6"/>
          </a:lnRef>
          <a:fillRef idx="0">
            <a:schemeClr val="accent6"/>
          </a:fillRef>
          <a:effectRef idx="2">
            <a:schemeClr val="accent6"/>
          </a:effectRef>
          <a:fontRef idx="minor">
            <a:schemeClr val="tx1"/>
          </a:fontRef>
        </p:style>
      </p:cxnSp>
      <p:cxnSp>
        <p:nvCxnSpPr>
          <p:cNvPr id="10" name="Connector: Elbow 9">
            <a:extLst>
              <a:ext uri="{FF2B5EF4-FFF2-40B4-BE49-F238E27FC236}">
                <a16:creationId xmlns:a16="http://schemas.microsoft.com/office/drawing/2014/main" id="{3207F351-09E6-4DA8-B2C7-BA06AB3E9738}"/>
              </a:ext>
            </a:extLst>
          </p:cNvPr>
          <p:cNvCxnSpPr>
            <a:cxnSpLocks/>
            <a:stCxn id="12" idx="0"/>
          </p:cNvCxnSpPr>
          <p:nvPr/>
        </p:nvCxnSpPr>
        <p:spPr>
          <a:xfrm rot="16200000" flipV="1">
            <a:off x="6603127" y="2590239"/>
            <a:ext cx="749434" cy="1744759"/>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11" name="Straight Connector 10">
            <a:extLst>
              <a:ext uri="{FF2B5EF4-FFF2-40B4-BE49-F238E27FC236}">
                <a16:creationId xmlns:a16="http://schemas.microsoft.com/office/drawing/2014/main" id="{0AE524BE-064F-42B6-A1D8-31377D3ED1FE}"/>
              </a:ext>
            </a:extLst>
          </p:cNvPr>
          <p:cNvCxnSpPr>
            <a:cxnSpLocks/>
            <a:stCxn id="7" idx="0"/>
          </p:cNvCxnSpPr>
          <p:nvPr/>
        </p:nvCxnSpPr>
        <p:spPr>
          <a:xfrm flipV="1">
            <a:off x="4449480" y="3089689"/>
            <a:ext cx="0" cy="739207"/>
          </a:xfrm>
          <a:prstGeom prst="line">
            <a:avLst/>
          </a:prstGeom>
          <a:ln>
            <a:tailEnd type="none"/>
          </a:ln>
        </p:spPr>
        <p:style>
          <a:lnRef idx="3">
            <a:schemeClr val="accent6"/>
          </a:lnRef>
          <a:fillRef idx="0">
            <a:schemeClr val="accent6"/>
          </a:fillRef>
          <a:effectRef idx="2">
            <a:schemeClr val="accent6"/>
          </a:effectRef>
          <a:fontRef idx="minor">
            <a:schemeClr val="tx1"/>
          </a:fontRef>
        </p:style>
      </p:cxnSp>
      <p:sp>
        <p:nvSpPr>
          <p:cNvPr id="12" name="Rectangle: Rounded Corners 11">
            <a:extLst>
              <a:ext uri="{FF2B5EF4-FFF2-40B4-BE49-F238E27FC236}">
                <a16:creationId xmlns:a16="http://schemas.microsoft.com/office/drawing/2014/main" id="{DA3E4217-35DC-4D40-83F9-88CDB7EC60B1}"/>
              </a:ext>
            </a:extLst>
          </p:cNvPr>
          <p:cNvSpPr/>
          <p:nvPr/>
        </p:nvSpPr>
        <p:spPr bwMode="auto">
          <a:xfrm>
            <a:off x="6652117" y="383733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IAR</a:t>
            </a:r>
          </a:p>
          <a:p>
            <a:pPr algn="ctr" defTabSz="576000" eaLnBrk="0" hangingPunct="0">
              <a:lnSpc>
                <a:spcPct val="120000"/>
              </a:lnSpc>
            </a:pPr>
            <a:r>
              <a:rPr lang="en-US" sz="1600">
                <a:solidFill>
                  <a:schemeClr val="bg1"/>
                </a:solidFill>
              </a:rPr>
              <a:t>Embedded</a:t>
            </a:r>
          </a:p>
          <a:p>
            <a:pPr algn="ctr" defTabSz="576000" eaLnBrk="0" hangingPunct="0">
              <a:lnSpc>
                <a:spcPct val="120000"/>
              </a:lnSpc>
            </a:pPr>
            <a:r>
              <a:rPr lang="en-US" sz="1600">
                <a:solidFill>
                  <a:schemeClr val="bg1"/>
                </a:solidFill>
              </a:rPr>
              <a:t>Workbench</a:t>
            </a:r>
            <a:endParaRPr lang="en-US" sz="1600" dirty="0">
              <a:solidFill>
                <a:schemeClr val="bg1"/>
              </a:solidFill>
            </a:endParaRPr>
          </a:p>
        </p:txBody>
      </p:sp>
      <p:cxnSp>
        <p:nvCxnSpPr>
          <p:cNvPr id="13" name="Connector: Elbow 12">
            <a:extLst>
              <a:ext uri="{FF2B5EF4-FFF2-40B4-BE49-F238E27FC236}">
                <a16:creationId xmlns:a16="http://schemas.microsoft.com/office/drawing/2014/main" id="{9E06BEC8-A23E-4012-8C3A-4935D2C50564}"/>
              </a:ext>
            </a:extLst>
          </p:cNvPr>
          <p:cNvCxnSpPr>
            <a:cxnSpLocks/>
            <a:stCxn id="8" idx="0"/>
          </p:cNvCxnSpPr>
          <p:nvPr/>
        </p:nvCxnSpPr>
        <p:spPr>
          <a:xfrm rot="16200000" flipV="1">
            <a:off x="8855997" y="2083917"/>
            <a:ext cx="739207" cy="2750751"/>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16" name="Straight Connector 78">
            <a:extLst>
              <a:ext uri="{FF2B5EF4-FFF2-40B4-BE49-F238E27FC236}">
                <a16:creationId xmlns:a16="http://schemas.microsoft.com/office/drawing/2014/main" id="{55381D64-689E-4DF2-90BF-0FB21EE3AAEE}"/>
              </a:ext>
            </a:extLst>
          </p:cNvPr>
          <p:cNvCxnSpPr>
            <a:cxnSpLocks/>
            <a:stCxn id="17" idx="0"/>
          </p:cNvCxnSpPr>
          <p:nvPr/>
        </p:nvCxnSpPr>
        <p:spPr>
          <a:xfrm flipV="1">
            <a:off x="6110574" y="3087901"/>
            <a:ext cx="0" cy="2001260"/>
          </a:xfrm>
          <a:prstGeom prst="straightConnector1">
            <a:avLst/>
          </a:prstGeom>
          <a:ln>
            <a:tailEnd type="none"/>
          </a:ln>
        </p:spPr>
        <p:style>
          <a:lnRef idx="3">
            <a:schemeClr val="accent6"/>
          </a:lnRef>
          <a:fillRef idx="0">
            <a:schemeClr val="accent6"/>
          </a:fillRef>
          <a:effectRef idx="2">
            <a:schemeClr val="accent6"/>
          </a:effectRef>
          <a:fontRef idx="minor">
            <a:schemeClr val="tx1"/>
          </a:fontRef>
        </p:style>
      </p:cxnSp>
      <p:sp>
        <p:nvSpPr>
          <p:cNvPr id="17" name="Rectangle: Rounded Corners 16">
            <a:extLst>
              <a:ext uri="{FF2B5EF4-FFF2-40B4-BE49-F238E27FC236}">
                <a16:creationId xmlns:a16="http://schemas.microsoft.com/office/drawing/2014/main" id="{779F2242-BB68-4E29-8EA7-62688C842B80}"/>
              </a:ext>
            </a:extLst>
          </p:cNvPr>
          <p:cNvSpPr/>
          <p:nvPr/>
        </p:nvSpPr>
        <p:spPr bwMode="auto">
          <a:xfrm>
            <a:off x="4912468" y="5089161"/>
            <a:ext cx="2396211" cy="883569"/>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latin typeface="+mn-lt"/>
              </a:rPr>
              <a:t>Command-line Interface</a:t>
            </a:r>
          </a:p>
        </p:txBody>
      </p:sp>
      <p:sp>
        <p:nvSpPr>
          <p:cNvPr id="14" name="Rectangle: Rounded Corners 13">
            <a:extLst>
              <a:ext uri="{FF2B5EF4-FFF2-40B4-BE49-F238E27FC236}">
                <a16:creationId xmlns:a16="http://schemas.microsoft.com/office/drawing/2014/main" id="{84360866-44F9-4D56-858F-3DC4504F49CB}"/>
              </a:ext>
            </a:extLst>
          </p:cNvPr>
          <p:cNvSpPr/>
          <p:nvPr/>
        </p:nvSpPr>
        <p:spPr bwMode="auto">
          <a:xfrm>
            <a:off x="4907358" y="1553618"/>
            <a:ext cx="2396211" cy="815800"/>
          </a:xfrm>
          <a:prstGeom prst="roundRect">
            <a:avLst/>
          </a:prstGeom>
          <a:solidFill>
            <a:srgbClr val="3B9B91"/>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600" dirty="0">
                <a:solidFill>
                  <a:schemeClr val="bg1"/>
                </a:solidFill>
                <a:latin typeface="+mn-lt"/>
              </a:rPr>
              <a:t>ModusToolbox™ </a:t>
            </a:r>
            <a:br>
              <a:rPr lang="en-US" sz="1600" dirty="0">
                <a:solidFill>
                  <a:schemeClr val="bg1"/>
                </a:solidFill>
                <a:latin typeface="+mn-lt"/>
              </a:rPr>
            </a:br>
            <a:r>
              <a:rPr lang="en-US" sz="1600" dirty="0">
                <a:solidFill>
                  <a:schemeClr val="bg1"/>
                </a:solidFill>
                <a:latin typeface="+mn-lt"/>
              </a:rPr>
              <a:t>IDE Tool Support</a:t>
            </a:r>
            <a:endParaRPr lang="en-US" sz="1600" baseline="0" dirty="0">
              <a:solidFill>
                <a:schemeClr val="bg1"/>
              </a:solidFill>
              <a:latin typeface="+mn-lt"/>
              <a:ea typeface="+mn-ea"/>
              <a:cs typeface="+mn-cs"/>
            </a:endParaRPr>
          </a:p>
        </p:txBody>
      </p:sp>
      <p:sp>
        <p:nvSpPr>
          <p:cNvPr id="15" name="Rectangle: Rounded Corners 14">
            <a:extLst>
              <a:ext uri="{FF2B5EF4-FFF2-40B4-BE49-F238E27FC236}">
                <a16:creationId xmlns:a16="http://schemas.microsoft.com/office/drawing/2014/main" id="{C2856575-07C1-4EFC-8805-48DAE8849BC5}"/>
              </a:ext>
            </a:extLst>
          </p:cNvPr>
          <p:cNvSpPr/>
          <p:nvPr/>
        </p:nvSpPr>
        <p:spPr bwMode="auto">
          <a:xfrm>
            <a:off x="610852" y="381264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Eclipse IDE for </a:t>
            </a:r>
            <a:r>
              <a:rPr lang="en-US" sz="1600" dirty="0" err="1">
                <a:solidFill>
                  <a:schemeClr val="bg1"/>
                </a:solidFill>
              </a:rPr>
              <a:t>ModusToolbox</a:t>
            </a:r>
            <a:r>
              <a:rPr lang="en-US" sz="1600" dirty="0">
                <a:solidFill>
                  <a:schemeClr val="bg1"/>
                </a:solidFill>
              </a:rPr>
              <a:t>™ </a:t>
            </a:r>
          </a:p>
        </p:txBody>
      </p:sp>
      <p:sp>
        <p:nvSpPr>
          <p:cNvPr id="18" name="Rectangle: Rounded Corners 17">
            <a:extLst>
              <a:ext uri="{FF2B5EF4-FFF2-40B4-BE49-F238E27FC236}">
                <a16:creationId xmlns:a16="http://schemas.microsoft.com/office/drawing/2014/main" id="{8163A67B-0064-4D69-AB6F-DEE82B011146}"/>
              </a:ext>
            </a:extLst>
          </p:cNvPr>
          <p:cNvSpPr/>
          <p:nvPr/>
        </p:nvSpPr>
        <p:spPr bwMode="auto">
          <a:xfrm>
            <a:off x="3251374"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a:solidFill>
                  <a:schemeClr val="bg1"/>
                </a:solidFill>
              </a:rPr>
              <a:t>Visual Studio</a:t>
            </a:r>
          </a:p>
          <a:p>
            <a:pPr algn="ctr" defTabSz="576000" eaLnBrk="0" hangingPunct="0">
              <a:lnSpc>
                <a:spcPct val="120000"/>
              </a:lnSpc>
            </a:pPr>
            <a:r>
              <a:rPr lang="en-US" sz="1600">
                <a:solidFill>
                  <a:schemeClr val="bg1"/>
                </a:solidFill>
              </a:rPr>
              <a:t>Code</a:t>
            </a:r>
            <a:endParaRPr lang="en-US" sz="1600" dirty="0">
              <a:solidFill>
                <a:schemeClr val="bg1"/>
              </a:solidFill>
            </a:endParaRPr>
          </a:p>
        </p:txBody>
      </p:sp>
      <p:sp>
        <p:nvSpPr>
          <p:cNvPr id="19" name="Rectangle: Rounded Corners 18">
            <a:extLst>
              <a:ext uri="{FF2B5EF4-FFF2-40B4-BE49-F238E27FC236}">
                <a16:creationId xmlns:a16="http://schemas.microsoft.com/office/drawing/2014/main" id="{8CAB4524-00AA-4B49-88FE-0F06521F3F45}"/>
              </a:ext>
            </a:extLst>
          </p:cNvPr>
          <p:cNvSpPr/>
          <p:nvPr/>
        </p:nvSpPr>
        <p:spPr bwMode="auto">
          <a:xfrm>
            <a:off x="9402869" y="382889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Arm® MDK</a:t>
            </a:r>
          </a:p>
          <a:p>
            <a:pPr algn="ctr" defTabSz="576000" eaLnBrk="0" hangingPunct="0">
              <a:lnSpc>
                <a:spcPct val="120000"/>
              </a:lnSpc>
            </a:pPr>
            <a:r>
              <a:rPr lang="en-US" sz="1600" dirty="0">
                <a:solidFill>
                  <a:schemeClr val="bg1"/>
                </a:solidFill>
              </a:rPr>
              <a:t>with µVision IDE</a:t>
            </a:r>
          </a:p>
        </p:txBody>
      </p:sp>
      <p:cxnSp>
        <p:nvCxnSpPr>
          <p:cNvPr id="20" name="Connector: Elbow 19">
            <a:extLst>
              <a:ext uri="{FF2B5EF4-FFF2-40B4-BE49-F238E27FC236}">
                <a16:creationId xmlns:a16="http://schemas.microsoft.com/office/drawing/2014/main" id="{5E029571-F504-49DB-9EE9-BC49E5ECF7FF}"/>
              </a:ext>
            </a:extLst>
          </p:cNvPr>
          <p:cNvCxnSpPr>
            <a:cxnSpLocks/>
            <a:stCxn id="14" idx="2"/>
            <a:endCxn id="15" idx="0"/>
          </p:cNvCxnSpPr>
          <p:nvPr/>
        </p:nvCxnSpPr>
        <p:spPr>
          <a:xfrm rot="5400000">
            <a:off x="3235597" y="942779"/>
            <a:ext cx="1443228" cy="4296506"/>
          </a:xfrm>
          <a:prstGeom prst="bentConnector3">
            <a:avLst>
              <a:gd name="adj1" fmla="val 50000"/>
            </a:avLst>
          </a:prstGeom>
          <a:ln>
            <a:tailEnd type="none"/>
          </a:ln>
        </p:spPr>
        <p:style>
          <a:lnRef idx="3">
            <a:schemeClr val="accent6"/>
          </a:lnRef>
          <a:fillRef idx="0">
            <a:schemeClr val="accent6"/>
          </a:fillRef>
          <a:effectRef idx="2">
            <a:schemeClr val="accent6"/>
          </a:effectRef>
          <a:fontRef idx="minor">
            <a:schemeClr val="tx1"/>
          </a:fontRef>
        </p:style>
      </p:cxnSp>
      <p:cxnSp>
        <p:nvCxnSpPr>
          <p:cNvPr id="21" name="Connector: Elbow 20">
            <a:extLst>
              <a:ext uri="{FF2B5EF4-FFF2-40B4-BE49-F238E27FC236}">
                <a16:creationId xmlns:a16="http://schemas.microsoft.com/office/drawing/2014/main" id="{CD8A147B-67A0-4064-8654-907D8AB5C21F}"/>
              </a:ext>
            </a:extLst>
          </p:cNvPr>
          <p:cNvCxnSpPr>
            <a:cxnSpLocks/>
            <a:stCxn id="23" idx="0"/>
          </p:cNvCxnSpPr>
          <p:nvPr/>
        </p:nvCxnSpPr>
        <p:spPr>
          <a:xfrm rot="16200000" flipV="1">
            <a:off x="6603127" y="2590239"/>
            <a:ext cx="749434" cy="1744759"/>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22" name="Straight Connector 21">
            <a:extLst>
              <a:ext uri="{FF2B5EF4-FFF2-40B4-BE49-F238E27FC236}">
                <a16:creationId xmlns:a16="http://schemas.microsoft.com/office/drawing/2014/main" id="{8DD75F2C-EA64-4E89-B616-E43FEFFFA07C}"/>
              </a:ext>
            </a:extLst>
          </p:cNvPr>
          <p:cNvCxnSpPr>
            <a:cxnSpLocks/>
            <a:stCxn id="18" idx="0"/>
          </p:cNvCxnSpPr>
          <p:nvPr/>
        </p:nvCxnSpPr>
        <p:spPr>
          <a:xfrm flipV="1">
            <a:off x="4449480" y="3089689"/>
            <a:ext cx="0" cy="739207"/>
          </a:xfrm>
          <a:prstGeom prst="line">
            <a:avLst/>
          </a:prstGeom>
          <a:ln>
            <a:tailEnd type="none"/>
          </a:ln>
        </p:spPr>
        <p:style>
          <a:lnRef idx="3">
            <a:schemeClr val="accent6"/>
          </a:lnRef>
          <a:fillRef idx="0">
            <a:schemeClr val="accent6"/>
          </a:fillRef>
          <a:effectRef idx="2">
            <a:schemeClr val="accent6"/>
          </a:effectRef>
          <a:fontRef idx="minor">
            <a:schemeClr val="tx1"/>
          </a:fontRef>
        </p:style>
      </p:cxnSp>
      <p:sp>
        <p:nvSpPr>
          <p:cNvPr id="23" name="Rectangle: Rounded Corners 22">
            <a:extLst>
              <a:ext uri="{FF2B5EF4-FFF2-40B4-BE49-F238E27FC236}">
                <a16:creationId xmlns:a16="http://schemas.microsoft.com/office/drawing/2014/main" id="{BD594BF7-EB7B-40D9-AE00-42A50AE1BD7C}"/>
              </a:ext>
            </a:extLst>
          </p:cNvPr>
          <p:cNvSpPr/>
          <p:nvPr/>
        </p:nvSpPr>
        <p:spPr bwMode="auto">
          <a:xfrm>
            <a:off x="6652117" y="3837336"/>
            <a:ext cx="2396211" cy="815800"/>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rPr>
              <a:t>IAR</a:t>
            </a:r>
          </a:p>
          <a:p>
            <a:pPr algn="ctr" defTabSz="576000" eaLnBrk="0" hangingPunct="0">
              <a:lnSpc>
                <a:spcPct val="120000"/>
              </a:lnSpc>
            </a:pPr>
            <a:r>
              <a:rPr lang="en-US" sz="1600" dirty="0">
                <a:solidFill>
                  <a:schemeClr val="bg1"/>
                </a:solidFill>
              </a:rPr>
              <a:t>Embedded Workbench</a:t>
            </a:r>
          </a:p>
        </p:txBody>
      </p:sp>
      <p:cxnSp>
        <p:nvCxnSpPr>
          <p:cNvPr id="24" name="Connector: Elbow 23">
            <a:extLst>
              <a:ext uri="{FF2B5EF4-FFF2-40B4-BE49-F238E27FC236}">
                <a16:creationId xmlns:a16="http://schemas.microsoft.com/office/drawing/2014/main" id="{553B240B-5630-4F92-8C08-5A199D718E65}"/>
              </a:ext>
            </a:extLst>
          </p:cNvPr>
          <p:cNvCxnSpPr>
            <a:cxnSpLocks/>
            <a:stCxn id="19" idx="0"/>
          </p:cNvCxnSpPr>
          <p:nvPr/>
        </p:nvCxnSpPr>
        <p:spPr>
          <a:xfrm rot="16200000" flipV="1">
            <a:off x="8855997" y="2083917"/>
            <a:ext cx="739207" cy="2750751"/>
          </a:xfrm>
          <a:prstGeom prst="bentConnector2">
            <a:avLst/>
          </a:prstGeom>
          <a:ln>
            <a:tailEnd type="none"/>
          </a:ln>
        </p:spPr>
        <p:style>
          <a:lnRef idx="3">
            <a:schemeClr val="accent6"/>
          </a:lnRef>
          <a:fillRef idx="0">
            <a:schemeClr val="accent6"/>
          </a:fillRef>
          <a:effectRef idx="2">
            <a:schemeClr val="accent6"/>
          </a:effectRef>
          <a:fontRef idx="minor">
            <a:schemeClr val="tx1"/>
          </a:fontRef>
        </p:style>
      </p:cxnSp>
      <p:cxnSp>
        <p:nvCxnSpPr>
          <p:cNvPr id="25" name="Straight Connector 78">
            <a:extLst>
              <a:ext uri="{FF2B5EF4-FFF2-40B4-BE49-F238E27FC236}">
                <a16:creationId xmlns:a16="http://schemas.microsoft.com/office/drawing/2014/main" id="{AD110727-04FB-4A3B-9132-BE0003FB8C40}"/>
              </a:ext>
            </a:extLst>
          </p:cNvPr>
          <p:cNvCxnSpPr>
            <a:cxnSpLocks/>
            <a:stCxn id="26" idx="0"/>
          </p:cNvCxnSpPr>
          <p:nvPr/>
        </p:nvCxnSpPr>
        <p:spPr>
          <a:xfrm flipV="1">
            <a:off x="6110574" y="3087901"/>
            <a:ext cx="0" cy="2001260"/>
          </a:xfrm>
          <a:prstGeom prst="straightConnector1">
            <a:avLst/>
          </a:prstGeom>
          <a:ln>
            <a:tailEnd type="none"/>
          </a:ln>
        </p:spPr>
        <p:style>
          <a:lnRef idx="3">
            <a:schemeClr val="accent6"/>
          </a:lnRef>
          <a:fillRef idx="0">
            <a:schemeClr val="accent6"/>
          </a:fillRef>
          <a:effectRef idx="2">
            <a:schemeClr val="accent6"/>
          </a:effectRef>
          <a:fontRef idx="minor">
            <a:schemeClr val="tx1"/>
          </a:fontRef>
        </p:style>
      </p:cxnSp>
      <p:sp>
        <p:nvSpPr>
          <p:cNvPr id="26" name="Rectangle: Rounded Corners 25">
            <a:extLst>
              <a:ext uri="{FF2B5EF4-FFF2-40B4-BE49-F238E27FC236}">
                <a16:creationId xmlns:a16="http://schemas.microsoft.com/office/drawing/2014/main" id="{C6AFB06A-9067-4C6D-B552-620A2557706C}"/>
              </a:ext>
            </a:extLst>
          </p:cNvPr>
          <p:cNvSpPr/>
          <p:nvPr/>
        </p:nvSpPr>
        <p:spPr bwMode="auto">
          <a:xfrm>
            <a:off x="4912468" y="5089161"/>
            <a:ext cx="2396211" cy="883569"/>
          </a:xfrm>
          <a:prstGeom prst="roundRect">
            <a:avLst/>
          </a:prstGeom>
          <a:solidFill>
            <a:srgbClr val="3B9B91"/>
          </a:solidFill>
          <a:ln w="9525">
            <a:no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576000" eaLnBrk="0" hangingPunct="0">
              <a:lnSpc>
                <a:spcPct val="120000"/>
              </a:lnSpc>
            </a:pPr>
            <a:r>
              <a:rPr lang="en-US" sz="1600" dirty="0">
                <a:solidFill>
                  <a:schemeClr val="bg1"/>
                </a:solidFill>
                <a:latin typeface="+mn-lt"/>
              </a:rPr>
              <a:t>Command-line Interface</a:t>
            </a:r>
          </a:p>
        </p:txBody>
      </p:sp>
      <p:sp>
        <p:nvSpPr>
          <p:cNvPr id="27" name="Right Brace 26">
            <a:extLst>
              <a:ext uri="{FF2B5EF4-FFF2-40B4-BE49-F238E27FC236}">
                <a16:creationId xmlns:a16="http://schemas.microsoft.com/office/drawing/2014/main" id="{E00A7F3E-693F-4408-B59B-D8D8C5FFC017}"/>
              </a:ext>
            </a:extLst>
          </p:cNvPr>
          <p:cNvSpPr/>
          <p:nvPr/>
        </p:nvSpPr>
        <p:spPr>
          <a:xfrm rot="5400000">
            <a:off x="8908203" y="2114347"/>
            <a:ext cx="621038" cy="5328590"/>
          </a:xfrm>
          <a:prstGeom prst="rightBrace">
            <a:avLst>
              <a:gd name="adj1" fmla="val 34279"/>
              <a:gd name="adj2" fmla="val 38479"/>
            </a:avLst>
          </a:prstGeom>
          <a:ln w="38100">
            <a:solidFill>
              <a:srgbClr val="57535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16519DA7-0495-415A-908B-6F9E128CFF07}"/>
              </a:ext>
            </a:extLst>
          </p:cNvPr>
          <p:cNvSpPr txBox="1"/>
          <p:nvPr/>
        </p:nvSpPr>
        <p:spPr bwMode="auto">
          <a:xfrm>
            <a:off x="8422559" y="5157192"/>
            <a:ext cx="3168352" cy="1268874"/>
          </a:xfrm>
          <a:prstGeom prst="rect">
            <a:avLst/>
          </a:prstGeom>
          <a:noFill/>
          <a:ln w="9525">
            <a:noFill/>
            <a:miter lim="800000"/>
            <a:headEnd/>
            <a:tailEnd/>
          </a:ln>
          <a:effectLst/>
        </p:spPr>
        <p:txBody>
          <a:bodyPr wrap="square" lIns="0" tIns="0" rIns="0" bIns="0" rtlCol="0" anchor="t" anchorCtr="0">
            <a:spAutoFit/>
          </a:bodyPr>
          <a:lstStyle/>
          <a:p>
            <a:pPr marL="285750" indent="-2857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dirty="0"/>
              <a:t>Embedded Workbench and µVision require additional post-build step configuration.</a:t>
            </a:r>
          </a:p>
          <a:p>
            <a:pPr marL="285750" indent="-2857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dirty="0"/>
              <a:t>Details documented within IDE respective user manuals</a:t>
            </a:r>
          </a:p>
        </p:txBody>
      </p:sp>
    </p:spTree>
    <p:extLst>
      <p:ext uri="{BB962C8B-B14F-4D97-AF65-F5344CB8AC3E}">
        <p14:creationId xmlns:p14="http://schemas.microsoft.com/office/powerpoint/2010/main" val="27319771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7" grpId="0" animBg="1"/>
      <p:bldP spid="15" grpId="0" animBg="1"/>
      <p:bldP spid="18" grpId="0" animBg="1"/>
      <p:bldP spid="19" grpId="0" animBg="1"/>
      <p:bldP spid="23"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6ADC231-778D-FF78-5969-ACE87784F43D}"/>
              </a:ext>
            </a:extLst>
          </p:cNvPr>
          <p:cNvSpPr>
            <a:spLocks noGrp="1"/>
          </p:cNvSpPr>
          <p:nvPr>
            <p:ph sz="quarter" idx="13"/>
          </p:nvPr>
        </p:nvSpPr>
        <p:spPr>
          <a:xfrm>
            <a:off x="838200" y="2770485"/>
            <a:ext cx="4572000" cy="3720867"/>
          </a:xfrm>
        </p:spPr>
        <p:txBody>
          <a:bodyPr/>
          <a:lstStyle/>
          <a:p>
            <a:pPr>
              <a:spcAft>
                <a:spcPts val="600"/>
              </a:spcAft>
            </a:pPr>
            <a:r>
              <a:rPr lang="en-US" sz="1600" dirty="0"/>
              <a:t>IDE support, including </a:t>
            </a:r>
            <a:r>
              <a:rPr lang="en-US" sz="1600" dirty="0">
                <a:solidFill>
                  <a:schemeClr val="tx2"/>
                </a:solidFill>
              </a:rPr>
              <a:t>Eclipse IDE</a:t>
            </a:r>
            <a:r>
              <a:rPr lang="en-US" sz="1600" dirty="0"/>
              <a:t>, </a:t>
            </a:r>
            <a:br>
              <a:rPr lang="en-US" sz="1600" dirty="0"/>
            </a:br>
            <a:r>
              <a:rPr lang="en-US" sz="1600" dirty="0">
                <a:solidFill>
                  <a:schemeClr val="tx2"/>
                </a:solidFill>
              </a:rPr>
              <a:t>VS Code</a:t>
            </a:r>
            <a:r>
              <a:rPr lang="en-US" sz="1600" dirty="0"/>
              <a:t>, and </a:t>
            </a:r>
            <a:r>
              <a:rPr lang="en-US" sz="1600" dirty="0">
                <a:solidFill>
                  <a:schemeClr val="tx2"/>
                </a:solidFill>
              </a:rPr>
              <a:t>3</a:t>
            </a:r>
            <a:r>
              <a:rPr lang="en-US" sz="1600" baseline="30000" dirty="0">
                <a:solidFill>
                  <a:schemeClr val="tx2"/>
                </a:solidFill>
              </a:rPr>
              <a:t>rd</a:t>
            </a:r>
            <a:r>
              <a:rPr lang="en-US" sz="1600" dirty="0">
                <a:solidFill>
                  <a:schemeClr val="tx2"/>
                </a:solidFill>
              </a:rPr>
              <a:t> party IDEs</a:t>
            </a:r>
            <a:r>
              <a:rPr lang="en-US" sz="1600" dirty="0"/>
              <a:t>.</a:t>
            </a:r>
          </a:p>
          <a:p>
            <a:pPr>
              <a:spcAft>
                <a:spcPts val="600"/>
              </a:spcAft>
            </a:pPr>
            <a:r>
              <a:rPr lang="en-US" sz="1600" dirty="0"/>
              <a:t>Support for GCC, IAR, and Arm compilers using ‘</a:t>
            </a:r>
            <a:r>
              <a:rPr lang="en-US" sz="1600" dirty="0">
                <a:solidFill>
                  <a:schemeClr val="tx2"/>
                </a:solidFill>
              </a:rPr>
              <a:t>make</a:t>
            </a:r>
            <a:r>
              <a:rPr lang="en-US" sz="1600" dirty="0"/>
              <a:t>’ based </a:t>
            </a:r>
            <a:r>
              <a:rPr lang="en-US" sz="1600" dirty="0">
                <a:solidFill>
                  <a:schemeClr val="tx2"/>
                </a:solidFill>
              </a:rPr>
              <a:t>ModusToolbox™ build system</a:t>
            </a:r>
            <a:r>
              <a:rPr lang="en-US" sz="1600" dirty="0"/>
              <a:t>.</a:t>
            </a:r>
          </a:p>
          <a:p>
            <a:pPr>
              <a:spcAft>
                <a:spcPts val="600"/>
              </a:spcAft>
            </a:pPr>
            <a:r>
              <a:rPr lang="en-US" sz="1600" dirty="0"/>
              <a:t>Graphical </a:t>
            </a:r>
            <a:r>
              <a:rPr lang="en-US" sz="1600" dirty="0">
                <a:solidFill>
                  <a:schemeClr val="tx2"/>
                </a:solidFill>
              </a:rPr>
              <a:t>UI configurations </a:t>
            </a:r>
            <a:r>
              <a:rPr lang="en-US" sz="1600" dirty="0"/>
              <a:t>tool</a:t>
            </a:r>
          </a:p>
          <a:p>
            <a:pPr>
              <a:spcAft>
                <a:spcPts val="600"/>
              </a:spcAft>
            </a:pPr>
            <a:r>
              <a:rPr lang="en-US" sz="1600" dirty="0"/>
              <a:t>Leverages </a:t>
            </a:r>
            <a:r>
              <a:rPr lang="en-US" sz="1600" dirty="0">
                <a:solidFill>
                  <a:schemeClr val="tx2"/>
                </a:solidFill>
              </a:rPr>
              <a:t>Infineon developed </a:t>
            </a:r>
            <a:r>
              <a:rPr lang="en-US" sz="1600" dirty="0"/>
              <a:t>low-level drivers, middleware abstraction, middleware, and code examples.</a:t>
            </a:r>
          </a:p>
          <a:p>
            <a:pPr>
              <a:spcAft>
                <a:spcPts val="600"/>
              </a:spcAft>
            </a:pPr>
            <a:r>
              <a:rPr lang="en-US" sz="1600" dirty="0"/>
              <a:t>Enables key partner middleware via </a:t>
            </a:r>
            <a:r>
              <a:rPr lang="en-US" sz="1600" dirty="0">
                <a:solidFill>
                  <a:srgbClr val="0A8276"/>
                </a:solidFill>
              </a:rPr>
              <a:t>ModusToolbox™ &amp; Friends </a:t>
            </a:r>
            <a:r>
              <a:rPr lang="en-US" sz="1600" dirty="0"/>
              <a:t>program </a:t>
            </a:r>
          </a:p>
        </p:txBody>
      </p:sp>
      <p:sp>
        <p:nvSpPr>
          <p:cNvPr id="2" name="Title 1">
            <a:extLst>
              <a:ext uri="{FF2B5EF4-FFF2-40B4-BE49-F238E27FC236}">
                <a16:creationId xmlns:a16="http://schemas.microsoft.com/office/drawing/2014/main" id="{023FA8F0-4622-094A-E2EB-77C4E8D9A731}"/>
              </a:ext>
            </a:extLst>
          </p:cNvPr>
          <p:cNvSpPr>
            <a:spLocks noGrp="1"/>
          </p:cNvSpPr>
          <p:nvPr>
            <p:ph type="title"/>
          </p:nvPr>
        </p:nvSpPr>
        <p:spPr/>
        <p:txBody>
          <a:bodyPr/>
          <a:lstStyle/>
          <a:p>
            <a:r>
              <a:rPr lang="en-US" dirty="0"/>
              <a:t>Understanding ModusToolbox™ and Zephyr</a:t>
            </a:r>
          </a:p>
        </p:txBody>
      </p:sp>
      <p:pic>
        <p:nvPicPr>
          <p:cNvPr id="6" name="Google Shape;546;p78">
            <a:extLst>
              <a:ext uri="{FF2B5EF4-FFF2-40B4-BE49-F238E27FC236}">
                <a16:creationId xmlns:a16="http://schemas.microsoft.com/office/drawing/2014/main" id="{7D4CFD01-AC3E-7E15-0533-3D0E15C66395}"/>
              </a:ext>
            </a:extLst>
          </p:cNvPr>
          <p:cNvPicPr preferRelativeResize="0"/>
          <p:nvPr/>
        </p:nvPicPr>
        <p:blipFill rotWithShape="1">
          <a:blip r:embed="rId2">
            <a:alphaModFix/>
          </a:blip>
          <a:srcRect/>
          <a:stretch/>
        </p:blipFill>
        <p:spPr>
          <a:xfrm>
            <a:off x="5486400" y="1298295"/>
            <a:ext cx="2249129" cy="1173619"/>
          </a:xfrm>
          <a:prstGeom prst="rect">
            <a:avLst/>
          </a:prstGeom>
          <a:noFill/>
          <a:ln>
            <a:noFill/>
          </a:ln>
        </p:spPr>
      </p:pic>
      <p:pic>
        <p:nvPicPr>
          <p:cNvPr id="8" name="Picture 7" descr="A diagram of software tools&#10;&#10;Description automatically generated">
            <a:extLst>
              <a:ext uri="{FF2B5EF4-FFF2-40B4-BE49-F238E27FC236}">
                <a16:creationId xmlns:a16="http://schemas.microsoft.com/office/drawing/2014/main" id="{58FB3127-D5DF-EC33-FCE2-FDF361CB9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160827"/>
            <a:ext cx="1371600" cy="1366126"/>
          </a:xfrm>
          <a:prstGeom prst="rect">
            <a:avLst/>
          </a:prstGeom>
        </p:spPr>
      </p:pic>
      <p:sp>
        <p:nvSpPr>
          <p:cNvPr id="12" name="Content Placeholder 8">
            <a:extLst>
              <a:ext uri="{FF2B5EF4-FFF2-40B4-BE49-F238E27FC236}">
                <a16:creationId xmlns:a16="http://schemas.microsoft.com/office/drawing/2014/main" id="{7FA7BCDF-6320-2590-7708-71875FECA71F}"/>
              </a:ext>
            </a:extLst>
          </p:cNvPr>
          <p:cNvSpPr txBox="1">
            <a:spLocks/>
          </p:cNvSpPr>
          <p:nvPr/>
        </p:nvSpPr>
        <p:spPr>
          <a:xfrm>
            <a:off x="6096000" y="2770485"/>
            <a:ext cx="5029200" cy="3181351"/>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spcAft>
                <a:spcPts val="600"/>
              </a:spcAft>
            </a:pPr>
            <a:r>
              <a:rPr lang="en-US" sz="1600" kern="0" dirty="0"/>
              <a:t>Targeted at </a:t>
            </a:r>
            <a:r>
              <a:rPr lang="en-US" sz="1600" kern="0" dirty="0">
                <a:solidFill>
                  <a:schemeClr val="accent6"/>
                </a:solidFill>
              </a:rPr>
              <a:t>command-line users </a:t>
            </a:r>
            <a:r>
              <a:rPr lang="en-US" sz="1600" kern="0" dirty="0"/>
              <a:t>with some community support for </a:t>
            </a:r>
            <a:r>
              <a:rPr lang="en-US" sz="1600" kern="0" dirty="0">
                <a:solidFill>
                  <a:schemeClr val="accent6"/>
                </a:solidFill>
              </a:rPr>
              <a:t>VS Code</a:t>
            </a:r>
            <a:r>
              <a:rPr lang="en-US" sz="1600" kern="0" dirty="0"/>
              <a:t>.</a:t>
            </a:r>
          </a:p>
          <a:p>
            <a:pPr>
              <a:spcAft>
                <a:spcPts val="600"/>
              </a:spcAft>
            </a:pPr>
            <a:r>
              <a:rPr lang="en-US" sz="1600" kern="0" dirty="0"/>
              <a:t>Default support for GCC compiler using ‘</a:t>
            </a:r>
            <a:r>
              <a:rPr lang="en-US" sz="1600" kern="0" dirty="0">
                <a:solidFill>
                  <a:schemeClr val="accent6"/>
                </a:solidFill>
              </a:rPr>
              <a:t>west</a:t>
            </a:r>
            <a:r>
              <a:rPr lang="en-US" sz="1600" kern="0" dirty="0"/>
              <a:t>’ based </a:t>
            </a:r>
            <a:r>
              <a:rPr lang="en-US" sz="1600" kern="0" dirty="0">
                <a:solidFill>
                  <a:schemeClr val="accent6"/>
                </a:solidFill>
              </a:rPr>
              <a:t>Zephyr build environment</a:t>
            </a:r>
            <a:r>
              <a:rPr lang="en-US" sz="1600" kern="0" dirty="0"/>
              <a:t>.  Additional toolchains are now being supported. </a:t>
            </a:r>
          </a:p>
          <a:p>
            <a:pPr>
              <a:spcAft>
                <a:spcPts val="600"/>
              </a:spcAft>
            </a:pPr>
            <a:r>
              <a:rPr lang="en-US" sz="1600" kern="0" dirty="0"/>
              <a:t>Text-based configuration via </a:t>
            </a:r>
            <a:r>
              <a:rPr lang="en-US" sz="1600" kern="0" dirty="0" err="1">
                <a:solidFill>
                  <a:schemeClr val="accent6"/>
                </a:solidFill>
              </a:rPr>
              <a:t>devicetree</a:t>
            </a:r>
            <a:r>
              <a:rPr lang="en-US" sz="1600" kern="0" dirty="0">
                <a:solidFill>
                  <a:schemeClr val="accent6"/>
                </a:solidFill>
              </a:rPr>
              <a:t> and Kconfig</a:t>
            </a:r>
          </a:p>
          <a:p>
            <a:pPr>
              <a:spcAft>
                <a:spcPts val="600"/>
              </a:spcAft>
            </a:pPr>
            <a:r>
              <a:rPr lang="en-US" sz="1600" kern="0" dirty="0"/>
              <a:t>Leverages vendor provided device support; Infineon support based on </a:t>
            </a:r>
            <a:r>
              <a:rPr lang="en-US" sz="1600" kern="0" dirty="0">
                <a:solidFill>
                  <a:schemeClr val="accent6"/>
                </a:solidFill>
              </a:rPr>
              <a:t>low-level drivers</a:t>
            </a:r>
            <a:r>
              <a:rPr lang="en-US" sz="1600" kern="0" dirty="0"/>
              <a:t>.</a:t>
            </a:r>
          </a:p>
          <a:p>
            <a:pPr>
              <a:spcAft>
                <a:spcPts val="600"/>
              </a:spcAft>
            </a:pPr>
            <a:r>
              <a:rPr lang="en-US" sz="1600" kern="0" dirty="0">
                <a:solidFill>
                  <a:schemeClr val="accent6"/>
                </a:solidFill>
              </a:rPr>
              <a:t>Community contributed</a:t>
            </a:r>
            <a:r>
              <a:rPr lang="en-US" sz="1600" kern="0" dirty="0"/>
              <a:t> middleware, with support for Zephyr defined driver API, stacks, and RTOS.</a:t>
            </a:r>
          </a:p>
        </p:txBody>
      </p:sp>
      <p:sp>
        <p:nvSpPr>
          <p:cNvPr id="18" name="TextBox 17">
            <a:extLst>
              <a:ext uri="{FF2B5EF4-FFF2-40B4-BE49-F238E27FC236}">
                <a16:creationId xmlns:a16="http://schemas.microsoft.com/office/drawing/2014/main" id="{3AEF1385-2180-9A4A-79FA-2B8E30DF6134}"/>
              </a:ext>
            </a:extLst>
          </p:cNvPr>
          <p:cNvSpPr txBox="1"/>
          <p:nvPr/>
        </p:nvSpPr>
        <p:spPr bwMode="auto">
          <a:xfrm>
            <a:off x="1905000" y="1409332"/>
            <a:ext cx="3352800" cy="951543"/>
          </a:xfrm>
          <a:prstGeom prst="rect">
            <a:avLst/>
          </a:prstGeom>
          <a:noFill/>
          <a:ln w="9525">
            <a:noFill/>
            <a:miter lim="800000"/>
            <a:headEnd/>
            <a:tailEnd/>
          </a:ln>
          <a:effectLst/>
        </p:spPr>
        <p:txBody>
          <a:bodyPr wrap="square">
            <a:spAutoFit/>
          </a:bodyPr>
          <a:lstStyle/>
          <a:p>
            <a:pPr marL="252000" marR="0" lvl="0" indent="-252000" algn="l" defTabSz="576000" rtl="0" eaLnBrk="1" fontAlgn="base" latinLnBrk="0" hangingPunct="1">
              <a:lnSpc>
                <a:spcPct val="120000"/>
              </a:lnSpc>
              <a:spcBef>
                <a:spcPts val="0"/>
              </a:spcBef>
              <a:spcAft>
                <a:spcPts val="600"/>
              </a:spcAft>
              <a:buClr>
                <a:srgbClr val="0A8276"/>
              </a:buClr>
              <a:buSzPct val="100000"/>
              <a:buFont typeface="Arial" panose="020B0604020202020204" pitchFamily="34" charset="0"/>
              <a:buChar char="‒"/>
              <a:tabLst/>
              <a:defRPr/>
            </a:pPr>
            <a:r>
              <a:rPr kumimoji="0" lang="en-US" sz="1600" b="0" i="0" u="none" strike="noStrike" kern="0" cap="none" spc="0" normalizeH="0" baseline="0" noProof="0" dirty="0">
                <a:ln>
                  <a:noFill/>
                </a:ln>
                <a:solidFill>
                  <a:srgbClr val="1D1D1D"/>
                </a:solidFill>
                <a:effectLst/>
                <a:uLnTx/>
                <a:uFillTx/>
                <a:latin typeface="Arial"/>
                <a:cs typeface="Arial"/>
              </a:rPr>
              <a:t>Provides a </a:t>
            </a:r>
            <a:r>
              <a:rPr kumimoji="0" lang="en-US" sz="1600" b="0" i="0" u="none" strike="noStrike" kern="0" cap="none" spc="0" normalizeH="0" baseline="0" noProof="0" dirty="0">
                <a:ln>
                  <a:noFill/>
                </a:ln>
                <a:solidFill>
                  <a:srgbClr val="0A8276"/>
                </a:solidFill>
                <a:effectLst/>
                <a:uLnTx/>
                <a:uFillTx/>
                <a:latin typeface="Arial"/>
                <a:cs typeface="Arial"/>
              </a:rPr>
              <a:t>targeted ecosystem </a:t>
            </a:r>
            <a:r>
              <a:rPr kumimoji="0" lang="en-US" sz="1600" b="0" i="0" u="none" strike="noStrike" kern="0" cap="none" spc="0" normalizeH="0" baseline="0" noProof="0" dirty="0">
                <a:ln>
                  <a:noFill/>
                </a:ln>
                <a:solidFill>
                  <a:srgbClr val="1D1D1D"/>
                </a:solidFill>
                <a:effectLst/>
                <a:uLnTx/>
                <a:uFillTx/>
                <a:latin typeface="Arial"/>
                <a:cs typeface="Arial"/>
              </a:rPr>
              <a:t>focused on development of </a:t>
            </a:r>
            <a:r>
              <a:rPr kumimoji="0" lang="en-US" sz="1600" b="0" i="0" u="none" strike="noStrike" kern="0" cap="none" spc="0" normalizeH="0" baseline="0" noProof="0" dirty="0">
                <a:ln>
                  <a:noFill/>
                </a:ln>
                <a:solidFill>
                  <a:srgbClr val="0A8276"/>
                </a:solidFill>
                <a:effectLst/>
                <a:uLnTx/>
                <a:uFillTx/>
                <a:latin typeface="Arial"/>
                <a:cs typeface="Arial"/>
              </a:rPr>
              <a:t>Infineon devices</a:t>
            </a:r>
            <a:r>
              <a:rPr kumimoji="0" lang="en-US" sz="1600" b="0" i="0" u="none" strike="noStrike" kern="0" cap="none" spc="0" normalizeH="0" baseline="0" noProof="0" dirty="0">
                <a:ln>
                  <a:noFill/>
                </a:ln>
                <a:solidFill>
                  <a:srgbClr val="1D1D1D"/>
                </a:solidFill>
                <a:effectLst/>
                <a:uLnTx/>
                <a:uFillTx/>
                <a:latin typeface="Arial"/>
                <a:cs typeface="Arial"/>
              </a:rPr>
              <a:t>.</a:t>
            </a:r>
          </a:p>
        </p:txBody>
      </p:sp>
      <p:sp>
        <p:nvSpPr>
          <p:cNvPr id="22" name="TextBox 21">
            <a:extLst>
              <a:ext uri="{FF2B5EF4-FFF2-40B4-BE49-F238E27FC236}">
                <a16:creationId xmlns:a16="http://schemas.microsoft.com/office/drawing/2014/main" id="{F34EDFDB-1695-28B6-B1C5-6439B33CB782}"/>
              </a:ext>
            </a:extLst>
          </p:cNvPr>
          <p:cNvSpPr txBox="1"/>
          <p:nvPr/>
        </p:nvSpPr>
        <p:spPr bwMode="auto">
          <a:xfrm>
            <a:off x="7620000" y="1372044"/>
            <a:ext cx="3505200" cy="1247008"/>
          </a:xfrm>
          <a:prstGeom prst="rect">
            <a:avLst/>
          </a:prstGeom>
          <a:noFill/>
          <a:ln w="9525">
            <a:noFill/>
            <a:miter lim="800000"/>
            <a:headEnd/>
            <a:tailEnd/>
          </a:ln>
          <a:effectLst/>
        </p:spPr>
        <p:txBody>
          <a:bodyPr wrap="square">
            <a:spAutoFit/>
          </a:bodyPr>
          <a:lstStyle/>
          <a:p>
            <a:pPr marL="285750" marR="0" lvl="0" indent="-285750" algn="l" defTabSz="914400" rtl="0" eaLnBrk="1" fontAlgn="base" latinLnBrk="0" hangingPunct="1">
              <a:lnSpc>
                <a:spcPct val="120000"/>
              </a:lnSpc>
              <a:spcBef>
                <a:spcPct val="0"/>
              </a:spcBef>
              <a:spcAft>
                <a:spcPts val="6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1D1D1D"/>
                </a:solidFill>
                <a:effectLst/>
                <a:uLnTx/>
                <a:uFillTx/>
                <a:latin typeface="Arial" charset="0"/>
                <a:cs typeface="Arial"/>
              </a:rPr>
              <a:t>Provides a </a:t>
            </a:r>
            <a:r>
              <a:rPr kumimoji="0" lang="en-US" sz="1600" b="0" i="0" u="none" strike="noStrike" kern="0" cap="none" spc="0" normalizeH="0" baseline="0" noProof="0" dirty="0">
                <a:ln>
                  <a:noFill/>
                </a:ln>
                <a:solidFill>
                  <a:srgbClr val="9C216E"/>
                </a:solidFill>
                <a:effectLst/>
                <a:uLnTx/>
                <a:uFillTx/>
                <a:latin typeface="Arial" charset="0"/>
                <a:cs typeface="Arial"/>
              </a:rPr>
              <a:t>community driven ecosystem </a:t>
            </a:r>
            <a:r>
              <a:rPr kumimoji="0" lang="en-US" sz="1600" b="0" i="0" u="none" strike="noStrike" kern="0" cap="none" spc="0" normalizeH="0" baseline="0" noProof="0" dirty="0">
                <a:ln>
                  <a:noFill/>
                </a:ln>
                <a:solidFill>
                  <a:srgbClr val="1D1D1D"/>
                </a:solidFill>
                <a:effectLst/>
                <a:uLnTx/>
                <a:uFillTx/>
                <a:latin typeface="Arial" charset="0"/>
                <a:cs typeface="Arial"/>
              </a:rPr>
              <a:t>with support for a targeted set of MCUs from a </a:t>
            </a:r>
            <a:r>
              <a:rPr kumimoji="0" lang="en-US" sz="1600" b="0" i="0" u="none" strike="noStrike" kern="0" cap="none" spc="0" normalizeH="0" baseline="0" noProof="0" dirty="0">
                <a:ln>
                  <a:noFill/>
                </a:ln>
                <a:solidFill>
                  <a:srgbClr val="9C216E"/>
                </a:solidFill>
                <a:effectLst/>
                <a:uLnTx/>
                <a:uFillTx/>
                <a:latin typeface="Arial" charset="0"/>
                <a:cs typeface="Arial"/>
              </a:rPr>
              <a:t>wide range of silicon providers</a:t>
            </a:r>
            <a:r>
              <a:rPr kumimoji="0" lang="en-US" sz="1600" b="0" i="0" u="none" strike="noStrike" kern="0" cap="none" spc="0" normalizeH="0" baseline="0" noProof="0" dirty="0">
                <a:ln>
                  <a:noFill/>
                </a:ln>
                <a:solidFill>
                  <a:srgbClr val="1D1D1D"/>
                </a:solidFill>
                <a:effectLst/>
                <a:uLnTx/>
                <a:uFillTx/>
                <a:latin typeface="Arial" charset="0"/>
                <a:cs typeface="Arial"/>
              </a:rPr>
              <a:t>.</a:t>
            </a:r>
          </a:p>
        </p:txBody>
      </p:sp>
    </p:spTree>
    <p:extLst>
      <p:ext uri="{BB962C8B-B14F-4D97-AF65-F5344CB8AC3E}">
        <p14:creationId xmlns:p14="http://schemas.microsoft.com/office/powerpoint/2010/main" val="154328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2253AEA-3BBA-38AD-0236-0C3BA893D976}"/>
              </a:ext>
            </a:extLst>
          </p:cNvPr>
          <p:cNvSpPr>
            <a:spLocks noGrp="1"/>
          </p:cNvSpPr>
          <p:nvPr>
            <p:ph sz="quarter" idx="13"/>
          </p:nvPr>
        </p:nvSpPr>
        <p:spPr>
          <a:xfrm>
            <a:off x="3124200" y="1268415"/>
            <a:ext cx="8730600" cy="2465385"/>
          </a:xfrm>
        </p:spPr>
        <p:txBody>
          <a:bodyPr/>
          <a:lstStyle/>
          <a:p>
            <a:r>
              <a:rPr lang="en-US" sz="1600" dirty="0"/>
              <a:t>Installation of ModusToolbox™ and DEEPCRAFT™ supported within the </a:t>
            </a:r>
            <a:r>
              <a:rPr lang="en-US" sz="1600" dirty="0">
                <a:solidFill>
                  <a:schemeClr val="tx2"/>
                </a:solidFill>
              </a:rPr>
              <a:t>ModusToolbox™ Setup</a:t>
            </a:r>
            <a:r>
              <a:rPr lang="en-US" sz="1600" dirty="0"/>
              <a:t> program</a:t>
            </a:r>
          </a:p>
          <a:p>
            <a:r>
              <a:rPr lang="en-US" sz="1600" dirty="0"/>
              <a:t>Code Examples aligned with DEEPCRAFT™ Studio </a:t>
            </a:r>
            <a:r>
              <a:rPr lang="en-US" sz="1600" dirty="0">
                <a:solidFill>
                  <a:schemeClr val="tx2"/>
                </a:solidFill>
              </a:rPr>
              <a:t>Accelerator projects </a:t>
            </a:r>
            <a:r>
              <a:rPr lang="en-US" sz="1600" dirty="0"/>
              <a:t>for IMU, Vibration, and Microphone</a:t>
            </a:r>
          </a:p>
          <a:p>
            <a:r>
              <a:rPr lang="en-US" sz="1600" dirty="0"/>
              <a:t>Code Examples aligned with DEEPCRAFT™ Studio </a:t>
            </a:r>
            <a:r>
              <a:rPr lang="en-US" sz="1600" dirty="0">
                <a:solidFill>
                  <a:schemeClr val="tx2"/>
                </a:solidFill>
              </a:rPr>
              <a:t>Data Collection with Graph UX</a:t>
            </a:r>
          </a:p>
          <a:p>
            <a:r>
              <a:rPr lang="en-US" sz="1600" dirty="0"/>
              <a:t>Code Examples aligned with DEEPCRAFT™ Model Converter </a:t>
            </a:r>
            <a:r>
              <a:rPr lang="en-US" sz="1600" dirty="0">
                <a:solidFill>
                  <a:schemeClr val="tx2"/>
                </a:solidFill>
              </a:rPr>
              <a:t>Profiling</a:t>
            </a:r>
          </a:p>
          <a:p>
            <a:r>
              <a:rPr lang="en-US" sz="1600" dirty="0">
                <a:solidFill>
                  <a:schemeClr val="tx2"/>
                </a:solidFill>
              </a:rPr>
              <a:t>Project connector </a:t>
            </a:r>
            <a:r>
              <a:rPr lang="en-US" sz="1600" dirty="0"/>
              <a:t>files in ModusToolbox™ applications with Quick Panel shortcuts for linking to DEEPCRAFT™ Studio Projects</a:t>
            </a:r>
          </a:p>
        </p:txBody>
      </p:sp>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a:xfrm>
            <a:off x="335360" y="188720"/>
            <a:ext cx="9613068" cy="720000"/>
          </a:xfrm>
        </p:spPr>
        <p:txBody>
          <a:bodyPr/>
          <a:lstStyle/>
          <a:p>
            <a:r>
              <a:rPr lang="en-US" dirty="0"/>
              <a:t>Overview of DEEPCRAFT™ Studio and ModusToolbox™ workflow</a:t>
            </a:r>
          </a:p>
        </p:txBody>
      </p:sp>
      <p:pic>
        <p:nvPicPr>
          <p:cNvPr id="7" name="Picture 6" descr="A diagram of software tools&#10;&#10;AI-generated content may be incorrect.">
            <a:extLst>
              <a:ext uri="{FF2B5EF4-FFF2-40B4-BE49-F238E27FC236}">
                <a16:creationId xmlns:a16="http://schemas.microsoft.com/office/drawing/2014/main" id="{8FEF708D-0F4F-5E0D-FE10-2F967E669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 y="1344840"/>
            <a:ext cx="2103120" cy="2103120"/>
          </a:xfrm>
          <a:prstGeom prst="rect">
            <a:avLst/>
          </a:prstGeom>
        </p:spPr>
      </p:pic>
      <p:pic>
        <p:nvPicPr>
          <p:cNvPr id="9" name="Picture 8">
            <a:extLst>
              <a:ext uri="{FF2B5EF4-FFF2-40B4-BE49-F238E27FC236}">
                <a16:creationId xmlns:a16="http://schemas.microsoft.com/office/drawing/2014/main" id="{CA66AEBA-F9F5-5A84-110C-012CC8A38C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963" y="4191000"/>
            <a:ext cx="2682240" cy="1676400"/>
          </a:xfrm>
          <a:prstGeom prst="rect">
            <a:avLst/>
          </a:prstGeom>
        </p:spPr>
      </p:pic>
      <p:sp>
        <p:nvSpPr>
          <p:cNvPr id="12" name="Content Placeholder 10">
            <a:extLst>
              <a:ext uri="{FF2B5EF4-FFF2-40B4-BE49-F238E27FC236}">
                <a16:creationId xmlns:a16="http://schemas.microsoft.com/office/drawing/2014/main" id="{5B080C64-02F7-4943-1332-E103690D048F}"/>
              </a:ext>
            </a:extLst>
          </p:cNvPr>
          <p:cNvSpPr txBox="1">
            <a:spLocks/>
          </p:cNvSpPr>
          <p:nvPr/>
        </p:nvSpPr>
        <p:spPr>
          <a:xfrm>
            <a:off x="3124200" y="4267200"/>
            <a:ext cx="8730600" cy="1676401"/>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r>
              <a:rPr lang="en-US" sz="1600" kern="0" dirty="0"/>
              <a:t>Integration of ModusToolbox</a:t>
            </a:r>
            <a:r>
              <a:rPr lang="en-US" sz="1600" dirty="0"/>
              <a:t>™</a:t>
            </a:r>
            <a:r>
              <a:rPr lang="en-US" sz="1600" kern="0" dirty="0"/>
              <a:t> Project Creator, supporting coordinated DEEPCRAFT</a:t>
            </a:r>
            <a:r>
              <a:rPr lang="en-US" sz="1600" dirty="0"/>
              <a:t>™</a:t>
            </a:r>
            <a:r>
              <a:rPr lang="en-US" sz="1600" kern="0" dirty="0"/>
              <a:t> Studio and ModusToolbox</a:t>
            </a:r>
            <a:r>
              <a:rPr lang="en-US" sz="1600" dirty="0"/>
              <a:t>™</a:t>
            </a:r>
            <a:r>
              <a:rPr lang="en-US" sz="1600" kern="0" dirty="0"/>
              <a:t> project creation </a:t>
            </a:r>
          </a:p>
          <a:p>
            <a:r>
              <a:rPr lang="en-US" sz="1600" kern="0" dirty="0"/>
              <a:t>Integration ModusToolbox</a:t>
            </a:r>
            <a:r>
              <a:rPr lang="en-US" sz="1600" dirty="0"/>
              <a:t>™</a:t>
            </a:r>
            <a:r>
              <a:rPr lang="en-US" sz="1600" kern="0" dirty="0"/>
              <a:t> Machine Learning Core Tools (ml-</a:t>
            </a:r>
            <a:r>
              <a:rPr lang="en-US" sz="1600" kern="0" dirty="0" err="1"/>
              <a:t>coretools</a:t>
            </a:r>
            <a:r>
              <a:rPr lang="en-US" sz="1600" kern="0" dirty="0"/>
              <a:t>), leveraged during  Infineon device specific code generations and optimization</a:t>
            </a:r>
          </a:p>
          <a:p>
            <a:r>
              <a:rPr lang="en-US" sz="1600" kern="0" dirty="0"/>
              <a:t>ModusToolbox</a:t>
            </a:r>
            <a:r>
              <a:rPr lang="en-US" sz="1600" dirty="0"/>
              <a:t>™</a:t>
            </a:r>
            <a:r>
              <a:rPr lang="en-US" sz="1600" kern="0" dirty="0"/>
              <a:t> project detection and selection during model code generation</a:t>
            </a:r>
          </a:p>
          <a:p>
            <a:pPr marL="0" indent="0">
              <a:buNone/>
            </a:pPr>
            <a:endParaRPr lang="en-US" sz="1600" kern="0" dirty="0"/>
          </a:p>
        </p:txBody>
      </p:sp>
    </p:spTree>
    <p:extLst>
      <p:ext uri="{BB962C8B-B14F-4D97-AF65-F5344CB8AC3E}">
        <p14:creationId xmlns:p14="http://schemas.microsoft.com/office/powerpoint/2010/main" val="1574949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B8DB45-EFDB-43B9-8CFD-A7DA4978092A}"/>
              </a:ext>
            </a:extLst>
          </p:cNvPr>
          <p:cNvSpPr>
            <a:spLocks noGrp="1"/>
          </p:cNvSpPr>
          <p:nvPr>
            <p:ph sz="quarter" idx="13"/>
          </p:nvPr>
        </p:nvSpPr>
        <p:spPr>
          <a:xfrm>
            <a:off x="334800" y="1268415"/>
            <a:ext cx="9114000" cy="788986"/>
          </a:xfrm>
        </p:spPr>
        <p:txBody>
          <a:bodyPr/>
          <a:lstStyle/>
          <a:p>
            <a:r>
              <a:rPr lang="en-US" dirty="0"/>
              <a:t>ModusToolbox™ Setup program can be used to install and manage DEEPCRAFT™ applications, including Studio, Model Converter, and Audio Enhancement Tech Pack</a:t>
            </a:r>
          </a:p>
        </p:txBody>
      </p:sp>
      <p:sp>
        <p:nvSpPr>
          <p:cNvPr id="3" name="Title 2">
            <a:extLst>
              <a:ext uri="{FF2B5EF4-FFF2-40B4-BE49-F238E27FC236}">
                <a16:creationId xmlns:a16="http://schemas.microsoft.com/office/drawing/2014/main" id="{153AF0C9-9303-4693-B70D-F074E2523C63}"/>
              </a:ext>
            </a:extLst>
          </p:cNvPr>
          <p:cNvSpPr>
            <a:spLocks noGrp="1"/>
          </p:cNvSpPr>
          <p:nvPr>
            <p:ph type="title"/>
          </p:nvPr>
        </p:nvSpPr>
        <p:spPr/>
        <p:txBody>
          <a:bodyPr/>
          <a:lstStyle/>
          <a:p>
            <a:r>
              <a:rPr lang="en-US" dirty="0"/>
              <a:t>Installation support within ModusToolbox Setup</a:t>
            </a:r>
          </a:p>
        </p:txBody>
      </p:sp>
      <p:sp>
        <p:nvSpPr>
          <p:cNvPr id="4" name="Date Placeholder 3">
            <a:extLst>
              <a:ext uri="{FF2B5EF4-FFF2-40B4-BE49-F238E27FC236}">
                <a16:creationId xmlns:a16="http://schemas.microsoft.com/office/drawing/2014/main" id="{BCEC9590-35E9-452B-A674-23FC2B58030D}"/>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DC6CC39A-5B3E-4431-A16E-68CA16C4E8C2}"/>
              </a:ext>
            </a:extLst>
          </p:cNvPr>
          <p:cNvSpPr>
            <a:spLocks noGrp="1"/>
          </p:cNvSpPr>
          <p:nvPr>
            <p:ph type="ftr" sz="quarter" idx="15"/>
          </p:nvPr>
        </p:nvSpPr>
        <p:spPr/>
        <p:txBody>
          <a:bodyPr/>
          <a:lstStyle/>
          <a:p>
            <a:endParaRPr lang="en-US" dirty="0"/>
          </a:p>
        </p:txBody>
      </p:sp>
      <p:pic>
        <p:nvPicPr>
          <p:cNvPr id="7" name="Picture 6">
            <a:extLst>
              <a:ext uri="{FF2B5EF4-FFF2-40B4-BE49-F238E27FC236}">
                <a16:creationId xmlns:a16="http://schemas.microsoft.com/office/drawing/2014/main" id="{AF742F26-7B24-B479-9FF9-1E30F85452D5}"/>
              </a:ext>
            </a:extLst>
          </p:cNvPr>
          <p:cNvPicPr>
            <a:picLocks noChangeAspect="1"/>
          </p:cNvPicPr>
          <p:nvPr/>
        </p:nvPicPr>
        <p:blipFill>
          <a:blip r:embed="rId2"/>
          <a:stretch>
            <a:fillRect/>
          </a:stretch>
        </p:blipFill>
        <p:spPr>
          <a:xfrm>
            <a:off x="533400" y="2312985"/>
            <a:ext cx="4701387" cy="3276600"/>
          </a:xfrm>
          <a:prstGeom prst="rect">
            <a:avLst/>
          </a:prstGeom>
        </p:spPr>
      </p:pic>
      <p:pic>
        <p:nvPicPr>
          <p:cNvPr id="9" name="Picture 8">
            <a:extLst>
              <a:ext uri="{FF2B5EF4-FFF2-40B4-BE49-F238E27FC236}">
                <a16:creationId xmlns:a16="http://schemas.microsoft.com/office/drawing/2014/main" id="{702C8A72-48ED-B385-0FBB-7678ADC8D109}"/>
              </a:ext>
            </a:extLst>
          </p:cNvPr>
          <p:cNvPicPr>
            <a:picLocks noChangeAspect="1"/>
          </p:cNvPicPr>
          <p:nvPr/>
        </p:nvPicPr>
        <p:blipFill>
          <a:blip r:embed="rId3"/>
          <a:stretch>
            <a:fillRect/>
          </a:stretch>
        </p:blipFill>
        <p:spPr>
          <a:xfrm>
            <a:off x="5943600" y="2743200"/>
            <a:ext cx="5133971" cy="3492170"/>
          </a:xfrm>
          <a:prstGeom prst="rect">
            <a:avLst/>
          </a:prstGeom>
        </p:spPr>
      </p:pic>
      <p:sp>
        <p:nvSpPr>
          <p:cNvPr id="10" name="Arrow: Right 9">
            <a:extLst>
              <a:ext uri="{FF2B5EF4-FFF2-40B4-BE49-F238E27FC236}">
                <a16:creationId xmlns:a16="http://schemas.microsoft.com/office/drawing/2014/main" id="{885A416D-B26D-364A-2C24-7DD41F7D60E7}"/>
              </a:ext>
            </a:extLst>
          </p:cNvPr>
          <p:cNvSpPr/>
          <p:nvPr/>
        </p:nvSpPr>
        <p:spPr bwMode="auto">
          <a:xfrm>
            <a:off x="4876800" y="4670567"/>
            <a:ext cx="990600" cy="381000"/>
          </a:xfrm>
          <a:prstGeom prst="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839639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ACB5-5256-7A2D-6000-517A6B2EB4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7493A0-ED29-748D-AB27-8D118177C007}"/>
              </a:ext>
            </a:extLst>
          </p:cNvPr>
          <p:cNvSpPr>
            <a:spLocks noGrp="1"/>
          </p:cNvSpPr>
          <p:nvPr>
            <p:ph sz="quarter" idx="13"/>
          </p:nvPr>
        </p:nvSpPr>
        <p:spPr>
          <a:xfrm>
            <a:off x="334800" y="1268414"/>
            <a:ext cx="4770600" cy="4751386"/>
          </a:xfrm>
        </p:spPr>
        <p:txBody>
          <a:bodyPr/>
          <a:lstStyle/>
          <a:p>
            <a:r>
              <a:rPr lang="en-US" dirty="0"/>
              <a:t>When creating a new DEEPCRAFT™ Studio project, a ModusToolbox™ project can be created at the same time.</a:t>
            </a:r>
            <a:br>
              <a:rPr lang="en-US" dirty="0"/>
            </a:br>
            <a:endParaRPr lang="en-US" dirty="0"/>
          </a:p>
          <a:p>
            <a:r>
              <a:rPr lang="en-US" dirty="0"/>
              <a:t>DEEPCRAFT™ Studio includes Studio Accelerator projects that align with ModusToolbox™ code examples, enabling models generated from Studio to be more easily leveraged within a ModusToolbox™ application.</a:t>
            </a:r>
            <a:br>
              <a:rPr lang="en-US" dirty="0"/>
            </a:br>
            <a:endParaRPr lang="en-US" dirty="0"/>
          </a:p>
          <a:p>
            <a:r>
              <a:rPr lang="en-US" dirty="0"/>
              <a:t>ModusToolbox™ code examples include DEEPCRAFT™ Deploy Audio and Deploy Motions applications.</a:t>
            </a:r>
          </a:p>
        </p:txBody>
      </p:sp>
      <p:sp>
        <p:nvSpPr>
          <p:cNvPr id="3" name="Title 2">
            <a:extLst>
              <a:ext uri="{FF2B5EF4-FFF2-40B4-BE49-F238E27FC236}">
                <a16:creationId xmlns:a16="http://schemas.microsoft.com/office/drawing/2014/main" id="{96704305-5B37-F2A3-6C27-B0B62D8DC96D}"/>
              </a:ext>
            </a:extLst>
          </p:cNvPr>
          <p:cNvSpPr>
            <a:spLocks noGrp="1"/>
          </p:cNvSpPr>
          <p:nvPr>
            <p:ph type="title"/>
          </p:nvPr>
        </p:nvSpPr>
        <p:spPr/>
        <p:txBody>
          <a:bodyPr/>
          <a:lstStyle/>
          <a:p>
            <a:r>
              <a:rPr lang="en-US" dirty="0"/>
              <a:t>Code Examples with DEEPCRAFT™ and </a:t>
            </a:r>
            <a:r>
              <a:rPr lang="en-US" dirty="0" err="1"/>
              <a:t>ModusToolbox</a:t>
            </a:r>
            <a:r>
              <a:rPr lang="en-US" dirty="0"/>
              <a:t>™ </a:t>
            </a:r>
          </a:p>
        </p:txBody>
      </p:sp>
      <p:sp>
        <p:nvSpPr>
          <p:cNvPr id="4" name="Date Placeholder 3">
            <a:extLst>
              <a:ext uri="{FF2B5EF4-FFF2-40B4-BE49-F238E27FC236}">
                <a16:creationId xmlns:a16="http://schemas.microsoft.com/office/drawing/2014/main" id="{8EB7C614-673C-7467-8858-0A26C8F12CE9}"/>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9C8F1471-858B-1EDC-B343-C3200A8F4255}"/>
              </a:ext>
            </a:extLst>
          </p:cNvPr>
          <p:cNvSpPr>
            <a:spLocks noGrp="1"/>
          </p:cNvSpPr>
          <p:nvPr>
            <p:ph type="ftr" sz="quarter" idx="15"/>
          </p:nvPr>
        </p:nvSpPr>
        <p:spPr/>
        <p:txBody>
          <a:bodyPr/>
          <a:lstStyle/>
          <a:p>
            <a:endParaRPr lang="en-US" dirty="0"/>
          </a:p>
        </p:txBody>
      </p:sp>
      <p:pic>
        <p:nvPicPr>
          <p:cNvPr id="7" name="Picture 6">
            <a:extLst>
              <a:ext uri="{FF2B5EF4-FFF2-40B4-BE49-F238E27FC236}">
                <a16:creationId xmlns:a16="http://schemas.microsoft.com/office/drawing/2014/main" id="{4565D862-F997-11D0-8758-48FB57C45868}"/>
              </a:ext>
            </a:extLst>
          </p:cNvPr>
          <p:cNvPicPr>
            <a:picLocks noChangeAspect="1"/>
          </p:cNvPicPr>
          <p:nvPr/>
        </p:nvPicPr>
        <p:blipFill>
          <a:blip r:embed="rId2"/>
          <a:stretch>
            <a:fillRect/>
          </a:stretch>
        </p:blipFill>
        <p:spPr>
          <a:xfrm>
            <a:off x="5401235" y="1259449"/>
            <a:ext cx="6046861" cy="4582730"/>
          </a:xfrm>
          <a:prstGeom prst="rect">
            <a:avLst/>
          </a:prstGeom>
        </p:spPr>
      </p:pic>
    </p:spTree>
    <p:extLst>
      <p:ext uri="{BB962C8B-B14F-4D97-AF65-F5344CB8AC3E}">
        <p14:creationId xmlns:p14="http://schemas.microsoft.com/office/powerpoint/2010/main" val="1418816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42A6-DF2F-5F0C-AF81-211B7E54CC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F3FDD-3E15-A79D-F997-10E1705821F8}"/>
              </a:ext>
            </a:extLst>
          </p:cNvPr>
          <p:cNvSpPr>
            <a:spLocks noGrp="1"/>
          </p:cNvSpPr>
          <p:nvPr>
            <p:ph sz="quarter" idx="13"/>
          </p:nvPr>
        </p:nvSpPr>
        <p:spPr>
          <a:xfrm>
            <a:off x="334800" y="1268414"/>
            <a:ext cx="5456400" cy="5040906"/>
          </a:xfrm>
        </p:spPr>
        <p:txBody>
          <a:bodyPr>
            <a:normAutofit lnSpcReduction="10000"/>
          </a:bodyPr>
          <a:lstStyle/>
          <a:p>
            <a:r>
              <a:rPr lang="en-US" dirty="0"/>
              <a:t>DEEPCRAFT™ Studio code generation dialog includes pre-defined architecture selections for Infineon devices, including PSOC™ Edge E84</a:t>
            </a:r>
            <a:br>
              <a:rPr lang="en-US" dirty="0"/>
            </a:br>
            <a:endParaRPr lang="en-US" dirty="0"/>
          </a:p>
          <a:p>
            <a:r>
              <a:rPr lang="en-US" dirty="0"/>
              <a:t>DEEPCRAFT™ Studio code generation integrates the ModusToolbox™ Machine Learning Core Tools (ml-</a:t>
            </a:r>
            <a:r>
              <a:rPr lang="en-US" dirty="0" err="1"/>
              <a:t>coretool</a:t>
            </a:r>
            <a:r>
              <a:rPr lang="en-US" dirty="0"/>
              <a:t>) with integrated Vela compiler supporting PSOC™ Edge E84.</a:t>
            </a:r>
            <a:br>
              <a:rPr lang="en-US" dirty="0"/>
            </a:br>
            <a:endParaRPr lang="en-US" dirty="0"/>
          </a:p>
          <a:p>
            <a:r>
              <a:rPr lang="en-US" dirty="0"/>
              <a:t>Selection of Infineon device enables project selection of the connected </a:t>
            </a:r>
            <a:r>
              <a:rPr lang="en-US" dirty="0" err="1"/>
              <a:t>ModusToolbox</a:t>
            </a:r>
            <a:r>
              <a:rPr lang="en-US" dirty="0"/>
              <a:t>™ project and core specific project path.</a:t>
            </a:r>
            <a:br>
              <a:rPr lang="en-US" dirty="0"/>
            </a:br>
            <a:endParaRPr lang="en-US" dirty="0"/>
          </a:p>
          <a:p>
            <a:r>
              <a:rPr lang="en-US" dirty="0"/>
              <a:t>Selected ModusToolbox™ project path will be used during the code generation step to enable iterative model development and updates.</a:t>
            </a:r>
          </a:p>
          <a:p>
            <a:endParaRPr lang="en-US" dirty="0"/>
          </a:p>
        </p:txBody>
      </p:sp>
      <p:sp>
        <p:nvSpPr>
          <p:cNvPr id="3" name="Title 2">
            <a:extLst>
              <a:ext uri="{FF2B5EF4-FFF2-40B4-BE49-F238E27FC236}">
                <a16:creationId xmlns:a16="http://schemas.microsoft.com/office/drawing/2014/main" id="{D1AFC385-C1F8-74E0-3D17-41140F117131}"/>
              </a:ext>
            </a:extLst>
          </p:cNvPr>
          <p:cNvSpPr>
            <a:spLocks noGrp="1"/>
          </p:cNvSpPr>
          <p:nvPr>
            <p:ph type="title"/>
          </p:nvPr>
        </p:nvSpPr>
        <p:spPr/>
        <p:txBody>
          <a:bodyPr/>
          <a:lstStyle/>
          <a:p>
            <a:r>
              <a:rPr lang="en-US" dirty="0"/>
              <a:t>DEEPCRAFT™ Studio Model Code Generation</a:t>
            </a:r>
          </a:p>
        </p:txBody>
      </p:sp>
      <p:sp>
        <p:nvSpPr>
          <p:cNvPr id="4" name="Date Placeholder 3">
            <a:extLst>
              <a:ext uri="{FF2B5EF4-FFF2-40B4-BE49-F238E27FC236}">
                <a16:creationId xmlns:a16="http://schemas.microsoft.com/office/drawing/2014/main" id="{D9C78841-B967-1CA6-BA5D-804AC13AE1ED}"/>
              </a:ext>
            </a:extLst>
          </p:cNvPr>
          <p:cNvSpPr>
            <a:spLocks noGrp="1"/>
          </p:cNvSpPr>
          <p:nvPr>
            <p:ph type="dt" sz="half" idx="14"/>
          </p:nvPr>
        </p:nvSpPr>
        <p:spPr/>
        <p:txBody>
          <a:bodyPr/>
          <a:lstStyle/>
          <a:p>
            <a:r>
              <a:rPr lang="en-US" b="1"/>
              <a:t> </a:t>
            </a:r>
            <a:endParaRPr lang="en-US" b="1" dirty="0"/>
          </a:p>
        </p:txBody>
      </p:sp>
      <p:sp>
        <p:nvSpPr>
          <p:cNvPr id="5" name="Footer Placeholder 4">
            <a:extLst>
              <a:ext uri="{FF2B5EF4-FFF2-40B4-BE49-F238E27FC236}">
                <a16:creationId xmlns:a16="http://schemas.microsoft.com/office/drawing/2014/main" id="{83C253C3-2737-C0A0-5F25-8AA48554D5E1}"/>
              </a:ext>
            </a:extLst>
          </p:cNvPr>
          <p:cNvSpPr>
            <a:spLocks noGrp="1"/>
          </p:cNvSpPr>
          <p:nvPr>
            <p:ph type="ftr" sz="quarter" idx="15"/>
          </p:nvPr>
        </p:nvSpPr>
        <p:spPr/>
        <p:txBody>
          <a:bodyPr/>
          <a:lstStyle/>
          <a:p>
            <a:endParaRPr lang="en-US" dirty="0"/>
          </a:p>
        </p:txBody>
      </p:sp>
      <p:pic>
        <p:nvPicPr>
          <p:cNvPr id="8" name="Picture 7">
            <a:extLst>
              <a:ext uri="{FF2B5EF4-FFF2-40B4-BE49-F238E27FC236}">
                <a16:creationId xmlns:a16="http://schemas.microsoft.com/office/drawing/2014/main" id="{B68F7314-50CC-54DB-DD8B-557E28F46F23}"/>
              </a:ext>
            </a:extLst>
          </p:cNvPr>
          <p:cNvPicPr>
            <a:picLocks noChangeAspect="1"/>
          </p:cNvPicPr>
          <p:nvPr/>
        </p:nvPicPr>
        <p:blipFill>
          <a:blip r:embed="rId2"/>
          <a:stretch>
            <a:fillRect/>
          </a:stretch>
        </p:blipFill>
        <p:spPr>
          <a:xfrm>
            <a:off x="6190129" y="1447800"/>
            <a:ext cx="5435667" cy="4495800"/>
          </a:xfrm>
          <a:prstGeom prst="rect">
            <a:avLst/>
          </a:prstGeom>
        </p:spPr>
      </p:pic>
    </p:spTree>
    <p:extLst>
      <p:ext uri="{BB962C8B-B14F-4D97-AF65-F5344CB8AC3E}">
        <p14:creationId xmlns:p14="http://schemas.microsoft.com/office/powerpoint/2010/main" val="3702330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609B38-A50E-9D3D-4AF8-6B314CC28709}"/>
              </a:ext>
            </a:extLst>
          </p:cNvPr>
          <p:cNvSpPr>
            <a:spLocks noGrp="1"/>
          </p:cNvSpPr>
          <p:nvPr>
            <p:ph sz="quarter" idx="13" hasCustomPrompt="1"/>
          </p:nvPr>
        </p:nvSpPr>
        <p:spPr>
          <a:xfrm>
            <a:off x="334800" y="1196752"/>
            <a:ext cx="11520000" cy="5113337"/>
          </a:xfrm>
        </p:spPr>
        <p:txBody>
          <a:bodyPr/>
          <a:lstStyle/>
          <a:p>
            <a:pPr lvl="1">
              <a:lnSpc>
                <a:spcPct val="150000"/>
              </a:lnSpc>
            </a:pPr>
            <a:r>
              <a:rPr lang="en-US" sz="2000" dirty="0" err="1"/>
              <a:t>ModusToolbox</a:t>
            </a:r>
            <a:r>
              <a:rPr lang="en-US" sz="2000" dirty="0"/>
              <a:t>™ v3.6 </a:t>
            </a:r>
          </a:p>
          <a:p>
            <a:pPr lvl="1">
              <a:lnSpc>
                <a:spcPct val="150000"/>
              </a:lnSpc>
            </a:pPr>
            <a:r>
              <a:rPr lang="en-US" sz="2000" dirty="0"/>
              <a:t>Eclipse IDE for </a:t>
            </a:r>
            <a:r>
              <a:rPr lang="en-US" sz="2000" dirty="0" err="1"/>
              <a:t>ModusToolbox</a:t>
            </a:r>
            <a:r>
              <a:rPr lang="en-US" sz="2000" dirty="0"/>
              <a:t>™ v2025.4.0</a:t>
            </a:r>
          </a:p>
          <a:p>
            <a:pPr lvl="1">
              <a:lnSpc>
                <a:spcPct val="150000"/>
              </a:lnSpc>
            </a:pPr>
            <a:r>
              <a:rPr lang="en-US" sz="2000" dirty="0"/>
              <a:t>Edge Protect Security Suite v1.6</a:t>
            </a:r>
          </a:p>
          <a:p>
            <a:pPr lvl="1">
              <a:lnSpc>
                <a:spcPct val="150000"/>
              </a:lnSpc>
            </a:pPr>
            <a:r>
              <a:rPr lang="en-US" sz="2000" dirty="0" err="1"/>
              <a:t>ModusToolbox</a:t>
            </a:r>
            <a:r>
              <a:rPr lang="en-US" sz="2000" dirty="0"/>
              <a:t>™ Programming Tools v1.5.0</a:t>
            </a:r>
          </a:p>
          <a:p>
            <a:pPr lvl="1">
              <a:lnSpc>
                <a:spcPct val="150000"/>
              </a:lnSpc>
            </a:pPr>
            <a:r>
              <a:rPr lang="en-US" sz="2000" dirty="0"/>
              <a:t>KIT_PSE84_EVAL_EPC2 BSP v1.0.0</a:t>
            </a:r>
          </a:p>
          <a:p>
            <a:pPr lvl="1">
              <a:lnSpc>
                <a:spcPct val="150000"/>
              </a:lnSpc>
            </a:pPr>
            <a:r>
              <a:rPr lang="en-US" sz="2000" dirty="0"/>
              <a:t>Terminal Emulator</a:t>
            </a:r>
          </a:p>
          <a:p>
            <a:pPr lvl="1">
              <a:lnSpc>
                <a:spcPct val="150000"/>
              </a:lnSpc>
            </a:pPr>
            <a:r>
              <a:rPr lang="en-US" sz="2000" dirty="0"/>
              <a:t>KIT_PSE84_EVAL </a:t>
            </a:r>
            <a:r>
              <a:rPr lang="en-US" sz="2000" dirty="0" err="1"/>
              <a:t>revG</a:t>
            </a:r>
            <a:endParaRPr lang="en-US" sz="2000" dirty="0"/>
          </a:p>
          <a:p>
            <a:pPr marL="0" indent="0">
              <a:buNone/>
            </a:pPr>
            <a:br>
              <a:rPr dirty="0"/>
            </a:br>
            <a:endParaRPr lang="en-US" sz="1800" dirty="0"/>
          </a:p>
        </p:txBody>
      </p:sp>
      <p:sp>
        <p:nvSpPr>
          <p:cNvPr id="3" name="Title 2">
            <a:extLst>
              <a:ext uri="{FF2B5EF4-FFF2-40B4-BE49-F238E27FC236}">
                <a16:creationId xmlns:a16="http://schemas.microsoft.com/office/drawing/2014/main" id="{BBC89E29-8AC0-23D1-8AEA-1921C097F8DC}"/>
              </a:ext>
            </a:extLst>
          </p:cNvPr>
          <p:cNvSpPr>
            <a:spLocks noGrp="1"/>
          </p:cNvSpPr>
          <p:nvPr>
            <p:ph type="title" hasCustomPrompt="1"/>
          </p:nvPr>
        </p:nvSpPr>
        <p:spPr/>
        <p:txBody>
          <a:bodyPr/>
          <a:lstStyle/>
          <a:p>
            <a:r>
              <a:rPr dirty="0"/>
              <a:t>Tools utilized in this </a:t>
            </a:r>
            <a:r>
              <a:rPr lang="en-US" dirty="0"/>
              <a:t>presentation</a:t>
            </a:r>
            <a:endParaRPr dirty="0"/>
          </a:p>
        </p:txBody>
      </p:sp>
      <p:sp>
        <p:nvSpPr>
          <p:cNvPr id="4" name="Content Placeholder 1">
            <a:extLst>
              <a:ext uri="{FF2B5EF4-FFF2-40B4-BE49-F238E27FC236}">
                <a16:creationId xmlns:a16="http://schemas.microsoft.com/office/drawing/2014/main" id="{1ED9E4F0-A63F-7121-3C7D-CDBADC4AACE2}"/>
              </a:ext>
            </a:extLst>
          </p:cNvPr>
          <p:cNvSpPr txBox="1">
            <a:spLocks/>
          </p:cNvSpPr>
          <p:nvPr/>
        </p:nvSpPr>
        <p:spPr>
          <a:xfrm>
            <a:off x="334800" y="5121301"/>
            <a:ext cx="11520000" cy="936570"/>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r>
              <a:rPr lang="en-US" sz="2000" b="1" kern="0" dirty="0"/>
              <a:t>AN235935</a:t>
            </a:r>
            <a:r>
              <a:rPr lang="en-US" sz="2000" kern="0" dirty="0"/>
              <a:t> – Getting started with PSOC™ Edge E84 on ModusToolbox™ software</a:t>
            </a:r>
          </a:p>
          <a:p>
            <a:r>
              <a:rPr lang="en-US" sz="2000" dirty="0" err="1"/>
              <a:t>ModusToolbox</a:t>
            </a:r>
            <a:r>
              <a:rPr lang="en-US" sz="2000" dirty="0"/>
              <a:t>™ PSE8xxGP Device Support Library (DSL)</a:t>
            </a:r>
            <a:endParaRPr lang="en-US" sz="2000" kern="0" dirty="0"/>
          </a:p>
        </p:txBody>
      </p:sp>
      <p:sp>
        <p:nvSpPr>
          <p:cNvPr id="5" name="Title 2">
            <a:extLst>
              <a:ext uri="{FF2B5EF4-FFF2-40B4-BE49-F238E27FC236}">
                <a16:creationId xmlns:a16="http://schemas.microsoft.com/office/drawing/2014/main" id="{2A6423E0-BAC9-E61B-F566-5BDC7EB6FFA5}"/>
              </a:ext>
            </a:extLst>
          </p:cNvPr>
          <p:cNvSpPr txBox="1">
            <a:spLocks/>
          </p:cNvSpPr>
          <p:nvPr/>
        </p:nvSpPr>
        <p:spPr>
          <a:xfrm>
            <a:off x="317449" y="4293096"/>
            <a:ext cx="9613068" cy="720000"/>
          </a:xfrm>
          <a:prstGeom prst="rect">
            <a:avLst/>
          </a:prstGeom>
        </p:spPr>
        <p:txBody>
          <a:bodyPr vert="horz" lIns="0" tIns="0" rIns="0" bIns="10800" rtlCol="0" anchor="b" anchorCtr="0">
            <a:noAutofit/>
          </a:bodyPr>
          <a:lst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a:lstStyle>
          <a:p>
            <a:r>
              <a:rPr lang="en-US" kern="0" dirty="0"/>
              <a:t>Key documentation leveraged in this video</a:t>
            </a:r>
          </a:p>
        </p:txBody>
      </p:sp>
    </p:spTree>
    <p:extLst>
      <p:ext uri="{BB962C8B-B14F-4D97-AF65-F5344CB8AC3E}">
        <p14:creationId xmlns:p14="http://schemas.microsoft.com/office/powerpoint/2010/main" val="136217520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AE5204-6501-4CC4-9FB6-9101107E7128}"/>
              </a:ext>
            </a:extLst>
          </p:cNvPr>
          <p:cNvPicPr>
            <a:picLocks noChangeAspect="1"/>
          </p:cNvPicPr>
          <p:nvPr/>
        </p:nvPicPr>
        <p:blipFill>
          <a:blip r:embed="rId3"/>
          <a:stretch>
            <a:fillRect/>
          </a:stretch>
        </p:blipFill>
        <p:spPr>
          <a:xfrm>
            <a:off x="1284282" y="764704"/>
            <a:ext cx="8614982" cy="5805264"/>
          </a:xfrm>
          <a:prstGeom prst="rect">
            <a:avLst/>
          </a:prstGeom>
        </p:spPr>
      </p:pic>
      <p:sp>
        <p:nvSpPr>
          <p:cNvPr id="2" name="Content Placeholder 1">
            <a:extLst>
              <a:ext uri="{FF2B5EF4-FFF2-40B4-BE49-F238E27FC236}">
                <a16:creationId xmlns:a16="http://schemas.microsoft.com/office/drawing/2014/main" id="{E6157E40-1B1E-4A42-945A-FF5D7BC7A682}"/>
              </a:ext>
            </a:extLst>
          </p:cNvPr>
          <p:cNvSpPr>
            <a:spLocks noGrp="1"/>
          </p:cNvSpPr>
          <p:nvPr>
            <p:ph sz="quarter" idx="13" hasCustomPrompt="1"/>
          </p:nvPr>
        </p:nvSpPr>
        <p:spPr/>
        <p:txBody>
          <a:bodyPr/>
          <a:lstStyle/>
          <a:p>
            <a:pPr>
              <a:buNone/>
            </a:pPr>
            <a:endParaRPr lang="en-US" dirty="0"/>
          </a:p>
          <a:p>
            <a:pPr>
              <a:buNone/>
            </a:pPr>
            <a:endParaRPr lang="en-US" dirty="0"/>
          </a:p>
        </p:txBody>
      </p:sp>
      <p:sp>
        <p:nvSpPr>
          <p:cNvPr id="3" name="Title 2">
            <a:extLst>
              <a:ext uri="{FF2B5EF4-FFF2-40B4-BE49-F238E27FC236}">
                <a16:creationId xmlns:a16="http://schemas.microsoft.com/office/drawing/2014/main" id="{3C43D51E-8B5F-4145-8D2C-A4E0D2536C2C}"/>
              </a:ext>
            </a:extLst>
          </p:cNvPr>
          <p:cNvSpPr>
            <a:spLocks noGrp="1"/>
          </p:cNvSpPr>
          <p:nvPr>
            <p:ph type="title" hasCustomPrompt="1"/>
          </p:nvPr>
        </p:nvSpPr>
        <p:spPr>
          <a:xfrm>
            <a:off x="335360" y="188720"/>
            <a:ext cx="9613068" cy="431968"/>
          </a:xfrm>
        </p:spPr>
        <p:txBody>
          <a:bodyPr/>
          <a:lstStyle/>
          <a:p>
            <a:r>
              <a:rPr dirty="0"/>
              <a:t>Project Creator </a:t>
            </a:r>
          </a:p>
        </p:txBody>
      </p:sp>
      <p:sp>
        <p:nvSpPr>
          <p:cNvPr id="5" name="Rectangle 4">
            <a:extLst>
              <a:ext uri="{FF2B5EF4-FFF2-40B4-BE49-F238E27FC236}">
                <a16:creationId xmlns:a16="http://schemas.microsoft.com/office/drawing/2014/main" id="{20F826EA-A7FE-434A-95C7-D0F13E02A4E3}"/>
              </a:ext>
            </a:extLst>
          </p:cNvPr>
          <p:cNvSpPr/>
          <p:nvPr/>
        </p:nvSpPr>
        <p:spPr bwMode="auto">
          <a:xfrm>
            <a:off x="1381682" y="1196829"/>
            <a:ext cx="8386726" cy="381634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CDE12B64-103A-491B-AAAC-3A8AF8AABAFB}"/>
              </a:ext>
            </a:extLst>
          </p:cNvPr>
          <p:cNvSpPr/>
          <p:nvPr/>
        </p:nvSpPr>
        <p:spPr bwMode="auto">
          <a:xfrm>
            <a:off x="1487488" y="2966708"/>
            <a:ext cx="4392488" cy="17426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E11A06AF-CF8C-49C4-B4FF-2A664F7C4D29}"/>
              </a:ext>
            </a:extLst>
          </p:cNvPr>
          <p:cNvSpPr/>
          <p:nvPr/>
        </p:nvSpPr>
        <p:spPr bwMode="auto">
          <a:xfrm>
            <a:off x="1347857" y="800535"/>
            <a:ext cx="2587903" cy="252278"/>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45613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presetID="6"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heel(1)">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animBg="1"/>
      <p:bldP spid="7" grpId="1"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6D6309-6A80-47DB-A4ED-489CA6985046}"/>
              </a:ext>
            </a:extLst>
          </p:cNvPr>
          <p:cNvPicPr>
            <a:picLocks noChangeAspect="1"/>
          </p:cNvPicPr>
          <p:nvPr/>
        </p:nvPicPr>
        <p:blipFill>
          <a:blip r:embed="rId3"/>
          <a:stretch>
            <a:fillRect/>
          </a:stretch>
        </p:blipFill>
        <p:spPr>
          <a:xfrm>
            <a:off x="3791744" y="620688"/>
            <a:ext cx="4082626" cy="5945939"/>
          </a:xfrm>
          <a:prstGeom prst="rect">
            <a:avLst/>
          </a:prstGeom>
        </p:spPr>
      </p:pic>
      <p:sp>
        <p:nvSpPr>
          <p:cNvPr id="3" name="Title 2">
            <a:extLst>
              <a:ext uri="{FF2B5EF4-FFF2-40B4-BE49-F238E27FC236}">
                <a16:creationId xmlns:a16="http://schemas.microsoft.com/office/drawing/2014/main" id="{54FCEE35-B033-43D4-953D-2F25705C2103}"/>
              </a:ext>
            </a:extLst>
          </p:cNvPr>
          <p:cNvSpPr>
            <a:spLocks noGrp="1"/>
          </p:cNvSpPr>
          <p:nvPr>
            <p:ph type="title" hasCustomPrompt="1"/>
          </p:nvPr>
        </p:nvSpPr>
        <p:spPr>
          <a:xfrm>
            <a:off x="335360" y="244010"/>
            <a:ext cx="9613068" cy="465324"/>
          </a:xfrm>
        </p:spPr>
        <p:txBody>
          <a:bodyPr/>
          <a:lstStyle/>
          <a:p>
            <a:r>
              <a:rPr dirty="0"/>
              <a:t>Understanding the Application Structure </a:t>
            </a:r>
          </a:p>
        </p:txBody>
      </p:sp>
      <p:sp>
        <p:nvSpPr>
          <p:cNvPr id="25" name="Rectangle 24">
            <a:extLst>
              <a:ext uri="{FF2B5EF4-FFF2-40B4-BE49-F238E27FC236}">
                <a16:creationId xmlns:a16="http://schemas.microsoft.com/office/drawing/2014/main" id="{FF4F0F84-3C66-4856-B53B-A658C4C8D97C}"/>
              </a:ext>
            </a:extLst>
          </p:cNvPr>
          <p:cNvSpPr/>
          <p:nvPr/>
        </p:nvSpPr>
        <p:spPr bwMode="auto">
          <a:xfrm>
            <a:off x="4427979" y="911918"/>
            <a:ext cx="3312368" cy="572866"/>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6" name="Rectangle 25">
            <a:extLst>
              <a:ext uri="{FF2B5EF4-FFF2-40B4-BE49-F238E27FC236}">
                <a16:creationId xmlns:a16="http://schemas.microsoft.com/office/drawing/2014/main" id="{C3EDCEA0-3FAB-471F-AC78-14BA06E403F0}"/>
              </a:ext>
            </a:extLst>
          </p:cNvPr>
          <p:cNvSpPr/>
          <p:nvPr/>
        </p:nvSpPr>
        <p:spPr bwMode="auto">
          <a:xfrm>
            <a:off x="4438835" y="1556792"/>
            <a:ext cx="3313349" cy="432048"/>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7" name="Rectangle 26">
            <a:extLst>
              <a:ext uri="{FF2B5EF4-FFF2-40B4-BE49-F238E27FC236}">
                <a16:creationId xmlns:a16="http://schemas.microsoft.com/office/drawing/2014/main" id="{34025C79-5752-4FC3-85EB-16B5F30BAF00}"/>
              </a:ext>
            </a:extLst>
          </p:cNvPr>
          <p:cNvSpPr/>
          <p:nvPr/>
        </p:nvSpPr>
        <p:spPr bwMode="auto">
          <a:xfrm>
            <a:off x="4438835" y="2420808"/>
            <a:ext cx="3313349" cy="2088312"/>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8" name="Rectangle 27">
            <a:extLst>
              <a:ext uri="{FF2B5EF4-FFF2-40B4-BE49-F238E27FC236}">
                <a16:creationId xmlns:a16="http://schemas.microsoft.com/office/drawing/2014/main" id="{C3E439F0-7139-41EE-B9B8-5E0A51C5C493}"/>
              </a:ext>
            </a:extLst>
          </p:cNvPr>
          <p:cNvSpPr/>
          <p:nvPr/>
        </p:nvSpPr>
        <p:spPr bwMode="auto">
          <a:xfrm>
            <a:off x="4427979" y="4580968"/>
            <a:ext cx="3313349" cy="360120"/>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9" name="Rectangle 28">
            <a:extLst>
              <a:ext uri="{FF2B5EF4-FFF2-40B4-BE49-F238E27FC236}">
                <a16:creationId xmlns:a16="http://schemas.microsoft.com/office/drawing/2014/main" id="{40AD0F67-5E60-4482-A0A3-8024468F1CFF}"/>
              </a:ext>
            </a:extLst>
          </p:cNvPr>
          <p:cNvSpPr/>
          <p:nvPr/>
        </p:nvSpPr>
        <p:spPr bwMode="auto">
          <a:xfrm>
            <a:off x="4426998" y="5012936"/>
            <a:ext cx="3313349" cy="216264"/>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0" name="Rectangle 29">
            <a:extLst>
              <a:ext uri="{FF2B5EF4-FFF2-40B4-BE49-F238E27FC236}">
                <a16:creationId xmlns:a16="http://schemas.microsoft.com/office/drawing/2014/main" id="{D676CCB3-850E-4B54-B11F-A6F964A5B21F}"/>
              </a:ext>
            </a:extLst>
          </p:cNvPr>
          <p:cNvSpPr/>
          <p:nvPr/>
        </p:nvSpPr>
        <p:spPr bwMode="auto">
          <a:xfrm>
            <a:off x="4422065" y="5321608"/>
            <a:ext cx="3313349" cy="699679"/>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31" name="Rectangle 30">
            <a:extLst>
              <a:ext uri="{FF2B5EF4-FFF2-40B4-BE49-F238E27FC236}">
                <a16:creationId xmlns:a16="http://schemas.microsoft.com/office/drawing/2014/main" id="{DE47A369-3EC3-437C-8F20-D233EF10CAFB}"/>
              </a:ext>
            </a:extLst>
          </p:cNvPr>
          <p:cNvSpPr/>
          <p:nvPr/>
        </p:nvSpPr>
        <p:spPr bwMode="auto">
          <a:xfrm>
            <a:off x="4421083" y="6101304"/>
            <a:ext cx="3313349" cy="465324"/>
          </a:xfrm>
          <a:prstGeom prst="rect">
            <a:avLst/>
          </a:prstGeom>
          <a:noFill/>
          <a:ln>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8337993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heel(1)">
                                      <p:cBhvr>
                                        <p:cTn id="7" dur="2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25"/>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heel(1)">
                                      <p:cBhvr>
                                        <p:cTn id="14" dur="20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6"/>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heel(1)">
                                      <p:cBhvr>
                                        <p:cTn id="21" dur="20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27"/>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heel(1)">
                                      <p:cBhvr>
                                        <p:cTn id="28" dur="20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8"/>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heel(1)">
                                      <p:cBhvr>
                                        <p:cTn id="35" dur="20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9"/>
                                        </p:tgtEl>
                                        <p:attrNameLst>
                                          <p:attrName>style.visibility</p:attrName>
                                        </p:attrNameLst>
                                      </p:cBhvr>
                                      <p:to>
                                        <p:strVal val="hidden"/>
                                      </p:to>
                                    </p:set>
                                  </p:childTnLst>
                                </p:cTn>
                              </p:par>
                              <p:par>
                                <p:cTn id="40" presetID="21" presetClass="entr" presetSubtype="1"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heel(1)">
                                      <p:cBhvr>
                                        <p:cTn id="42" dur="20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0"/>
                                        </p:tgtEl>
                                        <p:attrNameLst>
                                          <p:attrName>style.visibility</p:attrName>
                                        </p:attrNameLst>
                                      </p:cBhvr>
                                      <p:to>
                                        <p:strVal val="hidden"/>
                                      </p:to>
                                    </p:set>
                                  </p:childTnLst>
                                </p:cTn>
                              </p:par>
                              <p:par>
                                <p:cTn id="47" presetID="21" presetClass="entr" presetSubtype="1"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wheel(1)">
                                      <p:cBhvr>
                                        <p:cTn id="49" dur="20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C50BDE-5FED-4830-959C-8DD9AE82DF6C}"/>
              </a:ext>
            </a:extLst>
          </p:cNvPr>
          <p:cNvPicPr>
            <a:picLocks noChangeAspect="1"/>
          </p:cNvPicPr>
          <p:nvPr/>
        </p:nvPicPr>
        <p:blipFill>
          <a:blip r:embed="rId3"/>
          <a:stretch>
            <a:fillRect/>
          </a:stretch>
        </p:blipFill>
        <p:spPr>
          <a:xfrm>
            <a:off x="1427672" y="969351"/>
            <a:ext cx="9336657" cy="5441696"/>
          </a:xfrm>
          <a:prstGeom prst="rect">
            <a:avLst/>
          </a:prstGeom>
        </p:spPr>
      </p:pic>
      <p:sp>
        <p:nvSpPr>
          <p:cNvPr id="3" name="Title 2">
            <a:extLst>
              <a:ext uri="{FF2B5EF4-FFF2-40B4-BE49-F238E27FC236}">
                <a16:creationId xmlns:a16="http://schemas.microsoft.com/office/drawing/2014/main" id="{8BE65457-AAB8-414D-8726-2E0A1A0CEFD4}"/>
              </a:ext>
            </a:extLst>
          </p:cNvPr>
          <p:cNvSpPr>
            <a:spLocks noGrp="1"/>
          </p:cNvSpPr>
          <p:nvPr>
            <p:ph type="title" hasCustomPrompt="1"/>
          </p:nvPr>
        </p:nvSpPr>
        <p:spPr/>
        <p:txBody>
          <a:bodyPr/>
          <a:lstStyle/>
          <a:p>
            <a:r>
              <a:t>Library Manager </a:t>
            </a:r>
          </a:p>
        </p:txBody>
      </p:sp>
      <p:sp>
        <p:nvSpPr>
          <p:cNvPr id="5" name="Rectangle 4">
            <a:extLst>
              <a:ext uri="{FF2B5EF4-FFF2-40B4-BE49-F238E27FC236}">
                <a16:creationId xmlns:a16="http://schemas.microsoft.com/office/drawing/2014/main" id="{1EDFFA47-8BF0-43CC-81E1-CCFA571469AC}"/>
              </a:ext>
            </a:extLst>
          </p:cNvPr>
          <p:cNvSpPr/>
          <p:nvPr/>
        </p:nvSpPr>
        <p:spPr bwMode="auto">
          <a:xfrm>
            <a:off x="1559496" y="1796430"/>
            <a:ext cx="4536504" cy="280831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52811FA9-7BB5-463A-8D06-A3E5D1DAB53B}"/>
              </a:ext>
            </a:extLst>
          </p:cNvPr>
          <p:cNvSpPr/>
          <p:nvPr/>
        </p:nvSpPr>
        <p:spPr bwMode="auto">
          <a:xfrm>
            <a:off x="6096000" y="1796430"/>
            <a:ext cx="4464496" cy="280831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9923EBD0-356B-4ABD-A556-2770270FF7C2}"/>
              </a:ext>
            </a:extLst>
          </p:cNvPr>
          <p:cNvSpPr/>
          <p:nvPr/>
        </p:nvSpPr>
        <p:spPr bwMode="auto">
          <a:xfrm>
            <a:off x="1595500" y="4677784"/>
            <a:ext cx="468052" cy="20942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C4E2AB70-C9AD-4842-969C-B6E20CB92C85}"/>
              </a:ext>
            </a:extLst>
          </p:cNvPr>
          <p:cNvSpPr/>
          <p:nvPr/>
        </p:nvSpPr>
        <p:spPr bwMode="auto">
          <a:xfrm>
            <a:off x="2135560" y="4677783"/>
            <a:ext cx="576064" cy="20942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37E60BE8-14E1-427F-ABAD-085F11885FB9}"/>
              </a:ext>
            </a:extLst>
          </p:cNvPr>
          <p:cNvSpPr/>
          <p:nvPr/>
        </p:nvSpPr>
        <p:spPr bwMode="auto">
          <a:xfrm>
            <a:off x="9624392" y="6021289"/>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406401997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1)">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heel(1)">
                                      <p:cBhvr>
                                        <p:cTn id="28" dur="2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heel(1)">
                                      <p:cBhvr>
                                        <p:cTn id="3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9EB6F3-B695-4110-BE43-71789DCB2761}"/>
              </a:ext>
            </a:extLst>
          </p:cNvPr>
          <p:cNvPicPr>
            <a:picLocks noChangeAspect="1"/>
          </p:cNvPicPr>
          <p:nvPr/>
        </p:nvPicPr>
        <p:blipFill>
          <a:blip r:embed="rId3"/>
          <a:stretch>
            <a:fillRect/>
          </a:stretch>
        </p:blipFill>
        <p:spPr>
          <a:xfrm>
            <a:off x="6312024" y="620688"/>
            <a:ext cx="3450357" cy="5537728"/>
          </a:xfrm>
          <a:prstGeom prst="rect">
            <a:avLst/>
          </a:prstGeom>
        </p:spPr>
      </p:pic>
      <p:sp>
        <p:nvSpPr>
          <p:cNvPr id="2" name="Content Placeholder 1">
            <a:extLst>
              <a:ext uri="{FF2B5EF4-FFF2-40B4-BE49-F238E27FC236}">
                <a16:creationId xmlns:a16="http://schemas.microsoft.com/office/drawing/2014/main" id="{8C6CE2CC-C1D8-4748-AC3D-8025B5102B2F}"/>
              </a:ext>
            </a:extLst>
          </p:cNvPr>
          <p:cNvSpPr>
            <a:spLocks noGrp="1"/>
          </p:cNvSpPr>
          <p:nvPr>
            <p:ph sz="quarter" idx="13" hasCustomPrompt="1"/>
          </p:nvPr>
        </p:nvSpPr>
        <p:spPr/>
        <p:txBody>
          <a:bodyPr/>
          <a:lstStyle/>
          <a:p>
            <a:pPr>
              <a:lnSpc>
                <a:spcPct val="150000"/>
              </a:lnSpc>
              <a:buFont typeface="Wingdings" panose="05000000000000000000" pitchFamily="2" charset="2"/>
              <a:buChar char="q"/>
            </a:pPr>
            <a:r>
              <a:rPr dirty="0"/>
              <a:t>Device Configurator</a:t>
            </a:r>
          </a:p>
          <a:p>
            <a:pPr>
              <a:lnSpc>
                <a:spcPct val="150000"/>
              </a:lnSpc>
              <a:buFont typeface="Wingdings" panose="05000000000000000000" pitchFamily="2" charset="2"/>
              <a:buChar char="q"/>
            </a:pPr>
            <a:r>
              <a:rPr dirty="0"/>
              <a:t>QSPI Configurator</a:t>
            </a:r>
          </a:p>
          <a:p>
            <a:pPr>
              <a:lnSpc>
                <a:spcPct val="150000"/>
              </a:lnSpc>
              <a:buFont typeface="Wingdings" panose="05000000000000000000" pitchFamily="2" charset="2"/>
              <a:buChar char="q"/>
            </a:pPr>
            <a:r>
              <a:rPr dirty="0"/>
              <a:t>Smart I/O Configurator </a:t>
            </a:r>
          </a:p>
          <a:p>
            <a:pPr>
              <a:lnSpc>
                <a:spcPct val="150000"/>
              </a:lnSpc>
              <a:buFont typeface="Wingdings" panose="05000000000000000000" pitchFamily="2" charset="2"/>
              <a:buChar char="q"/>
            </a:pPr>
            <a:r>
              <a:rPr lang="en-US" dirty="0"/>
              <a:t>Edge Protect Configurator</a:t>
            </a:r>
            <a:endParaRPr dirty="0"/>
          </a:p>
          <a:p>
            <a:pPr>
              <a:buNone/>
            </a:pPr>
            <a:endParaRPr lang="en-US" b="1" dirty="0"/>
          </a:p>
          <a:p>
            <a:pPr>
              <a:buNone/>
            </a:pPr>
            <a:endParaRPr lang="en-US" b="1" dirty="0"/>
          </a:p>
          <a:p>
            <a:pPr>
              <a:buNone/>
            </a:pPr>
            <a:endParaRPr lang="en-US" b="1" dirty="0"/>
          </a:p>
          <a:p>
            <a:pPr>
              <a:buNone/>
            </a:pPr>
            <a:endParaRPr lang="en-US" b="1" dirty="0"/>
          </a:p>
          <a:p>
            <a:pPr>
              <a:lnSpc>
                <a:spcPct val="100000"/>
              </a:lnSpc>
              <a:spcAft>
                <a:spcPts val="600"/>
              </a:spcAft>
            </a:pPr>
            <a:r>
              <a:rPr dirty="0"/>
              <a:t>Configurators</a:t>
            </a:r>
          </a:p>
          <a:p>
            <a:pPr lvl="1">
              <a:lnSpc>
                <a:spcPct val="100000"/>
              </a:lnSpc>
              <a:spcAft>
                <a:spcPts val="1200"/>
              </a:spcAft>
              <a:buFont typeface="Wingdings" panose="05000000000000000000" pitchFamily="2" charset="2"/>
              <a:buChar char="Ø"/>
            </a:pPr>
            <a:r>
              <a:rPr dirty="0"/>
              <a:t>Creates structures needed for peripherals</a:t>
            </a:r>
            <a:br>
              <a:rPr dirty="0"/>
            </a:br>
            <a:r>
              <a:rPr dirty="0"/>
              <a:t>used by PDL</a:t>
            </a:r>
          </a:p>
          <a:p>
            <a:pPr>
              <a:buFont typeface="Wingdings" panose="05000000000000000000" pitchFamily="2" charset="2"/>
              <a:buChar char="q"/>
            </a:pPr>
            <a:endParaRPr lang="en-US" dirty="0"/>
          </a:p>
        </p:txBody>
      </p:sp>
      <p:sp>
        <p:nvSpPr>
          <p:cNvPr id="3" name="Title 2">
            <a:extLst>
              <a:ext uri="{FF2B5EF4-FFF2-40B4-BE49-F238E27FC236}">
                <a16:creationId xmlns:a16="http://schemas.microsoft.com/office/drawing/2014/main" id="{CC46CB3A-7583-4CA8-A178-614E82CCCE1A}"/>
              </a:ext>
            </a:extLst>
          </p:cNvPr>
          <p:cNvSpPr>
            <a:spLocks noGrp="1"/>
          </p:cNvSpPr>
          <p:nvPr>
            <p:ph type="title" hasCustomPrompt="1"/>
          </p:nvPr>
        </p:nvSpPr>
        <p:spPr/>
        <p:txBody>
          <a:bodyPr/>
          <a:lstStyle/>
          <a:p>
            <a:r>
              <a:rPr lang="en-US" dirty="0"/>
              <a:t>BSP </a:t>
            </a:r>
            <a:r>
              <a:rPr dirty="0"/>
              <a:t>Configurators </a:t>
            </a:r>
          </a:p>
        </p:txBody>
      </p:sp>
      <p:sp>
        <p:nvSpPr>
          <p:cNvPr id="5" name="Rectangle 4">
            <a:extLst>
              <a:ext uri="{FF2B5EF4-FFF2-40B4-BE49-F238E27FC236}">
                <a16:creationId xmlns:a16="http://schemas.microsoft.com/office/drawing/2014/main" id="{86D00297-34C0-41F8-844D-D4CB615CEC3A}"/>
              </a:ext>
            </a:extLst>
          </p:cNvPr>
          <p:cNvSpPr/>
          <p:nvPr/>
        </p:nvSpPr>
        <p:spPr bwMode="auto">
          <a:xfrm>
            <a:off x="6384032" y="4797152"/>
            <a:ext cx="3218719" cy="93610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5076982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5F5881-FCE4-493F-A28A-43CB98689FD1}"/>
              </a:ext>
            </a:extLst>
          </p:cNvPr>
          <p:cNvPicPr>
            <a:picLocks noChangeAspect="1"/>
          </p:cNvPicPr>
          <p:nvPr/>
        </p:nvPicPr>
        <p:blipFill>
          <a:blip r:embed="rId3"/>
          <a:stretch>
            <a:fillRect/>
          </a:stretch>
        </p:blipFill>
        <p:spPr>
          <a:xfrm>
            <a:off x="566307" y="980728"/>
            <a:ext cx="10740865" cy="5328400"/>
          </a:xfrm>
          <a:prstGeom prst="rect">
            <a:avLst/>
          </a:prstGeom>
        </p:spPr>
      </p:pic>
      <p:sp>
        <p:nvSpPr>
          <p:cNvPr id="3" name="Title 2">
            <a:extLst>
              <a:ext uri="{FF2B5EF4-FFF2-40B4-BE49-F238E27FC236}">
                <a16:creationId xmlns:a16="http://schemas.microsoft.com/office/drawing/2014/main" id="{9EF0E670-8FE4-4924-AD04-D3FA15D232F4}"/>
              </a:ext>
            </a:extLst>
          </p:cNvPr>
          <p:cNvSpPr>
            <a:spLocks noGrp="1"/>
          </p:cNvSpPr>
          <p:nvPr>
            <p:ph type="title" hasCustomPrompt="1"/>
          </p:nvPr>
        </p:nvSpPr>
        <p:spPr/>
        <p:txBody>
          <a:bodyPr/>
          <a:lstStyle/>
          <a:p>
            <a:r>
              <a:t>Device Configurator  </a:t>
            </a:r>
          </a:p>
        </p:txBody>
      </p:sp>
      <p:sp>
        <p:nvSpPr>
          <p:cNvPr id="5" name="Rectangle 4">
            <a:extLst>
              <a:ext uri="{FF2B5EF4-FFF2-40B4-BE49-F238E27FC236}">
                <a16:creationId xmlns:a16="http://schemas.microsoft.com/office/drawing/2014/main" id="{47317ED5-6D8E-4EB7-A3AB-E19FFD1439C7}"/>
              </a:ext>
            </a:extLst>
          </p:cNvPr>
          <p:cNvSpPr/>
          <p:nvPr/>
        </p:nvSpPr>
        <p:spPr bwMode="auto">
          <a:xfrm>
            <a:off x="538247" y="1490349"/>
            <a:ext cx="58920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F778BA07-B9DF-4088-8E8F-9B69D3646DF9}"/>
              </a:ext>
            </a:extLst>
          </p:cNvPr>
          <p:cNvSpPr/>
          <p:nvPr/>
        </p:nvSpPr>
        <p:spPr bwMode="auto">
          <a:xfrm>
            <a:off x="566307" y="1850389"/>
            <a:ext cx="5673709" cy="434508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2D41C0A9-1C08-420C-B0E3-45F0304AA93C}"/>
              </a:ext>
            </a:extLst>
          </p:cNvPr>
          <p:cNvSpPr/>
          <p:nvPr/>
        </p:nvSpPr>
        <p:spPr bwMode="auto">
          <a:xfrm>
            <a:off x="6268076" y="1348761"/>
            <a:ext cx="5039096" cy="409646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8EB1DCD8-FFFF-4DF9-9C55-0DBDEA7615EE}"/>
              </a:ext>
            </a:extLst>
          </p:cNvPr>
          <p:cNvSpPr/>
          <p:nvPr/>
        </p:nvSpPr>
        <p:spPr bwMode="auto">
          <a:xfrm>
            <a:off x="767408" y="3394382"/>
            <a:ext cx="3528392" cy="17863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6192764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21" presetClass="entr" presetSubtype="1"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heel(1)">
                                      <p:cBhvr>
                                        <p:cTn id="19" dur="2000"/>
                                        <p:tgtEl>
                                          <p:spTgt spid="9"/>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heel(1)">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A215886-3994-4121-B679-E890195695D6}"/>
              </a:ext>
            </a:extLst>
          </p:cNvPr>
          <p:cNvPicPr>
            <a:picLocks noChangeAspect="1"/>
          </p:cNvPicPr>
          <p:nvPr/>
        </p:nvPicPr>
        <p:blipFill>
          <a:blip r:embed="rId3"/>
          <a:stretch>
            <a:fillRect/>
          </a:stretch>
        </p:blipFill>
        <p:spPr>
          <a:xfrm>
            <a:off x="1055440" y="836712"/>
            <a:ext cx="9602857" cy="5710982"/>
          </a:xfrm>
          <a:prstGeom prst="rect">
            <a:avLst/>
          </a:prstGeom>
        </p:spPr>
      </p:pic>
      <p:sp>
        <p:nvSpPr>
          <p:cNvPr id="3" name="Title 2">
            <a:extLst>
              <a:ext uri="{FF2B5EF4-FFF2-40B4-BE49-F238E27FC236}">
                <a16:creationId xmlns:a16="http://schemas.microsoft.com/office/drawing/2014/main" id="{D1F7BBDC-EE22-4706-9282-208ED37E9ECC}"/>
              </a:ext>
            </a:extLst>
          </p:cNvPr>
          <p:cNvSpPr>
            <a:spLocks noGrp="1"/>
          </p:cNvSpPr>
          <p:nvPr>
            <p:ph type="title" hasCustomPrompt="1"/>
          </p:nvPr>
        </p:nvSpPr>
        <p:spPr>
          <a:xfrm>
            <a:off x="335360" y="243819"/>
            <a:ext cx="9613068" cy="504056"/>
          </a:xfrm>
        </p:spPr>
        <p:txBody>
          <a:bodyPr/>
          <a:lstStyle/>
          <a:p>
            <a:r>
              <a:rPr dirty="0"/>
              <a:t>Device Configurator </a:t>
            </a:r>
            <a:r>
              <a:rPr dirty="0" err="1"/>
              <a:t>contd</a:t>
            </a:r>
            <a:r>
              <a:rPr dirty="0"/>
              <a:t>…</a:t>
            </a:r>
          </a:p>
        </p:txBody>
      </p:sp>
      <p:sp>
        <p:nvSpPr>
          <p:cNvPr id="5" name="Rectangle 4">
            <a:extLst>
              <a:ext uri="{FF2B5EF4-FFF2-40B4-BE49-F238E27FC236}">
                <a16:creationId xmlns:a16="http://schemas.microsoft.com/office/drawing/2014/main" id="{09389240-EA8B-4E4C-B51E-54A57706707C}"/>
              </a:ext>
            </a:extLst>
          </p:cNvPr>
          <p:cNvSpPr/>
          <p:nvPr/>
        </p:nvSpPr>
        <p:spPr bwMode="auto">
          <a:xfrm>
            <a:off x="1991544" y="1236948"/>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A96BFCF9-9522-4504-83B0-C4C1B391210B}"/>
              </a:ext>
            </a:extLst>
          </p:cNvPr>
          <p:cNvSpPr/>
          <p:nvPr/>
        </p:nvSpPr>
        <p:spPr bwMode="auto">
          <a:xfrm>
            <a:off x="1055440" y="1636762"/>
            <a:ext cx="3528392" cy="438452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BD8722CF-5F5F-4DCF-BBDE-9F60CE157DE5}"/>
              </a:ext>
            </a:extLst>
          </p:cNvPr>
          <p:cNvSpPr/>
          <p:nvPr/>
        </p:nvSpPr>
        <p:spPr bwMode="auto">
          <a:xfrm>
            <a:off x="5015880" y="1700808"/>
            <a:ext cx="5328592" cy="4752528"/>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1941134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E2245F-C837-49D1-93CC-9E3F4DAFC4A9}"/>
              </a:ext>
            </a:extLst>
          </p:cNvPr>
          <p:cNvPicPr>
            <a:picLocks noChangeAspect="1"/>
          </p:cNvPicPr>
          <p:nvPr/>
        </p:nvPicPr>
        <p:blipFill>
          <a:blip r:embed="rId3"/>
          <a:stretch>
            <a:fillRect/>
          </a:stretch>
        </p:blipFill>
        <p:spPr>
          <a:xfrm>
            <a:off x="455712" y="870842"/>
            <a:ext cx="11280576" cy="5566028"/>
          </a:xfrm>
          <a:prstGeom prst="rect">
            <a:avLst/>
          </a:prstGeom>
        </p:spPr>
      </p:pic>
      <p:sp>
        <p:nvSpPr>
          <p:cNvPr id="3" name="Title 2">
            <a:extLst>
              <a:ext uri="{FF2B5EF4-FFF2-40B4-BE49-F238E27FC236}">
                <a16:creationId xmlns:a16="http://schemas.microsoft.com/office/drawing/2014/main" id="{3DE01571-19FB-40F8-9514-7160FAB478F9}"/>
              </a:ext>
            </a:extLst>
          </p:cNvPr>
          <p:cNvSpPr>
            <a:spLocks noGrp="1"/>
          </p:cNvSpPr>
          <p:nvPr>
            <p:ph type="title" hasCustomPrompt="1"/>
          </p:nvPr>
        </p:nvSpPr>
        <p:spPr>
          <a:xfrm>
            <a:off x="335360" y="333044"/>
            <a:ext cx="9613068" cy="432048"/>
          </a:xfrm>
        </p:spPr>
        <p:txBody>
          <a:bodyPr/>
          <a:lstStyle/>
          <a:p>
            <a:r>
              <a:rPr dirty="0"/>
              <a:t>Device Configurator </a:t>
            </a:r>
            <a:r>
              <a:rPr dirty="0" err="1"/>
              <a:t>contd</a:t>
            </a:r>
            <a:r>
              <a:rPr dirty="0"/>
              <a:t>…</a:t>
            </a:r>
          </a:p>
        </p:txBody>
      </p:sp>
      <p:sp>
        <p:nvSpPr>
          <p:cNvPr id="8" name="Rectangle 7">
            <a:extLst>
              <a:ext uri="{FF2B5EF4-FFF2-40B4-BE49-F238E27FC236}">
                <a16:creationId xmlns:a16="http://schemas.microsoft.com/office/drawing/2014/main" id="{1A7EEFC2-5F20-4F52-97E6-2E8D101CFD56}"/>
              </a:ext>
            </a:extLst>
          </p:cNvPr>
          <p:cNvSpPr/>
          <p:nvPr/>
        </p:nvSpPr>
        <p:spPr bwMode="auto">
          <a:xfrm>
            <a:off x="983432" y="1249821"/>
            <a:ext cx="576064"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665D4D10-04DB-4B32-9152-840E225A18DE}"/>
              </a:ext>
            </a:extLst>
          </p:cNvPr>
          <p:cNvSpPr/>
          <p:nvPr/>
        </p:nvSpPr>
        <p:spPr bwMode="auto">
          <a:xfrm>
            <a:off x="447664" y="1585928"/>
            <a:ext cx="11288623" cy="4850941"/>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41620759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2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A65E85-612E-4635-A3E3-32318AF8CF93}"/>
              </a:ext>
            </a:extLst>
          </p:cNvPr>
          <p:cNvPicPr>
            <a:picLocks noChangeAspect="1"/>
          </p:cNvPicPr>
          <p:nvPr/>
        </p:nvPicPr>
        <p:blipFill>
          <a:blip r:embed="rId3"/>
          <a:stretch>
            <a:fillRect/>
          </a:stretch>
        </p:blipFill>
        <p:spPr>
          <a:xfrm>
            <a:off x="383704" y="1293129"/>
            <a:ext cx="11424592" cy="4579344"/>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p:txBody>
          <a:bodyPr/>
          <a:lstStyle/>
          <a:p>
            <a:r>
              <a:t>Device Configurator contd…</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279576" y="1724628"/>
            <a:ext cx="576064"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383704" y="2132856"/>
            <a:ext cx="11362365" cy="373961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8884604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90F503-E179-487B-A01F-4A3361C998EB}"/>
              </a:ext>
            </a:extLst>
          </p:cNvPr>
          <p:cNvPicPr>
            <a:picLocks noChangeAspect="1"/>
          </p:cNvPicPr>
          <p:nvPr/>
        </p:nvPicPr>
        <p:blipFill>
          <a:blip r:embed="rId3"/>
          <a:stretch>
            <a:fillRect/>
          </a:stretch>
        </p:blipFill>
        <p:spPr>
          <a:xfrm>
            <a:off x="1595500" y="862314"/>
            <a:ext cx="9001000" cy="5661288"/>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a:xfrm>
            <a:off x="335360" y="238062"/>
            <a:ext cx="9613068" cy="432048"/>
          </a:xfrm>
        </p:spPr>
        <p:txBody>
          <a:bodyPr/>
          <a:lstStyle/>
          <a:p>
            <a:r>
              <a:rPr dirty="0"/>
              <a:t>Device Configurator </a:t>
            </a:r>
            <a:r>
              <a:rPr dirty="0" err="1"/>
              <a:t>contd</a:t>
            </a:r>
            <a:r>
              <a:rPr dirty="0"/>
              <a:t>…</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639616" y="1124744"/>
            <a:ext cx="28803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1595501" y="1412776"/>
            <a:ext cx="9001000" cy="511082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0738393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D1054D-F6D2-42C2-928A-E79D50AFA80C}"/>
              </a:ext>
            </a:extLst>
          </p:cNvPr>
          <p:cNvPicPr>
            <a:picLocks noChangeAspect="1"/>
          </p:cNvPicPr>
          <p:nvPr/>
        </p:nvPicPr>
        <p:blipFill>
          <a:blip r:embed="rId3"/>
          <a:stretch>
            <a:fillRect/>
          </a:stretch>
        </p:blipFill>
        <p:spPr>
          <a:xfrm>
            <a:off x="475327" y="1085571"/>
            <a:ext cx="11241347" cy="4680520"/>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a:xfrm>
            <a:off x="335360" y="238062"/>
            <a:ext cx="9613068" cy="432048"/>
          </a:xfrm>
        </p:spPr>
        <p:txBody>
          <a:bodyPr/>
          <a:lstStyle/>
          <a:p>
            <a:r>
              <a:rPr dirty="0"/>
              <a:t>Device Configurator </a:t>
            </a:r>
            <a:r>
              <a:rPr dirty="0" err="1"/>
              <a:t>contd</a:t>
            </a:r>
            <a:r>
              <a:rPr dirty="0"/>
              <a:t>…</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207568" y="1381784"/>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475326" y="1700808"/>
            <a:ext cx="11241346" cy="4065283"/>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4119829" y="1489796"/>
            <a:ext cx="64807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92710303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548E42-5AB6-42F3-B5DF-D276E96174ED}"/>
              </a:ext>
            </a:extLst>
          </p:cNvPr>
          <p:cNvPicPr>
            <a:picLocks noChangeAspect="1"/>
          </p:cNvPicPr>
          <p:nvPr/>
        </p:nvPicPr>
        <p:blipFill>
          <a:blip r:embed="rId3"/>
          <a:stretch>
            <a:fillRect/>
          </a:stretch>
        </p:blipFill>
        <p:spPr>
          <a:xfrm>
            <a:off x="475327" y="928674"/>
            <a:ext cx="11381314" cy="5384164"/>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a:xfrm>
            <a:off x="335360" y="238062"/>
            <a:ext cx="9613068" cy="432048"/>
          </a:xfrm>
        </p:spPr>
        <p:txBody>
          <a:bodyPr/>
          <a:lstStyle/>
          <a:p>
            <a:r>
              <a:rPr dirty="0"/>
              <a:t>Device Configurator </a:t>
            </a:r>
            <a:r>
              <a:rPr dirty="0" err="1"/>
              <a:t>contd</a:t>
            </a:r>
            <a:r>
              <a:rPr dirty="0"/>
              <a:t>…</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351584" y="1283956"/>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475325" y="1665101"/>
            <a:ext cx="11381315" cy="464773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5129136" y="1449077"/>
            <a:ext cx="894855"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0C7867B0-1821-461F-A1DC-24818C1B582B}"/>
              </a:ext>
            </a:extLst>
          </p:cNvPr>
          <p:cNvSpPr/>
          <p:nvPr/>
        </p:nvSpPr>
        <p:spPr bwMode="auto">
          <a:xfrm>
            <a:off x="7392144" y="1772816"/>
            <a:ext cx="1080120"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9782925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heel(1)">
                                      <p:cBhvr>
                                        <p:cTn id="30" dur="2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D6B381-71A5-4AF1-87FB-52A31DC5BDF4}"/>
              </a:ext>
            </a:extLst>
          </p:cNvPr>
          <p:cNvPicPr>
            <a:picLocks noChangeAspect="1"/>
          </p:cNvPicPr>
          <p:nvPr/>
        </p:nvPicPr>
        <p:blipFill>
          <a:blip r:embed="rId3"/>
          <a:stretch>
            <a:fillRect/>
          </a:stretch>
        </p:blipFill>
        <p:spPr>
          <a:xfrm>
            <a:off x="551384" y="1052736"/>
            <a:ext cx="11115620" cy="5472608"/>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a:xfrm>
            <a:off x="335360" y="238062"/>
            <a:ext cx="9613068" cy="432048"/>
          </a:xfrm>
        </p:spPr>
        <p:txBody>
          <a:bodyPr/>
          <a:lstStyle/>
          <a:p>
            <a:r>
              <a:rPr dirty="0"/>
              <a:t>Device Configurator </a:t>
            </a:r>
            <a:r>
              <a:rPr dirty="0" err="1"/>
              <a:t>contd</a:t>
            </a:r>
            <a:r>
              <a:rPr dirty="0"/>
              <a:t>…</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495600" y="1391968"/>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458422" y="1731200"/>
            <a:ext cx="11381315" cy="479414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6361222" y="1561584"/>
            <a:ext cx="958914" cy="20190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8" name="Rectangle 7">
            <a:extLst>
              <a:ext uri="{FF2B5EF4-FFF2-40B4-BE49-F238E27FC236}">
                <a16:creationId xmlns:a16="http://schemas.microsoft.com/office/drawing/2014/main" id="{9385F64E-F9D2-4C27-8993-7769F8484EC7}"/>
              </a:ext>
            </a:extLst>
          </p:cNvPr>
          <p:cNvSpPr/>
          <p:nvPr/>
        </p:nvSpPr>
        <p:spPr bwMode="auto">
          <a:xfrm>
            <a:off x="7752184" y="1915886"/>
            <a:ext cx="958914" cy="20190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4675976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heel(1)">
                                      <p:cBhvr>
                                        <p:cTn id="30" dur="2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A54A84-0EDA-432C-B2AC-9ED185CBB87E}"/>
              </a:ext>
            </a:extLst>
          </p:cNvPr>
          <p:cNvPicPr>
            <a:picLocks noChangeAspect="1"/>
          </p:cNvPicPr>
          <p:nvPr/>
        </p:nvPicPr>
        <p:blipFill>
          <a:blip r:embed="rId3"/>
          <a:stretch>
            <a:fillRect/>
          </a:stretch>
        </p:blipFill>
        <p:spPr>
          <a:xfrm>
            <a:off x="361006" y="980728"/>
            <a:ext cx="11469988" cy="4954173"/>
          </a:xfrm>
          <a:prstGeom prst="rect">
            <a:avLst/>
          </a:prstGeom>
        </p:spPr>
      </p:pic>
      <p:sp>
        <p:nvSpPr>
          <p:cNvPr id="3" name="Title 2">
            <a:extLst>
              <a:ext uri="{FF2B5EF4-FFF2-40B4-BE49-F238E27FC236}">
                <a16:creationId xmlns:a16="http://schemas.microsoft.com/office/drawing/2014/main" id="{88050CCC-5B51-4A42-A257-FD416DC09464}"/>
              </a:ext>
            </a:extLst>
          </p:cNvPr>
          <p:cNvSpPr>
            <a:spLocks noGrp="1"/>
          </p:cNvSpPr>
          <p:nvPr>
            <p:ph type="title" hasCustomPrompt="1"/>
          </p:nvPr>
        </p:nvSpPr>
        <p:spPr>
          <a:xfrm>
            <a:off x="335360" y="238062"/>
            <a:ext cx="9613068" cy="432048"/>
          </a:xfrm>
        </p:spPr>
        <p:txBody>
          <a:bodyPr/>
          <a:lstStyle/>
          <a:p>
            <a:r>
              <a:rPr dirty="0"/>
              <a:t>Device Configurator </a:t>
            </a:r>
            <a:r>
              <a:rPr dirty="0" err="1"/>
              <a:t>contd</a:t>
            </a:r>
            <a:r>
              <a:rPr dirty="0"/>
              <a:t>…</a:t>
            </a:r>
          </a:p>
        </p:txBody>
      </p:sp>
      <p:sp>
        <p:nvSpPr>
          <p:cNvPr id="5" name="Rectangle 4">
            <a:extLst>
              <a:ext uri="{FF2B5EF4-FFF2-40B4-BE49-F238E27FC236}">
                <a16:creationId xmlns:a16="http://schemas.microsoft.com/office/drawing/2014/main" id="{62455B5E-58B4-4A8A-9B4E-4418ECB65CA7}"/>
              </a:ext>
            </a:extLst>
          </p:cNvPr>
          <p:cNvSpPr/>
          <p:nvPr/>
        </p:nvSpPr>
        <p:spPr bwMode="auto">
          <a:xfrm>
            <a:off x="2207568" y="1301492"/>
            <a:ext cx="50405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6" name="Rectangle 5">
            <a:extLst>
              <a:ext uri="{FF2B5EF4-FFF2-40B4-BE49-F238E27FC236}">
                <a16:creationId xmlns:a16="http://schemas.microsoft.com/office/drawing/2014/main" id="{460C1CE7-1F8C-43E9-B3AF-976CFF662F61}"/>
              </a:ext>
            </a:extLst>
          </p:cNvPr>
          <p:cNvSpPr/>
          <p:nvPr/>
        </p:nvSpPr>
        <p:spPr bwMode="auto">
          <a:xfrm>
            <a:off x="361006" y="1594397"/>
            <a:ext cx="11469988" cy="479414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7" name="Rectangle 6">
            <a:extLst>
              <a:ext uri="{FF2B5EF4-FFF2-40B4-BE49-F238E27FC236}">
                <a16:creationId xmlns:a16="http://schemas.microsoft.com/office/drawing/2014/main" id="{771CB141-8858-4451-9416-43AD5506C80C}"/>
              </a:ext>
            </a:extLst>
          </p:cNvPr>
          <p:cNvSpPr/>
          <p:nvPr/>
        </p:nvSpPr>
        <p:spPr bwMode="auto">
          <a:xfrm>
            <a:off x="6528048" y="1430368"/>
            <a:ext cx="576064" cy="201902"/>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7028219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heel(1)">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499A17-7F97-4B2D-AEE5-016079670150}"/>
              </a:ext>
            </a:extLst>
          </p:cNvPr>
          <p:cNvPicPr>
            <a:picLocks noChangeAspect="1"/>
          </p:cNvPicPr>
          <p:nvPr/>
        </p:nvPicPr>
        <p:blipFill>
          <a:blip r:embed="rId3"/>
          <a:stretch>
            <a:fillRect/>
          </a:stretch>
        </p:blipFill>
        <p:spPr>
          <a:xfrm>
            <a:off x="2907756" y="1052736"/>
            <a:ext cx="6376489" cy="5499603"/>
          </a:xfrm>
          <a:prstGeom prst="rect">
            <a:avLst/>
          </a:prstGeom>
        </p:spPr>
      </p:pic>
      <p:sp>
        <p:nvSpPr>
          <p:cNvPr id="3" name="Title 2">
            <a:extLst>
              <a:ext uri="{FF2B5EF4-FFF2-40B4-BE49-F238E27FC236}">
                <a16:creationId xmlns:a16="http://schemas.microsoft.com/office/drawing/2014/main" id="{8288F952-8D9C-4668-A9F3-8C30416EBCC0}"/>
              </a:ext>
            </a:extLst>
          </p:cNvPr>
          <p:cNvSpPr>
            <a:spLocks noGrp="1"/>
          </p:cNvSpPr>
          <p:nvPr>
            <p:ph type="title" hasCustomPrompt="1"/>
          </p:nvPr>
        </p:nvSpPr>
        <p:spPr/>
        <p:txBody>
          <a:bodyPr/>
          <a:lstStyle/>
          <a:p>
            <a:r>
              <a:t>Device Configurator contd…</a:t>
            </a:r>
          </a:p>
        </p:txBody>
      </p:sp>
      <p:sp>
        <p:nvSpPr>
          <p:cNvPr id="11" name="Rectangle 10">
            <a:extLst>
              <a:ext uri="{FF2B5EF4-FFF2-40B4-BE49-F238E27FC236}">
                <a16:creationId xmlns:a16="http://schemas.microsoft.com/office/drawing/2014/main" id="{C95834D0-C509-4558-8153-E7DBC77B7D32}"/>
              </a:ext>
            </a:extLst>
          </p:cNvPr>
          <p:cNvSpPr/>
          <p:nvPr/>
        </p:nvSpPr>
        <p:spPr bwMode="auto">
          <a:xfrm>
            <a:off x="6483943" y="1628800"/>
            <a:ext cx="503966" cy="25389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11">
            <a:extLst>
              <a:ext uri="{FF2B5EF4-FFF2-40B4-BE49-F238E27FC236}">
                <a16:creationId xmlns:a16="http://schemas.microsoft.com/office/drawing/2014/main" id="{BF686530-8177-465C-A200-12DE26CE1ACD}"/>
              </a:ext>
            </a:extLst>
          </p:cNvPr>
          <p:cNvSpPr/>
          <p:nvPr/>
        </p:nvSpPr>
        <p:spPr bwMode="auto">
          <a:xfrm>
            <a:off x="2927648" y="2074859"/>
            <a:ext cx="6294444" cy="4477480"/>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22700380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heel(1)">
                                      <p:cBhvr>
                                        <p:cTn id="10" dur="2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378FF07-A872-4E0D-AAA7-5B25BE05F461}"/>
              </a:ext>
            </a:extLst>
          </p:cNvPr>
          <p:cNvPicPr>
            <a:picLocks noGrp="1" noChangeAspect="1"/>
          </p:cNvPicPr>
          <p:nvPr>
            <p:ph sz="quarter" idx="13" hasCustomPrompt="1"/>
          </p:nvPr>
        </p:nvPicPr>
        <p:blipFill>
          <a:blip r:embed="rId3"/>
          <a:stretch>
            <a:fillRect/>
          </a:stretch>
        </p:blipFill>
        <p:spPr/>
      </p:pic>
      <p:sp>
        <p:nvSpPr>
          <p:cNvPr id="3" name="Title 2">
            <a:extLst>
              <a:ext uri="{FF2B5EF4-FFF2-40B4-BE49-F238E27FC236}">
                <a16:creationId xmlns:a16="http://schemas.microsoft.com/office/drawing/2014/main" id="{4AD92298-3855-4668-AAC0-EB046C447175}"/>
              </a:ext>
            </a:extLst>
          </p:cNvPr>
          <p:cNvSpPr>
            <a:spLocks noGrp="1"/>
          </p:cNvSpPr>
          <p:nvPr>
            <p:ph type="title" hasCustomPrompt="1"/>
          </p:nvPr>
        </p:nvSpPr>
        <p:spPr/>
        <p:txBody>
          <a:bodyPr/>
          <a:lstStyle/>
          <a:p>
            <a:r>
              <a:t>QSPI Configurator</a:t>
            </a:r>
          </a:p>
        </p:txBody>
      </p:sp>
    </p:spTree>
    <p:extLst>
      <p:ext uri="{BB962C8B-B14F-4D97-AF65-F5344CB8AC3E}">
        <p14:creationId xmlns:p14="http://schemas.microsoft.com/office/powerpoint/2010/main" val="54704637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885D54-4E3A-4908-832F-12121199F782}"/>
              </a:ext>
            </a:extLst>
          </p:cNvPr>
          <p:cNvPicPr>
            <a:picLocks noChangeAspect="1"/>
          </p:cNvPicPr>
          <p:nvPr/>
        </p:nvPicPr>
        <p:blipFill>
          <a:blip r:embed="rId3"/>
          <a:stretch>
            <a:fillRect/>
          </a:stretch>
        </p:blipFill>
        <p:spPr>
          <a:xfrm>
            <a:off x="551384" y="773773"/>
            <a:ext cx="10046648" cy="5310453"/>
          </a:xfrm>
          <a:prstGeom prst="rect">
            <a:avLst/>
          </a:prstGeom>
        </p:spPr>
      </p:pic>
      <p:sp>
        <p:nvSpPr>
          <p:cNvPr id="3" name="Title 2">
            <a:extLst>
              <a:ext uri="{FF2B5EF4-FFF2-40B4-BE49-F238E27FC236}">
                <a16:creationId xmlns:a16="http://schemas.microsoft.com/office/drawing/2014/main" id="{89F75015-F1C3-4228-97DF-CC1FBFA53461}"/>
              </a:ext>
            </a:extLst>
          </p:cNvPr>
          <p:cNvSpPr>
            <a:spLocks noGrp="1"/>
          </p:cNvSpPr>
          <p:nvPr>
            <p:ph type="title" hasCustomPrompt="1"/>
          </p:nvPr>
        </p:nvSpPr>
        <p:spPr>
          <a:xfrm>
            <a:off x="335360" y="206780"/>
            <a:ext cx="9613068" cy="432048"/>
          </a:xfrm>
        </p:spPr>
        <p:txBody>
          <a:bodyPr/>
          <a:lstStyle/>
          <a:p>
            <a:r>
              <a:t>SMART I/O Configurator</a:t>
            </a:r>
          </a:p>
        </p:txBody>
      </p:sp>
      <p:pic>
        <p:nvPicPr>
          <p:cNvPr id="5" name="Picture 4">
            <a:extLst>
              <a:ext uri="{FF2B5EF4-FFF2-40B4-BE49-F238E27FC236}">
                <a16:creationId xmlns:a16="http://schemas.microsoft.com/office/drawing/2014/main" id="{2AD73C31-CD0B-429E-9C5F-C808679E5B30}"/>
              </a:ext>
            </a:extLst>
          </p:cNvPr>
          <p:cNvPicPr>
            <a:picLocks noChangeAspect="1"/>
          </p:cNvPicPr>
          <p:nvPr/>
        </p:nvPicPr>
        <p:blipFill>
          <a:blip r:embed="rId4"/>
          <a:stretch>
            <a:fillRect/>
          </a:stretch>
        </p:blipFill>
        <p:spPr>
          <a:xfrm>
            <a:off x="6528048" y="1412776"/>
            <a:ext cx="2808312" cy="1751545"/>
          </a:xfrm>
          <a:prstGeom prst="rect">
            <a:avLst/>
          </a:prstGeom>
        </p:spPr>
      </p:pic>
    </p:spTree>
    <p:extLst>
      <p:ext uri="{BB962C8B-B14F-4D97-AF65-F5344CB8AC3E}">
        <p14:creationId xmlns:p14="http://schemas.microsoft.com/office/powerpoint/2010/main" val="72188834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A57DD-7ECF-4B93-A8F8-A5076B2DA22C}"/>
              </a:ext>
            </a:extLst>
          </p:cNvPr>
          <p:cNvSpPr>
            <a:spLocks noGrp="1"/>
          </p:cNvSpPr>
          <p:nvPr>
            <p:ph type="title" hasCustomPrompt="1"/>
          </p:nvPr>
        </p:nvSpPr>
        <p:spPr/>
        <p:txBody>
          <a:bodyPr/>
          <a:lstStyle/>
          <a:p>
            <a:r>
              <a:t>Application Booting sequence</a:t>
            </a:r>
          </a:p>
        </p:txBody>
      </p:sp>
      <p:sp>
        <p:nvSpPr>
          <p:cNvPr id="7" name="Content Placeholder 2">
            <a:extLst>
              <a:ext uri="{FF2B5EF4-FFF2-40B4-BE49-F238E27FC236}">
                <a16:creationId xmlns:a16="http://schemas.microsoft.com/office/drawing/2014/main" id="{4C49C87D-A9B7-48DE-A6A6-16AE0D9C7218}"/>
              </a:ext>
            </a:extLst>
          </p:cNvPr>
          <p:cNvSpPr>
            <a:spLocks noGrp="1"/>
          </p:cNvSpPr>
          <p:nvPr>
            <p:ph sz="quarter" idx="13" hasCustomPrompt="1"/>
          </p:nvPr>
        </p:nvSpPr>
        <p:spPr/>
        <p:txBody>
          <a:bodyPr/>
          <a:lstStyle/>
          <a:p>
            <a:pPr>
              <a:buClr>
                <a:srgbClr val="0A8276"/>
              </a:buClr>
              <a:buFont typeface="Wingdings" panose="05000000000000000000" pitchFamily="2" charset="2"/>
              <a:buChar char="q"/>
            </a:pPr>
            <a:r>
              <a:t> Boot starts from Secured Enclave as the Root of Trust </a:t>
            </a:r>
          </a:p>
          <a:p>
            <a:pPr>
              <a:buClr>
                <a:srgbClr val="0A8276"/>
              </a:buClr>
              <a:buFont typeface="Wingdings" panose="05000000000000000000" pitchFamily="2" charset="2"/>
              <a:buChar char="q"/>
            </a:pPr>
            <a:endParaRPr lang="en-US" sz="1800" dirty="0"/>
          </a:p>
          <a:p>
            <a:pPr>
              <a:buClr>
                <a:srgbClr val="0A8276"/>
              </a:buClr>
              <a:buFont typeface="Wingdings" panose="05000000000000000000" pitchFamily="2" charset="2"/>
              <a:buChar char="q"/>
            </a:pPr>
            <a:r>
              <a:t> Off-the-shelf extended boot software</a:t>
            </a:r>
          </a:p>
          <a:p>
            <a:pPr lvl="1">
              <a:buClr>
                <a:srgbClr val="0A8276"/>
              </a:buClr>
              <a:buFont typeface="Wingdings" panose="05000000000000000000" pitchFamily="2" charset="2"/>
              <a:buChar char="§"/>
            </a:pPr>
            <a:r>
              <a:t>Boot from RRAM or external flash</a:t>
            </a:r>
          </a:p>
          <a:p>
            <a:pPr lvl="1">
              <a:buClr>
                <a:srgbClr val="0A8276"/>
              </a:buClr>
              <a:buFont typeface="Wingdings" panose="05000000000000000000" pitchFamily="2" charset="2"/>
              <a:buChar char="§"/>
            </a:pPr>
            <a:r>
              <a:t>Alternate serial interface for recovery boot</a:t>
            </a:r>
          </a:p>
          <a:p>
            <a:pPr lvl="1">
              <a:buClr>
                <a:srgbClr val="0A8276"/>
              </a:buClr>
              <a:buFont typeface="Wingdings" panose="05000000000000000000" pitchFamily="2" charset="2"/>
              <a:buChar char="§"/>
            </a:pPr>
            <a:r>
              <a:t>SRAM loading for enhanced security </a:t>
            </a:r>
          </a:p>
          <a:p>
            <a:pPr>
              <a:buClr>
                <a:srgbClr val="0A8276"/>
              </a:buClr>
              <a:buNone/>
            </a:pPr>
            <a:endParaRPr lang="en-US" sz="1800" dirty="0"/>
          </a:p>
          <a:p>
            <a:pPr>
              <a:buClr>
                <a:srgbClr val="0A8276"/>
              </a:buClr>
              <a:buFont typeface="Wingdings" panose="05000000000000000000" pitchFamily="2" charset="2"/>
              <a:buChar char="q"/>
            </a:pPr>
            <a:r>
              <a:t> Optional MCUboot based Edge Protect Bootloader</a:t>
            </a:r>
          </a:p>
          <a:p>
            <a:pPr>
              <a:buClr>
                <a:srgbClr val="0A8276"/>
              </a:buClr>
              <a:buFont typeface="Wingdings" panose="05000000000000000000" pitchFamily="2" charset="2"/>
              <a:buChar char="q"/>
            </a:pPr>
            <a:endParaRPr lang="en-US" sz="1800" dirty="0"/>
          </a:p>
          <a:p>
            <a:pPr>
              <a:buClr>
                <a:srgbClr val="0A8276"/>
              </a:buClr>
              <a:buFont typeface="Wingdings" panose="05000000000000000000" pitchFamily="2" charset="2"/>
              <a:buChar char="q"/>
            </a:pPr>
            <a:r>
              <a:t> One time revocable OEM RoT Key</a:t>
            </a:r>
          </a:p>
          <a:p>
            <a:pPr>
              <a:buClr>
                <a:srgbClr val="0A8276"/>
              </a:buClr>
              <a:buNone/>
            </a:pPr>
            <a:endParaRPr lang="en-US" sz="1800" dirty="0"/>
          </a:p>
        </p:txBody>
      </p:sp>
      <p:pic>
        <p:nvPicPr>
          <p:cNvPr id="8" name="Picture 7">
            <a:extLst>
              <a:ext uri="{FF2B5EF4-FFF2-40B4-BE49-F238E27FC236}">
                <a16:creationId xmlns:a16="http://schemas.microsoft.com/office/drawing/2014/main" id="{BAE40279-7FB2-4A58-8157-9F3AF9253581}"/>
              </a:ext>
            </a:extLst>
          </p:cNvPr>
          <p:cNvPicPr>
            <a:picLocks noChangeAspect="1"/>
          </p:cNvPicPr>
          <p:nvPr/>
        </p:nvPicPr>
        <p:blipFill>
          <a:blip r:embed="rId3"/>
          <a:stretch>
            <a:fillRect/>
          </a:stretch>
        </p:blipFill>
        <p:spPr>
          <a:xfrm>
            <a:off x="623392" y="4437112"/>
            <a:ext cx="9865096" cy="2026030"/>
          </a:xfrm>
          <a:prstGeom prst="rect">
            <a:avLst/>
          </a:prstGeom>
        </p:spPr>
      </p:pic>
    </p:spTree>
    <p:extLst>
      <p:ext uri="{BB962C8B-B14F-4D97-AF65-F5344CB8AC3E}">
        <p14:creationId xmlns:p14="http://schemas.microsoft.com/office/powerpoint/2010/main" val="3597643337"/>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90FB4-9A18-4E7E-A2CB-08F5FC5421A1}"/>
              </a:ext>
            </a:extLst>
          </p:cNvPr>
          <p:cNvSpPr>
            <a:spLocks noGrp="1"/>
          </p:cNvSpPr>
          <p:nvPr/>
        </p:nvSpPr>
        <p:spPr>
          <a:xfrm>
            <a:off x="334800" y="1376004"/>
            <a:ext cx="6985336" cy="5113337"/>
          </a:xfrm>
          <a:prstGeom prst="rect">
            <a:avLst/>
          </a:prstGeom>
        </p:spPr>
        <p:txBody>
          <a:bodyPr/>
          <a:lstStyle>
            <a:lvl1pPr marL="1800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2000" baseline="0">
                <a:solidFill>
                  <a:schemeClr val="tx1"/>
                </a:solidFill>
                <a:latin typeface="+mn-lt"/>
                <a:ea typeface="+mn-ea"/>
                <a:cs typeface="+mn-cs"/>
              </a:defRPr>
            </a:lvl1pPr>
            <a:lvl2pPr marL="450000" indent="-270000" algn="l" defTabSz="576000" rtl="0" eaLnBrk="1" fontAlgn="base" hangingPunct="1">
              <a:spcBef>
                <a:spcPts val="0"/>
              </a:spcBef>
              <a:spcAft>
                <a:spcPts val="0"/>
              </a:spcAft>
              <a:buClr>
                <a:schemeClr val="accent1"/>
              </a:buClr>
              <a:buSzPct val="100000"/>
              <a:buFont typeface="Verdana" panose="020B0604030504040204" pitchFamily="34" charset="0"/>
              <a:buChar char="–"/>
              <a:defRPr sz="2000">
                <a:solidFill>
                  <a:schemeClr val="tx1"/>
                </a:solidFill>
                <a:latin typeface="+mn-lt"/>
                <a:ea typeface="+mn-ea"/>
                <a:cs typeface="+mn-cs"/>
              </a:defRPr>
            </a:lvl2pPr>
            <a:lvl3pPr marL="6300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1800" baseline="0">
                <a:solidFill>
                  <a:schemeClr val="tx1"/>
                </a:solidFill>
                <a:latin typeface="+mn-lt"/>
                <a:ea typeface="+mn-ea"/>
                <a:cs typeface="+mn-cs"/>
              </a:defRPr>
            </a:lvl3pPr>
            <a:lvl4pPr marL="802800" indent="-172800" algn="l" defTabSz="576000" rtl="0" eaLnBrk="1" fontAlgn="base" hangingPunct="1">
              <a:spcBef>
                <a:spcPts val="0"/>
              </a:spcBef>
              <a:spcAft>
                <a:spcPts val="0"/>
              </a:spcAft>
              <a:buClr>
                <a:schemeClr val="accent1"/>
              </a:buClr>
              <a:buSzPct val="100000"/>
              <a:buFont typeface="Arial" panose="020B0604020202020204" pitchFamily="34" charset="0"/>
              <a:buChar char="–"/>
              <a:defRPr sz="1600" baseline="0">
                <a:solidFill>
                  <a:schemeClr val="tx1"/>
                </a:solidFill>
                <a:latin typeface="+mn-lt"/>
                <a:ea typeface="+mn-ea"/>
                <a:cs typeface="+mn-cs"/>
              </a:defRPr>
            </a:lvl4pPr>
            <a:lvl5pPr marL="982800" indent="-180000" algn="l" defTabSz="576000" rtl="0" eaLnBrk="1" fontAlgn="base" hangingPunct="1">
              <a:spcBef>
                <a:spcPts val="0"/>
              </a:spcBef>
              <a:spcAft>
                <a:spcPts val="0"/>
              </a:spcAft>
              <a:buClr>
                <a:schemeClr val="accent1"/>
              </a:buClr>
              <a:buSzPct val="100000"/>
              <a:buFont typeface="Arial" panose="020B0604020202020204" pitchFamily="34" charset="0"/>
              <a:buChar char="–"/>
              <a:defRPr sz="1400" baseline="0">
                <a:solidFill>
                  <a:schemeClr val="tx1"/>
                </a:solidFill>
                <a:latin typeface="+mn-lt"/>
                <a:ea typeface="+mn-ea"/>
                <a:cs typeface="+mn-cs"/>
              </a:defRPr>
            </a:lvl5pPr>
            <a:lvl6pPr marL="982800" indent="-180000" algn="l" defTabSz="576000" rtl="0" eaLnBrk="1" fontAlgn="base" hangingPunct="1">
              <a:spcBef>
                <a:spcPts val="0"/>
              </a:spcBef>
              <a:spcAft>
                <a:spcPts val="0"/>
              </a:spcAft>
              <a:buClr>
                <a:schemeClr val="accent1"/>
              </a:buClr>
              <a:buFont typeface="Arial" panose="020B0604020202020204" pitchFamily="34" charset="0"/>
              <a:buChar char="–"/>
              <a:defRPr sz="1400" baseline="0">
                <a:solidFill>
                  <a:schemeClr val="tx1"/>
                </a:solidFill>
                <a:latin typeface="+mn-lt"/>
                <a:cs typeface="+mn-cs"/>
              </a:defRPr>
            </a:lvl6pPr>
            <a:lvl7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7pPr>
            <a:lvl8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8pPr>
            <a:lvl9pPr marL="982800" indent="-180000" algn="l" defTabSz="576000" rtl="0" eaLnBrk="1" fontAlgn="base" hangingPunct="1">
              <a:spcBef>
                <a:spcPts val="0"/>
              </a:spcBef>
              <a:spcAft>
                <a:spcPct val="0"/>
              </a:spcAft>
              <a:buClr>
                <a:schemeClr val="accent1"/>
              </a:buClr>
              <a:buFont typeface="Arial" panose="020B0604020202020204" pitchFamily="34" charset="0"/>
              <a:buChar char="–"/>
              <a:defRPr sz="1400">
                <a:solidFill>
                  <a:schemeClr val="tx1"/>
                </a:solidFill>
                <a:latin typeface="+mn-lt"/>
                <a:cs typeface="+mn-cs"/>
              </a:defRPr>
            </a:lvl9pPr>
          </a:lstStyle>
          <a:p>
            <a:pPr>
              <a:buClr>
                <a:srgbClr val="0A8276"/>
              </a:buClr>
              <a:buFont typeface="Wingdings" panose="05000000000000000000" pitchFamily="2" charset="2"/>
              <a:buChar char="q"/>
            </a:pPr>
            <a:r>
              <a:rPr lang="en-US" sz="1800" dirty="0"/>
              <a:t> </a:t>
            </a:r>
            <a:r>
              <a:rPr lang="en-US" sz="1800" dirty="0">
                <a:solidFill>
                  <a:srgbClr val="0A8276"/>
                </a:solidFill>
              </a:rPr>
              <a:t>Development</a:t>
            </a:r>
          </a:p>
          <a:p>
            <a:pPr lvl="1">
              <a:buClr>
                <a:srgbClr val="0A8276"/>
              </a:buClr>
              <a:buFont typeface="Wingdings" panose="05000000000000000000" pitchFamily="2" charset="2"/>
              <a:buChar char="§"/>
            </a:pPr>
            <a:r>
              <a:rPr lang="en-US" sz="1800" dirty="0"/>
              <a:t>Shipped from Infineon</a:t>
            </a:r>
          </a:p>
          <a:p>
            <a:pPr lvl="1">
              <a:buClr>
                <a:srgbClr val="0A8276"/>
              </a:buClr>
              <a:buFont typeface="Wingdings" panose="05000000000000000000" pitchFamily="2" charset="2"/>
              <a:buChar char="§"/>
            </a:pPr>
            <a:r>
              <a:rPr lang="en-US" sz="1800" dirty="0"/>
              <a:t>Provision with OEM certificate and policy </a:t>
            </a:r>
          </a:p>
          <a:p>
            <a:pPr lvl="1">
              <a:buClr>
                <a:srgbClr val="0A8276"/>
              </a:buClr>
              <a:buFont typeface="Wingdings" panose="05000000000000000000" pitchFamily="2" charset="2"/>
              <a:buChar char="§"/>
            </a:pPr>
            <a:r>
              <a:rPr lang="en-US" sz="1800" dirty="0"/>
              <a:t>For OEM development; until production</a:t>
            </a:r>
          </a:p>
          <a:p>
            <a:pPr lvl="1">
              <a:buClr>
                <a:srgbClr val="0A8276"/>
              </a:buClr>
              <a:buFont typeface="Wingdings" panose="05000000000000000000" pitchFamily="2" charset="2"/>
              <a:buChar char="§"/>
            </a:pPr>
            <a:endParaRPr lang="en-US" sz="1800" dirty="0"/>
          </a:p>
          <a:p>
            <a:pPr>
              <a:buClr>
                <a:srgbClr val="0A8276"/>
              </a:buClr>
              <a:buFont typeface="Wingdings" panose="05000000000000000000" pitchFamily="2" charset="2"/>
              <a:buChar char="q"/>
            </a:pPr>
            <a:r>
              <a:rPr lang="en-US" sz="1800" dirty="0"/>
              <a:t> </a:t>
            </a:r>
            <a:r>
              <a:rPr lang="en-US" sz="1800" dirty="0">
                <a:solidFill>
                  <a:srgbClr val="0A8276"/>
                </a:solidFill>
              </a:rPr>
              <a:t>Production</a:t>
            </a:r>
          </a:p>
          <a:p>
            <a:pPr lvl="1">
              <a:buClr>
                <a:srgbClr val="0A8276"/>
              </a:buClr>
              <a:buFont typeface="Wingdings" panose="05000000000000000000" pitchFamily="2" charset="2"/>
              <a:buChar char="§"/>
            </a:pPr>
            <a:r>
              <a:rPr lang="en-US" sz="1800" dirty="0"/>
              <a:t>One-time provisioning with “Production” certificate</a:t>
            </a:r>
          </a:p>
          <a:p>
            <a:pPr lvl="1">
              <a:buClr>
                <a:srgbClr val="0A8276"/>
              </a:buClr>
              <a:buFont typeface="Wingdings" panose="05000000000000000000" pitchFamily="2" charset="2"/>
              <a:buChar char="§"/>
            </a:pPr>
            <a:r>
              <a:rPr lang="en-US" sz="1800" dirty="0"/>
              <a:t>Re-provisioning if allowed by policy</a:t>
            </a:r>
          </a:p>
          <a:p>
            <a:pPr lvl="1">
              <a:buClr>
                <a:srgbClr val="0A8276"/>
              </a:buClr>
              <a:buFont typeface="Wingdings" panose="05000000000000000000" pitchFamily="2" charset="2"/>
              <a:buChar char="§"/>
            </a:pPr>
            <a:endParaRPr lang="en-US" sz="1800" dirty="0"/>
          </a:p>
          <a:p>
            <a:pPr>
              <a:buClr>
                <a:srgbClr val="0A8276"/>
              </a:buClr>
              <a:buFont typeface="Wingdings" panose="05000000000000000000" pitchFamily="2" charset="2"/>
              <a:buChar char="q"/>
            </a:pPr>
            <a:r>
              <a:rPr lang="en-US" sz="1800" dirty="0"/>
              <a:t> </a:t>
            </a:r>
            <a:r>
              <a:rPr lang="en-US" sz="1800" dirty="0">
                <a:solidFill>
                  <a:srgbClr val="0A8276"/>
                </a:solidFill>
              </a:rPr>
              <a:t>RMA</a:t>
            </a:r>
          </a:p>
          <a:p>
            <a:pPr lvl="1">
              <a:buClr>
                <a:srgbClr val="0A8276"/>
              </a:buClr>
              <a:buFont typeface="Wingdings" panose="05000000000000000000" pitchFamily="2" charset="2"/>
              <a:buChar char="§"/>
            </a:pPr>
            <a:r>
              <a:rPr lang="en-US" sz="1800" dirty="0"/>
              <a:t>Transition from Development or Production</a:t>
            </a:r>
          </a:p>
          <a:p>
            <a:pPr lvl="1">
              <a:buClr>
                <a:srgbClr val="0A8276"/>
              </a:buClr>
              <a:buFont typeface="Wingdings" panose="05000000000000000000" pitchFamily="2" charset="2"/>
              <a:buChar char="§"/>
            </a:pPr>
            <a:r>
              <a:rPr lang="en-US" sz="1800" dirty="0"/>
              <a:t>Performed by Infineon signed SE Service Application</a:t>
            </a:r>
          </a:p>
          <a:p>
            <a:pPr lvl="1">
              <a:buClr>
                <a:srgbClr val="0A8276"/>
              </a:buClr>
              <a:buFont typeface="Wingdings" panose="05000000000000000000" pitchFamily="2" charset="2"/>
              <a:buChar char="§"/>
            </a:pPr>
            <a:r>
              <a:rPr lang="en-US" sz="1800" dirty="0"/>
              <a:t>Devices in RMA mode can be shipped to Infineon for field failure analysis</a:t>
            </a:r>
          </a:p>
        </p:txBody>
      </p:sp>
      <p:sp>
        <p:nvSpPr>
          <p:cNvPr id="5" name="Title 4">
            <a:extLst>
              <a:ext uri="{FF2B5EF4-FFF2-40B4-BE49-F238E27FC236}">
                <a16:creationId xmlns:a16="http://schemas.microsoft.com/office/drawing/2014/main" id="{7871215B-44F0-4111-A15A-72E6570D37F5}"/>
              </a:ext>
            </a:extLst>
          </p:cNvPr>
          <p:cNvSpPr>
            <a:spLocks noGrp="1"/>
          </p:cNvSpPr>
          <p:nvPr>
            <p:ph type="title" hasCustomPrompt="1"/>
          </p:nvPr>
        </p:nvSpPr>
        <p:spPr/>
        <p:txBody>
          <a:bodyPr/>
          <a:lstStyle/>
          <a:p>
            <a:r>
              <a:rPr>
                <a:solidFill>
                  <a:srgbClr val="0A8276"/>
                </a:solidFill>
              </a:rPr>
              <a:t>Device lifecycle and provisioning</a:t>
            </a:r>
          </a:p>
        </p:txBody>
      </p:sp>
      <p:pic>
        <p:nvPicPr>
          <p:cNvPr id="6" name="Picture 5">
            <a:extLst>
              <a:ext uri="{FF2B5EF4-FFF2-40B4-BE49-F238E27FC236}">
                <a16:creationId xmlns:a16="http://schemas.microsoft.com/office/drawing/2014/main" id="{609E2397-A822-417C-AA0D-1FAFF75BEF48}"/>
              </a:ext>
            </a:extLst>
          </p:cNvPr>
          <p:cNvPicPr>
            <a:picLocks noChangeAspect="1"/>
          </p:cNvPicPr>
          <p:nvPr/>
        </p:nvPicPr>
        <p:blipFill>
          <a:blip r:embed="rId3"/>
          <a:stretch>
            <a:fillRect/>
          </a:stretch>
        </p:blipFill>
        <p:spPr>
          <a:xfrm>
            <a:off x="7625768" y="1484784"/>
            <a:ext cx="4221480" cy="3444240"/>
          </a:xfrm>
          <a:prstGeom prst="rect">
            <a:avLst/>
          </a:prstGeom>
        </p:spPr>
      </p:pic>
    </p:spTree>
    <p:extLst>
      <p:ext uri="{BB962C8B-B14F-4D97-AF65-F5344CB8AC3E}">
        <p14:creationId xmlns:p14="http://schemas.microsoft.com/office/powerpoint/2010/main" val="1332935120"/>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rPr lang="en-US" dirty="0"/>
              <a:t>Secure and Non-Secure Operating Modes</a:t>
            </a:r>
            <a:endParaRPr dirty="0"/>
          </a:p>
        </p:txBody>
      </p:sp>
      <p:pic>
        <p:nvPicPr>
          <p:cNvPr id="4" name="Picture 3">
            <a:extLst>
              <a:ext uri="{FF2B5EF4-FFF2-40B4-BE49-F238E27FC236}">
                <a16:creationId xmlns:a16="http://schemas.microsoft.com/office/drawing/2014/main" id="{C83D1EF7-D967-412C-87C3-2CD4DC06D178}"/>
              </a:ext>
            </a:extLst>
          </p:cNvPr>
          <p:cNvPicPr>
            <a:picLocks noChangeAspect="1"/>
          </p:cNvPicPr>
          <p:nvPr/>
        </p:nvPicPr>
        <p:blipFill>
          <a:blip r:embed="rId3"/>
          <a:stretch>
            <a:fillRect/>
          </a:stretch>
        </p:blipFill>
        <p:spPr>
          <a:xfrm>
            <a:off x="6096000" y="879272"/>
            <a:ext cx="4665468" cy="5517232"/>
          </a:xfrm>
          <a:prstGeom prst="rect">
            <a:avLst/>
          </a:prstGeom>
        </p:spPr>
      </p:pic>
      <p:sp>
        <p:nvSpPr>
          <p:cNvPr id="5" name="Rectangle 4">
            <a:extLst>
              <a:ext uri="{FF2B5EF4-FFF2-40B4-BE49-F238E27FC236}">
                <a16:creationId xmlns:a16="http://schemas.microsoft.com/office/drawing/2014/main" id="{1719BB07-7F59-4F32-A865-0B6BE540A0AE}"/>
              </a:ext>
            </a:extLst>
          </p:cNvPr>
          <p:cNvSpPr/>
          <p:nvPr/>
        </p:nvSpPr>
        <p:spPr>
          <a:xfrm>
            <a:off x="479376" y="1397675"/>
            <a:ext cx="6096000" cy="3170099"/>
          </a:xfrm>
          <a:prstGeom prst="rect">
            <a:avLst/>
          </a:prstGeom>
        </p:spPr>
        <p:txBody>
          <a:bodyPr>
            <a:spAutoFit/>
          </a:bodyPr>
          <a:lstStyle/>
          <a:p>
            <a:r>
              <a:rPr lang="en-US" sz="2000" dirty="0">
                <a:solidFill>
                  <a:srgbClr val="000000"/>
                </a:solidFill>
                <a:latin typeface="SourceSansPro"/>
              </a:rPr>
              <a:t>• Arm® </a:t>
            </a:r>
            <a:r>
              <a:rPr lang="en-US" sz="2000" dirty="0" err="1">
                <a:solidFill>
                  <a:srgbClr val="000000"/>
                </a:solidFill>
                <a:latin typeface="SourceSansPro"/>
              </a:rPr>
              <a:t>TrustZone</a:t>
            </a:r>
            <a:r>
              <a:rPr lang="en-US" sz="2000" dirty="0">
                <a:solidFill>
                  <a:srgbClr val="000000"/>
                </a:solidFill>
                <a:latin typeface="SourceSansPro"/>
              </a:rPr>
              <a:t>- enabled Cortex® -M33 CPU</a:t>
            </a:r>
          </a:p>
          <a:p>
            <a:r>
              <a:rPr lang="en-US" sz="2000" dirty="0">
                <a:solidFill>
                  <a:srgbClr val="000000"/>
                </a:solidFill>
                <a:latin typeface="SourceSansPro"/>
              </a:rPr>
              <a:t>• Secure and non-secure CPU states</a:t>
            </a:r>
          </a:p>
          <a:p>
            <a:r>
              <a:rPr lang="en-US" sz="2000" dirty="0">
                <a:solidFill>
                  <a:srgbClr val="000000"/>
                </a:solidFill>
                <a:latin typeface="SourceSansPro"/>
              </a:rPr>
              <a:t>• Attribution units - Secure Attribution Unit (SAU) and Implementation Defined Attribution Unit (IDAU)</a:t>
            </a:r>
          </a:p>
          <a:p>
            <a:r>
              <a:rPr lang="en-US" sz="2000" dirty="0">
                <a:solidFill>
                  <a:srgbClr val="000000"/>
                </a:solidFill>
                <a:latin typeface="SourceSansPro"/>
              </a:rPr>
              <a:t>• Secure and non-secure aliasing of the memory map</a:t>
            </a:r>
          </a:p>
          <a:p>
            <a:r>
              <a:rPr lang="en-US" sz="2000" dirty="0">
                <a:solidFill>
                  <a:srgbClr val="000000"/>
                </a:solidFill>
                <a:latin typeface="SourceSansPro"/>
              </a:rPr>
              <a:t>• Secure and non-secure interrupts</a:t>
            </a:r>
          </a:p>
          <a:p>
            <a:r>
              <a:rPr lang="en-US" sz="2000" dirty="0">
                <a:solidFill>
                  <a:srgbClr val="000000"/>
                </a:solidFill>
                <a:latin typeface="SourceSansPro"/>
              </a:rPr>
              <a:t>• Banked resources between secure and non-secure states</a:t>
            </a:r>
          </a:p>
          <a:p>
            <a:r>
              <a:rPr lang="en-US" sz="2000" dirty="0">
                <a:solidFill>
                  <a:srgbClr val="000000"/>
                </a:solidFill>
                <a:latin typeface="SourceSansPro"/>
              </a:rPr>
              <a:t>• Secure and non-secure peripherals</a:t>
            </a:r>
          </a:p>
          <a:p>
            <a:r>
              <a:rPr lang="en-US" sz="2000" dirty="0">
                <a:solidFill>
                  <a:srgbClr val="000000"/>
                </a:solidFill>
                <a:latin typeface="SourceSansPro"/>
              </a:rPr>
              <a:t>• Secure and non-secure debug</a:t>
            </a:r>
            <a:endParaRPr lang="en-US" sz="2000" dirty="0"/>
          </a:p>
        </p:txBody>
      </p:sp>
    </p:spTree>
    <p:extLst>
      <p:ext uri="{BB962C8B-B14F-4D97-AF65-F5344CB8AC3E}">
        <p14:creationId xmlns:p14="http://schemas.microsoft.com/office/powerpoint/2010/main" val="66495584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02478429-D9F8-7EEF-611A-2568BCF0E253}"/>
              </a:ext>
            </a:extLst>
          </p:cNvPr>
          <p:cNvPicPr>
            <a:picLocks noChangeAspect="1"/>
          </p:cNvPicPr>
          <p:nvPr/>
        </p:nvPicPr>
        <p:blipFill>
          <a:blip r:embed="rId3"/>
          <a:stretch>
            <a:fillRect/>
          </a:stretch>
        </p:blipFill>
        <p:spPr>
          <a:xfrm>
            <a:off x="727956" y="1016757"/>
            <a:ext cx="10729192" cy="5699884"/>
          </a:xfrm>
          <a:prstGeom prst="rect">
            <a:avLst/>
          </a:prstGeom>
          <a:ln>
            <a:solidFill>
              <a:schemeClr val="tx1"/>
            </a:solidFill>
          </a:ln>
        </p:spPr>
      </p:pic>
      <p:sp>
        <p:nvSpPr>
          <p:cNvPr id="3" name="Title 2">
            <a:extLst>
              <a:ext uri="{FF2B5EF4-FFF2-40B4-BE49-F238E27FC236}">
                <a16:creationId xmlns:a16="http://schemas.microsoft.com/office/drawing/2014/main" id="{F6380A46-DA11-4B0D-B3D6-1E18F8172879}"/>
              </a:ext>
            </a:extLst>
          </p:cNvPr>
          <p:cNvSpPr>
            <a:spLocks noGrp="1"/>
          </p:cNvSpPr>
          <p:nvPr>
            <p:ph type="title" hasCustomPrompt="1"/>
          </p:nvPr>
        </p:nvSpPr>
        <p:spPr/>
        <p:txBody>
          <a:bodyPr/>
          <a:lstStyle/>
          <a:p>
            <a:r>
              <a:t>Security Domain Assignment</a:t>
            </a:r>
          </a:p>
        </p:txBody>
      </p:sp>
      <p:grpSp>
        <p:nvGrpSpPr>
          <p:cNvPr id="36" name="Group 35">
            <a:extLst>
              <a:ext uri="{FF2B5EF4-FFF2-40B4-BE49-F238E27FC236}">
                <a16:creationId xmlns:a16="http://schemas.microsoft.com/office/drawing/2014/main" id="{30F30B0A-A575-4EE7-5600-D18A8C9AE82C}"/>
              </a:ext>
            </a:extLst>
          </p:cNvPr>
          <p:cNvGrpSpPr/>
          <p:nvPr/>
        </p:nvGrpSpPr>
        <p:grpSpPr>
          <a:xfrm>
            <a:off x="4204469" y="1778209"/>
            <a:ext cx="1581642" cy="4145811"/>
            <a:chOff x="7464152" y="1947485"/>
            <a:chExt cx="1581642" cy="4145811"/>
          </a:xfrm>
        </p:grpSpPr>
        <p:sp>
          <p:nvSpPr>
            <p:cNvPr id="5" name="Rectangle 4">
              <a:extLst>
                <a:ext uri="{FF2B5EF4-FFF2-40B4-BE49-F238E27FC236}">
                  <a16:creationId xmlns:a16="http://schemas.microsoft.com/office/drawing/2014/main" id="{4F82028A-8AB5-4B83-8EA9-F4E48DA2FB7E}"/>
                </a:ext>
              </a:extLst>
            </p:cNvPr>
            <p:cNvSpPr/>
            <p:nvPr/>
          </p:nvSpPr>
          <p:spPr bwMode="auto">
            <a:xfrm>
              <a:off x="7473483" y="1963488"/>
              <a:ext cx="1530830" cy="186072"/>
            </a:xfrm>
            <a:prstGeom prst="rect">
              <a:avLst/>
            </a:prstGeom>
            <a:noFill/>
            <a:ln w="9525">
              <a:solidFill>
                <a:schemeClr val="bg1">
                  <a:lumMod val="75000"/>
                </a:schemeClr>
              </a:solidFill>
              <a:miter lim="800000"/>
              <a:headEnd/>
              <a:tailEnd/>
            </a:ln>
          </p:spPr>
          <p:txBody>
            <a:bodyPr wrap="square" lIns="72000" tIns="72000" rIns="72000" bIns="72000" rtlCol="0" anchor="ctr"/>
            <a:lstStyle/>
            <a:p>
              <a:pPr algn="ctr" eaLnBrk="0" hangingPunct="0"/>
              <a:r>
                <a:rPr lang="en-US" sz="800" baseline="0" dirty="0">
                  <a:latin typeface="+mn-lt"/>
                  <a:ea typeface="+mn-ea"/>
                  <a:cs typeface="+mn-cs"/>
                </a:rPr>
                <a:t>Security Domain</a:t>
              </a:r>
            </a:p>
          </p:txBody>
        </p:sp>
        <p:cxnSp>
          <p:nvCxnSpPr>
            <p:cNvPr id="6" name="Straight Connector 5">
              <a:extLst>
                <a:ext uri="{FF2B5EF4-FFF2-40B4-BE49-F238E27FC236}">
                  <a16:creationId xmlns:a16="http://schemas.microsoft.com/office/drawing/2014/main" id="{D00C9716-6B61-4802-A986-EBF12AAA79B5}"/>
                </a:ext>
              </a:extLst>
            </p:cNvPr>
            <p:cNvCxnSpPr>
              <a:cxnSpLocks/>
            </p:cNvCxnSpPr>
            <p:nvPr/>
          </p:nvCxnSpPr>
          <p:spPr>
            <a:xfrm>
              <a:off x="7464152" y="1961696"/>
              <a:ext cx="0" cy="4131600"/>
            </a:xfrm>
            <a:prstGeom prst="line">
              <a:avLst/>
            </a:prstGeom>
            <a:ln w="1905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3B880C-6372-4AC0-801D-125CA2759180}"/>
                </a:ext>
              </a:extLst>
            </p:cNvPr>
            <p:cNvSpPr txBox="1"/>
            <p:nvPr/>
          </p:nvSpPr>
          <p:spPr bwMode="auto">
            <a:xfrm>
              <a:off x="7982710" y="4300636"/>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SPE Domain</a:t>
              </a:r>
              <a:endParaRPr lang="en-US" sz="800" kern="0" baseline="0" dirty="0">
                <a:latin typeface="+mn-lt"/>
                <a:ea typeface="+mn-ea"/>
                <a:cs typeface="+mn-cs"/>
              </a:endParaRPr>
            </a:p>
          </p:txBody>
        </p:sp>
        <p:sp>
          <p:nvSpPr>
            <p:cNvPr id="8" name="TextBox 7">
              <a:extLst>
                <a:ext uri="{FF2B5EF4-FFF2-40B4-BE49-F238E27FC236}">
                  <a16:creationId xmlns:a16="http://schemas.microsoft.com/office/drawing/2014/main" id="{D98B4EFF-8A53-4EF0-8E39-3714AD9CB5E2}"/>
                </a:ext>
              </a:extLst>
            </p:cNvPr>
            <p:cNvSpPr txBox="1"/>
            <p:nvPr/>
          </p:nvSpPr>
          <p:spPr bwMode="auto">
            <a:xfrm>
              <a:off x="7982710" y="4486708"/>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9" name="TextBox 8">
              <a:extLst>
                <a:ext uri="{FF2B5EF4-FFF2-40B4-BE49-F238E27FC236}">
                  <a16:creationId xmlns:a16="http://schemas.microsoft.com/office/drawing/2014/main" id="{3CD0D449-5F99-4352-B820-2544798F9BFA}"/>
                </a:ext>
              </a:extLst>
            </p:cNvPr>
            <p:cNvSpPr txBox="1"/>
            <p:nvPr/>
          </p:nvSpPr>
          <p:spPr bwMode="auto">
            <a:xfrm>
              <a:off x="7985618" y="466033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0" name="TextBox 9">
              <a:extLst>
                <a:ext uri="{FF2B5EF4-FFF2-40B4-BE49-F238E27FC236}">
                  <a16:creationId xmlns:a16="http://schemas.microsoft.com/office/drawing/2014/main" id="{501AF9D6-6EF1-4B4C-800E-853865142D33}"/>
                </a:ext>
              </a:extLst>
            </p:cNvPr>
            <p:cNvSpPr txBox="1"/>
            <p:nvPr/>
          </p:nvSpPr>
          <p:spPr bwMode="auto">
            <a:xfrm>
              <a:off x="7979805" y="4839376"/>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1" name="TextBox 10">
              <a:extLst>
                <a:ext uri="{FF2B5EF4-FFF2-40B4-BE49-F238E27FC236}">
                  <a16:creationId xmlns:a16="http://schemas.microsoft.com/office/drawing/2014/main" id="{157E7271-6AA2-4884-8141-7B336E1A1837}"/>
                </a:ext>
              </a:extLst>
            </p:cNvPr>
            <p:cNvSpPr txBox="1"/>
            <p:nvPr/>
          </p:nvSpPr>
          <p:spPr bwMode="auto">
            <a:xfrm>
              <a:off x="7982713" y="5012998"/>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2" name="TextBox 11">
              <a:extLst>
                <a:ext uri="{FF2B5EF4-FFF2-40B4-BE49-F238E27FC236}">
                  <a16:creationId xmlns:a16="http://schemas.microsoft.com/office/drawing/2014/main" id="{606420DB-B5D5-4FA8-85E7-2178B427EDAE}"/>
                </a:ext>
              </a:extLst>
            </p:cNvPr>
            <p:cNvSpPr txBox="1"/>
            <p:nvPr/>
          </p:nvSpPr>
          <p:spPr bwMode="auto">
            <a:xfrm>
              <a:off x="7988728" y="2315157"/>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3" name="TextBox 12">
              <a:extLst>
                <a:ext uri="{FF2B5EF4-FFF2-40B4-BE49-F238E27FC236}">
                  <a16:creationId xmlns:a16="http://schemas.microsoft.com/office/drawing/2014/main" id="{2F35C28B-AEF1-40A7-9404-0D02ABCB54E1}"/>
                </a:ext>
              </a:extLst>
            </p:cNvPr>
            <p:cNvSpPr txBox="1"/>
            <p:nvPr/>
          </p:nvSpPr>
          <p:spPr bwMode="auto">
            <a:xfrm>
              <a:off x="7982915" y="249420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4" name="TextBox 13">
              <a:extLst>
                <a:ext uri="{FF2B5EF4-FFF2-40B4-BE49-F238E27FC236}">
                  <a16:creationId xmlns:a16="http://schemas.microsoft.com/office/drawing/2014/main" id="{B48FBF42-2FED-49A3-8165-CCE854A891C1}"/>
                </a:ext>
              </a:extLst>
            </p:cNvPr>
            <p:cNvSpPr txBox="1"/>
            <p:nvPr/>
          </p:nvSpPr>
          <p:spPr bwMode="auto">
            <a:xfrm>
              <a:off x="7992044" y="2834484"/>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5" name="TextBox 14">
              <a:extLst>
                <a:ext uri="{FF2B5EF4-FFF2-40B4-BE49-F238E27FC236}">
                  <a16:creationId xmlns:a16="http://schemas.microsoft.com/office/drawing/2014/main" id="{F528D512-49BA-465A-ACE3-E6BB3AC6C9A9}"/>
                </a:ext>
              </a:extLst>
            </p:cNvPr>
            <p:cNvSpPr txBox="1"/>
            <p:nvPr/>
          </p:nvSpPr>
          <p:spPr bwMode="auto">
            <a:xfrm>
              <a:off x="7996201" y="2986884"/>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6" name="TextBox 15">
              <a:extLst>
                <a:ext uri="{FF2B5EF4-FFF2-40B4-BE49-F238E27FC236}">
                  <a16:creationId xmlns:a16="http://schemas.microsoft.com/office/drawing/2014/main" id="{13CBEA45-4837-4DCB-82B7-49E7F72BC531}"/>
                </a:ext>
              </a:extLst>
            </p:cNvPr>
            <p:cNvSpPr txBox="1"/>
            <p:nvPr/>
          </p:nvSpPr>
          <p:spPr bwMode="auto">
            <a:xfrm>
              <a:off x="7996201" y="3372559"/>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7" name="TextBox 16">
              <a:extLst>
                <a:ext uri="{FF2B5EF4-FFF2-40B4-BE49-F238E27FC236}">
                  <a16:creationId xmlns:a16="http://schemas.microsoft.com/office/drawing/2014/main" id="{C9F6009E-EC39-4CE0-834C-5FA1DD810F39}"/>
                </a:ext>
              </a:extLst>
            </p:cNvPr>
            <p:cNvSpPr txBox="1"/>
            <p:nvPr/>
          </p:nvSpPr>
          <p:spPr bwMode="auto">
            <a:xfrm>
              <a:off x="8005532" y="3524959"/>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18" name="TextBox 17">
              <a:extLst>
                <a:ext uri="{FF2B5EF4-FFF2-40B4-BE49-F238E27FC236}">
                  <a16:creationId xmlns:a16="http://schemas.microsoft.com/office/drawing/2014/main" id="{437F09E0-8BB8-47EE-B837-7C50CC1C0128}"/>
                </a:ext>
              </a:extLst>
            </p:cNvPr>
            <p:cNvSpPr txBox="1"/>
            <p:nvPr/>
          </p:nvSpPr>
          <p:spPr bwMode="auto">
            <a:xfrm>
              <a:off x="8014863" y="3733345"/>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SPE Domain</a:t>
              </a:r>
              <a:endParaRPr lang="en-US" sz="800" kern="0" baseline="0" dirty="0">
                <a:latin typeface="+mn-lt"/>
                <a:ea typeface="+mn-ea"/>
                <a:cs typeface="+mn-cs"/>
              </a:endParaRPr>
            </a:p>
          </p:txBody>
        </p:sp>
        <p:sp>
          <p:nvSpPr>
            <p:cNvPr id="19" name="TextBox 18">
              <a:extLst>
                <a:ext uri="{FF2B5EF4-FFF2-40B4-BE49-F238E27FC236}">
                  <a16:creationId xmlns:a16="http://schemas.microsoft.com/office/drawing/2014/main" id="{8ED6E749-4A6C-4C47-9B3D-72BFD6E1AD4C}"/>
                </a:ext>
              </a:extLst>
            </p:cNvPr>
            <p:cNvSpPr txBox="1"/>
            <p:nvPr/>
          </p:nvSpPr>
          <p:spPr bwMode="auto">
            <a:xfrm>
              <a:off x="8024194" y="392389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0" name="TextBox 19">
              <a:extLst>
                <a:ext uri="{FF2B5EF4-FFF2-40B4-BE49-F238E27FC236}">
                  <a16:creationId xmlns:a16="http://schemas.microsoft.com/office/drawing/2014/main" id="{5AB52A45-C522-4700-BE67-0CFB2A71E6D0}"/>
                </a:ext>
              </a:extLst>
            </p:cNvPr>
            <p:cNvSpPr txBox="1"/>
            <p:nvPr/>
          </p:nvSpPr>
          <p:spPr bwMode="auto">
            <a:xfrm>
              <a:off x="8024194" y="4076293"/>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1" name="TextBox 20">
              <a:extLst>
                <a:ext uri="{FF2B5EF4-FFF2-40B4-BE49-F238E27FC236}">
                  <a16:creationId xmlns:a16="http://schemas.microsoft.com/office/drawing/2014/main" id="{B8D25842-3827-4D12-8977-4DDFCECF3E27}"/>
                </a:ext>
              </a:extLst>
            </p:cNvPr>
            <p:cNvSpPr txBox="1"/>
            <p:nvPr/>
          </p:nvSpPr>
          <p:spPr bwMode="auto">
            <a:xfrm>
              <a:off x="8014863" y="519907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2" name="TextBox 21">
              <a:extLst>
                <a:ext uri="{FF2B5EF4-FFF2-40B4-BE49-F238E27FC236}">
                  <a16:creationId xmlns:a16="http://schemas.microsoft.com/office/drawing/2014/main" id="{83A56D38-C2A7-43CA-AB96-D44D31DFE9B0}"/>
                </a:ext>
              </a:extLst>
            </p:cNvPr>
            <p:cNvSpPr txBox="1"/>
            <p:nvPr/>
          </p:nvSpPr>
          <p:spPr bwMode="auto">
            <a:xfrm>
              <a:off x="7991049" y="5570680"/>
              <a:ext cx="1021600" cy="186072"/>
            </a:xfrm>
            <a:prstGeom prst="rect">
              <a:avLst/>
            </a:prstGeom>
            <a:noFill/>
            <a:ln w="9525">
              <a:noFill/>
              <a:miter lim="800000"/>
              <a:headEnd/>
              <a:tailEnd/>
            </a:ln>
            <a:effectLst/>
          </p:spPr>
          <p:txBody>
            <a:bodyPr wrap="none" lIns="0" tIns="0" rIns="0" bIns="0" rtlCol="0" anchor="ctr" anchorCtr="0">
              <a:noAutofit/>
            </a:bodyPr>
            <a:lstStyle/>
            <a:p>
              <a:pPr marR="0" algn="l" defTabSz="576000" eaLnBrk="0" fontAlgn="auto" latinLnBrk="0" hangingPunct="0">
                <a:spcBef>
                  <a:spcPts val="0"/>
                </a:spcBef>
                <a:spcAft>
                  <a:spcPts val="0"/>
                </a:spcAft>
                <a:buClr>
                  <a:schemeClr val="accent1"/>
                </a:buClr>
                <a:buSzTx/>
                <a:tabLst/>
              </a:pPr>
              <a:r>
                <a:rPr lang="en-US" sz="800" kern="0" dirty="0">
                  <a:latin typeface="+mn-lt"/>
                </a:rPr>
                <a:t>NSPE Domain</a:t>
              </a:r>
              <a:endParaRPr lang="en-US" sz="800" kern="0" baseline="0" dirty="0">
                <a:latin typeface="+mn-lt"/>
                <a:ea typeface="+mn-ea"/>
                <a:cs typeface="+mn-cs"/>
              </a:endParaRPr>
            </a:p>
          </p:txBody>
        </p:sp>
        <p:sp>
          <p:nvSpPr>
            <p:cNvPr id="25" name="Rectangle: Rounded Corners 24">
              <a:extLst>
                <a:ext uri="{FF2B5EF4-FFF2-40B4-BE49-F238E27FC236}">
                  <a16:creationId xmlns:a16="http://schemas.microsoft.com/office/drawing/2014/main" id="{93BC3870-3F4F-490C-9706-B6F050ED24E0}"/>
                </a:ext>
              </a:extLst>
            </p:cNvPr>
            <p:cNvSpPr/>
            <p:nvPr/>
          </p:nvSpPr>
          <p:spPr bwMode="auto">
            <a:xfrm>
              <a:off x="7597241" y="1947485"/>
              <a:ext cx="1404162" cy="3809267"/>
            </a:xfrm>
            <a:prstGeom prst="roundRect">
              <a:avLst>
                <a:gd name="adj" fmla="val 9205"/>
              </a:avLst>
            </a:prstGeom>
            <a:noFill/>
            <a:ln w="57150">
              <a:solidFill>
                <a:schemeClr val="accent1"/>
              </a:solidFill>
              <a:miter lim="800000"/>
              <a:headEnd/>
              <a:tailEnd/>
            </a:ln>
          </p:spPr>
          <p:txBody>
            <a:bodyPr wrap="square" lIns="96000" tIns="96000" rIns="96000" bIns="96000" rtlCol="0" anchor="ctr"/>
            <a:lstStyle/>
            <a:p>
              <a:pPr algn="ctr" eaLnBrk="0" hangingPunct="0"/>
              <a:endParaRPr lang="en-US" sz="2400" dirty="0">
                <a:latin typeface="+mn-lt"/>
              </a:endParaRPr>
            </a:p>
          </p:txBody>
        </p:sp>
      </p:grpSp>
    </p:spTree>
    <p:extLst>
      <p:ext uri="{BB962C8B-B14F-4D97-AF65-F5344CB8AC3E}">
        <p14:creationId xmlns:p14="http://schemas.microsoft.com/office/powerpoint/2010/main" val="1705020041"/>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89C498-86A8-43F2-9A90-18D4684F7A48}"/>
              </a:ext>
            </a:extLst>
          </p:cNvPr>
          <p:cNvSpPr>
            <a:spLocks noGrp="1"/>
          </p:cNvSpPr>
          <p:nvPr>
            <p:ph type="title" hasCustomPrompt="1"/>
          </p:nvPr>
        </p:nvSpPr>
        <p:spPr>
          <a:xfrm>
            <a:off x="346758" y="288032"/>
            <a:ext cx="9613068" cy="432048"/>
          </a:xfrm>
        </p:spPr>
        <p:txBody>
          <a:bodyPr/>
          <a:lstStyle/>
          <a:p>
            <a:r>
              <a:rPr dirty="0"/>
              <a:t>Edge Protect Configurator </a:t>
            </a:r>
          </a:p>
        </p:txBody>
      </p:sp>
      <p:pic>
        <p:nvPicPr>
          <p:cNvPr id="4" name="Picture 3">
            <a:extLst>
              <a:ext uri="{FF2B5EF4-FFF2-40B4-BE49-F238E27FC236}">
                <a16:creationId xmlns:a16="http://schemas.microsoft.com/office/drawing/2014/main" id="{F182BFA5-2FE3-496C-A86B-200668E52716}"/>
              </a:ext>
            </a:extLst>
          </p:cNvPr>
          <p:cNvPicPr>
            <a:picLocks noChangeAspect="1"/>
          </p:cNvPicPr>
          <p:nvPr/>
        </p:nvPicPr>
        <p:blipFill>
          <a:blip r:embed="rId3"/>
          <a:stretch>
            <a:fillRect/>
          </a:stretch>
        </p:blipFill>
        <p:spPr>
          <a:xfrm>
            <a:off x="493883" y="1052736"/>
            <a:ext cx="5530109" cy="5013176"/>
          </a:xfrm>
          <a:prstGeom prst="rect">
            <a:avLst/>
          </a:prstGeom>
        </p:spPr>
      </p:pic>
      <p:pic>
        <p:nvPicPr>
          <p:cNvPr id="5" name="Picture 4">
            <a:extLst>
              <a:ext uri="{FF2B5EF4-FFF2-40B4-BE49-F238E27FC236}">
                <a16:creationId xmlns:a16="http://schemas.microsoft.com/office/drawing/2014/main" id="{9C6D7B44-AEDC-40A8-9850-7B1F1E320401}"/>
              </a:ext>
            </a:extLst>
          </p:cNvPr>
          <p:cNvPicPr>
            <a:picLocks noChangeAspect="1"/>
          </p:cNvPicPr>
          <p:nvPr/>
        </p:nvPicPr>
        <p:blipFill>
          <a:blip r:embed="rId4"/>
          <a:stretch>
            <a:fillRect/>
          </a:stretch>
        </p:blipFill>
        <p:spPr>
          <a:xfrm>
            <a:off x="6096000" y="1052736"/>
            <a:ext cx="5328592" cy="3089688"/>
          </a:xfrm>
          <a:prstGeom prst="rect">
            <a:avLst/>
          </a:prstGeom>
        </p:spPr>
      </p:pic>
      <p:sp>
        <p:nvSpPr>
          <p:cNvPr id="6" name="TextBox 5">
            <a:extLst>
              <a:ext uri="{FF2B5EF4-FFF2-40B4-BE49-F238E27FC236}">
                <a16:creationId xmlns:a16="http://schemas.microsoft.com/office/drawing/2014/main" id="{05F05AC3-B036-49A1-8CF7-F55B14F62B16}"/>
              </a:ext>
            </a:extLst>
          </p:cNvPr>
          <p:cNvSpPr txBox="1"/>
          <p:nvPr/>
        </p:nvSpPr>
        <p:spPr bwMode="auto">
          <a:xfrm>
            <a:off x="6888088" y="4171695"/>
            <a:ext cx="345638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dirty="0">
                <a:latin typeface="+mn-lt"/>
              </a:rPr>
              <a:t>TF-M Services and Domains tab</a:t>
            </a:r>
            <a:endParaRPr lang="en-US" sz="1800" b="1" kern="0" baseline="0" dirty="0">
              <a:latin typeface="+mn-lt"/>
              <a:ea typeface="+mn-ea"/>
              <a:cs typeface="+mn-cs"/>
            </a:endParaRPr>
          </a:p>
        </p:txBody>
      </p:sp>
      <p:sp>
        <p:nvSpPr>
          <p:cNvPr id="7" name="TextBox 6">
            <a:extLst>
              <a:ext uri="{FF2B5EF4-FFF2-40B4-BE49-F238E27FC236}">
                <a16:creationId xmlns:a16="http://schemas.microsoft.com/office/drawing/2014/main" id="{E28B3EC9-1109-4DFD-9E28-C4851D6ECD69}"/>
              </a:ext>
            </a:extLst>
          </p:cNvPr>
          <p:cNvSpPr txBox="1"/>
          <p:nvPr/>
        </p:nvSpPr>
        <p:spPr bwMode="auto">
          <a:xfrm>
            <a:off x="2556477" y="6021288"/>
            <a:ext cx="1404919"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b="1" kern="0" dirty="0">
                <a:latin typeface="+mn-lt"/>
              </a:rPr>
              <a:t>General tab</a:t>
            </a:r>
            <a:endParaRPr lang="en-US" sz="1800" b="1" kern="0" baseline="0" dirty="0">
              <a:latin typeface="+mn-lt"/>
              <a:ea typeface="+mn-ea"/>
              <a:cs typeface="+mn-cs"/>
            </a:endParaRPr>
          </a:p>
        </p:txBody>
      </p:sp>
    </p:spTree>
    <p:extLst>
      <p:ext uri="{BB962C8B-B14F-4D97-AF65-F5344CB8AC3E}">
        <p14:creationId xmlns:p14="http://schemas.microsoft.com/office/powerpoint/2010/main" val="103666555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D40D1A-FCDC-42B1-AF28-F5A914D82268}"/>
              </a:ext>
            </a:extLst>
          </p:cNvPr>
          <p:cNvSpPr>
            <a:spLocks noGrp="1"/>
          </p:cNvSpPr>
          <p:nvPr>
            <p:ph sz="quarter" idx="13" hasCustomPrompt="1"/>
          </p:nvPr>
        </p:nvSpPr>
        <p:spPr>
          <a:xfrm>
            <a:off x="334801" y="1268414"/>
            <a:ext cx="3888992" cy="5113337"/>
          </a:xfrm>
        </p:spPr>
        <p:txBody>
          <a:bodyPr/>
          <a:lstStyle/>
          <a:p>
            <a:pPr lvl="1"/>
            <a:endParaRPr lang="en-US" dirty="0"/>
          </a:p>
          <a:p>
            <a:r>
              <a:rPr lang="en-US" dirty="0"/>
              <a:t>2 CPU Subsystem</a:t>
            </a:r>
          </a:p>
          <a:p>
            <a:r>
              <a:rPr lang="en-US" dirty="0"/>
              <a:t>Each CPU equipped with cache</a:t>
            </a:r>
          </a:p>
          <a:p>
            <a:r>
              <a:rPr lang="en-US" dirty="0"/>
              <a:t>2 SRAM sections (1MB)</a:t>
            </a:r>
          </a:p>
          <a:p>
            <a:r>
              <a:rPr lang="en-US" dirty="0"/>
              <a:t>System SRAM (5120KB)</a:t>
            </a:r>
          </a:p>
          <a:p>
            <a:r>
              <a:rPr lang="en-US" dirty="0"/>
              <a:t>RRAM (512KB)*</a:t>
            </a:r>
          </a:p>
          <a:p>
            <a:r>
              <a:rPr lang="en-US" dirty="0"/>
              <a:t>ITCM and DTCM (256KB each)</a:t>
            </a:r>
          </a:p>
          <a:p>
            <a:r>
              <a:rPr lang="en-US" dirty="0"/>
              <a:t>SMIF0/1 (XIP capable) for external flash or RAM</a:t>
            </a:r>
          </a:p>
          <a:p>
            <a:endParaRPr lang="en-US" dirty="0"/>
          </a:p>
        </p:txBody>
      </p:sp>
      <p:sp>
        <p:nvSpPr>
          <p:cNvPr id="3" name="Title 2">
            <a:extLst>
              <a:ext uri="{FF2B5EF4-FFF2-40B4-BE49-F238E27FC236}">
                <a16:creationId xmlns:a16="http://schemas.microsoft.com/office/drawing/2014/main" id="{73544046-80E2-481F-8FE2-6EBC4FD6034E}"/>
              </a:ext>
            </a:extLst>
          </p:cNvPr>
          <p:cNvSpPr>
            <a:spLocks noGrp="1"/>
          </p:cNvSpPr>
          <p:nvPr>
            <p:ph type="title" hasCustomPrompt="1"/>
          </p:nvPr>
        </p:nvSpPr>
        <p:spPr/>
        <p:txBody>
          <a:bodyPr/>
          <a:lstStyle/>
          <a:p>
            <a:r>
              <a:rPr lang="en-US" dirty="0"/>
              <a:t>Memory Overview</a:t>
            </a:r>
            <a:r>
              <a:rPr dirty="0"/>
              <a:t> </a:t>
            </a:r>
          </a:p>
        </p:txBody>
      </p:sp>
      <p:pic>
        <p:nvPicPr>
          <p:cNvPr id="4" name="Picture 3">
            <a:extLst>
              <a:ext uri="{FF2B5EF4-FFF2-40B4-BE49-F238E27FC236}">
                <a16:creationId xmlns:a16="http://schemas.microsoft.com/office/drawing/2014/main" id="{3E2CF162-0AF8-4416-ABE3-27961FA635F6}"/>
              </a:ext>
            </a:extLst>
          </p:cNvPr>
          <p:cNvPicPr>
            <a:picLocks noChangeAspect="1"/>
          </p:cNvPicPr>
          <p:nvPr/>
        </p:nvPicPr>
        <p:blipFill>
          <a:blip r:embed="rId3"/>
          <a:stretch>
            <a:fillRect/>
          </a:stretch>
        </p:blipFill>
        <p:spPr>
          <a:xfrm>
            <a:off x="4697850" y="980728"/>
            <a:ext cx="7159349" cy="4608512"/>
          </a:xfrm>
          <a:prstGeom prst="rect">
            <a:avLst/>
          </a:prstGeom>
        </p:spPr>
      </p:pic>
      <p:sp>
        <p:nvSpPr>
          <p:cNvPr id="5" name="TextBox 4">
            <a:extLst>
              <a:ext uri="{FF2B5EF4-FFF2-40B4-BE49-F238E27FC236}">
                <a16:creationId xmlns:a16="http://schemas.microsoft.com/office/drawing/2014/main" id="{5CF97921-BD8C-4AFD-B0C7-86D715F48115}"/>
              </a:ext>
            </a:extLst>
          </p:cNvPr>
          <p:cNvSpPr txBox="1"/>
          <p:nvPr/>
        </p:nvSpPr>
        <p:spPr bwMode="auto">
          <a:xfrm>
            <a:off x="407368" y="5373216"/>
            <a:ext cx="3528392" cy="422873"/>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200" kern="0" dirty="0">
                <a:latin typeface="+mn-lt"/>
              </a:rPr>
              <a:t>* Some memory is reserved for extended boot and the secure application</a:t>
            </a:r>
            <a:endParaRPr lang="en-US" sz="1200" kern="0" baseline="0" dirty="0">
              <a:latin typeface="+mn-lt"/>
              <a:ea typeface="+mn-ea"/>
              <a:cs typeface="+mn-cs"/>
            </a:endParaRPr>
          </a:p>
        </p:txBody>
      </p:sp>
    </p:spTree>
    <p:extLst>
      <p:ext uri="{BB962C8B-B14F-4D97-AF65-F5344CB8AC3E}">
        <p14:creationId xmlns:p14="http://schemas.microsoft.com/office/powerpoint/2010/main" val="2842397206"/>
      </p:ext>
    </p:extLst>
  </p:cSld>
  <p:clrMapOvr>
    <a:masterClrMapping/>
  </p:clrMapOvr>
  <p:transition spd="slow"/>
  <p:extLst mod="1">
    <p:ext uri="{6950BFC3-D8DA-4A85-94F7-54DA5524770B}">
      <p188:commentRel xmlns:p188="http://schemas.microsoft.com/office/powerpoint/2018/8/main" xmlns="" r:id="rId6"/>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D40D1A-FCDC-42B1-AF28-F5A914D82268}"/>
              </a:ext>
            </a:extLst>
          </p:cNvPr>
          <p:cNvSpPr>
            <a:spLocks noGrp="1"/>
          </p:cNvSpPr>
          <p:nvPr>
            <p:ph sz="quarter" idx="13" hasCustomPrompt="1"/>
          </p:nvPr>
        </p:nvSpPr>
        <p:spPr>
          <a:xfrm>
            <a:off x="334800" y="1268414"/>
            <a:ext cx="7048245" cy="5113337"/>
          </a:xfrm>
        </p:spPr>
        <p:txBody>
          <a:bodyPr/>
          <a:lstStyle/>
          <a:p>
            <a:r>
              <a:rPr lang="en-US" dirty="0"/>
              <a:t>Four top-level linker files</a:t>
            </a:r>
            <a:endParaRPr dirty="0"/>
          </a:p>
          <a:p>
            <a:pPr lvl="1"/>
            <a:r>
              <a:rPr lang="en-US" dirty="0"/>
              <a:t>Bootloader</a:t>
            </a:r>
          </a:p>
          <a:p>
            <a:pPr lvl="1"/>
            <a:r>
              <a:rPr lang="en-US" dirty="0"/>
              <a:t>CM33 Secure</a:t>
            </a:r>
          </a:p>
          <a:p>
            <a:pPr lvl="1"/>
            <a:r>
              <a:rPr lang="en-US" dirty="0"/>
              <a:t>CM33 Nonsecure</a:t>
            </a:r>
          </a:p>
          <a:p>
            <a:pPr lvl="1"/>
            <a:r>
              <a:rPr lang="en-US" dirty="0"/>
              <a:t>CM55</a:t>
            </a:r>
          </a:p>
          <a:p>
            <a:pPr lvl="1"/>
            <a:endParaRPr lang="en-US" dirty="0"/>
          </a:p>
          <a:p>
            <a:r>
              <a:rPr lang="en-US" dirty="0"/>
              <a:t>Three generated memory include files</a:t>
            </a:r>
          </a:p>
          <a:p>
            <a:pPr lvl="1"/>
            <a:r>
              <a:rPr lang="en-US" dirty="0"/>
              <a:t>CM33 Secure</a:t>
            </a:r>
          </a:p>
          <a:p>
            <a:pPr lvl="1"/>
            <a:r>
              <a:rPr lang="en-US" dirty="0"/>
              <a:t>CM33 Nonsecure</a:t>
            </a:r>
          </a:p>
          <a:p>
            <a:pPr lvl="1"/>
            <a:r>
              <a:rPr lang="en-US" dirty="0"/>
              <a:t>CM55</a:t>
            </a:r>
          </a:p>
          <a:p>
            <a:pPr lvl="1"/>
            <a:endParaRPr lang="en-US" dirty="0"/>
          </a:p>
          <a:p>
            <a:r>
              <a:rPr lang="en-US" dirty="0"/>
              <a:t>Generated memory include files come from Device Configurator</a:t>
            </a:r>
          </a:p>
          <a:p>
            <a:r>
              <a:rPr lang="en-US" dirty="0"/>
              <a:t>New user defined memory regions require direct modification to top-level linker file to leverage generated content</a:t>
            </a:r>
          </a:p>
          <a:p>
            <a:pPr lvl="1"/>
            <a:endParaRPr lang="en-US" dirty="0"/>
          </a:p>
          <a:p>
            <a:endParaRPr lang="en-US" dirty="0"/>
          </a:p>
        </p:txBody>
      </p:sp>
      <p:sp>
        <p:nvSpPr>
          <p:cNvPr id="3" name="Title 2">
            <a:extLst>
              <a:ext uri="{FF2B5EF4-FFF2-40B4-BE49-F238E27FC236}">
                <a16:creationId xmlns:a16="http://schemas.microsoft.com/office/drawing/2014/main" id="{73544046-80E2-481F-8FE2-6EBC4FD6034E}"/>
              </a:ext>
            </a:extLst>
          </p:cNvPr>
          <p:cNvSpPr>
            <a:spLocks noGrp="1"/>
          </p:cNvSpPr>
          <p:nvPr>
            <p:ph type="title" hasCustomPrompt="1"/>
          </p:nvPr>
        </p:nvSpPr>
        <p:spPr/>
        <p:txBody>
          <a:bodyPr/>
          <a:lstStyle/>
          <a:p>
            <a:r>
              <a:t>Linker Scripts </a:t>
            </a:r>
          </a:p>
        </p:txBody>
      </p:sp>
      <p:grpSp>
        <p:nvGrpSpPr>
          <p:cNvPr id="24" name="Group 23">
            <a:extLst>
              <a:ext uri="{FF2B5EF4-FFF2-40B4-BE49-F238E27FC236}">
                <a16:creationId xmlns:a16="http://schemas.microsoft.com/office/drawing/2014/main" id="{16CD8503-BC22-E22D-3D22-C174776ABA0D}"/>
              </a:ext>
            </a:extLst>
          </p:cNvPr>
          <p:cNvGrpSpPr/>
          <p:nvPr/>
        </p:nvGrpSpPr>
        <p:grpSpPr>
          <a:xfrm>
            <a:off x="6386226" y="573713"/>
            <a:ext cx="2806691" cy="3245999"/>
            <a:chOff x="8374552" y="1261587"/>
            <a:chExt cx="3287454" cy="3802012"/>
          </a:xfrm>
        </p:grpSpPr>
        <p:pic>
          <p:nvPicPr>
            <p:cNvPr id="9" name="Picture 8">
              <a:extLst>
                <a:ext uri="{FF2B5EF4-FFF2-40B4-BE49-F238E27FC236}">
                  <a16:creationId xmlns:a16="http://schemas.microsoft.com/office/drawing/2014/main" id="{A1D1768A-9E8D-0A7E-E903-3D61277C4588}"/>
                </a:ext>
              </a:extLst>
            </p:cNvPr>
            <p:cNvPicPr>
              <a:picLocks noChangeAspect="1"/>
            </p:cNvPicPr>
            <p:nvPr/>
          </p:nvPicPr>
          <p:blipFill>
            <a:blip r:embed="rId3"/>
            <a:stretch>
              <a:fillRect/>
            </a:stretch>
          </p:blipFill>
          <p:spPr>
            <a:xfrm>
              <a:off x="8374552" y="1261587"/>
              <a:ext cx="3287454" cy="3802012"/>
            </a:xfrm>
            <a:prstGeom prst="rect">
              <a:avLst/>
            </a:prstGeom>
            <a:ln w="28575">
              <a:solidFill>
                <a:schemeClr val="accent1"/>
              </a:solidFill>
            </a:ln>
          </p:spPr>
        </p:pic>
        <p:sp>
          <p:nvSpPr>
            <p:cNvPr id="10" name="Rectangle 9">
              <a:extLst>
                <a:ext uri="{FF2B5EF4-FFF2-40B4-BE49-F238E27FC236}">
                  <a16:creationId xmlns:a16="http://schemas.microsoft.com/office/drawing/2014/main" id="{3FF63785-74F1-F7DB-3E93-34DDC8D40938}"/>
                </a:ext>
              </a:extLst>
            </p:cNvPr>
            <p:cNvSpPr/>
            <p:nvPr/>
          </p:nvSpPr>
          <p:spPr bwMode="auto">
            <a:xfrm>
              <a:off x="9133082" y="2781300"/>
              <a:ext cx="1387281" cy="561975"/>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8BD61082-0AB0-2682-9191-BCCEAB80E39C}"/>
                </a:ext>
              </a:extLst>
            </p:cNvPr>
            <p:cNvSpPr/>
            <p:nvPr/>
          </p:nvSpPr>
          <p:spPr bwMode="auto">
            <a:xfrm>
              <a:off x="9133082" y="4324350"/>
              <a:ext cx="1387281" cy="216919"/>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pSp>
      <p:grpSp>
        <p:nvGrpSpPr>
          <p:cNvPr id="22" name="Group 21">
            <a:extLst>
              <a:ext uri="{FF2B5EF4-FFF2-40B4-BE49-F238E27FC236}">
                <a16:creationId xmlns:a16="http://schemas.microsoft.com/office/drawing/2014/main" id="{44FBD9AE-099B-BBA1-8D70-10913E607669}"/>
              </a:ext>
            </a:extLst>
          </p:cNvPr>
          <p:cNvGrpSpPr/>
          <p:nvPr/>
        </p:nvGrpSpPr>
        <p:grpSpPr>
          <a:xfrm>
            <a:off x="8485942" y="2031654"/>
            <a:ext cx="2740067" cy="4366901"/>
            <a:chOff x="4713817" y="1388385"/>
            <a:chExt cx="3209419" cy="5114916"/>
          </a:xfrm>
        </p:grpSpPr>
        <p:pic>
          <p:nvPicPr>
            <p:cNvPr id="15" name="Picture 14">
              <a:extLst>
                <a:ext uri="{FF2B5EF4-FFF2-40B4-BE49-F238E27FC236}">
                  <a16:creationId xmlns:a16="http://schemas.microsoft.com/office/drawing/2014/main" id="{3C95EF11-6CEE-D859-E252-C90CAD043BF9}"/>
                </a:ext>
              </a:extLst>
            </p:cNvPr>
            <p:cNvPicPr>
              <a:picLocks noChangeAspect="1"/>
            </p:cNvPicPr>
            <p:nvPr/>
          </p:nvPicPr>
          <p:blipFill>
            <a:blip r:embed="rId4"/>
            <a:srcRect l="1884" r="4556"/>
            <a:stretch>
              <a:fillRect/>
            </a:stretch>
          </p:blipFill>
          <p:spPr>
            <a:xfrm>
              <a:off x="4713818" y="2043798"/>
              <a:ext cx="3209418" cy="4459503"/>
            </a:xfrm>
            <a:prstGeom prst="rect">
              <a:avLst/>
            </a:prstGeom>
            <a:ln w="28575">
              <a:solidFill>
                <a:schemeClr val="accent1"/>
              </a:solidFill>
            </a:ln>
          </p:spPr>
        </p:pic>
        <p:pic>
          <p:nvPicPr>
            <p:cNvPr id="13" name="Picture 12">
              <a:extLst>
                <a:ext uri="{FF2B5EF4-FFF2-40B4-BE49-F238E27FC236}">
                  <a16:creationId xmlns:a16="http://schemas.microsoft.com/office/drawing/2014/main" id="{7236523D-5087-EA85-A56E-40724F127199}"/>
                </a:ext>
              </a:extLst>
            </p:cNvPr>
            <p:cNvPicPr>
              <a:picLocks noChangeAspect="1"/>
            </p:cNvPicPr>
            <p:nvPr/>
          </p:nvPicPr>
          <p:blipFill>
            <a:blip r:embed="rId5"/>
            <a:srcRect l="938" b="36132"/>
            <a:stretch>
              <a:fillRect/>
            </a:stretch>
          </p:blipFill>
          <p:spPr>
            <a:xfrm>
              <a:off x="4713817" y="1388385"/>
              <a:ext cx="3209419" cy="1004182"/>
            </a:xfrm>
            <a:prstGeom prst="flowChartDocument">
              <a:avLst/>
            </a:prstGeom>
            <a:ln w="28575">
              <a:solidFill>
                <a:schemeClr val="accent1"/>
              </a:solidFill>
            </a:ln>
          </p:spPr>
        </p:pic>
        <p:sp>
          <p:nvSpPr>
            <p:cNvPr id="19" name="Rectangle 18">
              <a:extLst>
                <a:ext uri="{FF2B5EF4-FFF2-40B4-BE49-F238E27FC236}">
                  <a16:creationId xmlns:a16="http://schemas.microsoft.com/office/drawing/2014/main" id="{0FC260AB-031A-4580-9210-0C2CC6FDC910}"/>
                </a:ext>
              </a:extLst>
            </p:cNvPr>
            <p:cNvSpPr/>
            <p:nvPr/>
          </p:nvSpPr>
          <p:spPr bwMode="auto">
            <a:xfrm>
              <a:off x="5132855" y="4076508"/>
              <a:ext cx="1747205" cy="561975"/>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pSp>
    </p:spTree>
    <p:extLst>
      <p:ext uri="{BB962C8B-B14F-4D97-AF65-F5344CB8AC3E}">
        <p14:creationId xmlns:p14="http://schemas.microsoft.com/office/powerpoint/2010/main" val="3517656222"/>
      </p:ext>
    </p:extLst>
  </p:cSld>
  <p:clrMapOvr>
    <a:masterClrMapping/>
  </p:clrMapOvr>
  <p:transition spd="slow"/>
  <p:extLst>
    <p:ext uri="{6950BFC3-D8DA-4A85-94F7-54DA5524770B}">
      <p188:commentRel xmlns:p188="http://schemas.microsoft.com/office/powerpoint/2018/8/main" xmlns="" r:id="rId6"/>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p:txBody>
          <a:bodyPr/>
          <a:lstStyle/>
          <a:p>
            <a:pPr>
              <a:lnSpc>
                <a:spcPct val="100000"/>
              </a:lnSpc>
            </a:pPr>
            <a:r>
              <a:rPr dirty="0"/>
              <a:t>Applications </a:t>
            </a:r>
          </a:p>
          <a:p>
            <a:pPr lvl="1">
              <a:lnSpc>
                <a:spcPct val="100000"/>
              </a:lnSpc>
              <a:buFont typeface="Wingdings" panose="05000000000000000000" pitchFamily="2" charset="2"/>
              <a:buChar char="Ø"/>
            </a:pPr>
            <a:r>
              <a:rPr dirty="0"/>
              <a:t>Code examples </a:t>
            </a:r>
          </a:p>
          <a:p>
            <a:pPr lvl="1">
              <a:lnSpc>
                <a:spcPct val="100000"/>
              </a:lnSpc>
              <a:spcAft>
                <a:spcPts val="1200"/>
              </a:spcAft>
              <a:buFont typeface="Wingdings" panose="05000000000000000000" pitchFamily="2" charset="2"/>
              <a:buChar char="Ø"/>
            </a:pPr>
            <a:r>
              <a:rPr dirty="0"/>
              <a:t>Reference Designs</a:t>
            </a:r>
          </a:p>
          <a:p>
            <a:pPr lvl="1">
              <a:lnSpc>
                <a:spcPct val="100000"/>
              </a:lnSpc>
              <a:spcAft>
                <a:spcPts val="1200"/>
              </a:spcAft>
              <a:buNone/>
            </a:pPr>
            <a:endParaRPr lang="en-US" dirty="0">
              <a:solidFill>
                <a:srgbClr val="FF0000"/>
              </a:solidFill>
            </a:endParaRPr>
          </a:p>
          <a:p>
            <a:pPr lvl="1">
              <a:lnSpc>
                <a:spcPct val="100000"/>
              </a:lnSpc>
              <a:spcAft>
                <a:spcPts val="1200"/>
              </a:spcAft>
              <a:buFont typeface="Wingdings" panose="05000000000000000000" pitchFamily="2" charset="2"/>
              <a:buChar char="Ø"/>
            </a:pPr>
            <a:endParaRPr lang="en-US" dirty="0"/>
          </a:p>
          <a:p>
            <a:pPr>
              <a:lnSpc>
                <a:spcPct val="100000"/>
              </a:lnSpc>
              <a:spcAft>
                <a:spcPts val="1200"/>
              </a:spcAft>
              <a:buFont typeface="Wingdings" panose="05000000000000000000" pitchFamily="2" charset="2"/>
              <a:buChar char="Ø"/>
            </a:pPr>
            <a:r>
              <a:rPr dirty="0"/>
              <a:t>Middleware Libraries</a:t>
            </a:r>
          </a:p>
          <a:p>
            <a:pPr lvl="1">
              <a:lnSpc>
                <a:spcPct val="100000"/>
              </a:lnSpc>
              <a:spcAft>
                <a:spcPts val="1200"/>
              </a:spcAft>
              <a:buFont typeface="Wingdings" panose="05000000000000000000" pitchFamily="2" charset="2"/>
              <a:buChar char="Ø"/>
            </a:pPr>
            <a:endParaRPr lang="en-US" dirty="0"/>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:Software Resources</a:t>
            </a:r>
          </a:p>
        </p:txBody>
      </p:sp>
      <p:cxnSp>
        <p:nvCxnSpPr>
          <p:cNvPr id="18" name="Straight Arrow Connector 17">
            <a:extLst>
              <a:ext uri="{FF2B5EF4-FFF2-40B4-BE49-F238E27FC236}">
                <a16:creationId xmlns:a16="http://schemas.microsoft.com/office/drawing/2014/main" id="{0CB2796D-0CB8-4526-8F6C-5E8B80E1DF40}"/>
              </a:ext>
            </a:extLst>
          </p:cNvPr>
          <p:cNvCxnSpPr>
            <a:cxnSpLocks/>
          </p:cNvCxnSpPr>
          <p:nvPr/>
        </p:nvCxnSpPr>
        <p:spPr>
          <a:xfrm>
            <a:off x="2783632" y="3140968"/>
            <a:ext cx="172819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4D054A2F-3801-4AC0-92C0-524084E8EDAE}"/>
              </a:ext>
            </a:extLst>
          </p:cNvPr>
          <p:cNvCxnSpPr>
            <a:cxnSpLocks/>
          </p:cNvCxnSpPr>
          <p:nvPr/>
        </p:nvCxnSpPr>
        <p:spPr>
          <a:xfrm>
            <a:off x="2241900" y="1556792"/>
            <a:ext cx="2269924" cy="384868"/>
          </a:xfrm>
          <a:prstGeom prst="bentConnector3">
            <a:avLst>
              <a:gd name="adj1" fmla="val 50000"/>
            </a:avLst>
          </a:prstGeom>
          <a:ln>
            <a:tailEnd type="triangle"/>
          </a:ln>
        </p:spPr>
        <p:style>
          <a:lnRef idx="3">
            <a:schemeClr val="accent6"/>
          </a:lnRef>
          <a:fillRef idx="0">
            <a:schemeClr val="accent6"/>
          </a:fillRef>
          <a:effectRef idx="2">
            <a:schemeClr val="accent6"/>
          </a:effectRef>
          <a:fontRef idx="minor">
            <a:schemeClr val="tx1"/>
          </a:fontRef>
        </p:style>
      </p:cxnSp>
      <p:pic>
        <p:nvPicPr>
          <p:cNvPr id="4" name="Picture 3">
            <a:extLst>
              <a:ext uri="{FF2B5EF4-FFF2-40B4-BE49-F238E27FC236}">
                <a16:creationId xmlns:a16="http://schemas.microsoft.com/office/drawing/2014/main" id="{ED753DBA-032B-B1B2-CB54-53CC577B92CC}"/>
              </a:ext>
            </a:extLst>
          </p:cNvPr>
          <p:cNvPicPr>
            <a:picLocks noChangeAspect="1"/>
          </p:cNvPicPr>
          <p:nvPr/>
        </p:nvPicPr>
        <p:blipFill>
          <a:blip r:embed="rId3"/>
          <a:stretch>
            <a:fillRect/>
          </a:stretch>
        </p:blipFill>
        <p:spPr>
          <a:xfrm>
            <a:off x="4558927" y="1510272"/>
            <a:ext cx="7106597" cy="3952781"/>
          </a:xfrm>
          <a:prstGeom prst="rect">
            <a:avLst/>
          </a:prstGeom>
        </p:spPr>
      </p:pic>
      <p:sp>
        <p:nvSpPr>
          <p:cNvPr id="5" name="Rectangle 4">
            <a:extLst>
              <a:ext uri="{FF2B5EF4-FFF2-40B4-BE49-F238E27FC236}">
                <a16:creationId xmlns:a16="http://schemas.microsoft.com/office/drawing/2014/main" id="{509C4317-A142-1A0A-67BC-6CA9848095E5}"/>
              </a:ext>
            </a:extLst>
          </p:cNvPr>
          <p:cNvSpPr/>
          <p:nvPr/>
        </p:nvSpPr>
        <p:spPr bwMode="auto">
          <a:xfrm>
            <a:off x="4558927" y="2309813"/>
            <a:ext cx="5332419" cy="1176337"/>
          </a:xfrm>
          <a:prstGeom prst="rect">
            <a:avLst/>
          </a:prstGeom>
          <a:noFill/>
          <a:ln w="5715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8">
            <a:extLst>
              <a:ext uri="{FF2B5EF4-FFF2-40B4-BE49-F238E27FC236}">
                <a16:creationId xmlns:a16="http://schemas.microsoft.com/office/drawing/2014/main" id="{7421F199-E38E-2E14-1A41-A351EA31F4FF}"/>
              </a:ext>
            </a:extLst>
          </p:cNvPr>
          <p:cNvSpPr/>
          <p:nvPr/>
        </p:nvSpPr>
        <p:spPr bwMode="auto">
          <a:xfrm>
            <a:off x="4558927" y="1510272"/>
            <a:ext cx="5332419" cy="720959"/>
          </a:xfrm>
          <a:prstGeom prst="rect">
            <a:avLst/>
          </a:prstGeom>
          <a:noFill/>
          <a:ln w="5715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16283182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additive="base">
                                        <p:cTn id="15"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0-#ppt_w/2"/>
                                          </p:val>
                                        </p:tav>
                                        <p:tav tm="100000">
                                          <p:val>
                                            <p:strVal val="#ppt_x"/>
                                          </p:val>
                                        </p:tav>
                                      </p:tavLst>
                                    </p:anim>
                                    <p:anim calcmode="lin" valueType="num">
                                      <p:cBhvr additive="base">
                                        <p:cTn id="34"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 xmlns:p188="http://schemas.microsoft.com/office/powerpoint/2018/8/main" r:id="rId4"/>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a:xfrm>
            <a:off x="334800" y="1268414"/>
            <a:ext cx="3888992" cy="5113337"/>
          </a:xfrm>
        </p:spPr>
        <p:txBody>
          <a:bodyPr/>
          <a:lstStyle/>
          <a:p>
            <a:pPr>
              <a:lnSpc>
                <a:spcPct val="100000"/>
              </a:lnSpc>
              <a:spcAft>
                <a:spcPts val="600"/>
              </a:spcAft>
            </a:pPr>
            <a:r>
              <a:rPr lang="en-US" dirty="0"/>
              <a:t>Middleware Portability APIs </a:t>
            </a:r>
          </a:p>
          <a:p>
            <a:pPr lvl="1">
              <a:lnSpc>
                <a:spcPct val="100000"/>
              </a:lnSpc>
              <a:spcAft>
                <a:spcPts val="600"/>
              </a:spcAft>
              <a:buFontTx/>
              <a:buChar char="‒"/>
            </a:pPr>
            <a:r>
              <a:rPr dirty="0"/>
              <a:t>High-level APIs built on top of PDL</a:t>
            </a:r>
          </a:p>
          <a:p>
            <a:pPr lvl="1">
              <a:lnSpc>
                <a:spcPct val="100000"/>
              </a:lnSpc>
              <a:spcAft>
                <a:spcPts val="600"/>
              </a:spcAft>
              <a:buFontTx/>
              <a:buChar char="‒"/>
            </a:pPr>
            <a:r>
              <a:rPr dirty="0"/>
              <a:t>Hardware generic, so more portable</a:t>
            </a:r>
          </a:p>
          <a:p>
            <a:pPr lvl="1">
              <a:lnSpc>
                <a:spcPct val="100000"/>
              </a:lnSpc>
              <a:spcAft>
                <a:spcPts val="400"/>
              </a:spcAft>
              <a:buFontTx/>
              <a:buChar char="‒"/>
            </a:pPr>
            <a:r>
              <a:rPr lang="en-US" dirty="0"/>
              <a:t>Architected to enable</a:t>
            </a:r>
            <a:r>
              <a:rPr lang="en-US" dirty="0">
                <a:effectLst/>
                <a:latin typeface="+mj-lt"/>
              </a:rPr>
              <a:t> Infineon maintained middleware to work across a wider range of devices</a:t>
            </a:r>
          </a:p>
          <a:p>
            <a:pPr lvl="1">
              <a:lnSpc>
                <a:spcPct val="100000"/>
              </a:lnSpc>
              <a:spcAft>
                <a:spcPts val="400"/>
              </a:spcAft>
              <a:buFontTx/>
              <a:buChar char="‒"/>
            </a:pPr>
            <a:r>
              <a:rPr lang="en-US" dirty="0">
                <a:latin typeface="+mj-lt"/>
              </a:rPr>
              <a:t>Replacement of the former ModusToolbox HAL layer</a:t>
            </a:r>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4" name="Picture 3">
            <a:extLst>
              <a:ext uri="{FF2B5EF4-FFF2-40B4-BE49-F238E27FC236}">
                <a16:creationId xmlns:a16="http://schemas.microsoft.com/office/drawing/2014/main" id="{ED7FF77E-2017-8129-DCF5-6B27747FB2FA}"/>
              </a:ext>
            </a:extLst>
          </p:cNvPr>
          <p:cNvPicPr>
            <a:picLocks noChangeAspect="1"/>
          </p:cNvPicPr>
          <p:nvPr/>
        </p:nvPicPr>
        <p:blipFill>
          <a:blip r:embed="rId3"/>
          <a:stretch>
            <a:fillRect/>
          </a:stretch>
        </p:blipFill>
        <p:spPr>
          <a:xfrm>
            <a:off x="4558927" y="1510272"/>
            <a:ext cx="7106597" cy="3952781"/>
          </a:xfrm>
          <a:prstGeom prst="rect">
            <a:avLst/>
          </a:prstGeom>
        </p:spPr>
      </p:pic>
      <p:sp>
        <p:nvSpPr>
          <p:cNvPr id="5" name="Rectangle 4">
            <a:extLst>
              <a:ext uri="{FF2B5EF4-FFF2-40B4-BE49-F238E27FC236}">
                <a16:creationId xmlns:a16="http://schemas.microsoft.com/office/drawing/2014/main" id="{2E6F21D2-23ED-BEC3-BF67-971C25C16EB7}"/>
              </a:ext>
            </a:extLst>
          </p:cNvPr>
          <p:cNvSpPr/>
          <p:nvPr/>
        </p:nvSpPr>
        <p:spPr bwMode="auto">
          <a:xfrm>
            <a:off x="4631531" y="4797152"/>
            <a:ext cx="1248445" cy="58923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3515504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 xmlns:p188="http://schemas.microsoft.com/office/powerpoint/2018/8/main" r:id="rId4"/>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58646B-0312-871A-A5EC-7F865179F889}"/>
              </a:ext>
            </a:extLst>
          </p:cNvPr>
          <p:cNvSpPr>
            <a:spLocks noGrp="1"/>
          </p:cNvSpPr>
          <p:nvPr>
            <p:ph sz="quarter" idx="13" hasCustomPrompt="1"/>
          </p:nvPr>
        </p:nvSpPr>
        <p:spPr>
          <a:xfrm>
            <a:off x="497233" y="3082132"/>
            <a:ext cx="3744976" cy="2304256"/>
          </a:xfrm>
        </p:spPr>
        <p:txBody>
          <a:bodyPr/>
          <a:lstStyle/>
          <a:p>
            <a:pPr>
              <a:lnSpc>
                <a:spcPct val="100000"/>
              </a:lnSpc>
              <a:spcAft>
                <a:spcPts val="600"/>
              </a:spcAft>
            </a:pPr>
            <a:r>
              <a:rPr dirty="0"/>
              <a:t>Peripheral Driver Library (PDL)</a:t>
            </a:r>
          </a:p>
          <a:p>
            <a:pPr lvl="1">
              <a:lnSpc>
                <a:spcPct val="100000"/>
              </a:lnSpc>
              <a:spcAft>
                <a:spcPts val="600"/>
              </a:spcAft>
            </a:pPr>
            <a:r>
              <a:rPr dirty="0"/>
              <a:t>Set of low-level APIs</a:t>
            </a:r>
          </a:p>
          <a:p>
            <a:pPr lvl="1">
              <a:lnSpc>
                <a:spcPct val="100000"/>
              </a:lnSpc>
              <a:spcAft>
                <a:spcPts val="1200"/>
              </a:spcAft>
            </a:pPr>
            <a:r>
              <a:rPr dirty="0"/>
              <a:t>Hardware specific so less portable</a:t>
            </a:r>
            <a:br>
              <a:rPr lang="en-US" dirty="0"/>
            </a:br>
            <a:endParaRPr lang="en-US" dirty="0"/>
          </a:p>
        </p:txBody>
      </p:sp>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p:txBody>
          <a:bodyPr/>
          <a:lstStyle/>
          <a:p>
            <a:r>
              <a:t>Firmware/application development : Software Resources</a:t>
            </a:r>
          </a:p>
        </p:txBody>
      </p:sp>
      <p:pic>
        <p:nvPicPr>
          <p:cNvPr id="7" name="Picture 6">
            <a:extLst>
              <a:ext uri="{FF2B5EF4-FFF2-40B4-BE49-F238E27FC236}">
                <a16:creationId xmlns:a16="http://schemas.microsoft.com/office/drawing/2014/main" id="{5566D73E-723A-833F-C9AE-6A4507930AF6}"/>
              </a:ext>
            </a:extLst>
          </p:cNvPr>
          <p:cNvPicPr>
            <a:picLocks noChangeAspect="1"/>
          </p:cNvPicPr>
          <p:nvPr/>
        </p:nvPicPr>
        <p:blipFill>
          <a:blip r:embed="rId3"/>
          <a:stretch>
            <a:fillRect/>
          </a:stretch>
        </p:blipFill>
        <p:spPr>
          <a:xfrm>
            <a:off x="4558927" y="1510272"/>
            <a:ext cx="7106597" cy="3952781"/>
          </a:xfrm>
          <a:prstGeom prst="rect">
            <a:avLst/>
          </a:prstGeom>
        </p:spPr>
      </p:pic>
      <p:sp>
        <p:nvSpPr>
          <p:cNvPr id="10" name="Rectangle 9">
            <a:extLst>
              <a:ext uri="{FF2B5EF4-FFF2-40B4-BE49-F238E27FC236}">
                <a16:creationId xmlns:a16="http://schemas.microsoft.com/office/drawing/2014/main" id="{4D3995CD-05AF-94E7-18E6-E46F48AB94BD}"/>
              </a:ext>
            </a:extLst>
          </p:cNvPr>
          <p:cNvSpPr/>
          <p:nvPr/>
        </p:nvSpPr>
        <p:spPr bwMode="auto">
          <a:xfrm>
            <a:off x="5952580" y="4797152"/>
            <a:ext cx="1248445" cy="58923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38457276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ext uri="{6950BFC3-D8DA-4A85-94F7-54DA5524770B}">
      <p188:commentRel xmlns="" xmlns:p188="http://schemas.microsoft.com/office/powerpoint/2018/8/main" r:id="rId4"/>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FB76F-CB34-AE22-1595-2F4C0C63153B}"/>
              </a:ext>
            </a:extLst>
          </p:cNvPr>
          <p:cNvSpPr>
            <a:spLocks noGrp="1"/>
          </p:cNvSpPr>
          <p:nvPr>
            <p:ph type="title" hasCustomPrompt="1"/>
          </p:nvPr>
        </p:nvSpPr>
        <p:spPr>
          <a:xfrm>
            <a:off x="335360" y="273689"/>
            <a:ext cx="9613068" cy="400110"/>
          </a:xfrm>
        </p:spPr>
        <p:txBody>
          <a:bodyPr/>
          <a:lstStyle/>
          <a:p>
            <a:r>
              <a:rPr dirty="0"/>
              <a:t>Firmware/application development : Software Resources</a:t>
            </a:r>
          </a:p>
        </p:txBody>
      </p:sp>
      <p:sp>
        <p:nvSpPr>
          <p:cNvPr id="7" name="Rectangle 6">
            <a:extLst>
              <a:ext uri="{FF2B5EF4-FFF2-40B4-BE49-F238E27FC236}">
                <a16:creationId xmlns:a16="http://schemas.microsoft.com/office/drawing/2014/main" id="{D05357C6-721D-4893-BB26-0D9355359854}"/>
              </a:ext>
            </a:extLst>
          </p:cNvPr>
          <p:cNvSpPr/>
          <p:nvPr/>
        </p:nvSpPr>
        <p:spPr>
          <a:xfrm>
            <a:off x="263352" y="728273"/>
            <a:ext cx="7272808" cy="400110"/>
          </a:xfrm>
          <a:prstGeom prst="rect">
            <a:avLst/>
          </a:prstGeom>
        </p:spPr>
        <p:txBody>
          <a:bodyPr wrap="square">
            <a:spAutoFit/>
          </a:bodyPr>
          <a:lstStyle/>
          <a:p>
            <a:r>
              <a:rPr lang="en-US" sz="2000" dirty="0">
                <a:hlinkClick r:id="rId3"/>
              </a:rPr>
              <a:t>https://infineon.github.io/mtb-dsl-pse8xxgp/html/index.html</a:t>
            </a:r>
            <a:endParaRPr lang="en-US" sz="2000" dirty="0"/>
          </a:p>
        </p:txBody>
      </p:sp>
      <p:sp>
        <p:nvSpPr>
          <p:cNvPr id="10" name="Rectangle 9">
            <a:extLst>
              <a:ext uri="{FF2B5EF4-FFF2-40B4-BE49-F238E27FC236}">
                <a16:creationId xmlns:a16="http://schemas.microsoft.com/office/drawing/2014/main" id="{FF151FF6-00A3-434B-8BEA-1AA38CC02E27}"/>
              </a:ext>
            </a:extLst>
          </p:cNvPr>
          <p:cNvSpPr/>
          <p:nvPr/>
        </p:nvSpPr>
        <p:spPr bwMode="auto">
          <a:xfrm>
            <a:off x="263352" y="716888"/>
            <a:ext cx="6881314" cy="43497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pic>
        <p:nvPicPr>
          <p:cNvPr id="4" name="Picture 3">
            <a:extLst>
              <a:ext uri="{FF2B5EF4-FFF2-40B4-BE49-F238E27FC236}">
                <a16:creationId xmlns:a16="http://schemas.microsoft.com/office/drawing/2014/main" id="{733D3EFF-8F02-4826-95D3-C5FC329298D4}"/>
              </a:ext>
            </a:extLst>
          </p:cNvPr>
          <p:cNvPicPr>
            <a:picLocks noChangeAspect="1"/>
          </p:cNvPicPr>
          <p:nvPr/>
        </p:nvPicPr>
        <p:blipFill>
          <a:blip r:embed="rId4"/>
          <a:stretch>
            <a:fillRect/>
          </a:stretch>
        </p:blipFill>
        <p:spPr>
          <a:xfrm>
            <a:off x="1031776" y="1226595"/>
            <a:ext cx="10128448" cy="5278467"/>
          </a:xfrm>
          <a:prstGeom prst="rect">
            <a:avLst/>
          </a:prstGeom>
        </p:spPr>
      </p:pic>
    </p:spTree>
    <p:extLst>
      <p:ext uri="{BB962C8B-B14F-4D97-AF65-F5344CB8AC3E}">
        <p14:creationId xmlns:p14="http://schemas.microsoft.com/office/powerpoint/2010/main" val="26785834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29709D-23DC-4AAB-ADDD-C8F6EC273FC1}"/>
              </a:ext>
            </a:extLst>
          </p:cNvPr>
          <p:cNvPicPr>
            <a:picLocks noChangeAspect="1"/>
          </p:cNvPicPr>
          <p:nvPr/>
        </p:nvPicPr>
        <p:blipFill>
          <a:blip r:embed="rId3"/>
          <a:stretch>
            <a:fillRect/>
          </a:stretch>
        </p:blipFill>
        <p:spPr>
          <a:xfrm>
            <a:off x="545476" y="893412"/>
            <a:ext cx="10807170" cy="5415908"/>
          </a:xfrm>
          <a:prstGeom prst="rect">
            <a:avLst/>
          </a:prstGeom>
        </p:spPr>
      </p:pic>
      <p:sp>
        <p:nvSpPr>
          <p:cNvPr id="3" name="Title 2">
            <a:extLst>
              <a:ext uri="{FF2B5EF4-FFF2-40B4-BE49-F238E27FC236}">
                <a16:creationId xmlns:a16="http://schemas.microsoft.com/office/drawing/2014/main" id="{3E11BC4A-48FD-4A54-9E27-E913B98DDBA7}"/>
              </a:ext>
            </a:extLst>
          </p:cNvPr>
          <p:cNvSpPr>
            <a:spLocks noGrp="1"/>
          </p:cNvSpPr>
          <p:nvPr>
            <p:ph type="title" hasCustomPrompt="1"/>
          </p:nvPr>
        </p:nvSpPr>
        <p:spPr>
          <a:xfrm>
            <a:off x="335360" y="191860"/>
            <a:ext cx="9613068" cy="504056"/>
          </a:xfrm>
        </p:spPr>
        <p:txBody>
          <a:bodyPr/>
          <a:lstStyle/>
          <a:p>
            <a:br>
              <a:rPr dirty="0"/>
            </a:br>
            <a:br>
              <a:rPr dirty="0"/>
            </a:br>
            <a:r>
              <a:rPr dirty="0" err="1"/>
              <a:t>FreeRTOS</a:t>
            </a:r>
            <a:r>
              <a:rPr dirty="0"/>
              <a:t> support with </a:t>
            </a:r>
            <a:r>
              <a:rPr dirty="0" err="1"/>
              <a:t>ModusToolbox</a:t>
            </a:r>
            <a:r>
              <a:rPr dirty="0"/>
              <a:t>™</a:t>
            </a:r>
          </a:p>
        </p:txBody>
      </p:sp>
      <p:sp>
        <p:nvSpPr>
          <p:cNvPr id="9" name="Rectangle 8">
            <a:extLst>
              <a:ext uri="{FF2B5EF4-FFF2-40B4-BE49-F238E27FC236}">
                <a16:creationId xmlns:a16="http://schemas.microsoft.com/office/drawing/2014/main" id="{59F07130-7E38-4445-86BA-B3E8D54CB107}"/>
              </a:ext>
            </a:extLst>
          </p:cNvPr>
          <p:cNvSpPr/>
          <p:nvPr/>
        </p:nvSpPr>
        <p:spPr bwMode="auto">
          <a:xfrm>
            <a:off x="479376" y="4132708"/>
            <a:ext cx="1912762"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 name="Rectangle 9">
            <a:extLst>
              <a:ext uri="{FF2B5EF4-FFF2-40B4-BE49-F238E27FC236}">
                <a16:creationId xmlns:a16="http://schemas.microsoft.com/office/drawing/2014/main" id="{5A490CCF-B560-4AB5-8FAC-CFB02E615E5E}"/>
              </a:ext>
            </a:extLst>
          </p:cNvPr>
          <p:cNvSpPr/>
          <p:nvPr/>
        </p:nvSpPr>
        <p:spPr bwMode="auto">
          <a:xfrm>
            <a:off x="3503712" y="4653136"/>
            <a:ext cx="864096"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10">
            <a:extLst>
              <a:ext uri="{FF2B5EF4-FFF2-40B4-BE49-F238E27FC236}">
                <a16:creationId xmlns:a16="http://schemas.microsoft.com/office/drawing/2014/main" id="{0D3AF73E-88FC-4F63-AE65-AE126EE24C0D}"/>
              </a:ext>
            </a:extLst>
          </p:cNvPr>
          <p:cNvSpPr/>
          <p:nvPr/>
        </p:nvSpPr>
        <p:spPr bwMode="auto">
          <a:xfrm>
            <a:off x="4871864" y="2564904"/>
            <a:ext cx="2098509" cy="216024"/>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11">
            <a:extLst>
              <a:ext uri="{FF2B5EF4-FFF2-40B4-BE49-F238E27FC236}">
                <a16:creationId xmlns:a16="http://schemas.microsoft.com/office/drawing/2014/main" id="{1EFA4E7E-7E9B-4DFB-8E67-C7A32CFAA446}"/>
              </a:ext>
            </a:extLst>
          </p:cNvPr>
          <p:cNvSpPr/>
          <p:nvPr/>
        </p:nvSpPr>
        <p:spPr bwMode="auto">
          <a:xfrm>
            <a:off x="9468139" y="5367799"/>
            <a:ext cx="730357" cy="144016"/>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3" name="Rectangle 12">
            <a:extLst>
              <a:ext uri="{FF2B5EF4-FFF2-40B4-BE49-F238E27FC236}">
                <a16:creationId xmlns:a16="http://schemas.microsoft.com/office/drawing/2014/main" id="{DA18593A-A6A1-47E5-80F8-D41C39D6D7DF}"/>
              </a:ext>
            </a:extLst>
          </p:cNvPr>
          <p:cNvSpPr/>
          <p:nvPr/>
        </p:nvSpPr>
        <p:spPr bwMode="auto">
          <a:xfrm>
            <a:off x="9948428" y="5802879"/>
            <a:ext cx="730357" cy="199767"/>
          </a:xfrm>
          <a:prstGeom prst="rect">
            <a:avLst/>
          </a:prstGeom>
          <a:noFill/>
          <a:ln w="38100">
            <a:headEnd/>
            <a:tailEnd/>
          </a:ln>
        </p:spPr>
        <p:style>
          <a:lnRef idx="2">
            <a:schemeClr val="accent6"/>
          </a:lnRef>
          <a:fillRef idx="1">
            <a:schemeClr val="lt1"/>
          </a:fillRef>
          <a:effectRef idx="0">
            <a:schemeClr val="accent6"/>
          </a:effectRef>
          <a:fontRef idx="minor">
            <a:schemeClr val="dk1"/>
          </a:fontRef>
        </p:style>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Tree>
    <p:extLst>
      <p:ext uri="{BB962C8B-B14F-4D97-AF65-F5344CB8AC3E}">
        <p14:creationId xmlns:p14="http://schemas.microsoft.com/office/powerpoint/2010/main" val="42793338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21" presetClass="entr" presetSubtype="1"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heel(1)">
                                      <p:cBhvr>
                                        <p:cTn id="14" dur="20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21"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2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1"/>
                                        </p:tgtEl>
                                        <p:attrNameLst>
                                          <p:attrName>style.visibility</p:attrName>
                                        </p:attrNameLst>
                                      </p:cBhvr>
                                      <p:to>
                                        <p:strVal val="hidden"/>
                                      </p:to>
                                    </p:set>
                                  </p:childTnLst>
                                </p:cTn>
                              </p:par>
                              <p:par>
                                <p:cTn id="26" presetID="21" presetClass="entr" presetSubtype="1"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heel(1)">
                                      <p:cBhvr>
                                        <p:cTn id="28" dur="2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2"/>
                                        </p:tgtEl>
                                        <p:attrNameLst>
                                          <p:attrName>style.visibility</p:attrName>
                                        </p:attrNameLst>
                                      </p:cBhvr>
                                      <p:to>
                                        <p:strVal val="hidden"/>
                                      </p:to>
                                    </p:set>
                                  </p:childTnLst>
                                </p:cTn>
                              </p:par>
                              <p:par>
                                <p:cTn id="33" presetID="21" presetClass="entr" presetSubtype="1"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heel(1)">
                                      <p:cBhvr>
                                        <p:cTn id="35" dur="20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7968A6B8-84C1-4558-8730-7604483F80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7137" y="1134815"/>
            <a:ext cx="8582269" cy="5200855"/>
          </a:xfrm>
          <a:prstGeom prst="rect">
            <a:avLst/>
          </a:prstGeom>
        </p:spPr>
      </p:pic>
      <p:sp>
        <p:nvSpPr>
          <p:cNvPr id="3" name="Title 2">
            <a:extLst>
              <a:ext uri="{FF2B5EF4-FFF2-40B4-BE49-F238E27FC236}">
                <a16:creationId xmlns:a16="http://schemas.microsoft.com/office/drawing/2014/main" id="{33BAB0FF-00AE-4927-ADE7-2AEA4AA35691}"/>
              </a:ext>
            </a:extLst>
          </p:cNvPr>
          <p:cNvSpPr>
            <a:spLocks noGrp="1"/>
          </p:cNvSpPr>
          <p:nvPr>
            <p:ph type="title" hasCustomPrompt="1"/>
          </p:nvPr>
        </p:nvSpPr>
        <p:spPr>
          <a:xfrm>
            <a:off x="335360" y="205176"/>
            <a:ext cx="9613068" cy="510930"/>
          </a:xfrm>
        </p:spPr>
        <p:txBody>
          <a:bodyPr/>
          <a:lstStyle/>
          <a:p>
            <a:r>
              <a:t>PSOC™ Edge E84 MCU development kit – Top View </a:t>
            </a:r>
          </a:p>
        </p:txBody>
      </p:sp>
      <p:sp>
        <p:nvSpPr>
          <p:cNvPr id="6" name="Callout: Line with Accent Bar 5">
            <a:extLst>
              <a:ext uri="{FF2B5EF4-FFF2-40B4-BE49-F238E27FC236}">
                <a16:creationId xmlns:a16="http://schemas.microsoft.com/office/drawing/2014/main" id="{5F0D3F60-A52B-418C-A333-2F3ED7D0AB29}"/>
              </a:ext>
            </a:extLst>
          </p:cNvPr>
          <p:cNvSpPr/>
          <p:nvPr/>
        </p:nvSpPr>
        <p:spPr bwMode="auto">
          <a:xfrm flipH="1">
            <a:off x="1069738" y="1598554"/>
            <a:ext cx="982043" cy="201921"/>
          </a:xfrm>
          <a:prstGeom prst="accentCallout1">
            <a:avLst>
              <a:gd name="adj1" fmla="val 48512"/>
              <a:gd name="adj2" fmla="val 200"/>
              <a:gd name="adj3" fmla="val 102046"/>
              <a:gd name="adj4" fmla="val -23073"/>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KitProg USB </a:t>
            </a:r>
            <a:endParaRPr lang="en-US" sz="1000" dirty="0">
              <a:latin typeface="+mn-lt"/>
            </a:endParaRPr>
          </a:p>
        </p:txBody>
      </p:sp>
      <p:sp>
        <p:nvSpPr>
          <p:cNvPr id="7" name="Callout: Line with Accent Bar 6">
            <a:extLst>
              <a:ext uri="{FF2B5EF4-FFF2-40B4-BE49-F238E27FC236}">
                <a16:creationId xmlns:a16="http://schemas.microsoft.com/office/drawing/2014/main" id="{ADC24ADC-5DB7-42BC-AB72-59C15C264A46}"/>
              </a:ext>
            </a:extLst>
          </p:cNvPr>
          <p:cNvSpPr/>
          <p:nvPr/>
        </p:nvSpPr>
        <p:spPr bwMode="auto">
          <a:xfrm flipH="1">
            <a:off x="2703530" y="839146"/>
            <a:ext cx="1008112" cy="360039"/>
          </a:xfrm>
          <a:prstGeom prst="accentCallout1">
            <a:avLst>
              <a:gd name="adj1" fmla="val 48512"/>
              <a:gd name="adj2" fmla="val 200"/>
              <a:gd name="adj3" fmla="val 238087"/>
              <a:gd name="adj4" fmla="val -1549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latin typeface="+mn-lt"/>
              </a:rPr>
              <a:t>Ethernet RJ45; (DNI)</a:t>
            </a:r>
          </a:p>
        </p:txBody>
      </p:sp>
      <p:sp>
        <p:nvSpPr>
          <p:cNvPr id="8" name="Callout: Line with Accent Bar 7">
            <a:extLst>
              <a:ext uri="{FF2B5EF4-FFF2-40B4-BE49-F238E27FC236}">
                <a16:creationId xmlns:a16="http://schemas.microsoft.com/office/drawing/2014/main" id="{42B9DF47-545B-4E2A-947C-FF83E6768621}"/>
              </a:ext>
            </a:extLst>
          </p:cNvPr>
          <p:cNvSpPr/>
          <p:nvPr/>
        </p:nvSpPr>
        <p:spPr bwMode="auto">
          <a:xfrm flipH="1">
            <a:off x="4060572" y="925627"/>
            <a:ext cx="1153279" cy="224680"/>
          </a:xfrm>
          <a:prstGeom prst="accentCallout1">
            <a:avLst>
              <a:gd name="adj1" fmla="val 48512"/>
              <a:gd name="adj2" fmla="val 200"/>
              <a:gd name="adj3" fmla="val 886227"/>
              <a:gd name="adj4" fmla="val -6274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M.2 Radio Socket</a:t>
            </a:r>
            <a:endParaRPr lang="en-US" sz="1000" dirty="0">
              <a:latin typeface="+mn-lt"/>
            </a:endParaRPr>
          </a:p>
        </p:txBody>
      </p:sp>
      <p:sp>
        <p:nvSpPr>
          <p:cNvPr id="9" name="Callout: Line with Accent Bar 8">
            <a:extLst>
              <a:ext uri="{FF2B5EF4-FFF2-40B4-BE49-F238E27FC236}">
                <a16:creationId xmlns:a16="http://schemas.microsoft.com/office/drawing/2014/main" id="{C9BEF024-1F92-43DA-8506-3C363932A0EA}"/>
              </a:ext>
            </a:extLst>
          </p:cNvPr>
          <p:cNvSpPr/>
          <p:nvPr/>
        </p:nvSpPr>
        <p:spPr bwMode="auto">
          <a:xfrm flipH="1">
            <a:off x="5260448" y="940304"/>
            <a:ext cx="722153" cy="175761"/>
          </a:xfrm>
          <a:prstGeom prst="accentCallout1">
            <a:avLst>
              <a:gd name="adj1" fmla="val 48512"/>
              <a:gd name="adj2" fmla="val 200"/>
              <a:gd name="adj3" fmla="val 853778"/>
              <a:gd name="adj4" fmla="val -144344"/>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I2S I/Os</a:t>
            </a:r>
            <a:br>
              <a:rPr lang="en-US" sz="1000">
                <a:latin typeface="+mn-lt"/>
              </a:rPr>
            </a:br>
            <a:r>
              <a:rPr lang="en-US" sz="1000">
                <a:latin typeface="+mn-lt"/>
              </a:rPr>
              <a:t>(DNI)</a:t>
            </a:r>
            <a:endParaRPr lang="en-US" sz="1000" dirty="0">
              <a:latin typeface="+mn-lt"/>
            </a:endParaRPr>
          </a:p>
        </p:txBody>
      </p:sp>
      <p:sp>
        <p:nvSpPr>
          <p:cNvPr id="10" name="Callout: Line with Accent Bar 9">
            <a:extLst>
              <a:ext uri="{FF2B5EF4-FFF2-40B4-BE49-F238E27FC236}">
                <a16:creationId xmlns:a16="http://schemas.microsoft.com/office/drawing/2014/main" id="{713B8C27-8E33-4171-8193-40251B4F45BE}"/>
              </a:ext>
            </a:extLst>
          </p:cNvPr>
          <p:cNvSpPr/>
          <p:nvPr/>
        </p:nvSpPr>
        <p:spPr bwMode="auto">
          <a:xfrm flipH="1">
            <a:off x="5930766" y="864715"/>
            <a:ext cx="1230266" cy="288379"/>
          </a:xfrm>
          <a:prstGeom prst="accentCallout1">
            <a:avLst>
              <a:gd name="adj1" fmla="val 48512"/>
              <a:gd name="adj2" fmla="val 200"/>
              <a:gd name="adj3" fmla="val 468566"/>
              <a:gd name="adj4" fmla="val -35991"/>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mikroBUS socket (Click); (DNI)</a:t>
            </a:r>
            <a:endParaRPr lang="en-US" sz="1000" dirty="0">
              <a:latin typeface="+mn-lt"/>
            </a:endParaRPr>
          </a:p>
        </p:txBody>
      </p:sp>
      <p:sp>
        <p:nvSpPr>
          <p:cNvPr id="11" name="Callout: Line with Accent Bar 10">
            <a:extLst>
              <a:ext uri="{FF2B5EF4-FFF2-40B4-BE49-F238E27FC236}">
                <a16:creationId xmlns:a16="http://schemas.microsoft.com/office/drawing/2014/main" id="{197CAB8F-15A9-4999-B55C-0E3DFAB81372}"/>
              </a:ext>
            </a:extLst>
          </p:cNvPr>
          <p:cNvSpPr/>
          <p:nvPr/>
        </p:nvSpPr>
        <p:spPr bwMode="auto">
          <a:xfrm flipH="1">
            <a:off x="971661" y="1225687"/>
            <a:ext cx="1080120" cy="201921"/>
          </a:xfrm>
          <a:prstGeom prst="accentCallout1">
            <a:avLst>
              <a:gd name="adj1" fmla="val 48512"/>
              <a:gd name="adj2" fmla="val 200"/>
              <a:gd name="adj3" fmla="val 388547"/>
              <a:gd name="adj4" fmla="val -82171"/>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KitProg (P5LP)</a:t>
            </a:r>
            <a:endParaRPr lang="en-US" sz="1000" dirty="0">
              <a:latin typeface="+mn-lt"/>
            </a:endParaRPr>
          </a:p>
        </p:txBody>
      </p:sp>
      <p:sp>
        <p:nvSpPr>
          <p:cNvPr id="12" name="Callout: Line with Accent Bar 11">
            <a:extLst>
              <a:ext uri="{FF2B5EF4-FFF2-40B4-BE49-F238E27FC236}">
                <a16:creationId xmlns:a16="http://schemas.microsoft.com/office/drawing/2014/main" id="{E36CBA44-8C85-41FE-8C99-E867BF7CCB47}"/>
              </a:ext>
            </a:extLst>
          </p:cNvPr>
          <p:cNvSpPr/>
          <p:nvPr/>
        </p:nvSpPr>
        <p:spPr bwMode="auto">
          <a:xfrm flipH="1">
            <a:off x="7300992" y="948385"/>
            <a:ext cx="961510" cy="201922"/>
          </a:xfrm>
          <a:prstGeom prst="accentCallout1">
            <a:avLst>
              <a:gd name="adj1" fmla="val 48512"/>
              <a:gd name="adj2" fmla="val 200"/>
              <a:gd name="adj3" fmla="val 323062"/>
              <a:gd name="adj4" fmla="val -883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I/O Headers</a:t>
            </a:r>
          </a:p>
          <a:p>
            <a:pPr algn="r" eaLnBrk="0" hangingPunct="0"/>
            <a:r>
              <a:rPr lang="en-US" sz="1000">
                <a:latin typeface="+mn-lt"/>
              </a:rPr>
              <a:t>(DNI)</a:t>
            </a:r>
            <a:endParaRPr lang="en-US" sz="1000" dirty="0">
              <a:latin typeface="+mn-lt"/>
            </a:endParaRPr>
          </a:p>
        </p:txBody>
      </p:sp>
      <p:sp>
        <p:nvSpPr>
          <p:cNvPr id="13" name="Callout: Line with Accent Bar 12">
            <a:extLst>
              <a:ext uri="{FF2B5EF4-FFF2-40B4-BE49-F238E27FC236}">
                <a16:creationId xmlns:a16="http://schemas.microsoft.com/office/drawing/2014/main" id="{04C9A610-3EAE-45CA-9C10-FE927D2C1C41}"/>
              </a:ext>
            </a:extLst>
          </p:cNvPr>
          <p:cNvSpPr/>
          <p:nvPr/>
        </p:nvSpPr>
        <p:spPr bwMode="auto">
          <a:xfrm>
            <a:off x="9572334" y="948385"/>
            <a:ext cx="1367286" cy="201922"/>
          </a:xfrm>
          <a:prstGeom prst="accentCallout1">
            <a:avLst>
              <a:gd name="adj1" fmla="val 48512"/>
              <a:gd name="adj2" fmla="val 200"/>
              <a:gd name="adj3" fmla="val 334206"/>
              <a:gd name="adj4" fmla="val -31945"/>
            </a:avLst>
          </a:prstGeom>
          <a:noFill/>
          <a:ln w="12700">
            <a:solidFill>
              <a:srgbClr val="FFC000"/>
            </a:solidFill>
            <a:miter lim="800000"/>
            <a:headEnd/>
            <a:tailEnd/>
          </a:ln>
        </p:spPr>
        <p:txBody>
          <a:bodyPr wrap="square" lIns="72000" tIns="72000" rIns="72000" bIns="72000" rtlCol="0" anchor="ctr"/>
          <a:lstStyle/>
          <a:p>
            <a:pPr eaLnBrk="0" hangingPunct="0"/>
            <a:r>
              <a:rPr lang="en-US" sz="1000" dirty="0">
                <a:latin typeface="+mn-lt"/>
              </a:rPr>
              <a:t>Arduino UNO socket</a:t>
            </a:r>
          </a:p>
        </p:txBody>
      </p:sp>
      <p:sp>
        <p:nvSpPr>
          <p:cNvPr id="14" name="Callout: Line with Accent Bar 13">
            <a:extLst>
              <a:ext uri="{FF2B5EF4-FFF2-40B4-BE49-F238E27FC236}">
                <a16:creationId xmlns:a16="http://schemas.microsoft.com/office/drawing/2014/main" id="{A4AB6093-3BED-4C32-8FA7-004C32031BDE}"/>
              </a:ext>
            </a:extLst>
          </p:cNvPr>
          <p:cNvSpPr/>
          <p:nvPr/>
        </p:nvSpPr>
        <p:spPr bwMode="auto">
          <a:xfrm>
            <a:off x="10728248" y="1881098"/>
            <a:ext cx="1270738" cy="201922"/>
          </a:xfrm>
          <a:prstGeom prst="accentCallout1">
            <a:avLst>
              <a:gd name="adj1" fmla="val 48512"/>
              <a:gd name="adj2" fmla="val 200"/>
              <a:gd name="adj3" fmla="val 283911"/>
              <a:gd name="adj4" fmla="val -110871"/>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Sheild2GO socket; </a:t>
            </a:r>
          </a:p>
          <a:p>
            <a:pPr eaLnBrk="0" hangingPunct="0"/>
            <a:r>
              <a:rPr lang="en-US" sz="1000">
                <a:latin typeface="+mn-lt"/>
              </a:rPr>
              <a:t>(DNI)</a:t>
            </a:r>
            <a:endParaRPr lang="en-US" sz="1000" dirty="0">
              <a:latin typeface="+mn-lt"/>
            </a:endParaRPr>
          </a:p>
        </p:txBody>
      </p:sp>
      <p:sp>
        <p:nvSpPr>
          <p:cNvPr id="15" name="Callout: Line with Accent Bar 14">
            <a:extLst>
              <a:ext uri="{FF2B5EF4-FFF2-40B4-BE49-F238E27FC236}">
                <a16:creationId xmlns:a16="http://schemas.microsoft.com/office/drawing/2014/main" id="{D21B34F7-74E7-4BD9-8E4F-7BD53DCB6D0E}"/>
              </a:ext>
            </a:extLst>
          </p:cNvPr>
          <p:cNvSpPr/>
          <p:nvPr/>
        </p:nvSpPr>
        <p:spPr bwMode="auto">
          <a:xfrm>
            <a:off x="10741523" y="2590313"/>
            <a:ext cx="1270738" cy="201922"/>
          </a:xfrm>
          <a:prstGeom prst="accentCallout1">
            <a:avLst>
              <a:gd name="adj1" fmla="val 48512"/>
              <a:gd name="adj2" fmla="val 200"/>
              <a:gd name="adj3" fmla="val 320501"/>
              <a:gd name="adj4" fmla="val -35528"/>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Alt. Serial Interface;</a:t>
            </a:r>
          </a:p>
          <a:p>
            <a:pPr eaLnBrk="0" hangingPunct="0"/>
            <a:r>
              <a:rPr lang="en-US" sz="1000">
                <a:latin typeface="+mn-lt"/>
              </a:rPr>
              <a:t>(DNI)</a:t>
            </a:r>
            <a:endParaRPr lang="en-US" sz="1000" dirty="0">
              <a:latin typeface="+mn-lt"/>
            </a:endParaRPr>
          </a:p>
        </p:txBody>
      </p:sp>
      <p:sp>
        <p:nvSpPr>
          <p:cNvPr id="16" name="Callout: Line with Accent Bar 15">
            <a:extLst>
              <a:ext uri="{FF2B5EF4-FFF2-40B4-BE49-F238E27FC236}">
                <a16:creationId xmlns:a16="http://schemas.microsoft.com/office/drawing/2014/main" id="{28C7AC46-B131-4001-BB01-D6381B7A2933}"/>
              </a:ext>
            </a:extLst>
          </p:cNvPr>
          <p:cNvSpPr/>
          <p:nvPr/>
        </p:nvSpPr>
        <p:spPr bwMode="auto">
          <a:xfrm>
            <a:off x="9183930" y="6221360"/>
            <a:ext cx="792088" cy="201922"/>
          </a:xfrm>
          <a:prstGeom prst="accentCallout1">
            <a:avLst>
              <a:gd name="adj1" fmla="val 48512"/>
              <a:gd name="adj2" fmla="val 1541"/>
              <a:gd name="adj3" fmla="val -101249"/>
              <a:gd name="adj4" fmla="val -20385"/>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Thermistor</a:t>
            </a:r>
            <a:endParaRPr lang="en-US" sz="1000" dirty="0">
              <a:latin typeface="+mn-lt"/>
            </a:endParaRPr>
          </a:p>
        </p:txBody>
      </p:sp>
      <p:sp>
        <p:nvSpPr>
          <p:cNvPr id="17" name="Callout: Line with Accent Bar 16">
            <a:extLst>
              <a:ext uri="{FF2B5EF4-FFF2-40B4-BE49-F238E27FC236}">
                <a16:creationId xmlns:a16="http://schemas.microsoft.com/office/drawing/2014/main" id="{7C33C8F1-8979-496E-88DF-CC44C5081129}"/>
              </a:ext>
            </a:extLst>
          </p:cNvPr>
          <p:cNvSpPr/>
          <p:nvPr/>
        </p:nvSpPr>
        <p:spPr bwMode="auto">
          <a:xfrm>
            <a:off x="10742541" y="4913172"/>
            <a:ext cx="1203056" cy="345938"/>
          </a:xfrm>
          <a:prstGeom prst="accentCallout1">
            <a:avLst>
              <a:gd name="adj1" fmla="val 48512"/>
              <a:gd name="adj2" fmla="val 1541"/>
              <a:gd name="adj3" fmla="val -23873"/>
              <a:gd name="adj4" fmla="val -76742"/>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CapSense Slider and Buttons </a:t>
            </a:r>
            <a:endParaRPr lang="en-US" sz="1000" dirty="0">
              <a:latin typeface="+mn-lt"/>
            </a:endParaRPr>
          </a:p>
        </p:txBody>
      </p:sp>
      <p:sp>
        <p:nvSpPr>
          <p:cNvPr id="19" name="Callout: Line with Accent Bar 18">
            <a:extLst>
              <a:ext uri="{FF2B5EF4-FFF2-40B4-BE49-F238E27FC236}">
                <a16:creationId xmlns:a16="http://schemas.microsoft.com/office/drawing/2014/main" id="{83846DFB-0AC2-4AAD-8CA4-B7ED1B32BD72}"/>
              </a:ext>
            </a:extLst>
          </p:cNvPr>
          <p:cNvSpPr/>
          <p:nvPr/>
        </p:nvSpPr>
        <p:spPr bwMode="auto">
          <a:xfrm flipH="1">
            <a:off x="1264953" y="900886"/>
            <a:ext cx="1080120" cy="201921"/>
          </a:xfrm>
          <a:prstGeom prst="accentCallout1">
            <a:avLst>
              <a:gd name="adj1" fmla="val 48512"/>
              <a:gd name="adj2" fmla="val 200"/>
              <a:gd name="adj3" fmla="val 251138"/>
              <a:gd name="adj4" fmla="val -36244"/>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Power LED</a:t>
            </a:r>
            <a:endParaRPr lang="en-US" sz="1000" dirty="0">
              <a:latin typeface="+mn-lt"/>
            </a:endParaRPr>
          </a:p>
        </p:txBody>
      </p:sp>
      <p:sp>
        <p:nvSpPr>
          <p:cNvPr id="20" name="Callout: Line with Accent Bar 19">
            <a:extLst>
              <a:ext uri="{FF2B5EF4-FFF2-40B4-BE49-F238E27FC236}">
                <a16:creationId xmlns:a16="http://schemas.microsoft.com/office/drawing/2014/main" id="{5B48E379-668B-40B1-B3C8-51041CCD8D6E}"/>
              </a:ext>
            </a:extLst>
          </p:cNvPr>
          <p:cNvSpPr/>
          <p:nvPr/>
        </p:nvSpPr>
        <p:spPr bwMode="auto">
          <a:xfrm flipH="1">
            <a:off x="959904" y="2325476"/>
            <a:ext cx="1080120" cy="201921"/>
          </a:xfrm>
          <a:prstGeom prst="accentCallout1">
            <a:avLst>
              <a:gd name="adj1" fmla="val 48512"/>
              <a:gd name="adj2" fmla="val 200"/>
              <a:gd name="adj3" fmla="val 98867"/>
              <a:gd name="adj4" fmla="val -23490"/>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Reset Button</a:t>
            </a:r>
            <a:endParaRPr lang="en-US" sz="1000" dirty="0">
              <a:latin typeface="+mn-lt"/>
            </a:endParaRPr>
          </a:p>
        </p:txBody>
      </p:sp>
      <p:sp>
        <p:nvSpPr>
          <p:cNvPr id="21" name="Callout: Line with Accent Bar 20">
            <a:extLst>
              <a:ext uri="{FF2B5EF4-FFF2-40B4-BE49-F238E27FC236}">
                <a16:creationId xmlns:a16="http://schemas.microsoft.com/office/drawing/2014/main" id="{C21A124B-B0C8-40B1-91A8-7B5AA903F718}"/>
              </a:ext>
            </a:extLst>
          </p:cNvPr>
          <p:cNvSpPr/>
          <p:nvPr/>
        </p:nvSpPr>
        <p:spPr bwMode="auto">
          <a:xfrm flipH="1">
            <a:off x="721839" y="3072755"/>
            <a:ext cx="1318901" cy="317731"/>
          </a:xfrm>
          <a:prstGeom prst="accentCallout1">
            <a:avLst>
              <a:gd name="adj1" fmla="val 48512"/>
              <a:gd name="adj2" fmla="val 200"/>
              <a:gd name="adj3" fmla="val 7847"/>
              <a:gd name="adj4" fmla="val -1697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SWD/JTAG Header (M33/M55/U55)</a:t>
            </a:r>
            <a:endParaRPr lang="en-US" sz="1000" dirty="0">
              <a:latin typeface="+mn-lt"/>
            </a:endParaRPr>
          </a:p>
        </p:txBody>
      </p:sp>
      <p:sp>
        <p:nvSpPr>
          <p:cNvPr id="22" name="Callout: Line with Accent Bar 21">
            <a:extLst>
              <a:ext uri="{FF2B5EF4-FFF2-40B4-BE49-F238E27FC236}">
                <a16:creationId xmlns:a16="http://schemas.microsoft.com/office/drawing/2014/main" id="{D180FD01-E71A-4C95-BFC7-282E877AE544}"/>
              </a:ext>
            </a:extLst>
          </p:cNvPr>
          <p:cNvSpPr/>
          <p:nvPr/>
        </p:nvSpPr>
        <p:spPr bwMode="auto">
          <a:xfrm flipH="1">
            <a:off x="966883" y="3872253"/>
            <a:ext cx="1080120" cy="201921"/>
          </a:xfrm>
          <a:prstGeom prst="accentCallout1">
            <a:avLst>
              <a:gd name="adj1" fmla="val 48512"/>
              <a:gd name="adj2" fmla="val 200"/>
              <a:gd name="adj3" fmla="val 4580"/>
              <a:gd name="adj4" fmla="val -31812"/>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USB Host</a:t>
            </a:r>
            <a:endParaRPr lang="en-US" sz="1000" dirty="0">
              <a:latin typeface="+mn-lt"/>
            </a:endParaRPr>
          </a:p>
        </p:txBody>
      </p:sp>
      <p:sp>
        <p:nvSpPr>
          <p:cNvPr id="23" name="Callout: Line with Accent Bar 22">
            <a:extLst>
              <a:ext uri="{FF2B5EF4-FFF2-40B4-BE49-F238E27FC236}">
                <a16:creationId xmlns:a16="http://schemas.microsoft.com/office/drawing/2014/main" id="{F3CD423A-EA86-4A72-99F4-56B040F8758C}"/>
              </a:ext>
            </a:extLst>
          </p:cNvPr>
          <p:cNvSpPr/>
          <p:nvPr/>
        </p:nvSpPr>
        <p:spPr bwMode="auto">
          <a:xfrm flipH="1">
            <a:off x="962214" y="5057189"/>
            <a:ext cx="1080120" cy="201921"/>
          </a:xfrm>
          <a:prstGeom prst="accentCallout1">
            <a:avLst>
              <a:gd name="adj1" fmla="val 48512"/>
              <a:gd name="adj2" fmla="val 200"/>
              <a:gd name="adj3" fmla="val -98959"/>
              <a:gd name="adj4" fmla="val -18916"/>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USB Device</a:t>
            </a:r>
            <a:endParaRPr lang="en-US" sz="1000" dirty="0">
              <a:latin typeface="+mn-lt"/>
            </a:endParaRPr>
          </a:p>
        </p:txBody>
      </p:sp>
      <p:sp>
        <p:nvSpPr>
          <p:cNvPr id="24" name="Callout: Line with Accent Bar 23">
            <a:extLst>
              <a:ext uri="{FF2B5EF4-FFF2-40B4-BE49-F238E27FC236}">
                <a16:creationId xmlns:a16="http://schemas.microsoft.com/office/drawing/2014/main" id="{BF7E97F4-F4F0-4EA1-83DE-BE3BC860F8B7}"/>
              </a:ext>
            </a:extLst>
          </p:cNvPr>
          <p:cNvSpPr/>
          <p:nvPr/>
        </p:nvSpPr>
        <p:spPr bwMode="auto">
          <a:xfrm flipH="1">
            <a:off x="811064" y="5409236"/>
            <a:ext cx="1224136" cy="201921"/>
          </a:xfrm>
          <a:prstGeom prst="accentCallout1">
            <a:avLst>
              <a:gd name="adj1" fmla="val 48512"/>
              <a:gd name="adj2" fmla="val 200"/>
              <a:gd name="adj3" fmla="val 50820"/>
              <a:gd name="adj4" fmla="val -4784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DC Power Socket</a:t>
            </a:r>
            <a:endParaRPr lang="en-US" sz="1000" dirty="0">
              <a:latin typeface="+mn-lt"/>
            </a:endParaRPr>
          </a:p>
        </p:txBody>
      </p:sp>
      <p:sp>
        <p:nvSpPr>
          <p:cNvPr id="25" name="Callout: Line with Accent Bar 24">
            <a:extLst>
              <a:ext uri="{FF2B5EF4-FFF2-40B4-BE49-F238E27FC236}">
                <a16:creationId xmlns:a16="http://schemas.microsoft.com/office/drawing/2014/main" id="{2CD80D22-C3DA-485B-9E82-A2F21687C323}"/>
              </a:ext>
            </a:extLst>
          </p:cNvPr>
          <p:cNvSpPr/>
          <p:nvPr/>
        </p:nvSpPr>
        <p:spPr bwMode="auto">
          <a:xfrm flipH="1">
            <a:off x="962214" y="2698343"/>
            <a:ext cx="1080120" cy="201921"/>
          </a:xfrm>
          <a:prstGeom prst="accentCallout1">
            <a:avLst>
              <a:gd name="adj1" fmla="val 48512"/>
              <a:gd name="adj2" fmla="val 200"/>
              <a:gd name="adj3" fmla="val 119817"/>
              <a:gd name="adj4" fmla="val -7395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ETM Header</a:t>
            </a:r>
            <a:endParaRPr lang="en-US" sz="1000" dirty="0">
              <a:latin typeface="+mn-lt"/>
            </a:endParaRPr>
          </a:p>
        </p:txBody>
      </p:sp>
      <p:sp>
        <p:nvSpPr>
          <p:cNvPr id="26" name="Callout: Line with Accent Bar 25">
            <a:extLst>
              <a:ext uri="{FF2B5EF4-FFF2-40B4-BE49-F238E27FC236}">
                <a16:creationId xmlns:a16="http://schemas.microsoft.com/office/drawing/2014/main" id="{9F0ACCFB-BE7C-4372-860C-319EB997B354}"/>
              </a:ext>
            </a:extLst>
          </p:cNvPr>
          <p:cNvSpPr/>
          <p:nvPr/>
        </p:nvSpPr>
        <p:spPr bwMode="auto">
          <a:xfrm flipH="1">
            <a:off x="674182" y="4226786"/>
            <a:ext cx="1366558" cy="201921"/>
          </a:xfrm>
          <a:prstGeom prst="accentCallout1">
            <a:avLst>
              <a:gd name="adj1" fmla="val 48512"/>
              <a:gd name="adj2" fmla="val 200"/>
              <a:gd name="adj3" fmla="val -94179"/>
              <a:gd name="adj4" fmla="val -10746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M.2 Memory Socket</a:t>
            </a:r>
            <a:endParaRPr lang="en-US" sz="1000" dirty="0">
              <a:latin typeface="+mn-lt"/>
            </a:endParaRPr>
          </a:p>
        </p:txBody>
      </p:sp>
      <p:sp>
        <p:nvSpPr>
          <p:cNvPr id="27" name="Callout: Line with Accent Bar 26">
            <a:extLst>
              <a:ext uri="{FF2B5EF4-FFF2-40B4-BE49-F238E27FC236}">
                <a16:creationId xmlns:a16="http://schemas.microsoft.com/office/drawing/2014/main" id="{67B56B14-D8B0-4318-B352-36ACB8635846}"/>
              </a:ext>
            </a:extLst>
          </p:cNvPr>
          <p:cNvSpPr/>
          <p:nvPr/>
        </p:nvSpPr>
        <p:spPr bwMode="auto">
          <a:xfrm flipH="1">
            <a:off x="806838" y="5814725"/>
            <a:ext cx="1224136" cy="201921"/>
          </a:xfrm>
          <a:prstGeom prst="accentCallout1">
            <a:avLst>
              <a:gd name="adj1" fmla="val 48512"/>
              <a:gd name="adj2" fmla="val 200"/>
              <a:gd name="adj3" fmla="val 69934"/>
              <a:gd name="adj4" fmla="val -43253"/>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User Button</a:t>
            </a:r>
            <a:endParaRPr lang="en-US" sz="1000" dirty="0">
              <a:latin typeface="+mn-lt"/>
            </a:endParaRPr>
          </a:p>
        </p:txBody>
      </p:sp>
      <p:sp>
        <p:nvSpPr>
          <p:cNvPr id="28" name="Callout: Line with Accent Bar 27">
            <a:extLst>
              <a:ext uri="{FF2B5EF4-FFF2-40B4-BE49-F238E27FC236}">
                <a16:creationId xmlns:a16="http://schemas.microsoft.com/office/drawing/2014/main" id="{C7F8DCEB-D893-4CBA-9EEE-5894D7E98CE0}"/>
              </a:ext>
            </a:extLst>
          </p:cNvPr>
          <p:cNvSpPr/>
          <p:nvPr/>
        </p:nvSpPr>
        <p:spPr bwMode="auto">
          <a:xfrm flipH="1">
            <a:off x="6218798" y="6198119"/>
            <a:ext cx="1008112" cy="201921"/>
          </a:xfrm>
          <a:prstGeom prst="accentCallout1">
            <a:avLst>
              <a:gd name="adj1" fmla="val 48512"/>
              <a:gd name="adj2" fmla="val 200"/>
              <a:gd name="adj3" fmla="val -376756"/>
              <a:gd name="adj4" fmla="val -6868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Potentiometer</a:t>
            </a:r>
            <a:endParaRPr lang="en-US" sz="1000" dirty="0">
              <a:latin typeface="+mn-lt"/>
            </a:endParaRPr>
          </a:p>
        </p:txBody>
      </p:sp>
      <p:sp>
        <p:nvSpPr>
          <p:cNvPr id="29" name="Callout: Line with Accent Bar 28">
            <a:extLst>
              <a:ext uri="{FF2B5EF4-FFF2-40B4-BE49-F238E27FC236}">
                <a16:creationId xmlns:a16="http://schemas.microsoft.com/office/drawing/2014/main" id="{3BC70F83-D3E4-416F-8BD3-AF724EF33816}"/>
              </a:ext>
            </a:extLst>
          </p:cNvPr>
          <p:cNvSpPr/>
          <p:nvPr/>
        </p:nvSpPr>
        <p:spPr bwMode="auto">
          <a:xfrm>
            <a:off x="8025070" y="6197455"/>
            <a:ext cx="906816" cy="201921"/>
          </a:xfrm>
          <a:prstGeom prst="accentCallout1">
            <a:avLst>
              <a:gd name="adj1" fmla="val 48512"/>
              <a:gd name="adj2" fmla="val 200"/>
              <a:gd name="adj3" fmla="val -79336"/>
              <a:gd name="adj4" fmla="val -20451"/>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User Button</a:t>
            </a:r>
            <a:endParaRPr lang="en-US" sz="1000" dirty="0">
              <a:latin typeface="+mn-lt"/>
            </a:endParaRPr>
          </a:p>
        </p:txBody>
      </p:sp>
      <p:sp>
        <p:nvSpPr>
          <p:cNvPr id="30" name="Callout: Line with Accent Bar 29">
            <a:extLst>
              <a:ext uri="{FF2B5EF4-FFF2-40B4-BE49-F238E27FC236}">
                <a16:creationId xmlns:a16="http://schemas.microsoft.com/office/drawing/2014/main" id="{779E9BC5-2C7B-411B-B5B9-9F2682E1B408}"/>
              </a:ext>
            </a:extLst>
          </p:cNvPr>
          <p:cNvSpPr/>
          <p:nvPr/>
        </p:nvSpPr>
        <p:spPr bwMode="auto">
          <a:xfrm>
            <a:off x="10138854" y="6224159"/>
            <a:ext cx="975971" cy="201921"/>
          </a:xfrm>
          <a:prstGeom prst="accentCallout1">
            <a:avLst>
              <a:gd name="adj1" fmla="val 48512"/>
              <a:gd name="adj2" fmla="val 200"/>
              <a:gd name="adj3" fmla="val -648691"/>
              <a:gd name="adj4" fmla="val -19679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User LED (x3)</a:t>
            </a:r>
            <a:endParaRPr lang="en-US" sz="1000" dirty="0">
              <a:latin typeface="+mn-lt"/>
            </a:endParaRPr>
          </a:p>
        </p:txBody>
      </p:sp>
      <p:sp>
        <p:nvSpPr>
          <p:cNvPr id="31" name="Callout: Line with Accent Bar 30">
            <a:extLst>
              <a:ext uri="{FF2B5EF4-FFF2-40B4-BE49-F238E27FC236}">
                <a16:creationId xmlns:a16="http://schemas.microsoft.com/office/drawing/2014/main" id="{93B0EF14-4005-404A-B30F-E3386A35FF51}"/>
              </a:ext>
            </a:extLst>
          </p:cNvPr>
          <p:cNvSpPr/>
          <p:nvPr/>
        </p:nvSpPr>
        <p:spPr bwMode="auto">
          <a:xfrm>
            <a:off x="10742202" y="4395387"/>
            <a:ext cx="1203056" cy="345938"/>
          </a:xfrm>
          <a:prstGeom prst="accentCallout1">
            <a:avLst>
              <a:gd name="adj1" fmla="val 48512"/>
              <a:gd name="adj2" fmla="val 1541"/>
              <a:gd name="adj3" fmla="val -30032"/>
              <a:gd name="adj4" fmla="val -210949"/>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Boot Select</a:t>
            </a:r>
            <a:endParaRPr lang="en-US" sz="1000" dirty="0">
              <a:latin typeface="+mn-lt"/>
            </a:endParaRPr>
          </a:p>
        </p:txBody>
      </p:sp>
      <p:sp>
        <p:nvSpPr>
          <p:cNvPr id="32" name="Rectangle: Rounded Corners 31">
            <a:extLst>
              <a:ext uri="{FF2B5EF4-FFF2-40B4-BE49-F238E27FC236}">
                <a16:creationId xmlns:a16="http://schemas.microsoft.com/office/drawing/2014/main" id="{063C51EB-FBA6-4D1A-8E08-3D1434C60591}"/>
              </a:ext>
            </a:extLst>
          </p:cNvPr>
          <p:cNvSpPr/>
          <p:nvPr/>
        </p:nvSpPr>
        <p:spPr bwMode="auto">
          <a:xfrm>
            <a:off x="4646720" y="3368492"/>
            <a:ext cx="2016224" cy="482005"/>
          </a:xfrm>
          <a:prstGeom prst="roundRect">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33" name="Rectangle 32">
            <a:extLst>
              <a:ext uri="{FF2B5EF4-FFF2-40B4-BE49-F238E27FC236}">
                <a16:creationId xmlns:a16="http://schemas.microsoft.com/office/drawing/2014/main" id="{6051C03F-EA4E-4CAB-9EA0-C315472A097C}"/>
              </a:ext>
            </a:extLst>
          </p:cNvPr>
          <p:cNvSpPr/>
          <p:nvPr/>
        </p:nvSpPr>
        <p:spPr>
          <a:xfrm>
            <a:off x="126983" y="6240186"/>
            <a:ext cx="1665841" cy="246221"/>
          </a:xfrm>
          <a:prstGeom prst="rect">
            <a:avLst/>
          </a:prstGeom>
        </p:spPr>
        <p:txBody>
          <a:bodyPr wrap="none">
            <a:spAutoFit/>
          </a:bodyPr>
          <a:lstStyle/>
          <a:p>
            <a:r>
              <a:rPr lang="en-US" sz="1000" i="1"/>
              <a:t>*DNI – Do not insert / load</a:t>
            </a:r>
            <a:endParaRPr lang="en-US" sz="1000" i="1" dirty="0"/>
          </a:p>
        </p:txBody>
      </p:sp>
      <p:sp>
        <p:nvSpPr>
          <p:cNvPr id="34" name="Callout: Line with Accent Bar 33">
            <a:extLst>
              <a:ext uri="{FF2B5EF4-FFF2-40B4-BE49-F238E27FC236}">
                <a16:creationId xmlns:a16="http://schemas.microsoft.com/office/drawing/2014/main" id="{B1DE0E9A-0E23-4215-BD77-49D11707F746}"/>
              </a:ext>
            </a:extLst>
          </p:cNvPr>
          <p:cNvSpPr/>
          <p:nvPr/>
        </p:nvSpPr>
        <p:spPr bwMode="auto">
          <a:xfrm>
            <a:off x="10734441" y="3854987"/>
            <a:ext cx="1292350" cy="345938"/>
          </a:xfrm>
          <a:prstGeom prst="accentCallout1">
            <a:avLst>
              <a:gd name="adj1" fmla="val 48512"/>
              <a:gd name="adj2" fmla="val 1541"/>
              <a:gd name="adj3" fmla="val -50578"/>
              <a:gd name="adj4" fmla="val -226384"/>
            </a:avLst>
          </a:prstGeom>
          <a:noFill/>
          <a:ln w="12700">
            <a:solidFill>
              <a:srgbClr val="FFC000"/>
            </a:solidFill>
            <a:miter lim="800000"/>
            <a:headEnd/>
            <a:tailEnd/>
          </a:ln>
        </p:spPr>
        <p:txBody>
          <a:bodyPr wrap="square" lIns="72000" tIns="72000" rIns="72000" bIns="72000" rtlCol="0" anchor="ctr"/>
          <a:lstStyle/>
          <a:p>
            <a:pPr eaLnBrk="0" hangingPunct="0"/>
            <a:r>
              <a:rPr lang="en-US" sz="1000"/>
              <a:t>IMU (Accelerometer + Gyro) &amp;</a:t>
            </a:r>
          </a:p>
          <a:p>
            <a:pPr eaLnBrk="0" hangingPunct="0"/>
            <a:r>
              <a:rPr lang="en-US" sz="1000"/>
              <a:t>Magnetometer</a:t>
            </a:r>
            <a:endParaRPr lang="en-US" sz="1000" dirty="0"/>
          </a:p>
        </p:txBody>
      </p:sp>
      <p:sp>
        <p:nvSpPr>
          <p:cNvPr id="35" name="Callout: Line with Accent Bar 34">
            <a:extLst>
              <a:ext uri="{FF2B5EF4-FFF2-40B4-BE49-F238E27FC236}">
                <a16:creationId xmlns:a16="http://schemas.microsoft.com/office/drawing/2014/main" id="{23D0F60E-AC8E-402D-85ED-B1A288A4C45A}"/>
              </a:ext>
            </a:extLst>
          </p:cNvPr>
          <p:cNvSpPr/>
          <p:nvPr/>
        </p:nvSpPr>
        <p:spPr bwMode="auto">
          <a:xfrm flipH="1">
            <a:off x="356110" y="1960838"/>
            <a:ext cx="1695671" cy="201921"/>
          </a:xfrm>
          <a:prstGeom prst="accentCallout1">
            <a:avLst>
              <a:gd name="adj1" fmla="val 48512"/>
              <a:gd name="adj2" fmla="val 200"/>
              <a:gd name="adj3" fmla="val 257412"/>
              <a:gd name="adj4" fmla="val -93600"/>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KitProg Mode Select Button</a:t>
            </a:r>
            <a:endParaRPr lang="en-US" sz="1000" dirty="0">
              <a:latin typeface="+mn-lt"/>
            </a:endParaRPr>
          </a:p>
        </p:txBody>
      </p:sp>
      <p:sp>
        <p:nvSpPr>
          <p:cNvPr id="36" name="Callout: Line with Accent Bar 35">
            <a:extLst>
              <a:ext uri="{FF2B5EF4-FFF2-40B4-BE49-F238E27FC236}">
                <a16:creationId xmlns:a16="http://schemas.microsoft.com/office/drawing/2014/main" id="{A540C3A6-761A-4855-AB83-22EFA7D0446D}"/>
              </a:ext>
            </a:extLst>
          </p:cNvPr>
          <p:cNvSpPr/>
          <p:nvPr/>
        </p:nvSpPr>
        <p:spPr bwMode="auto">
          <a:xfrm>
            <a:off x="10754436" y="3267252"/>
            <a:ext cx="1203056" cy="345938"/>
          </a:xfrm>
          <a:prstGeom prst="accentCallout1">
            <a:avLst>
              <a:gd name="adj1" fmla="val 48512"/>
              <a:gd name="adj2" fmla="val 1541"/>
              <a:gd name="adj3" fmla="val 142192"/>
              <a:gd name="adj4" fmla="val -48659"/>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Proximity</a:t>
            </a:r>
            <a:endParaRPr lang="en-US" sz="1000" dirty="0">
              <a:latin typeface="+mn-lt"/>
            </a:endParaRPr>
          </a:p>
        </p:txBody>
      </p:sp>
      <p:sp>
        <p:nvSpPr>
          <p:cNvPr id="37" name="Callout: Line with Accent Bar 36">
            <a:extLst>
              <a:ext uri="{FF2B5EF4-FFF2-40B4-BE49-F238E27FC236}">
                <a16:creationId xmlns:a16="http://schemas.microsoft.com/office/drawing/2014/main" id="{5FB0B4C4-7B30-45A3-867D-79C461390037}"/>
              </a:ext>
            </a:extLst>
          </p:cNvPr>
          <p:cNvSpPr/>
          <p:nvPr/>
        </p:nvSpPr>
        <p:spPr bwMode="auto">
          <a:xfrm flipH="1">
            <a:off x="966883" y="3512823"/>
            <a:ext cx="1080120" cy="201921"/>
          </a:xfrm>
          <a:prstGeom prst="accentCallout1">
            <a:avLst>
              <a:gd name="adj1" fmla="val 48512"/>
              <a:gd name="adj2" fmla="val 200"/>
              <a:gd name="adj3" fmla="val -157078"/>
              <a:gd name="adj4" fmla="val -18246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Speaker</a:t>
            </a:r>
            <a:endParaRPr lang="en-US" sz="1000" dirty="0">
              <a:latin typeface="+mn-lt"/>
            </a:endParaRPr>
          </a:p>
        </p:txBody>
      </p:sp>
      <p:sp>
        <p:nvSpPr>
          <p:cNvPr id="38" name="Rectangle: Rounded Corners 37">
            <a:extLst>
              <a:ext uri="{FF2B5EF4-FFF2-40B4-BE49-F238E27FC236}">
                <a16:creationId xmlns:a16="http://schemas.microsoft.com/office/drawing/2014/main" id="{D9B1EABB-58D3-4066-B948-9A683A1A2CDD}"/>
              </a:ext>
            </a:extLst>
          </p:cNvPr>
          <p:cNvSpPr/>
          <p:nvPr/>
        </p:nvSpPr>
        <p:spPr bwMode="auto">
          <a:xfrm>
            <a:off x="7322696" y="2209269"/>
            <a:ext cx="939806" cy="1053207"/>
          </a:xfrm>
          <a:prstGeom prst="roundRect">
            <a:avLst>
              <a:gd name="adj" fmla="val 5640"/>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39" name="Rectangle: Rounded Corners 38">
            <a:extLst>
              <a:ext uri="{FF2B5EF4-FFF2-40B4-BE49-F238E27FC236}">
                <a16:creationId xmlns:a16="http://schemas.microsoft.com/office/drawing/2014/main" id="{9763F53B-0E9E-4544-92E8-98E082CA2967}"/>
              </a:ext>
            </a:extLst>
          </p:cNvPr>
          <p:cNvSpPr/>
          <p:nvPr/>
        </p:nvSpPr>
        <p:spPr bwMode="auto">
          <a:xfrm>
            <a:off x="8372312" y="2325476"/>
            <a:ext cx="939806" cy="817926"/>
          </a:xfrm>
          <a:prstGeom prst="roundRect">
            <a:avLst>
              <a:gd name="adj" fmla="val 9214"/>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40" name="Rectangle: Rounded Corners 39">
            <a:extLst>
              <a:ext uri="{FF2B5EF4-FFF2-40B4-BE49-F238E27FC236}">
                <a16:creationId xmlns:a16="http://schemas.microsoft.com/office/drawing/2014/main" id="{B2977874-E882-4A9D-BCB3-DCE45EE1D049}"/>
              </a:ext>
            </a:extLst>
          </p:cNvPr>
          <p:cNvSpPr/>
          <p:nvPr/>
        </p:nvSpPr>
        <p:spPr bwMode="auto">
          <a:xfrm>
            <a:off x="7550946" y="3505697"/>
            <a:ext cx="360040" cy="267136"/>
          </a:xfrm>
          <a:prstGeom prst="roundRect">
            <a:avLst>
              <a:gd name="adj" fmla="val 8649"/>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sp>
        <p:nvSpPr>
          <p:cNvPr id="41" name="Callout: Line with Accent Bar 40">
            <a:extLst>
              <a:ext uri="{FF2B5EF4-FFF2-40B4-BE49-F238E27FC236}">
                <a16:creationId xmlns:a16="http://schemas.microsoft.com/office/drawing/2014/main" id="{35E657C4-65E7-4B49-A0BA-9FF008B03DB2}"/>
              </a:ext>
            </a:extLst>
          </p:cNvPr>
          <p:cNvSpPr/>
          <p:nvPr/>
        </p:nvSpPr>
        <p:spPr bwMode="auto">
          <a:xfrm flipH="1">
            <a:off x="890206" y="4690284"/>
            <a:ext cx="1158442" cy="201921"/>
          </a:xfrm>
          <a:prstGeom prst="accentCallout1">
            <a:avLst>
              <a:gd name="adj1" fmla="val 48512"/>
              <a:gd name="adj2" fmla="val 200"/>
              <a:gd name="adj3" fmla="val -481853"/>
              <a:gd name="adj4" fmla="val -235972"/>
            </a:avLst>
          </a:prstGeom>
          <a:noFill/>
          <a:ln w="12700">
            <a:solidFill>
              <a:srgbClr val="FFC000"/>
            </a:solidFill>
            <a:miter lim="800000"/>
            <a:headEnd/>
            <a:tailEnd/>
          </a:ln>
        </p:spPr>
        <p:txBody>
          <a:bodyPr wrap="square" lIns="72000" tIns="72000" rIns="72000" bIns="72000" rtlCol="0" anchor="ctr"/>
          <a:lstStyle/>
          <a:p>
            <a:pPr algn="ctr" eaLnBrk="0" hangingPunct="0"/>
            <a:r>
              <a:rPr lang="en-US" sz="1000"/>
              <a:t>Power Selection   </a:t>
            </a:r>
          </a:p>
          <a:p>
            <a:pPr algn="ctr" eaLnBrk="0" hangingPunct="0"/>
            <a:r>
              <a:rPr lang="en-US" sz="1000"/>
              <a:t>Power Monitoring</a:t>
            </a:r>
            <a:endParaRPr lang="en-US" sz="1000" dirty="0"/>
          </a:p>
        </p:txBody>
      </p:sp>
      <p:sp>
        <p:nvSpPr>
          <p:cNvPr id="42" name="Rectangle: Rounded Corners 41">
            <a:extLst>
              <a:ext uri="{FF2B5EF4-FFF2-40B4-BE49-F238E27FC236}">
                <a16:creationId xmlns:a16="http://schemas.microsoft.com/office/drawing/2014/main" id="{56DE9ECD-9F55-498E-9202-90E8C58B2ABA}"/>
              </a:ext>
            </a:extLst>
          </p:cNvPr>
          <p:cNvSpPr/>
          <p:nvPr/>
        </p:nvSpPr>
        <p:spPr bwMode="auto">
          <a:xfrm>
            <a:off x="7953263" y="4667277"/>
            <a:ext cx="163335" cy="389064"/>
          </a:xfrm>
          <a:prstGeom prst="roundRect">
            <a:avLst>
              <a:gd name="adj" fmla="val 8649"/>
            </a:avLst>
          </a:prstGeom>
          <a:noFill/>
          <a:ln w="12700">
            <a:solidFill>
              <a:srgbClr val="FFC000"/>
            </a:solidFill>
            <a:prstDash val="dash"/>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hangingPunct="0"/>
            <a:endParaRPr lang="en-US" sz="1000" dirty="0">
              <a:solidFill>
                <a:schemeClr val="bg1"/>
              </a:solidFill>
            </a:endParaRPr>
          </a:p>
        </p:txBody>
      </p:sp>
      <p:pic>
        <p:nvPicPr>
          <p:cNvPr id="43" name="Picture 42">
            <a:extLst>
              <a:ext uri="{FF2B5EF4-FFF2-40B4-BE49-F238E27FC236}">
                <a16:creationId xmlns:a16="http://schemas.microsoft.com/office/drawing/2014/main" id="{BF324A4E-44D3-4519-8CFA-0D27F314F6ED}"/>
              </a:ext>
            </a:extLst>
          </p:cNvPr>
          <p:cNvPicPr>
            <a:picLocks noChangeAspect="1"/>
          </p:cNvPicPr>
          <p:nvPr/>
        </p:nvPicPr>
        <p:blipFill>
          <a:blip r:embed="rId4"/>
          <a:stretch>
            <a:fillRect/>
          </a:stretch>
        </p:blipFill>
        <p:spPr>
          <a:xfrm>
            <a:off x="4481825" y="4100874"/>
            <a:ext cx="2609850" cy="1057275"/>
          </a:xfrm>
          <a:prstGeom prst="rect">
            <a:avLst/>
          </a:prstGeom>
        </p:spPr>
      </p:pic>
      <p:sp>
        <p:nvSpPr>
          <p:cNvPr id="45" name="Callout: Line with Accent Bar 44">
            <a:extLst>
              <a:ext uri="{FF2B5EF4-FFF2-40B4-BE49-F238E27FC236}">
                <a16:creationId xmlns:a16="http://schemas.microsoft.com/office/drawing/2014/main" id="{12F42651-0FD3-49B2-8F44-4411903AA739}"/>
              </a:ext>
            </a:extLst>
          </p:cNvPr>
          <p:cNvSpPr/>
          <p:nvPr/>
        </p:nvSpPr>
        <p:spPr bwMode="auto">
          <a:xfrm flipH="1">
            <a:off x="2546390" y="6191938"/>
            <a:ext cx="1434664" cy="246220"/>
          </a:xfrm>
          <a:prstGeom prst="accentCallout1">
            <a:avLst>
              <a:gd name="adj1" fmla="val 48512"/>
              <a:gd name="adj2" fmla="val 200"/>
              <a:gd name="adj3" fmla="val -882636"/>
              <a:gd name="adj4" fmla="val -48798"/>
            </a:avLst>
          </a:prstGeom>
          <a:noFill/>
          <a:ln w="12700">
            <a:solidFill>
              <a:srgbClr val="FFC000"/>
            </a:solidFill>
            <a:miter lim="800000"/>
            <a:headEnd/>
            <a:tailEnd/>
          </a:ln>
        </p:spPr>
        <p:txBody>
          <a:bodyPr wrap="square" lIns="72000" tIns="72000" rIns="72000" bIns="72000" rtlCol="0" anchor="ctr"/>
          <a:lstStyle/>
          <a:p>
            <a:pPr algn="ctr" eaLnBrk="0" hangingPunct="0"/>
            <a:r>
              <a:rPr lang="en-US" sz="1000"/>
              <a:t>Processor SoM socket</a:t>
            </a:r>
            <a:endParaRPr lang="en-US" sz="1000" dirty="0"/>
          </a:p>
        </p:txBody>
      </p:sp>
    </p:spTree>
    <p:extLst>
      <p:ext uri="{BB962C8B-B14F-4D97-AF65-F5344CB8AC3E}">
        <p14:creationId xmlns:p14="http://schemas.microsoft.com/office/powerpoint/2010/main" val="1086938362"/>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4A01EFA-4226-455A-8A68-A3C777608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7955" y="1007617"/>
            <a:ext cx="8715197" cy="5124536"/>
          </a:xfrm>
          <a:prstGeom prst="rect">
            <a:avLst/>
          </a:prstGeom>
        </p:spPr>
      </p:pic>
      <p:sp>
        <p:nvSpPr>
          <p:cNvPr id="3" name="Title 2">
            <a:extLst>
              <a:ext uri="{FF2B5EF4-FFF2-40B4-BE49-F238E27FC236}">
                <a16:creationId xmlns:a16="http://schemas.microsoft.com/office/drawing/2014/main" id="{5AAF5378-2606-462C-A911-D975D3A2C553}"/>
              </a:ext>
            </a:extLst>
          </p:cNvPr>
          <p:cNvSpPr>
            <a:spLocks noGrp="1"/>
          </p:cNvSpPr>
          <p:nvPr>
            <p:ph type="title" hasCustomPrompt="1"/>
          </p:nvPr>
        </p:nvSpPr>
        <p:spPr>
          <a:xfrm>
            <a:off x="335186" y="207827"/>
            <a:ext cx="9613068" cy="475103"/>
          </a:xfrm>
        </p:spPr>
        <p:txBody>
          <a:bodyPr/>
          <a:lstStyle/>
          <a:p>
            <a:r>
              <a:rPr dirty="0"/>
              <a:t>PSOC™ Edge E84 MCU development kit – Back View </a:t>
            </a:r>
          </a:p>
        </p:txBody>
      </p:sp>
      <p:sp>
        <p:nvSpPr>
          <p:cNvPr id="5" name="Callout: Line with Accent Bar 4">
            <a:extLst>
              <a:ext uri="{FF2B5EF4-FFF2-40B4-BE49-F238E27FC236}">
                <a16:creationId xmlns:a16="http://schemas.microsoft.com/office/drawing/2014/main" id="{6E4EB7B4-A5D3-46A8-A4E3-9AB041D3BBAF}"/>
              </a:ext>
            </a:extLst>
          </p:cNvPr>
          <p:cNvSpPr/>
          <p:nvPr/>
        </p:nvSpPr>
        <p:spPr bwMode="auto">
          <a:xfrm flipH="1">
            <a:off x="681612" y="1793200"/>
            <a:ext cx="1054051" cy="201921"/>
          </a:xfrm>
          <a:prstGeom prst="accentCallout1">
            <a:avLst>
              <a:gd name="adj1" fmla="val 48512"/>
              <a:gd name="adj2" fmla="val 200"/>
              <a:gd name="adj3" fmla="val 206650"/>
              <a:gd name="adj4" fmla="val -67239"/>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SD Card Socket</a:t>
            </a:r>
            <a:endParaRPr lang="en-US" sz="1000" dirty="0">
              <a:latin typeface="+mn-lt"/>
            </a:endParaRPr>
          </a:p>
        </p:txBody>
      </p:sp>
      <p:sp>
        <p:nvSpPr>
          <p:cNvPr id="6" name="Callout: Line with Accent Bar 5">
            <a:extLst>
              <a:ext uri="{FF2B5EF4-FFF2-40B4-BE49-F238E27FC236}">
                <a16:creationId xmlns:a16="http://schemas.microsoft.com/office/drawing/2014/main" id="{EE374BB4-387F-4999-9076-9A4FA105018C}"/>
              </a:ext>
            </a:extLst>
          </p:cNvPr>
          <p:cNvSpPr/>
          <p:nvPr/>
        </p:nvSpPr>
        <p:spPr bwMode="auto">
          <a:xfrm flipH="1">
            <a:off x="1220668" y="785602"/>
            <a:ext cx="527025" cy="201921"/>
          </a:xfrm>
          <a:prstGeom prst="accentCallout1">
            <a:avLst>
              <a:gd name="adj1" fmla="val 48512"/>
              <a:gd name="adj2" fmla="val 200"/>
              <a:gd name="adj3" fmla="val 327703"/>
              <a:gd name="adj4" fmla="val -15726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latin typeface="+mn-lt"/>
              </a:rPr>
              <a:t>DMIC</a:t>
            </a:r>
          </a:p>
        </p:txBody>
      </p:sp>
      <p:sp>
        <p:nvSpPr>
          <p:cNvPr id="7" name="Callout: Line with Accent Bar 6">
            <a:extLst>
              <a:ext uri="{FF2B5EF4-FFF2-40B4-BE49-F238E27FC236}">
                <a16:creationId xmlns:a16="http://schemas.microsoft.com/office/drawing/2014/main" id="{3B427E57-9617-4B14-AFA8-EEEDDF24837C}"/>
              </a:ext>
            </a:extLst>
          </p:cNvPr>
          <p:cNvSpPr/>
          <p:nvPr/>
        </p:nvSpPr>
        <p:spPr bwMode="auto">
          <a:xfrm flipH="1">
            <a:off x="2893417" y="874897"/>
            <a:ext cx="527025" cy="201921"/>
          </a:xfrm>
          <a:prstGeom prst="accentCallout1">
            <a:avLst>
              <a:gd name="adj1" fmla="val 48512"/>
              <a:gd name="adj2" fmla="val 200"/>
              <a:gd name="adj3" fmla="val 268837"/>
              <a:gd name="adj4" fmla="val -139615"/>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DMIC</a:t>
            </a:r>
            <a:endParaRPr lang="en-US" sz="1000" dirty="0">
              <a:latin typeface="+mn-lt"/>
            </a:endParaRPr>
          </a:p>
        </p:txBody>
      </p:sp>
      <p:sp>
        <p:nvSpPr>
          <p:cNvPr id="8" name="Callout: Line with Accent Bar 7">
            <a:extLst>
              <a:ext uri="{FF2B5EF4-FFF2-40B4-BE49-F238E27FC236}">
                <a16:creationId xmlns:a16="http://schemas.microsoft.com/office/drawing/2014/main" id="{78568C38-20AF-4298-9534-D0BCCC4C9BDF}"/>
              </a:ext>
            </a:extLst>
          </p:cNvPr>
          <p:cNvSpPr/>
          <p:nvPr/>
        </p:nvSpPr>
        <p:spPr bwMode="auto">
          <a:xfrm flipH="1">
            <a:off x="1199456" y="5422554"/>
            <a:ext cx="527025" cy="201921"/>
          </a:xfrm>
          <a:prstGeom prst="accentCallout1">
            <a:avLst>
              <a:gd name="adj1" fmla="val 48512"/>
              <a:gd name="adj2" fmla="val 200"/>
              <a:gd name="adj3" fmla="val 136734"/>
              <a:gd name="adj4" fmla="val -157157"/>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latin typeface="+mn-lt"/>
              </a:rPr>
              <a:t>AMIC</a:t>
            </a:r>
          </a:p>
        </p:txBody>
      </p:sp>
      <p:sp>
        <p:nvSpPr>
          <p:cNvPr id="9" name="Callout: Line with Accent Bar 8">
            <a:extLst>
              <a:ext uri="{FF2B5EF4-FFF2-40B4-BE49-F238E27FC236}">
                <a16:creationId xmlns:a16="http://schemas.microsoft.com/office/drawing/2014/main" id="{0306A303-56D0-4A0A-9A2F-705347A75B8F}"/>
              </a:ext>
            </a:extLst>
          </p:cNvPr>
          <p:cNvSpPr/>
          <p:nvPr/>
        </p:nvSpPr>
        <p:spPr bwMode="auto">
          <a:xfrm flipH="1">
            <a:off x="3051566" y="6113679"/>
            <a:ext cx="527025" cy="201921"/>
          </a:xfrm>
          <a:prstGeom prst="accentCallout1">
            <a:avLst>
              <a:gd name="adj1" fmla="val 48512"/>
              <a:gd name="adj2" fmla="val 200"/>
              <a:gd name="adj3" fmla="val -188737"/>
              <a:gd name="adj4" fmla="val -112140"/>
            </a:avLst>
          </a:prstGeom>
          <a:noFill/>
          <a:ln w="12700">
            <a:solidFill>
              <a:srgbClr val="FFC000"/>
            </a:solidFill>
            <a:miter lim="800000"/>
            <a:headEnd/>
            <a:tailEnd/>
          </a:ln>
        </p:spPr>
        <p:txBody>
          <a:bodyPr wrap="square" lIns="72000" tIns="72000" rIns="72000" bIns="72000" rtlCol="0" anchor="ctr"/>
          <a:lstStyle/>
          <a:p>
            <a:pPr algn="r" eaLnBrk="0" hangingPunct="0"/>
            <a:r>
              <a:rPr lang="en-US" sz="1000">
                <a:latin typeface="+mn-lt"/>
              </a:rPr>
              <a:t>AMIC</a:t>
            </a:r>
            <a:endParaRPr lang="en-US" sz="1000" dirty="0">
              <a:latin typeface="+mn-lt"/>
            </a:endParaRPr>
          </a:p>
        </p:txBody>
      </p:sp>
      <p:sp>
        <p:nvSpPr>
          <p:cNvPr id="10" name="Callout: Line with Accent Bar 9">
            <a:extLst>
              <a:ext uri="{FF2B5EF4-FFF2-40B4-BE49-F238E27FC236}">
                <a16:creationId xmlns:a16="http://schemas.microsoft.com/office/drawing/2014/main" id="{7F0CC399-106D-4FE4-92B4-26F12882C179}"/>
              </a:ext>
            </a:extLst>
          </p:cNvPr>
          <p:cNvSpPr/>
          <p:nvPr/>
        </p:nvSpPr>
        <p:spPr bwMode="auto">
          <a:xfrm>
            <a:off x="7295126" y="6127784"/>
            <a:ext cx="1402266" cy="201921"/>
          </a:xfrm>
          <a:prstGeom prst="accentCallout1">
            <a:avLst>
              <a:gd name="adj1" fmla="val 48512"/>
              <a:gd name="adj2" fmla="val 200"/>
              <a:gd name="adj3" fmla="val -329251"/>
              <a:gd name="adj4" fmla="val -51895"/>
            </a:avLst>
          </a:prstGeom>
          <a:noFill/>
          <a:ln w="12700">
            <a:solidFill>
              <a:srgbClr val="FFC000"/>
            </a:solidFill>
            <a:miter lim="800000"/>
            <a:headEnd/>
            <a:tailEnd/>
          </a:ln>
        </p:spPr>
        <p:txBody>
          <a:bodyPr wrap="square" lIns="72000" tIns="72000" rIns="72000" bIns="72000" rtlCol="0" anchor="ctr"/>
          <a:lstStyle/>
          <a:p>
            <a:pPr eaLnBrk="0" hangingPunct="0"/>
            <a:r>
              <a:rPr lang="en-US" sz="1000" dirty="0">
                <a:latin typeface="+mn-lt"/>
              </a:rPr>
              <a:t>10” MIPI-DSI Display connector </a:t>
            </a:r>
          </a:p>
        </p:txBody>
      </p:sp>
      <p:sp>
        <p:nvSpPr>
          <p:cNvPr id="11" name="Callout: Line with Accent Bar 10">
            <a:extLst>
              <a:ext uri="{FF2B5EF4-FFF2-40B4-BE49-F238E27FC236}">
                <a16:creationId xmlns:a16="http://schemas.microsoft.com/office/drawing/2014/main" id="{CC2F158E-3255-405D-99B0-0A16D4BF9CEA}"/>
              </a:ext>
            </a:extLst>
          </p:cNvPr>
          <p:cNvSpPr/>
          <p:nvPr/>
        </p:nvSpPr>
        <p:spPr bwMode="auto">
          <a:xfrm>
            <a:off x="10344472" y="2873321"/>
            <a:ext cx="1296144" cy="301622"/>
          </a:xfrm>
          <a:prstGeom prst="accentCallout1">
            <a:avLst>
              <a:gd name="adj1" fmla="val 48512"/>
              <a:gd name="adj2" fmla="val 200"/>
              <a:gd name="adj3" fmla="val 336410"/>
              <a:gd name="adj4" fmla="val -113165"/>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10” Display Touchpad connector </a:t>
            </a:r>
            <a:endParaRPr lang="en-US" sz="1000" dirty="0">
              <a:latin typeface="+mn-lt"/>
            </a:endParaRPr>
          </a:p>
        </p:txBody>
      </p:sp>
      <p:sp>
        <p:nvSpPr>
          <p:cNvPr id="12" name="Callout: Line with Accent Bar 11">
            <a:extLst>
              <a:ext uri="{FF2B5EF4-FFF2-40B4-BE49-F238E27FC236}">
                <a16:creationId xmlns:a16="http://schemas.microsoft.com/office/drawing/2014/main" id="{4F18AEC1-D6FF-406C-893F-4591848BDA30}"/>
              </a:ext>
            </a:extLst>
          </p:cNvPr>
          <p:cNvSpPr/>
          <p:nvPr/>
        </p:nvSpPr>
        <p:spPr bwMode="auto">
          <a:xfrm>
            <a:off x="7896200" y="836712"/>
            <a:ext cx="1512168" cy="301622"/>
          </a:xfrm>
          <a:prstGeom prst="accentCallout1">
            <a:avLst>
              <a:gd name="adj1" fmla="val 48512"/>
              <a:gd name="adj2" fmla="val 200"/>
              <a:gd name="adj3" fmla="val 179057"/>
              <a:gd name="adj4" fmla="val -25079"/>
            </a:avLst>
          </a:prstGeom>
          <a:noFill/>
          <a:ln w="12700">
            <a:solidFill>
              <a:srgbClr val="FFC000"/>
            </a:solidFill>
            <a:miter lim="800000"/>
            <a:headEnd/>
            <a:tailEnd/>
          </a:ln>
        </p:spPr>
        <p:txBody>
          <a:bodyPr wrap="square" lIns="72000" tIns="72000" rIns="72000" bIns="72000" rtlCol="0" anchor="ctr"/>
          <a:lstStyle/>
          <a:p>
            <a:pPr eaLnBrk="0" hangingPunct="0"/>
            <a:r>
              <a:rPr lang="en-US" sz="1000">
                <a:latin typeface="+mn-lt"/>
              </a:rPr>
              <a:t>Headphone Jack (DNI)</a:t>
            </a:r>
            <a:endParaRPr lang="en-US" sz="1000" dirty="0">
              <a:latin typeface="+mn-lt"/>
            </a:endParaRPr>
          </a:p>
        </p:txBody>
      </p:sp>
      <p:sp>
        <p:nvSpPr>
          <p:cNvPr id="13" name="Callout: Line with Accent Bar 12">
            <a:extLst>
              <a:ext uri="{FF2B5EF4-FFF2-40B4-BE49-F238E27FC236}">
                <a16:creationId xmlns:a16="http://schemas.microsoft.com/office/drawing/2014/main" id="{606B7F89-7205-4F3D-B33D-4F4814393697}"/>
              </a:ext>
            </a:extLst>
          </p:cNvPr>
          <p:cNvSpPr/>
          <p:nvPr/>
        </p:nvSpPr>
        <p:spPr bwMode="auto">
          <a:xfrm>
            <a:off x="5447928" y="6062953"/>
            <a:ext cx="1683804" cy="201920"/>
          </a:xfrm>
          <a:prstGeom prst="accentCallout1">
            <a:avLst>
              <a:gd name="adj1" fmla="val 48512"/>
              <a:gd name="adj2" fmla="val 200"/>
              <a:gd name="adj3" fmla="val -1064947"/>
              <a:gd name="adj4" fmla="val -29898"/>
            </a:avLst>
          </a:prstGeom>
          <a:noFill/>
          <a:ln w="12700">
            <a:solidFill>
              <a:srgbClr val="FFC000"/>
            </a:solidFill>
            <a:miter lim="800000"/>
            <a:headEnd/>
            <a:tailEnd/>
          </a:ln>
        </p:spPr>
        <p:txBody>
          <a:bodyPr wrap="square" lIns="72000" tIns="72000" rIns="72000" bIns="72000" rtlCol="0" anchor="ctr"/>
          <a:lstStyle/>
          <a:p>
            <a:pPr eaLnBrk="0" hangingPunct="0"/>
            <a:r>
              <a:rPr lang="en-US" sz="1000" dirty="0">
                <a:latin typeface="+mn-lt"/>
              </a:rPr>
              <a:t>MIPI-DSI R-Pi Display connector </a:t>
            </a:r>
          </a:p>
        </p:txBody>
      </p:sp>
    </p:spTree>
    <p:extLst>
      <p:ext uri="{BB962C8B-B14F-4D97-AF65-F5344CB8AC3E}">
        <p14:creationId xmlns:p14="http://schemas.microsoft.com/office/powerpoint/2010/main" val="2178180983"/>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3D11-FD44-481E-B56B-0A08AA438C4A}"/>
              </a:ext>
            </a:extLst>
          </p:cNvPr>
          <p:cNvSpPr>
            <a:spLocks noGrp="1"/>
          </p:cNvSpPr>
          <p:nvPr>
            <p:ph type="title" hasCustomPrompt="1"/>
          </p:nvPr>
        </p:nvSpPr>
        <p:spPr/>
        <p:txBody>
          <a:bodyPr/>
          <a:lstStyle/>
          <a:p>
            <a:r>
              <a:t>PSOC™ Edge E84 MCU SOM – Top View</a:t>
            </a:r>
          </a:p>
        </p:txBody>
      </p:sp>
      <p:pic>
        <p:nvPicPr>
          <p:cNvPr id="4" name="Picture 3">
            <a:extLst>
              <a:ext uri="{FF2B5EF4-FFF2-40B4-BE49-F238E27FC236}">
                <a16:creationId xmlns:a16="http://schemas.microsoft.com/office/drawing/2014/main" id="{E0474534-757F-42B3-A787-4C51F840C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472" y="1115124"/>
            <a:ext cx="8959856" cy="4956251"/>
          </a:xfrm>
          <a:prstGeom prst="rect">
            <a:avLst/>
          </a:prstGeom>
        </p:spPr>
      </p:pic>
      <p:sp>
        <p:nvSpPr>
          <p:cNvPr id="5" name="TextBox 4">
            <a:extLst>
              <a:ext uri="{FF2B5EF4-FFF2-40B4-BE49-F238E27FC236}">
                <a16:creationId xmlns:a16="http://schemas.microsoft.com/office/drawing/2014/main" id="{80202991-840A-45B1-BF97-EA2198510850}"/>
              </a:ext>
            </a:extLst>
          </p:cNvPr>
          <p:cNvSpPr txBox="1"/>
          <p:nvPr/>
        </p:nvSpPr>
        <p:spPr bwMode="auto">
          <a:xfrm>
            <a:off x="5519936" y="5658864"/>
            <a:ext cx="93610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kern="0" baseline="0" dirty="0">
                <a:solidFill>
                  <a:schemeClr val="bg1"/>
                </a:solidFill>
                <a:latin typeface="+mn-lt"/>
                <a:ea typeface="+mn-ea"/>
                <a:cs typeface="+mn-cs"/>
              </a:rPr>
              <a:t>69.6mm</a:t>
            </a:r>
          </a:p>
        </p:txBody>
      </p:sp>
      <p:sp>
        <p:nvSpPr>
          <p:cNvPr id="7" name="TextBox 6">
            <a:extLst>
              <a:ext uri="{FF2B5EF4-FFF2-40B4-BE49-F238E27FC236}">
                <a16:creationId xmlns:a16="http://schemas.microsoft.com/office/drawing/2014/main" id="{781390CD-687A-4E63-89EA-A52B9C78C149}"/>
              </a:ext>
            </a:extLst>
          </p:cNvPr>
          <p:cNvSpPr txBox="1"/>
          <p:nvPr/>
        </p:nvSpPr>
        <p:spPr bwMode="auto">
          <a:xfrm rot="16200000">
            <a:off x="1123601" y="3170049"/>
            <a:ext cx="936104" cy="301878"/>
          </a:xfrm>
          <a:prstGeom prst="rect">
            <a:avLst/>
          </a:prstGeom>
          <a:noFill/>
          <a:ln w="9525">
            <a:noFill/>
            <a:miter lim="800000"/>
            <a:headEnd/>
            <a:tailEnd/>
          </a:ln>
          <a:effectLst/>
        </p:spPr>
        <p:txBody>
          <a:bodyPr wrap="square" lIns="0" tIns="0" rIns="0" bIns="0" rtlCol="0" anchor="t" anchorCtr="0">
            <a:spAutoFit/>
          </a:bodyPr>
          <a:lstStyle/>
          <a:p>
            <a:pPr marR="0" algn="l" defTabSz="576000" eaLnBrk="0" fontAlgn="auto" latinLnBrk="0" hangingPunct="0">
              <a:lnSpc>
                <a:spcPct val="120000"/>
              </a:lnSpc>
              <a:spcBef>
                <a:spcPts val="0"/>
              </a:spcBef>
              <a:spcAft>
                <a:spcPts val="0"/>
              </a:spcAft>
              <a:buClr>
                <a:schemeClr val="tx2"/>
              </a:buClr>
              <a:buSzTx/>
              <a:tabLst/>
            </a:pPr>
            <a:r>
              <a:rPr lang="en-US" sz="1800" kern="0" baseline="0" dirty="0">
                <a:solidFill>
                  <a:schemeClr val="bg1"/>
                </a:solidFill>
                <a:latin typeface="+mn-lt"/>
                <a:ea typeface="+mn-ea"/>
                <a:cs typeface="+mn-cs"/>
              </a:rPr>
              <a:t>30mm</a:t>
            </a:r>
          </a:p>
        </p:txBody>
      </p:sp>
      <p:sp>
        <p:nvSpPr>
          <p:cNvPr id="9" name="Callout: Line with Accent Bar 8">
            <a:extLst>
              <a:ext uri="{FF2B5EF4-FFF2-40B4-BE49-F238E27FC236}">
                <a16:creationId xmlns:a16="http://schemas.microsoft.com/office/drawing/2014/main" id="{5C057016-10D4-42B0-87CD-4EA964790532}"/>
              </a:ext>
            </a:extLst>
          </p:cNvPr>
          <p:cNvSpPr/>
          <p:nvPr/>
        </p:nvSpPr>
        <p:spPr bwMode="auto">
          <a:xfrm flipH="1">
            <a:off x="1343472" y="1513736"/>
            <a:ext cx="1327330" cy="201921"/>
          </a:xfrm>
          <a:prstGeom prst="accentCallout1">
            <a:avLst>
              <a:gd name="adj1" fmla="val 48512"/>
              <a:gd name="adj2" fmla="val 200"/>
              <a:gd name="adj3" fmla="val 653191"/>
              <a:gd name="adj4" fmla="val -50361"/>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solidFill>
                  <a:schemeClr val="bg1"/>
                </a:solidFill>
                <a:latin typeface="+mn-lt"/>
              </a:rPr>
              <a:t>PSOC Edge MCU (220-BGA) </a:t>
            </a:r>
          </a:p>
        </p:txBody>
      </p:sp>
      <p:sp>
        <p:nvSpPr>
          <p:cNvPr id="10" name="Callout: Line with Accent Bar 9">
            <a:extLst>
              <a:ext uri="{FF2B5EF4-FFF2-40B4-BE49-F238E27FC236}">
                <a16:creationId xmlns:a16="http://schemas.microsoft.com/office/drawing/2014/main" id="{90212EAB-33C3-4766-B0FC-71043E093717}"/>
              </a:ext>
            </a:extLst>
          </p:cNvPr>
          <p:cNvSpPr/>
          <p:nvPr/>
        </p:nvSpPr>
        <p:spPr bwMode="auto">
          <a:xfrm flipH="1">
            <a:off x="2927648" y="1409169"/>
            <a:ext cx="1327330" cy="201921"/>
          </a:xfrm>
          <a:prstGeom prst="accentCallout1">
            <a:avLst>
              <a:gd name="adj1" fmla="val 48512"/>
              <a:gd name="adj2" fmla="val 200"/>
              <a:gd name="adj3" fmla="val 614274"/>
              <a:gd name="adj4" fmla="val -50361"/>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solidFill>
                  <a:schemeClr val="bg1"/>
                </a:solidFill>
                <a:latin typeface="+mn-lt"/>
              </a:rPr>
              <a:t>QSPI Flash</a:t>
            </a:r>
          </a:p>
        </p:txBody>
      </p:sp>
      <p:sp>
        <p:nvSpPr>
          <p:cNvPr id="12" name="Callout: Line with Accent Bar 11">
            <a:extLst>
              <a:ext uri="{FF2B5EF4-FFF2-40B4-BE49-F238E27FC236}">
                <a16:creationId xmlns:a16="http://schemas.microsoft.com/office/drawing/2014/main" id="{A0E069CA-F22C-4CD9-AC7E-0D78BC1D2081}"/>
              </a:ext>
            </a:extLst>
          </p:cNvPr>
          <p:cNvSpPr/>
          <p:nvPr/>
        </p:nvSpPr>
        <p:spPr bwMode="auto">
          <a:xfrm>
            <a:off x="9244136" y="1412775"/>
            <a:ext cx="1367286" cy="201922"/>
          </a:xfrm>
          <a:prstGeom prst="accentCallout1">
            <a:avLst>
              <a:gd name="adj1" fmla="val 48512"/>
              <a:gd name="adj2" fmla="val 200"/>
              <a:gd name="adj3" fmla="val 412038"/>
              <a:gd name="adj4" fmla="val -38737"/>
            </a:avLst>
          </a:prstGeom>
          <a:noFill/>
          <a:ln w="12700">
            <a:solidFill>
              <a:srgbClr val="FFC000"/>
            </a:solidFill>
            <a:miter lim="800000"/>
            <a:headEnd/>
            <a:tailEnd/>
          </a:ln>
        </p:spPr>
        <p:txBody>
          <a:bodyPr wrap="square" lIns="72000" tIns="72000" rIns="72000" bIns="72000" rtlCol="0" anchor="ctr"/>
          <a:lstStyle/>
          <a:p>
            <a:pPr eaLnBrk="0" hangingPunct="0"/>
            <a:r>
              <a:rPr lang="en-US" sz="1000" dirty="0">
                <a:solidFill>
                  <a:schemeClr val="bg1"/>
                </a:solidFill>
                <a:latin typeface="+mn-lt"/>
              </a:rPr>
              <a:t>Antenna</a:t>
            </a:r>
          </a:p>
        </p:txBody>
      </p:sp>
      <p:sp>
        <p:nvSpPr>
          <p:cNvPr id="13" name="Callout: Line with Accent Bar 12">
            <a:extLst>
              <a:ext uri="{FF2B5EF4-FFF2-40B4-BE49-F238E27FC236}">
                <a16:creationId xmlns:a16="http://schemas.microsoft.com/office/drawing/2014/main" id="{208448F2-E689-4217-8F4D-2069C21AAF34}"/>
              </a:ext>
            </a:extLst>
          </p:cNvPr>
          <p:cNvSpPr/>
          <p:nvPr/>
        </p:nvSpPr>
        <p:spPr bwMode="auto">
          <a:xfrm flipH="1">
            <a:off x="4726477" y="1409169"/>
            <a:ext cx="1327330" cy="201921"/>
          </a:xfrm>
          <a:prstGeom prst="accentCallout1">
            <a:avLst>
              <a:gd name="adj1" fmla="val 48512"/>
              <a:gd name="adj2" fmla="val 200"/>
              <a:gd name="adj3" fmla="val 614274"/>
              <a:gd name="adj4" fmla="val -50361"/>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solidFill>
                  <a:schemeClr val="bg1"/>
                </a:solidFill>
              </a:rPr>
              <a:t>CYW55513 Radio Section</a:t>
            </a:r>
          </a:p>
        </p:txBody>
      </p:sp>
    </p:spTree>
    <p:extLst>
      <p:ext uri="{BB962C8B-B14F-4D97-AF65-F5344CB8AC3E}">
        <p14:creationId xmlns:p14="http://schemas.microsoft.com/office/powerpoint/2010/main" val="4132862179"/>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3D11-FD44-481E-B56B-0A08AA438C4A}"/>
              </a:ext>
            </a:extLst>
          </p:cNvPr>
          <p:cNvSpPr>
            <a:spLocks noGrp="1"/>
          </p:cNvSpPr>
          <p:nvPr>
            <p:ph type="title" hasCustomPrompt="1"/>
          </p:nvPr>
        </p:nvSpPr>
        <p:spPr/>
        <p:txBody>
          <a:bodyPr/>
          <a:lstStyle/>
          <a:p>
            <a:r>
              <a:t>PSOC™ Edge E84 MCU SOM – Bottom View</a:t>
            </a:r>
          </a:p>
        </p:txBody>
      </p:sp>
      <p:pic>
        <p:nvPicPr>
          <p:cNvPr id="5" name="Picture 4">
            <a:extLst>
              <a:ext uri="{FF2B5EF4-FFF2-40B4-BE49-F238E27FC236}">
                <a16:creationId xmlns:a16="http://schemas.microsoft.com/office/drawing/2014/main" id="{853C2B01-7118-441D-89D5-E46E6D95B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7036" y="1268760"/>
            <a:ext cx="9317928" cy="4977453"/>
          </a:xfrm>
          <a:prstGeom prst="rect">
            <a:avLst/>
          </a:prstGeom>
        </p:spPr>
      </p:pic>
      <p:sp>
        <p:nvSpPr>
          <p:cNvPr id="6" name="Callout: Line with Accent Bar 5">
            <a:extLst>
              <a:ext uri="{FF2B5EF4-FFF2-40B4-BE49-F238E27FC236}">
                <a16:creationId xmlns:a16="http://schemas.microsoft.com/office/drawing/2014/main" id="{1CEA1A2B-C8DA-4E7A-8B8A-790A5AD55951}"/>
              </a:ext>
            </a:extLst>
          </p:cNvPr>
          <p:cNvSpPr/>
          <p:nvPr/>
        </p:nvSpPr>
        <p:spPr bwMode="auto">
          <a:xfrm flipH="1">
            <a:off x="2711624" y="1549802"/>
            <a:ext cx="1327330" cy="201921"/>
          </a:xfrm>
          <a:prstGeom prst="accentCallout1">
            <a:avLst>
              <a:gd name="adj1" fmla="val 48512"/>
              <a:gd name="adj2" fmla="val 200"/>
              <a:gd name="adj3" fmla="val 1173262"/>
              <a:gd name="adj4" fmla="val -170918"/>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solidFill>
                  <a:schemeClr val="bg1"/>
                </a:solidFill>
                <a:latin typeface="+mn-lt"/>
              </a:rPr>
              <a:t>Octal RAM</a:t>
            </a:r>
          </a:p>
        </p:txBody>
      </p:sp>
      <p:sp>
        <p:nvSpPr>
          <p:cNvPr id="7" name="Callout: Line with Accent Bar 6">
            <a:extLst>
              <a:ext uri="{FF2B5EF4-FFF2-40B4-BE49-F238E27FC236}">
                <a16:creationId xmlns:a16="http://schemas.microsoft.com/office/drawing/2014/main" id="{2DC11996-DDDA-4DA9-94B4-7FDF7F7EA847}"/>
              </a:ext>
            </a:extLst>
          </p:cNvPr>
          <p:cNvSpPr/>
          <p:nvPr/>
        </p:nvSpPr>
        <p:spPr bwMode="auto">
          <a:xfrm flipH="1">
            <a:off x="4079776" y="1489879"/>
            <a:ext cx="1327330" cy="201921"/>
          </a:xfrm>
          <a:prstGeom prst="accentCallout1">
            <a:avLst>
              <a:gd name="adj1" fmla="val 48512"/>
              <a:gd name="adj2" fmla="val 200"/>
              <a:gd name="adj3" fmla="val 607199"/>
              <a:gd name="adj4" fmla="val -85344"/>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a:solidFill>
                  <a:schemeClr val="bg1"/>
                </a:solidFill>
                <a:latin typeface="+mn-lt"/>
              </a:rPr>
              <a:t>Octal Flash</a:t>
            </a:r>
          </a:p>
        </p:txBody>
      </p:sp>
      <p:sp>
        <p:nvSpPr>
          <p:cNvPr id="8" name="Callout: Line with Accent Bar 7">
            <a:extLst>
              <a:ext uri="{FF2B5EF4-FFF2-40B4-BE49-F238E27FC236}">
                <a16:creationId xmlns:a16="http://schemas.microsoft.com/office/drawing/2014/main" id="{D62E1AD9-34B9-4FCC-83F6-FDF0BF43FCCA}"/>
              </a:ext>
            </a:extLst>
          </p:cNvPr>
          <p:cNvSpPr/>
          <p:nvPr/>
        </p:nvSpPr>
        <p:spPr bwMode="auto">
          <a:xfrm flipH="1">
            <a:off x="6240016" y="1490991"/>
            <a:ext cx="1615362" cy="201921"/>
          </a:xfrm>
          <a:prstGeom prst="accentCallout1">
            <a:avLst>
              <a:gd name="adj1" fmla="val 48512"/>
              <a:gd name="adj2" fmla="val 200"/>
              <a:gd name="adj3" fmla="val 1413838"/>
              <a:gd name="adj4" fmla="val -72114"/>
            </a:avLst>
          </a:prstGeom>
          <a:noFill/>
          <a:ln w="12700">
            <a:solidFill>
              <a:srgbClr val="FFC000"/>
            </a:solidFill>
            <a:miter lim="800000"/>
            <a:headEnd/>
            <a:tailEnd/>
          </a:ln>
        </p:spPr>
        <p:txBody>
          <a:bodyPr wrap="square" lIns="72000" tIns="72000" rIns="72000" bIns="72000" rtlCol="0" anchor="ctr"/>
          <a:lstStyle/>
          <a:p>
            <a:pPr algn="r" eaLnBrk="0" hangingPunct="0"/>
            <a:r>
              <a:rPr lang="en-US" sz="1000" dirty="0" err="1">
                <a:solidFill>
                  <a:schemeClr val="bg1"/>
                </a:solidFill>
                <a:latin typeface="+mn-lt"/>
              </a:rPr>
              <a:t>CapSense</a:t>
            </a:r>
            <a:r>
              <a:rPr lang="en-US" sz="1000" dirty="0">
                <a:solidFill>
                  <a:schemeClr val="bg1"/>
                </a:solidFill>
                <a:latin typeface="+mn-lt"/>
              </a:rPr>
              <a:t> Co-Processor</a:t>
            </a:r>
          </a:p>
        </p:txBody>
      </p:sp>
    </p:spTree>
    <p:extLst>
      <p:ext uri="{BB962C8B-B14F-4D97-AF65-F5344CB8AC3E}">
        <p14:creationId xmlns:p14="http://schemas.microsoft.com/office/powerpoint/2010/main" val="3548503317"/>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7DB01-DE02-465E-8957-66125CBFA8FD}"/>
              </a:ext>
            </a:extLst>
          </p:cNvPr>
          <p:cNvSpPr>
            <a:spLocks noGrp="1"/>
          </p:cNvSpPr>
          <p:nvPr>
            <p:ph sz="quarter" idx="13" hasCustomPrompt="1"/>
          </p:nvPr>
        </p:nvSpPr>
        <p:spPr/>
        <p:txBody>
          <a:bodyPr/>
          <a:lstStyle/>
          <a:p>
            <a:pPr lvl="1">
              <a:lnSpc>
                <a:spcPct val="150000"/>
              </a:lnSpc>
            </a:pPr>
            <a:r>
              <a:t>Programming and Debugging PSOC™ Edge E84 MCU</a:t>
            </a:r>
            <a:endParaRPr lang="en-US" sz="2800" b="1" dirty="0"/>
          </a:p>
          <a:p>
            <a:pPr lvl="2">
              <a:lnSpc>
                <a:spcPct val="150000"/>
              </a:lnSpc>
              <a:buFont typeface="Wingdings" panose="05000000000000000000" pitchFamily="2" charset="2"/>
              <a:buChar char="Ø"/>
            </a:pPr>
            <a:r>
              <a:t>Comes with a KitProg3 onboard programmer and debugger</a:t>
            </a:r>
          </a:p>
          <a:p>
            <a:pPr lvl="2">
              <a:lnSpc>
                <a:spcPct val="150000"/>
              </a:lnSpc>
              <a:buFont typeface="Wingdings" panose="05000000000000000000" pitchFamily="2" charset="2"/>
              <a:buChar char="Ø"/>
            </a:pPr>
            <a:r>
              <a:t>Supports CMSIS-DAP</a:t>
            </a:r>
          </a:p>
          <a:p>
            <a:pPr lvl="2">
              <a:lnSpc>
                <a:spcPct val="150000"/>
              </a:lnSpc>
              <a:buFont typeface="Wingdings" panose="05000000000000000000" pitchFamily="2" charset="2"/>
              <a:buChar char="Ø"/>
            </a:pPr>
            <a:r>
              <a:t>Supports OpenOCD using a GDB server and the J-Link debug probe</a:t>
            </a:r>
          </a:p>
          <a:p>
            <a:pPr lvl="2">
              <a:lnSpc>
                <a:spcPct val="150000"/>
              </a:lnSpc>
              <a:buFont typeface="Wingdings" panose="05000000000000000000" pitchFamily="2" charset="2"/>
              <a:buChar char="Ø"/>
            </a:pPr>
            <a:r>
              <a:t>Debug environment is IDE specific – refer to MTB documentation.</a:t>
            </a:r>
          </a:p>
          <a:p>
            <a:endParaRPr lang="en-US" dirty="0"/>
          </a:p>
        </p:txBody>
      </p:sp>
      <p:sp>
        <p:nvSpPr>
          <p:cNvPr id="3" name="Title 2">
            <a:extLst>
              <a:ext uri="{FF2B5EF4-FFF2-40B4-BE49-F238E27FC236}">
                <a16:creationId xmlns:a16="http://schemas.microsoft.com/office/drawing/2014/main" id="{435961A2-3561-413D-8657-C19CFDF581CC}"/>
              </a:ext>
            </a:extLst>
          </p:cNvPr>
          <p:cNvSpPr>
            <a:spLocks noGrp="1"/>
          </p:cNvSpPr>
          <p:nvPr>
            <p:ph type="title" hasCustomPrompt="1"/>
          </p:nvPr>
        </p:nvSpPr>
        <p:spPr/>
        <p:txBody>
          <a:bodyPr/>
          <a:lstStyle/>
          <a:p>
            <a:r>
              <a:t>Programming/debugging</a:t>
            </a:r>
          </a:p>
        </p:txBody>
      </p:sp>
    </p:spTree>
    <p:extLst>
      <p:ext uri="{BB962C8B-B14F-4D97-AF65-F5344CB8AC3E}">
        <p14:creationId xmlns:p14="http://schemas.microsoft.com/office/powerpoint/2010/main" val="1678905602"/>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40BC71-B4B5-1B01-7D92-00C634BA904E}"/>
              </a:ext>
            </a:extLst>
          </p:cNvPr>
          <p:cNvSpPr>
            <a:spLocks noGrp="1"/>
          </p:cNvSpPr>
          <p:nvPr>
            <p:ph type="title" hasCustomPrompt="1"/>
          </p:nvPr>
        </p:nvSpPr>
        <p:spPr/>
        <p:txBody>
          <a:bodyPr/>
          <a:lstStyle/>
          <a:p>
            <a:r>
              <a:rPr dirty="0"/>
              <a:t>Code Example #1:</a:t>
            </a:r>
            <a:br>
              <a:rPr dirty="0"/>
            </a:br>
            <a:r>
              <a:rPr dirty="0"/>
              <a:t>Hello World</a:t>
            </a:r>
            <a:r>
              <a:rPr lang="en-US" dirty="0"/>
              <a:t> + Blinky</a:t>
            </a:r>
            <a:endParaRPr dirty="0"/>
          </a:p>
        </p:txBody>
      </p:sp>
    </p:spTree>
    <p:extLst>
      <p:ext uri="{BB962C8B-B14F-4D97-AF65-F5344CB8AC3E}">
        <p14:creationId xmlns:p14="http://schemas.microsoft.com/office/powerpoint/2010/main" val="2072419450"/>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836982-1FDD-4605-B402-A753140C29CA}"/>
              </a:ext>
            </a:extLst>
          </p:cNvPr>
          <p:cNvSpPr>
            <a:spLocks noGrp="1"/>
          </p:cNvSpPr>
          <p:nvPr>
            <p:ph sz="quarter" idx="13" hasCustomPrompt="1"/>
          </p:nvPr>
        </p:nvSpPr>
        <p:spPr/>
        <p:txBody>
          <a:bodyPr/>
          <a:lstStyle/>
          <a:p>
            <a:pPr>
              <a:buNone/>
            </a:pPr>
            <a:r>
              <a:rPr>
                <a:solidFill>
                  <a:srgbClr val="1D1D1D"/>
                </a:solidFill>
              </a:rPr>
              <a:t>Algorithm flow :This PSOC™ Edge E84 Hello World Code example demonstrates </a:t>
            </a:r>
          </a:p>
          <a:p>
            <a:pPr>
              <a:buNone/>
            </a:pPr>
            <a:r>
              <a:rPr>
                <a:solidFill>
                  <a:srgbClr val="1D1D1D"/>
                </a:solidFill>
              </a:rPr>
              <a:t> </a:t>
            </a:r>
          </a:p>
          <a:p>
            <a:pPr>
              <a:buNone/>
            </a:pPr>
            <a:endParaRPr lang="en-US" sz="2400" b="1" dirty="0">
              <a:solidFill>
                <a:srgbClr val="1D1D1D"/>
              </a:solidFill>
            </a:endParaRPr>
          </a:p>
        </p:txBody>
      </p:sp>
      <p:sp>
        <p:nvSpPr>
          <p:cNvPr id="3" name="Title 2">
            <a:extLst>
              <a:ext uri="{FF2B5EF4-FFF2-40B4-BE49-F238E27FC236}">
                <a16:creationId xmlns:a16="http://schemas.microsoft.com/office/drawing/2014/main" id="{D7EB4136-58DF-4310-AAD1-0CD9303AE91D}"/>
              </a:ext>
            </a:extLst>
          </p:cNvPr>
          <p:cNvSpPr>
            <a:spLocks noGrp="1"/>
          </p:cNvSpPr>
          <p:nvPr>
            <p:ph type="title" hasCustomPrompt="1"/>
          </p:nvPr>
        </p:nvSpPr>
        <p:spPr/>
        <p:txBody>
          <a:bodyPr/>
          <a:lstStyle/>
          <a:p>
            <a:r>
              <a:t>Description of Hello World + Blinky example </a:t>
            </a:r>
          </a:p>
        </p:txBody>
      </p:sp>
      <p:pic>
        <p:nvPicPr>
          <p:cNvPr id="12" name="Picture 11">
            <a:extLst>
              <a:ext uri="{FF2B5EF4-FFF2-40B4-BE49-F238E27FC236}">
                <a16:creationId xmlns:a16="http://schemas.microsoft.com/office/drawing/2014/main" id="{DC37612C-71F3-4DB1-A194-9E999FA852C9}"/>
              </a:ext>
            </a:extLst>
          </p:cNvPr>
          <p:cNvPicPr>
            <a:picLocks noChangeAspect="1"/>
          </p:cNvPicPr>
          <p:nvPr/>
        </p:nvPicPr>
        <p:blipFill>
          <a:blip r:embed="rId3"/>
          <a:stretch>
            <a:fillRect/>
          </a:stretch>
        </p:blipFill>
        <p:spPr>
          <a:xfrm>
            <a:off x="504799" y="1556792"/>
            <a:ext cx="11305256" cy="4824536"/>
          </a:xfrm>
          <a:prstGeom prst="rect">
            <a:avLst/>
          </a:prstGeom>
        </p:spPr>
      </p:pic>
    </p:spTree>
    <p:extLst>
      <p:ext uri="{BB962C8B-B14F-4D97-AF65-F5344CB8AC3E}">
        <p14:creationId xmlns:p14="http://schemas.microsoft.com/office/powerpoint/2010/main" val="2462418399"/>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1E969-0D1C-4401-9E6D-3DC27753A7BA}"/>
              </a:ext>
            </a:extLst>
          </p:cNvPr>
          <p:cNvSpPr>
            <a:spLocks noGrp="1"/>
          </p:cNvSpPr>
          <p:nvPr>
            <p:ph type="title" hasCustomPrompt="1"/>
          </p:nvPr>
        </p:nvSpPr>
        <p:spPr/>
        <p:txBody>
          <a:bodyPr/>
          <a:lstStyle/>
          <a:p>
            <a:r>
              <a:t>Flow chart</a:t>
            </a:r>
          </a:p>
        </p:txBody>
      </p:sp>
      <p:pic>
        <p:nvPicPr>
          <p:cNvPr id="5" name="Picture 4">
            <a:extLst>
              <a:ext uri="{FF2B5EF4-FFF2-40B4-BE49-F238E27FC236}">
                <a16:creationId xmlns:a16="http://schemas.microsoft.com/office/drawing/2014/main" id="{4A55D3DD-A7F9-43FF-A8CA-79502A01CF84}"/>
              </a:ext>
            </a:extLst>
          </p:cNvPr>
          <p:cNvPicPr>
            <a:picLocks noChangeAspect="1"/>
          </p:cNvPicPr>
          <p:nvPr/>
        </p:nvPicPr>
        <p:blipFill>
          <a:blip r:embed="rId3"/>
          <a:stretch>
            <a:fillRect/>
          </a:stretch>
        </p:blipFill>
        <p:spPr>
          <a:xfrm>
            <a:off x="4151784" y="396044"/>
            <a:ext cx="7791434" cy="6065912"/>
          </a:xfrm>
          <a:prstGeom prst="rect">
            <a:avLst/>
          </a:prstGeom>
        </p:spPr>
      </p:pic>
      <p:pic>
        <p:nvPicPr>
          <p:cNvPr id="7" name="Picture 6">
            <a:extLst>
              <a:ext uri="{FF2B5EF4-FFF2-40B4-BE49-F238E27FC236}">
                <a16:creationId xmlns:a16="http://schemas.microsoft.com/office/drawing/2014/main" id="{8DFBB574-284B-405B-AA61-8A2F23B213BD}"/>
              </a:ext>
            </a:extLst>
          </p:cNvPr>
          <p:cNvPicPr>
            <a:picLocks noChangeAspect="1"/>
          </p:cNvPicPr>
          <p:nvPr/>
        </p:nvPicPr>
        <p:blipFill>
          <a:blip r:embed="rId4"/>
          <a:stretch>
            <a:fillRect/>
          </a:stretch>
        </p:blipFill>
        <p:spPr>
          <a:xfrm>
            <a:off x="479376" y="1294646"/>
            <a:ext cx="4185105" cy="4654634"/>
          </a:xfrm>
          <a:prstGeom prst="rect">
            <a:avLst/>
          </a:prstGeom>
        </p:spPr>
      </p:pic>
    </p:spTree>
    <p:extLst>
      <p:ext uri="{BB962C8B-B14F-4D97-AF65-F5344CB8AC3E}">
        <p14:creationId xmlns:p14="http://schemas.microsoft.com/office/powerpoint/2010/main" val="2273079542"/>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26261F-AF6F-4E57-AC6A-AF429532B8E5}"/>
              </a:ext>
            </a:extLst>
          </p:cNvPr>
          <p:cNvSpPr>
            <a:spLocks noGrp="1"/>
          </p:cNvSpPr>
          <p:nvPr>
            <p:ph type="title" hasCustomPrompt="1"/>
          </p:nvPr>
        </p:nvSpPr>
        <p:spPr/>
        <p:txBody>
          <a:bodyPr/>
          <a:lstStyle/>
          <a:p>
            <a:r>
              <a:rPr dirty="0"/>
              <a:t>Code Example #2:</a:t>
            </a:r>
            <a:br>
              <a:rPr dirty="0"/>
            </a:br>
            <a:r>
              <a:rPr dirty="0"/>
              <a:t>IPC </a:t>
            </a:r>
            <a:r>
              <a:rPr lang="en-US" dirty="0"/>
              <a:t>Semaphores</a:t>
            </a:r>
            <a:r>
              <a:rPr dirty="0"/>
              <a:t> using </a:t>
            </a:r>
            <a:r>
              <a:rPr lang="en-US" dirty="0"/>
              <a:t>PDL</a:t>
            </a:r>
            <a:endParaRPr dirty="0"/>
          </a:p>
        </p:txBody>
      </p:sp>
    </p:spTree>
    <p:extLst>
      <p:ext uri="{BB962C8B-B14F-4D97-AF65-F5344CB8AC3E}">
        <p14:creationId xmlns:p14="http://schemas.microsoft.com/office/powerpoint/2010/main" val="3213834819"/>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a:extLst>
              <a:ext uri="{FF2B5EF4-FFF2-40B4-BE49-F238E27FC236}">
                <a16:creationId xmlns:a16="http://schemas.microsoft.com/office/drawing/2014/main" id="{3715B761-83DC-C9ED-DF42-31C9835EB450}"/>
              </a:ext>
            </a:extLst>
          </p:cNvPr>
          <p:cNvSpPr>
            <a:spLocks noGrp="1"/>
          </p:cNvSpPr>
          <p:nvPr>
            <p:ph sz="quarter" idx="13" hasCustomPrompt="1"/>
          </p:nvPr>
        </p:nvSpPr>
        <p:spPr/>
        <p:txBody>
          <a:bodyPr/>
          <a:lstStyle/>
          <a:p>
            <a:pPr lvl="1">
              <a:buNone/>
            </a:pPr>
            <a:endParaRPr lang="en-US" sz="1800" dirty="0"/>
          </a:p>
          <a:p>
            <a:r>
              <a:t>Supports 16 communication channels</a:t>
            </a:r>
          </a:p>
          <a:p>
            <a:pPr>
              <a:buNone/>
            </a:pPr>
            <a:endParaRPr lang="en-US" dirty="0"/>
          </a:p>
          <a:p>
            <a:r>
              <a:t>Supports 16 interrupt structures</a:t>
            </a:r>
          </a:p>
          <a:p>
            <a:pPr>
              <a:buNone/>
            </a:pPr>
            <a:endParaRPr lang="en-US" dirty="0"/>
          </a:p>
          <a:p>
            <a:r>
              <a:t>Inter processor communication methods</a:t>
            </a:r>
          </a:p>
          <a:p>
            <a:pPr lvl="1"/>
            <a:r>
              <a:t>Half-duplex with shared event handling</a:t>
            </a:r>
          </a:p>
          <a:p>
            <a:pPr lvl="1"/>
            <a:r>
              <a:t>Half-duplex with independent event handling</a:t>
            </a:r>
          </a:p>
          <a:p>
            <a:pPr lvl="1"/>
            <a:r>
              <a:t>Full-duplex communication</a:t>
            </a:r>
          </a:p>
          <a:p>
            <a:pPr lvl="1"/>
            <a:endParaRPr lang="en-US" sz="1800" dirty="0"/>
          </a:p>
          <a:p>
            <a:r>
              <a:t>IPC is available in CPU active power mode only.</a:t>
            </a:r>
          </a:p>
          <a:p>
            <a:endParaRPr lang="en-US" dirty="0"/>
          </a:p>
        </p:txBody>
      </p:sp>
      <p:sp>
        <p:nvSpPr>
          <p:cNvPr id="3" name="Titel 2">
            <a:extLst>
              <a:ext uri="{FF2B5EF4-FFF2-40B4-BE49-F238E27FC236}">
                <a16:creationId xmlns:a16="http://schemas.microsoft.com/office/drawing/2014/main" id="{AE92E142-CF5A-B9C7-ADBE-AAD6B1E5F96E}"/>
              </a:ext>
            </a:extLst>
          </p:cNvPr>
          <p:cNvSpPr>
            <a:spLocks noGrp="1"/>
          </p:cNvSpPr>
          <p:nvPr>
            <p:ph type="title" hasCustomPrompt="1"/>
          </p:nvPr>
        </p:nvSpPr>
        <p:spPr/>
        <p:txBody>
          <a:bodyPr anchor="b">
            <a:normAutofit/>
          </a:bodyPr>
          <a:lstStyle/>
          <a:p>
            <a:r>
              <a:t>Overview of IPC </a:t>
            </a:r>
          </a:p>
        </p:txBody>
      </p:sp>
      <p:sp>
        <p:nvSpPr>
          <p:cNvPr id="9" name="Rectangle 2">
            <a:extLst>
              <a:ext uri="{FF2B5EF4-FFF2-40B4-BE49-F238E27FC236}">
                <a16:creationId xmlns:a16="http://schemas.microsoft.com/office/drawing/2014/main" id="{1C8E1E52-64D8-4161-7243-306B7553210B}"/>
              </a:ext>
            </a:extLst>
          </p:cNvPr>
          <p:cNvSpPr>
            <a:spLocks noChangeArrowheads="1"/>
          </p:cNvSpPr>
          <p:nvPr/>
        </p:nvSpPr>
        <p:spPr bwMode="auto">
          <a:xfrm>
            <a:off x="6096000" y="2528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1D1D1D"/>
              </a:solidFill>
              <a:effectLst/>
              <a:uLnTx/>
              <a:uFillTx/>
              <a:latin typeface="Arial" charset="0"/>
              <a:cs typeface="Arial"/>
            </a:endParaRPr>
          </a:p>
        </p:txBody>
      </p:sp>
      <p:sp>
        <p:nvSpPr>
          <p:cNvPr id="15" name="Arrow: Right 14">
            <a:extLst>
              <a:ext uri="{FF2B5EF4-FFF2-40B4-BE49-F238E27FC236}">
                <a16:creationId xmlns:a16="http://schemas.microsoft.com/office/drawing/2014/main" id="{3DF95B02-FF97-EC43-987D-DD85596AB8B6}"/>
              </a:ext>
            </a:extLst>
          </p:cNvPr>
          <p:cNvSpPr/>
          <p:nvPr/>
        </p:nvSpPr>
        <p:spPr bwMode="auto">
          <a:xfrm>
            <a:off x="6129222" y="1446007"/>
            <a:ext cx="1119419" cy="360031"/>
          </a:xfrm>
          <a:prstGeom prst="rightArrow">
            <a:avLst/>
          </a:prstGeom>
          <a:solidFill>
            <a:schemeClr val="tx2"/>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AHB5 slave </a:t>
            </a:r>
          </a:p>
        </p:txBody>
      </p:sp>
      <p:sp>
        <p:nvSpPr>
          <p:cNvPr id="12" name="Rectangle 11">
            <a:extLst>
              <a:ext uri="{FF2B5EF4-FFF2-40B4-BE49-F238E27FC236}">
                <a16:creationId xmlns:a16="http://schemas.microsoft.com/office/drawing/2014/main" id="{76C030B5-F48B-4937-1B3D-37D4E327B4AD}"/>
              </a:ext>
            </a:extLst>
          </p:cNvPr>
          <p:cNvSpPr/>
          <p:nvPr/>
        </p:nvSpPr>
        <p:spPr bwMode="auto">
          <a:xfrm>
            <a:off x="7247066" y="1445194"/>
            <a:ext cx="4119019" cy="337373"/>
          </a:xfrm>
          <a:prstGeom prst="rect">
            <a:avLst/>
          </a:prstGeom>
          <a:solidFill>
            <a:schemeClr val="tx2"/>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AHB5 </a:t>
            </a:r>
            <a:r>
              <a:rPr kumimoji="0" lang="en-US" sz="1200" b="0" i="0" u="none" strike="noStrike" kern="1200" cap="none" spc="0" normalizeH="0" baseline="0" noProof="0" dirty="0">
                <a:ln>
                  <a:noFill/>
                </a:ln>
                <a:solidFill>
                  <a:srgbClr val="FFFFFF"/>
                </a:solidFill>
                <a:effectLst/>
                <a:uLnTx/>
                <a:uFillTx/>
                <a:latin typeface="Arial"/>
                <a:cs typeface="Arial"/>
              </a:rPr>
              <a:t>Slave interface</a:t>
            </a:r>
            <a:endParaRPr kumimoji="0" lang="en-US" sz="1200" b="0" i="0" u="none" strike="noStrike" kern="1200" cap="none" spc="0" normalizeH="0" baseline="0" noProof="0" dirty="0">
              <a:ln>
                <a:noFill/>
              </a:ln>
              <a:solidFill>
                <a:srgbClr val="FFFFFF"/>
              </a:solidFill>
              <a:effectLst/>
              <a:uLnTx/>
              <a:uFillTx/>
              <a:latin typeface="Arial"/>
              <a:ea typeface="+mn-ea"/>
              <a:cs typeface="Arial"/>
            </a:endParaRPr>
          </a:p>
        </p:txBody>
      </p:sp>
      <p:cxnSp>
        <p:nvCxnSpPr>
          <p:cNvPr id="17" name="Straight Arrow Connector 16">
            <a:extLst>
              <a:ext uri="{FF2B5EF4-FFF2-40B4-BE49-F238E27FC236}">
                <a16:creationId xmlns:a16="http://schemas.microsoft.com/office/drawing/2014/main" id="{5EE2A517-0AF7-D630-6123-DE9B98FA7A89}"/>
              </a:ext>
            </a:extLst>
          </p:cNvPr>
          <p:cNvCxnSpPr>
            <a:cxnSpLocks/>
            <a:stCxn id="16" idx="0"/>
          </p:cNvCxnSpPr>
          <p:nvPr/>
        </p:nvCxnSpPr>
        <p:spPr>
          <a:xfrm flipH="1" flipV="1">
            <a:off x="8285264" y="1782567"/>
            <a:ext cx="7418" cy="924254"/>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1" name="Straight Arrow Connector 20">
            <a:extLst>
              <a:ext uri="{FF2B5EF4-FFF2-40B4-BE49-F238E27FC236}">
                <a16:creationId xmlns:a16="http://schemas.microsoft.com/office/drawing/2014/main" id="{48B9AD1A-DCB5-88FC-A381-00F0C8FC2191}"/>
              </a:ext>
            </a:extLst>
          </p:cNvPr>
          <p:cNvCxnSpPr>
            <a:cxnSpLocks/>
          </p:cNvCxnSpPr>
          <p:nvPr/>
        </p:nvCxnSpPr>
        <p:spPr>
          <a:xfrm>
            <a:off x="8852035" y="3778748"/>
            <a:ext cx="1276413" cy="0"/>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4" name="Connector: Elbow 23">
            <a:extLst>
              <a:ext uri="{FF2B5EF4-FFF2-40B4-BE49-F238E27FC236}">
                <a16:creationId xmlns:a16="http://schemas.microsoft.com/office/drawing/2014/main" id="{DF333D89-A9D8-2C2F-59ED-63AD3905D597}"/>
              </a:ext>
            </a:extLst>
          </p:cNvPr>
          <p:cNvCxnSpPr>
            <a:cxnSpLocks/>
          </p:cNvCxnSpPr>
          <p:nvPr/>
        </p:nvCxnSpPr>
        <p:spPr>
          <a:xfrm rot="16200000" flipH="1">
            <a:off x="10603518" y="4575880"/>
            <a:ext cx="720080" cy="522058"/>
          </a:xfrm>
          <a:prstGeom prst="bentConnector3">
            <a:avLst>
              <a:gd name="adj1" fmla="val 99736"/>
            </a:avLst>
          </a:prstGeom>
          <a:ln w="38100" cap="flat" cmpd="sng" algn="ctr">
            <a:solidFill>
              <a:schemeClr val="accent6"/>
            </a:solidFill>
            <a:prstDash val="solid"/>
            <a:round/>
            <a:headEnd type="non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28" name="TextBox 27">
            <a:extLst>
              <a:ext uri="{FF2B5EF4-FFF2-40B4-BE49-F238E27FC236}">
                <a16:creationId xmlns:a16="http://schemas.microsoft.com/office/drawing/2014/main" id="{D8F7D7A2-B55E-DE99-C331-CAC2C90A6EF8}"/>
              </a:ext>
            </a:extLst>
          </p:cNvPr>
          <p:cNvSpPr txBox="1"/>
          <p:nvPr/>
        </p:nvSpPr>
        <p:spPr bwMode="auto">
          <a:xfrm>
            <a:off x="10702529" y="5225988"/>
            <a:ext cx="768661" cy="234744"/>
          </a:xfrm>
          <a:prstGeom prst="rect">
            <a:avLst/>
          </a:prstGeom>
          <a:noFill/>
          <a:ln w="9525">
            <a:noFill/>
            <a:miter lim="800000"/>
            <a:headEnd/>
            <a:tailEnd/>
          </a:ln>
          <a:effectLst/>
        </p:spPr>
        <p:txBody>
          <a:bodyPr wrap="square" lIns="0" tIns="0" rIns="0" bIns="0" rtlCol="0" anchor="t" anchorCtr="0">
            <a:spAutoFit/>
          </a:bodyPr>
          <a:lstStyle/>
          <a:p>
            <a:pPr marL="0" marR="0" lvl="0" indent="0" algn="l" defTabSz="576000" rtl="0" eaLnBrk="0" fontAlgn="auto" latinLnBrk="0" hangingPunct="0">
              <a:lnSpc>
                <a:spcPct val="120000"/>
              </a:lnSpc>
              <a:spcBef>
                <a:spcPts val="0"/>
              </a:spcBef>
              <a:spcAft>
                <a:spcPts val="0"/>
              </a:spcAft>
              <a:buClr>
                <a:srgbClr val="0A8276"/>
              </a:buClr>
              <a:buSzTx/>
              <a:buFontTx/>
              <a:buNone/>
              <a:tabLst/>
              <a:defRPr/>
            </a:pPr>
            <a:r>
              <a:rPr kumimoji="0" lang="en-US" sz="1400" b="0" i="0" u="none" strike="noStrike" kern="0" cap="none" spc="0" normalizeH="0" baseline="0" noProof="0" dirty="0">
                <a:ln>
                  <a:noFill/>
                </a:ln>
                <a:solidFill>
                  <a:srgbClr val="1D1D1D"/>
                </a:solidFill>
                <a:effectLst/>
                <a:uLnTx/>
                <a:uFillTx/>
                <a:latin typeface="Arial"/>
                <a:cs typeface="Arial"/>
              </a:rPr>
              <a:t>Interrupts</a:t>
            </a:r>
            <a:endParaRPr kumimoji="0" lang="en-US" sz="1400" b="0" i="0" u="none" strike="noStrike" kern="0" cap="none" spc="0" normalizeH="0" baseline="0" noProof="0" dirty="0">
              <a:ln>
                <a:noFill/>
              </a:ln>
              <a:solidFill>
                <a:srgbClr val="1D1D1D"/>
              </a:solidFill>
              <a:effectLst/>
              <a:uLnTx/>
              <a:uFillTx/>
              <a:latin typeface="Arial"/>
              <a:ea typeface="+mn-ea"/>
              <a:cs typeface="Arial"/>
            </a:endParaRPr>
          </a:p>
        </p:txBody>
      </p:sp>
      <p:cxnSp>
        <p:nvCxnSpPr>
          <p:cNvPr id="11" name="Connector: Elbow 10">
            <a:extLst>
              <a:ext uri="{FF2B5EF4-FFF2-40B4-BE49-F238E27FC236}">
                <a16:creationId xmlns:a16="http://schemas.microsoft.com/office/drawing/2014/main" id="{0540DD36-BEFE-9C28-ABD1-B40FDB338964}"/>
              </a:ext>
            </a:extLst>
          </p:cNvPr>
          <p:cNvCxnSpPr>
            <a:cxnSpLocks/>
            <a:stCxn id="46" idx="3"/>
          </p:cNvCxnSpPr>
          <p:nvPr/>
        </p:nvCxnSpPr>
        <p:spPr>
          <a:xfrm flipV="1">
            <a:off x="7083850" y="1779316"/>
            <a:ext cx="378473" cy="436029"/>
          </a:xfrm>
          <a:prstGeom prst="bentConnector2">
            <a:avLst/>
          </a:prstGeom>
          <a:ln w="28575">
            <a:tailEnd type="triangle"/>
          </a:ln>
        </p:spPr>
        <p:style>
          <a:lnRef idx="1">
            <a:schemeClr val="accent6"/>
          </a:lnRef>
          <a:fillRef idx="0">
            <a:schemeClr val="accent6"/>
          </a:fillRef>
          <a:effectRef idx="0">
            <a:schemeClr val="accent6"/>
          </a:effectRef>
          <a:fontRef idx="minor">
            <a:schemeClr val="tx1"/>
          </a:fontRef>
        </p:style>
      </p:cxnSp>
      <p:graphicFrame>
        <p:nvGraphicFramePr>
          <p:cNvPr id="16" name="Table 18">
            <a:extLst>
              <a:ext uri="{FF2B5EF4-FFF2-40B4-BE49-F238E27FC236}">
                <a16:creationId xmlns:a16="http://schemas.microsoft.com/office/drawing/2014/main" id="{3A0F305F-B2BC-E13F-93B4-1EE05DEE4D63}"/>
              </a:ext>
            </a:extLst>
          </p:cNvPr>
          <p:cNvGraphicFramePr>
            <a:graphicFrameLocks noGrp="1"/>
          </p:cNvGraphicFramePr>
          <p:nvPr/>
        </p:nvGraphicFramePr>
        <p:xfrm>
          <a:off x="7733330" y="2706821"/>
          <a:ext cx="1118705" cy="1871280"/>
        </p:xfrm>
        <a:graphic>
          <a:graphicData uri="http://schemas.openxmlformats.org/drawingml/2006/table">
            <a:tbl>
              <a:tblPr firstRow="1" bandRow="1">
                <a:tableStyleId>{69012ECD-51FC-41F1-AA8D-1B2483CD663E}</a:tableStyleId>
              </a:tblPr>
              <a:tblGrid>
                <a:gridCol w="1118705">
                  <a:extLst>
                    <a:ext uri="{9D8B030D-6E8A-4147-A177-3AD203B41FA5}">
                      <a16:colId xmlns:a16="http://schemas.microsoft.com/office/drawing/2014/main" val="73243031"/>
                    </a:ext>
                  </a:extLst>
                </a:gridCol>
              </a:tblGrid>
              <a:tr h="295008">
                <a:tc>
                  <a:txBody>
                    <a:bodyPr/>
                    <a:lstStyle/>
                    <a:p>
                      <a:pPr algn="ctr"/>
                      <a:r>
                        <a:rPr lang="en-US" sz="1000" dirty="0"/>
                        <a:t>IPC </a:t>
                      </a:r>
                    </a:p>
                    <a:p>
                      <a:pPr algn="ctr"/>
                      <a:r>
                        <a:rPr lang="en-US" sz="1000" dirty="0"/>
                        <a:t>Structure</a:t>
                      </a:r>
                    </a:p>
                  </a:txBody>
                  <a:tcPr/>
                </a:tc>
                <a:extLst>
                  <a:ext uri="{0D108BD9-81ED-4DB2-BD59-A6C34878D82A}">
                    <a16:rowId xmlns:a16="http://schemas.microsoft.com/office/drawing/2014/main" val="747986202"/>
                  </a:ext>
                </a:extLst>
              </a:tr>
              <a:tr h="295008">
                <a:tc>
                  <a:txBody>
                    <a:bodyPr/>
                    <a:lstStyle/>
                    <a:p>
                      <a:pPr algn="ctr"/>
                      <a:r>
                        <a:rPr lang="en-US" sz="1000" b="0" dirty="0"/>
                        <a:t>ACQUIRE*</a:t>
                      </a:r>
                    </a:p>
                  </a:txBody>
                  <a:tcPr anchor="ctr">
                    <a:solidFill>
                      <a:srgbClr val="B8DEDA"/>
                    </a:solidFill>
                  </a:tcPr>
                </a:tc>
                <a:extLst>
                  <a:ext uri="{0D108BD9-81ED-4DB2-BD59-A6C34878D82A}">
                    <a16:rowId xmlns:a16="http://schemas.microsoft.com/office/drawing/2014/main" val="820000739"/>
                  </a:ext>
                </a:extLst>
              </a:tr>
              <a:tr h="295008">
                <a:tc>
                  <a:txBody>
                    <a:bodyPr/>
                    <a:lstStyle/>
                    <a:p>
                      <a:pPr algn="ctr"/>
                      <a:r>
                        <a:rPr lang="en-US" sz="1000" dirty="0"/>
                        <a:t>NOTIFY</a:t>
                      </a:r>
                    </a:p>
                  </a:txBody>
                  <a:tcPr anchor="ctr">
                    <a:solidFill>
                      <a:srgbClr val="B8DEDA"/>
                    </a:solidFill>
                  </a:tcPr>
                </a:tc>
                <a:extLst>
                  <a:ext uri="{0D108BD9-81ED-4DB2-BD59-A6C34878D82A}">
                    <a16:rowId xmlns:a16="http://schemas.microsoft.com/office/drawing/2014/main" val="428968837"/>
                  </a:ext>
                </a:extLst>
              </a:tr>
              <a:tr h="295008">
                <a:tc>
                  <a:txBody>
                    <a:bodyPr/>
                    <a:lstStyle/>
                    <a:p>
                      <a:pPr algn="ctr"/>
                      <a:r>
                        <a:rPr lang="en-US" sz="1000" dirty="0"/>
                        <a:t>RELEASE </a:t>
                      </a:r>
                    </a:p>
                  </a:txBody>
                  <a:tcPr anchor="ctr">
                    <a:solidFill>
                      <a:srgbClr val="B8DEDA"/>
                    </a:solidFill>
                  </a:tcPr>
                </a:tc>
                <a:extLst>
                  <a:ext uri="{0D108BD9-81ED-4DB2-BD59-A6C34878D82A}">
                    <a16:rowId xmlns:a16="http://schemas.microsoft.com/office/drawing/2014/main" val="728456935"/>
                  </a:ext>
                </a:extLst>
              </a:tr>
              <a:tr h="295008">
                <a:tc>
                  <a:txBody>
                    <a:bodyPr/>
                    <a:lstStyle/>
                    <a:p>
                      <a:pPr algn="ctr"/>
                      <a:r>
                        <a:rPr lang="en-US" sz="1000" dirty="0"/>
                        <a:t>DATA</a:t>
                      </a:r>
                    </a:p>
                  </a:txBody>
                  <a:tcPr anchor="ctr">
                    <a:solidFill>
                      <a:srgbClr val="B8DEDA"/>
                    </a:solidFill>
                  </a:tcPr>
                </a:tc>
                <a:extLst>
                  <a:ext uri="{0D108BD9-81ED-4DB2-BD59-A6C34878D82A}">
                    <a16:rowId xmlns:a16="http://schemas.microsoft.com/office/drawing/2014/main" val="1956340948"/>
                  </a:ext>
                </a:extLst>
              </a:tr>
              <a:tr h="295008">
                <a:tc>
                  <a:txBody>
                    <a:bodyPr/>
                    <a:lstStyle/>
                    <a:p>
                      <a:pPr algn="ctr"/>
                      <a:r>
                        <a:rPr lang="en-US" sz="1000" dirty="0"/>
                        <a:t>STATUS</a:t>
                      </a:r>
                    </a:p>
                  </a:txBody>
                  <a:tcPr anchor="ctr">
                    <a:solidFill>
                      <a:srgbClr val="B8DEDA"/>
                    </a:solidFill>
                  </a:tcPr>
                </a:tc>
                <a:extLst>
                  <a:ext uri="{0D108BD9-81ED-4DB2-BD59-A6C34878D82A}">
                    <a16:rowId xmlns:a16="http://schemas.microsoft.com/office/drawing/2014/main" val="1575484724"/>
                  </a:ext>
                </a:extLst>
              </a:tr>
            </a:tbl>
          </a:graphicData>
        </a:graphic>
      </p:graphicFrame>
      <p:graphicFrame>
        <p:nvGraphicFramePr>
          <p:cNvPr id="25" name="Table 18">
            <a:extLst>
              <a:ext uri="{FF2B5EF4-FFF2-40B4-BE49-F238E27FC236}">
                <a16:creationId xmlns:a16="http://schemas.microsoft.com/office/drawing/2014/main" id="{3EFAAB74-D561-7F30-BC7E-4D2F10257638}"/>
              </a:ext>
            </a:extLst>
          </p:cNvPr>
          <p:cNvGraphicFramePr>
            <a:graphicFrameLocks noGrp="1"/>
          </p:cNvGraphicFramePr>
          <p:nvPr/>
        </p:nvGraphicFramePr>
        <p:xfrm>
          <a:off x="10136158" y="2648122"/>
          <a:ext cx="1118705" cy="1915590"/>
        </p:xfrm>
        <a:graphic>
          <a:graphicData uri="http://schemas.openxmlformats.org/drawingml/2006/table">
            <a:tbl>
              <a:tblPr firstRow="1" bandRow="1">
                <a:tableStyleId>{69012ECD-51FC-41F1-AA8D-1B2483CD663E}</a:tableStyleId>
              </a:tblPr>
              <a:tblGrid>
                <a:gridCol w="1118705">
                  <a:extLst>
                    <a:ext uri="{9D8B030D-6E8A-4147-A177-3AD203B41FA5}">
                      <a16:colId xmlns:a16="http://schemas.microsoft.com/office/drawing/2014/main" val="73243031"/>
                    </a:ext>
                  </a:extLst>
                </a:gridCol>
              </a:tblGrid>
              <a:tr h="445436">
                <a:tc>
                  <a:txBody>
                    <a:bodyPr/>
                    <a:lstStyle/>
                    <a:p>
                      <a:pPr algn="ctr"/>
                      <a:r>
                        <a:rPr lang="en-US" sz="1000" dirty="0"/>
                        <a:t>Interrupt Structure</a:t>
                      </a:r>
                    </a:p>
                  </a:txBody>
                  <a:tcPr/>
                </a:tc>
                <a:extLst>
                  <a:ext uri="{0D108BD9-81ED-4DB2-BD59-A6C34878D82A}">
                    <a16:rowId xmlns:a16="http://schemas.microsoft.com/office/drawing/2014/main" val="747986202"/>
                  </a:ext>
                </a:extLst>
              </a:tr>
              <a:tr h="735077">
                <a:tc>
                  <a:txBody>
                    <a:bodyPr/>
                    <a:lstStyle/>
                    <a:p>
                      <a:pPr algn="ctr"/>
                      <a:r>
                        <a:rPr lang="en-US" sz="1000" b="0" dirty="0"/>
                        <a:t>NOTIFY</a:t>
                      </a:r>
                    </a:p>
                  </a:txBody>
                  <a:tcPr anchor="ctr">
                    <a:solidFill>
                      <a:srgbClr val="B8DEDA"/>
                    </a:solidFill>
                  </a:tcPr>
                </a:tc>
                <a:extLst>
                  <a:ext uri="{0D108BD9-81ED-4DB2-BD59-A6C34878D82A}">
                    <a16:rowId xmlns:a16="http://schemas.microsoft.com/office/drawing/2014/main" val="820000739"/>
                  </a:ext>
                </a:extLst>
              </a:tr>
              <a:tr h="735077">
                <a:tc>
                  <a:txBody>
                    <a:bodyPr/>
                    <a:lstStyle/>
                    <a:p>
                      <a:pPr algn="ctr"/>
                      <a:r>
                        <a:rPr lang="en-US" sz="1000" dirty="0"/>
                        <a:t>RELEASE</a:t>
                      </a:r>
                    </a:p>
                  </a:txBody>
                  <a:tcPr anchor="ctr">
                    <a:solidFill>
                      <a:srgbClr val="B8DEDA"/>
                    </a:solidFill>
                  </a:tcPr>
                </a:tc>
                <a:extLst>
                  <a:ext uri="{0D108BD9-81ED-4DB2-BD59-A6C34878D82A}">
                    <a16:rowId xmlns:a16="http://schemas.microsoft.com/office/drawing/2014/main" val="428968837"/>
                  </a:ext>
                </a:extLst>
              </a:tr>
            </a:tbl>
          </a:graphicData>
        </a:graphic>
      </p:graphicFrame>
      <p:cxnSp>
        <p:nvCxnSpPr>
          <p:cNvPr id="31" name="Straight Arrow Connector 30">
            <a:extLst>
              <a:ext uri="{FF2B5EF4-FFF2-40B4-BE49-F238E27FC236}">
                <a16:creationId xmlns:a16="http://schemas.microsoft.com/office/drawing/2014/main" id="{4BEA39A8-EFE8-0838-B7B0-197B68C20C04}"/>
              </a:ext>
            </a:extLst>
          </p:cNvPr>
          <p:cNvCxnSpPr>
            <a:cxnSpLocks/>
          </p:cNvCxnSpPr>
          <p:nvPr/>
        </p:nvCxnSpPr>
        <p:spPr>
          <a:xfrm flipV="1">
            <a:off x="10695510" y="1782567"/>
            <a:ext cx="0" cy="865556"/>
          </a:xfrm>
          <a:prstGeom prst="straightConnector1">
            <a:avLst/>
          </a:prstGeom>
          <a:ln w="38100" cap="flat" cmpd="sng" algn="ctr">
            <a:solidFill>
              <a:schemeClr val="accent6"/>
            </a:solidFill>
            <a:prstDash val="solid"/>
            <a:round/>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46" name="Rectangle 45">
            <a:extLst>
              <a:ext uri="{FF2B5EF4-FFF2-40B4-BE49-F238E27FC236}">
                <a16:creationId xmlns:a16="http://schemas.microsoft.com/office/drawing/2014/main" id="{83DB3C59-D8CA-10AF-EC76-A0575574B3D7}"/>
              </a:ext>
            </a:extLst>
          </p:cNvPr>
          <p:cNvSpPr/>
          <p:nvPr/>
        </p:nvSpPr>
        <p:spPr bwMode="auto">
          <a:xfrm>
            <a:off x="6136641" y="1909311"/>
            <a:ext cx="947209" cy="612068"/>
          </a:xfrm>
          <a:prstGeom prst="rect">
            <a:avLst/>
          </a:prstGeom>
          <a:solidFill>
            <a:srgbClr val="9BBA43"/>
          </a:solidFill>
          <a:ln w="9525">
            <a:noFill/>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cs typeface="Arial"/>
              </a:rPr>
              <a:t>SRSS</a:t>
            </a:r>
            <a:endParaRPr kumimoji="0" lang="en-US" sz="1200" b="0" i="0" u="none" strike="noStrike" kern="1200" cap="none" spc="0" normalizeH="0" baseline="0" noProof="0" dirty="0">
              <a:ln>
                <a:noFill/>
              </a:ln>
              <a:solidFill>
                <a:srgbClr val="FFFFFF"/>
              </a:solidFill>
              <a:effectLst/>
              <a:uLnTx/>
              <a:uFillTx/>
              <a:latin typeface="Arial"/>
              <a:ea typeface="+mn-ea"/>
              <a:cs typeface="Arial"/>
            </a:endParaRPr>
          </a:p>
        </p:txBody>
      </p:sp>
      <p:sp>
        <p:nvSpPr>
          <p:cNvPr id="2" name="TextBox 1">
            <a:extLst>
              <a:ext uri="{FF2B5EF4-FFF2-40B4-BE49-F238E27FC236}">
                <a16:creationId xmlns:a16="http://schemas.microsoft.com/office/drawing/2014/main" id="{8AF6E6E7-2E17-A662-0F27-C6FDE88BB72D}"/>
              </a:ext>
            </a:extLst>
          </p:cNvPr>
          <p:cNvSpPr txBox="1"/>
          <p:nvPr/>
        </p:nvSpPr>
        <p:spPr bwMode="auto">
          <a:xfrm>
            <a:off x="6181593" y="6129300"/>
            <a:ext cx="3384376" cy="134139"/>
          </a:xfrm>
          <a:prstGeom prst="rect">
            <a:avLst/>
          </a:prstGeom>
          <a:noFill/>
          <a:ln w="9525">
            <a:noFill/>
            <a:miter lim="800000"/>
            <a:headEnd/>
            <a:tailEnd/>
          </a:ln>
          <a:effectLst/>
        </p:spPr>
        <p:txBody>
          <a:bodyPr wrap="square" lIns="0" tIns="0" rIns="0" bIns="0" rtlCol="0" anchor="t" anchorCtr="0">
            <a:spAutoFit/>
          </a:bodyPr>
          <a:lstStyle/>
          <a:p>
            <a:pPr marL="0" marR="0" lvl="0" indent="0" algn="l" defTabSz="576000" rtl="0" eaLnBrk="0" fontAlgn="auto" latinLnBrk="0" hangingPunct="0">
              <a:lnSpc>
                <a:spcPct val="120000"/>
              </a:lnSpc>
              <a:spcBef>
                <a:spcPts val="0"/>
              </a:spcBef>
              <a:spcAft>
                <a:spcPts val="0"/>
              </a:spcAft>
              <a:buClr>
                <a:srgbClr val="0A8276"/>
              </a:buClr>
              <a:buSzTx/>
              <a:buFontTx/>
              <a:buNone/>
              <a:tabLst/>
              <a:defRPr/>
            </a:pPr>
            <a:r>
              <a:rPr kumimoji="0" lang="en-US" sz="800" b="0" i="0" u="none" strike="noStrike" kern="0" cap="none" spc="0" normalizeH="0" baseline="0" noProof="0" dirty="0">
                <a:ln>
                  <a:noFill/>
                </a:ln>
                <a:solidFill>
                  <a:srgbClr val="1D1D1D"/>
                </a:solidFill>
                <a:effectLst/>
                <a:uLnTx/>
                <a:uFillTx/>
                <a:latin typeface="Arial"/>
                <a:ea typeface="+mn-ea"/>
                <a:cs typeface="Arial"/>
              </a:rPr>
              <a:t>* MS </a:t>
            </a:r>
            <a:r>
              <a:rPr lang="en-US" sz="800" kern="0" dirty="0">
                <a:solidFill>
                  <a:srgbClr val="1D1D1D"/>
                </a:solidFill>
                <a:latin typeface="Arial"/>
                <a:cs typeface="Arial"/>
              </a:rPr>
              <a:t>field</a:t>
            </a:r>
            <a:r>
              <a:rPr kumimoji="0" lang="en-US" sz="800" b="0" i="0" u="none" strike="noStrike" kern="0" cap="none" spc="0" normalizeH="0" baseline="0" noProof="0" dirty="0">
                <a:ln>
                  <a:noFill/>
                </a:ln>
                <a:solidFill>
                  <a:srgbClr val="1D1D1D"/>
                </a:solidFill>
                <a:effectLst/>
                <a:uLnTx/>
                <a:uFillTx/>
                <a:latin typeface="Arial"/>
                <a:ea typeface="+mn-ea"/>
                <a:cs typeface="Arial"/>
              </a:rPr>
              <a:t> of the Acquire register width has been expanded to 8 bits</a:t>
            </a:r>
          </a:p>
        </p:txBody>
      </p:sp>
    </p:spTree>
    <p:extLst>
      <p:ext uri="{BB962C8B-B14F-4D97-AF65-F5344CB8AC3E}">
        <p14:creationId xmlns:p14="http://schemas.microsoft.com/office/powerpoint/2010/main" val="60802659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B3DCD2-C182-4270-932C-829EDBA9AC06}"/>
              </a:ext>
            </a:extLst>
          </p:cNvPr>
          <p:cNvSpPr>
            <a:spLocks noGrp="1"/>
          </p:cNvSpPr>
          <p:nvPr>
            <p:ph type="title" hasCustomPrompt="1"/>
          </p:nvPr>
        </p:nvSpPr>
        <p:spPr/>
        <p:txBody>
          <a:bodyPr/>
          <a:lstStyle/>
          <a:p>
            <a:r>
              <a:rPr dirty="0"/>
              <a:t>Block Diagram of IPC </a:t>
            </a:r>
            <a:r>
              <a:rPr lang="en-US" dirty="0"/>
              <a:t>PDL</a:t>
            </a:r>
            <a:endParaRPr dirty="0"/>
          </a:p>
        </p:txBody>
      </p:sp>
      <p:pic>
        <p:nvPicPr>
          <p:cNvPr id="6" name="Picture 5">
            <a:extLst>
              <a:ext uri="{FF2B5EF4-FFF2-40B4-BE49-F238E27FC236}">
                <a16:creationId xmlns:a16="http://schemas.microsoft.com/office/drawing/2014/main" id="{CAB8A0A0-39B7-4839-8732-C2537E1C5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7949" y="1491660"/>
            <a:ext cx="6619957" cy="4413306"/>
          </a:xfrm>
          <a:prstGeom prst="rect">
            <a:avLst/>
          </a:prstGeom>
        </p:spPr>
      </p:pic>
    </p:spTree>
    <p:extLst>
      <p:ext uri="{BB962C8B-B14F-4D97-AF65-F5344CB8AC3E}">
        <p14:creationId xmlns:p14="http://schemas.microsoft.com/office/powerpoint/2010/main" val="2391874926"/>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F534964-88F1-3188-966D-D25A9D6C5664}"/>
              </a:ext>
            </a:extLst>
          </p:cNvPr>
          <p:cNvSpPr>
            <a:spLocks noGrp="1"/>
          </p:cNvSpPr>
          <p:nvPr>
            <p:ph type="title" hasCustomPrompt="1"/>
          </p:nvPr>
        </p:nvSpPr>
        <p:spPr/>
        <p:txBody>
          <a:bodyPr/>
          <a:lstStyle/>
          <a:p>
            <a:r>
              <a:rPr dirty="0"/>
              <a:t>IPC </a:t>
            </a:r>
            <a:r>
              <a:rPr lang="en-US" dirty="0"/>
              <a:t>PDL</a:t>
            </a:r>
            <a:r>
              <a:rPr dirty="0"/>
              <a:t> (</a:t>
            </a:r>
            <a:r>
              <a:rPr lang="en-US" dirty="0"/>
              <a:t>Peripheral</a:t>
            </a:r>
            <a:r>
              <a:rPr dirty="0"/>
              <a:t> Abstraction Layer)</a:t>
            </a:r>
            <a:r>
              <a:rPr lang="en-US" dirty="0"/>
              <a:t> Functions</a:t>
            </a:r>
            <a:endParaRPr dirty="0"/>
          </a:p>
        </p:txBody>
      </p:sp>
      <p:pic>
        <p:nvPicPr>
          <p:cNvPr id="3" name="Picture 2">
            <a:extLst>
              <a:ext uri="{FF2B5EF4-FFF2-40B4-BE49-F238E27FC236}">
                <a16:creationId xmlns:a16="http://schemas.microsoft.com/office/drawing/2014/main" id="{2BF7EFB4-3F59-4B63-91F0-59479CE69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7368" y="1150666"/>
            <a:ext cx="7697265" cy="4970234"/>
          </a:xfrm>
          <a:prstGeom prst="rect">
            <a:avLst/>
          </a:prstGeom>
        </p:spPr>
      </p:pic>
    </p:spTree>
    <p:extLst>
      <p:ext uri="{BB962C8B-B14F-4D97-AF65-F5344CB8AC3E}">
        <p14:creationId xmlns:p14="http://schemas.microsoft.com/office/powerpoint/2010/main" val="2410884083"/>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0604AA2-C7AD-4573-A95C-9FE87E08588E}"/>
              </a:ext>
            </a:extLst>
          </p:cNvPr>
          <p:cNvPicPr>
            <a:picLocks noGrp="1" noChangeAspect="1"/>
          </p:cNvPicPr>
          <p:nvPr>
            <p:ph sz="quarter" idx="13" hasCustomPrompt="1"/>
          </p:nvPr>
        </p:nvPicPr>
        <p:blipFill>
          <a:blip r:embed="rId3">
            <a:extLst>
              <a:ext uri="{28A0092B-C50C-407E-A947-70E740481C1C}">
                <a14:useLocalDpi xmlns:a14="http://schemas.microsoft.com/office/drawing/2010/main" val="0"/>
              </a:ext>
            </a:extLst>
          </a:blip>
          <a:stretch>
            <a:fillRect/>
          </a:stretch>
        </p:blipFill>
        <p:spPr>
          <a:xfrm>
            <a:off x="3284884" y="188720"/>
            <a:ext cx="4952124" cy="6408632"/>
          </a:xfrm>
        </p:spPr>
      </p:pic>
      <p:sp>
        <p:nvSpPr>
          <p:cNvPr id="3" name="Title 2">
            <a:extLst>
              <a:ext uri="{FF2B5EF4-FFF2-40B4-BE49-F238E27FC236}">
                <a16:creationId xmlns:a16="http://schemas.microsoft.com/office/drawing/2014/main" id="{70E69A7F-6AD6-4D9A-84EE-3B60C2DCE841}"/>
              </a:ext>
            </a:extLst>
          </p:cNvPr>
          <p:cNvSpPr>
            <a:spLocks noGrp="1"/>
          </p:cNvSpPr>
          <p:nvPr>
            <p:ph type="title" hasCustomPrompt="1"/>
          </p:nvPr>
        </p:nvSpPr>
        <p:spPr/>
        <p:txBody>
          <a:bodyPr/>
          <a:lstStyle/>
          <a:p>
            <a:r>
              <a:t>Flow chart </a:t>
            </a:r>
          </a:p>
        </p:txBody>
      </p:sp>
    </p:spTree>
    <p:extLst>
      <p:ext uri="{BB962C8B-B14F-4D97-AF65-F5344CB8AC3E}">
        <p14:creationId xmlns:p14="http://schemas.microsoft.com/office/powerpoint/2010/main" val="311319320"/>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71C29DE-E841-446E-832D-643FA2916856}"/>
              </a:ext>
            </a:extLst>
          </p:cNvPr>
          <p:cNvSpPr>
            <a:spLocks noGrp="1"/>
          </p:cNvSpPr>
          <p:nvPr>
            <p:ph type="pic" sz="quarter" idx="22"/>
          </p:nvPr>
        </p:nvSpPr>
        <p:spPr/>
        <p:txBody>
          <a:bodyPr/>
          <a:lstStyle/>
          <a:p>
            <a:endParaRPr lang="en-US"/>
          </a:p>
        </p:txBody>
      </p:sp>
      <p:sp>
        <p:nvSpPr>
          <p:cNvPr id="3" name="Subtitle 2">
            <a:extLst>
              <a:ext uri="{FF2B5EF4-FFF2-40B4-BE49-F238E27FC236}">
                <a16:creationId xmlns:a16="http://schemas.microsoft.com/office/drawing/2014/main" id="{C64AE1AD-9F6B-405F-85FF-C7E5C4C86084}"/>
              </a:ext>
            </a:extLst>
          </p:cNvPr>
          <p:cNvSpPr>
            <a:spLocks noGrp="1"/>
          </p:cNvSpPr>
          <p:nvPr>
            <p:ph type="subTitle" idx="1" hasCustomPrompt="1"/>
          </p:nvPr>
        </p:nvSpPr>
        <p:spPr/>
        <p:txBody>
          <a:bodyPr/>
          <a:lstStyle/>
          <a:p>
            <a:r>
              <a:rPr>
                <a:solidFill>
                  <a:srgbClr val="0A8276"/>
                </a:solidFill>
              </a:rPr>
              <a:t>Join with us on our mission to drive decarbonization and digitalization Together.</a:t>
            </a:r>
          </a:p>
          <a:p>
            <a:endParaRPr lang="en-US" dirty="0"/>
          </a:p>
        </p:txBody>
      </p:sp>
      <p:sp>
        <p:nvSpPr>
          <p:cNvPr id="4" name="Title 3">
            <a:extLst>
              <a:ext uri="{FF2B5EF4-FFF2-40B4-BE49-F238E27FC236}">
                <a16:creationId xmlns:a16="http://schemas.microsoft.com/office/drawing/2014/main" id="{2F7058AC-79B7-4DC9-A02C-BA1310423DC9}"/>
              </a:ext>
            </a:extLst>
          </p:cNvPr>
          <p:cNvSpPr>
            <a:spLocks noGrp="1"/>
          </p:cNvSpPr>
          <p:nvPr>
            <p:ph type="title" hasCustomPrompt="1"/>
          </p:nvPr>
        </p:nvSpPr>
        <p:spPr/>
        <p:txBody>
          <a:bodyPr/>
          <a:lstStyle/>
          <a:p>
            <a:r>
              <a:t>Thank you! </a:t>
            </a:r>
            <a:br>
              <a:rPr/>
            </a:br>
            <a:r>
              <a:t>Stay tuned for more trainings… </a:t>
            </a:r>
          </a:p>
        </p:txBody>
      </p:sp>
    </p:spTree>
    <p:extLst>
      <p:ext uri="{BB962C8B-B14F-4D97-AF65-F5344CB8AC3E}">
        <p14:creationId xmlns:p14="http://schemas.microsoft.com/office/powerpoint/2010/main" val="2191479559"/>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wQASwwAAAAAAAAAAAAAIAD///////////////8AAAD///////////////8DAAAAAgD///////////////////////////////////////////////////////////////////////////////////////////////////////////////////////////////////////////////////////////////////////////////////////////////////////////////////////////////////////////////////////////////////////////////////////////////////////////////////////////////////////////////////////////////////////////////////////////////////////////////////////////////////////////////////////////////////////////////////////////////////////////////8BACAA////////////////AAAO////////AwAAAAMA////////////////////////////////////////////////////////////////////////////////////////////////////////////////////////////////////////////////////////////////////////////////////////////////////////////////////////////////////////////////////////////////////////////////////////////////////////////////////////////////////////////////////////////////////////////////////////////////////////////////////////////////////////////////////////////////////////////////////////////////////////////////////////AgABAP///////wQAAAACABAAC10GBAEGmsRCrWeMKWDzcgcFAAAAAAADAAAAAAADAAAAAwADAAEA////////BAAAAAMAEAALVNGgrCHzak+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PALAAAAAAAAAAAAACAB////////////////AAAA////////////////BAAAAAMA////////BAAAAAMA////////BAAAAAMA////////BAAAAAMA////////BAAAAAMA////////BAAAAAMA////////////////////////////////////////////////////////////////////////////////////////////////////////////////////////////////////////////////////////////////////////////////////////////////////////////////////////////////////////////////////////////////////////////////////////////////////////////////////////////////////////////////////////////////////////////////////////////////////////////////////////////////AQAgAf///////////////wAADv///////wQAAAACAP///////////////////////////////////////////////////////////////////////////////////////////////////////////////////////////////////////////////////////////////////////////////////////////////////////////////////////////////////////////////////////////////////////////////////////////////////////////////////////////////////////////////////////////////////////////////////////////////////////////////////////////////////////////////////////////////////////////////////////////////////////////////////////wIAAQEDAAAAAgD///////8aAAZMaW5rZWRTaGFwZXNEYXRhUHJvcGVydHlfMAUAAAAAAAQAAAADAAQAAAABAAMABgEDAAAAAwD///////8lAAZMaW5rZWRTaGFwZVByZXNlbnRhdGlvblNldHRpbmdzRGF0YV8wBQAAAAEABAAAAAAABAAAAAIABAAAAAAA////////BAAAAAAA////////BAAAAAAA////////BAAA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F0GBAEGmsRCrWeMKWDzcgcDRGF0YQAbAAAABExpbmtlZFNoYXBlRGF0YQAFAAAAAAACTmFtZQAZAAAATGlua2VkU2hhcGVzRGF0YVByb3BlcnR5ABBWZXJzaW9uAAAAAAAJTGFzdFdyaXRlAEHvOgOCAQAAAAE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EMPOWER.INTEGRATIONS.LOCALMASTER" val="{&quot;path&quot;:null,&quot;elementId&quot;:&quot;f8120ca7-cceb-428f-a7d0-f20ce9397e1b&quot;,&quot;elementName&quot;:null,&quot;databaseId&quot;:&quot;FDE84254-54DB-49E3-9A0E-CDE72035D530&quot;,&quot;timeStamp&quot;:&quot;2025-06-26T13:03:05&quot;}"/>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FALLBACK_LAYOUT" val="6"/>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20"/>
  <p:tag name="MIO_HDS" val="True"/>
  <p:tag name="MIO_SKIPVERSION" val="01.01.0001 00:00:00"/>
  <p:tag name="MIO_EKGUID" val="f8120ca7-cceb-428f-a7d0-f20ce9397e1b"/>
  <p:tag name="MIO_UPDATE" val="True"/>
  <p:tag name="MIO_VERSION" val="26.06.2025 13:03:05"/>
  <p:tag name="MIO_DBID" val="FDE84254-54DB-49E3-9A0E-CDE72035D530"/>
  <p:tag name="MIO_LASTDOWNLOADED" val="22.10.2025 17:03:41.079"/>
  <p:tag name="MIO_OBJECTNAME" val="Infineon LCD 16:9"/>
  <p:tag name="MIO_CONTENTTAG" val="tZYKi94fO0WkUe8IIAF0WQ=="/>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4.xml><?xml version="1.0" encoding="utf-8"?>
<p:tagLst xmlns:a="http://schemas.openxmlformats.org/drawingml/2006/main" xmlns:r="http://schemas.openxmlformats.org/officeDocument/2006/relationships" xmlns:p="http://schemas.openxmlformats.org/presentationml/2006/main">
  <p:tag name="MIO_SKIP_CDCHECK" val="True"/>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 id="{DD3CE8C4-6EBB-48D9-BB8F-4315F6FFD615}" vid="{004C7EB7-F43D-4135-B9F2-C999680F59B6}"/>
    </a:ext>
  </a:extLst>
</a:theme>
</file>

<file path=ppt/theme/theme2.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0347378EA1C7B40B791B4A9FAEBC72E" ma:contentTypeVersion="1" ma:contentTypeDescription="Create a new document." ma:contentTypeScope="" ma:versionID="dac419b5e4b08ef6434e405bf3dae512">
  <xsd:schema xmlns:xsd="http://www.w3.org/2001/XMLSchema" xmlns:xs="http://www.w3.org/2001/XMLSchema" xmlns:p="http://schemas.microsoft.com/office/2006/metadata/properties" xmlns:ns2="0ff2502a-f5fc-4900-8b9d-01d591984867" targetNamespace="http://schemas.microsoft.com/office/2006/metadata/properties" ma:root="true" ma:fieldsID="8df1d2d8bf6da93316c8b7386a9c82fd" ns2:_="">
    <xsd:import namespace="0ff2502a-f5fc-4900-8b9d-01d591984867"/>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f2502a-f5fc-4900-8b9d-01d59198486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C6748B-B74E-4BE1-834C-AEBB9BCA18FB}">
  <ds:schemaRefs>
    <ds:schemaRef ds:uri="http://schemas.microsoft.com/sharepoint/v3/contenttype/forms"/>
  </ds:schemaRefs>
</ds:datastoreItem>
</file>

<file path=customXml/itemProps2.xml><?xml version="1.0" encoding="utf-8"?>
<ds:datastoreItem xmlns:ds="http://schemas.openxmlformats.org/officeDocument/2006/customXml" ds:itemID="{D299A1D5-F553-4264-9022-E0136C61CE27}">
  <ds:schemaRefs>
    <ds:schemaRef ds:uri="http://purl.org/dc/dcmitype/"/>
    <ds:schemaRef ds:uri="http://www.w3.org/XML/1998/namespace"/>
    <ds:schemaRef ds:uri="http://purl.org/dc/terms/"/>
    <ds:schemaRef ds:uri="http://schemas.openxmlformats.org/package/2006/metadata/core-properties"/>
    <ds:schemaRef ds:uri="http://purl.org/dc/elements/1.1/"/>
    <ds:schemaRef ds:uri="http://schemas.microsoft.com/office/2006/documentManagement/types"/>
    <ds:schemaRef ds:uri="0ff2502a-f5fc-4900-8b9d-01d591984867"/>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CA3D29AE-A8A3-402F-BC9A-4FB49B8660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f2502a-f5fc-4900-8b9d-01d5919848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43796</TotalTime>
  <Words>7432</Words>
  <Application>Microsoft Office PowerPoint</Application>
  <PresentationFormat>Widescreen</PresentationFormat>
  <Paragraphs>845</Paragraphs>
  <Slides>53</Slides>
  <Notes>46</Notes>
  <HiddenSlides>17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Arial Unicode MS</vt:lpstr>
      <vt:lpstr>Source Sans Pro</vt:lpstr>
      <vt:lpstr>SourceSansPro</vt:lpstr>
      <vt:lpstr>Verdana</vt:lpstr>
      <vt:lpstr>Wingdings</vt:lpstr>
      <vt:lpstr>Infineon 16:9</vt:lpstr>
      <vt:lpstr>Introduction to PSOC™ Edge E84 Getting Started with the Development Ecosystem (E2)</vt:lpstr>
      <vt:lpstr>Agenda</vt:lpstr>
      <vt:lpstr>PSOC™ Edge E84 Resources </vt:lpstr>
      <vt:lpstr>Firmware / Application Development</vt:lpstr>
      <vt:lpstr>Support for IDEs</vt:lpstr>
      <vt:lpstr>Understanding ModusToolbox™ and Zephyr</vt:lpstr>
      <vt:lpstr>Overview of DEEPCRAFT™ Studio and ModusToolbox™ workflow</vt:lpstr>
      <vt:lpstr>Installation support within ModusToolbox Setup</vt:lpstr>
      <vt:lpstr>Code Examples with DEEPCRAFT™ and ModusToolbox™ </vt:lpstr>
      <vt:lpstr>DEEPCRAFT™ Studio Model Code Generation</vt:lpstr>
      <vt:lpstr>Tools utilized in this presentation</vt:lpstr>
      <vt:lpstr>Project Creator </vt:lpstr>
      <vt:lpstr>Understanding the Application Structure </vt:lpstr>
      <vt:lpstr>Library Manager </vt:lpstr>
      <vt:lpstr>BSP Configurators </vt:lpstr>
      <vt:lpstr>Device Configurator  </vt:lpstr>
      <vt:lpstr>Device Configurator contd…</vt:lpstr>
      <vt:lpstr>Device Configurator contd…</vt:lpstr>
      <vt:lpstr>Device Configurator contd…</vt:lpstr>
      <vt:lpstr>Device Configurator contd…</vt:lpstr>
      <vt:lpstr>Device Configurator contd…</vt:lpstr>
      <vt:lpstr>Device Configurator contd…</vt:lpstr>
      <vt:lpstr>Device Configurator contd…</vt:lpstr>
      <vt:lpstr>Device Configurator contd…</vt:lpstr>
      <vt:lpstr>Device Configurator contd…</vt:lpstr>
      <vt:lpstr>QSPI Configurator</vt:lpstr>
      <vt:lpstr>SMART I/O Configurator</vt:lpstr>
      <vt:lpstr>Application Booting sequence</vt:lpstr>
      <vt:lpstr>Device lifecycle and provisioning</vt:lpstr>
      <vt:lpstr>Secure and Non-Secure Operating Modes</vt:lpstr>
      <vt:lpstr>Security Domain Assignment</vt:lpstr>
      <vt:lpstr>Edge Protect Configurator </vt:lpstr>
      <vt:lpstr>Memory Overview </vt:lpstr>
      <vt:lpstr>Linker Scripts </vt:lpstr>
      <vt:lpstr>Firmware/application development :Software Resources</vt:lpstr>
      <vt:lpstr>Firmware/application development : Software Resources</vt:lpstr>
      <vt:lpstr>Firmware/application development : Software Resources</vt:lpstr>
      <vt:lpstr>Firmware/application development : Software Resources</vt:lpstr>
      <vt:lpstr>  FreeRTOS support with ModusToolbox™</vt:lpstr>
      <vt:lpstr>PSOC™ Edge E84 MCU development kit – Top View </vt:lpstr>
      <vt:lpstr>PSOC™ Edge E84 MCU development kit – Back View </vt:lpstr>
      <vt:lpstr>PSOC™ Edge E84 MCU SOM – Top View</vt:lpstr>
      <vt:lpstr>PSOC™ Edge E84 MCU SOM – Bottom View</vt:lpstr>
      <vt:lpstr>Programming/debugging</vt:lpstr>
      <vt:lpstr>Code Example #1: Hello World + Blinky</vt:lpstr>
      <vt:lpstr>Description of Hello World + Blinky example </vt:lpstr>
      <vt:lpstr>Flow chart</vt:lpstr>
      <vt:lpstr>Code Example #2: IPC Semaphores using PDL</vt:lpstr>
      <vt:lpstr>Overview of IPC </vt:lpstr>
      <vt:lpstr>Block Diagram of IPC PDL</vt:lpstr>
      <vt:lpstr>IPC PDL (Peripheral Abstraction Layer) Functions</vt:lpstr>
      <vt:lpstr>Flow chart </vt:lpstr>
      <vt:lpstr>Thank you!  Stay tuned for more trainings… </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PSoC™ Edge E84</dc:title>
  <dc:creator>Rama Krishna Padma Mohan Kumar (IFINS CSS ICW APP MCU EC)</dc:creator>
  <cp:lastModifiedBy>Phillips Craig (CSS ICW MCU APP CES)</cp:lastModifiedBy>
  <cp:revision>868</cp:revision>
  <cp:lastPrinted>2023-10-09T12:24:17Z</cp:lastPrinted>
  <dcterms:created xsi:type="dcterms:W3CDTF">2023-08-09T08:50:02Z</dcterms:created>
  <dcterms:modified xsi:type="dcterms:W3CDTF">2025-11-12T20:26:08Z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public</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0x01010030347378EA1C7B40B791B4A9FAEBC72E</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2025-11-12T03:08:39Z</vt:filetime>
  </property>
  <property fmtid="{D5CDD505-2E9C-101B-9397-08002B2CF9AE}" pid="15" name="empower.integration.Classification.DateFormat">
    <vt:lpwstr>d MMM yyyy</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MSIP_Label_56324211-5033-4782-8e72-c0d1146c3a50_Enabled">
    <vt:bool>true</vt:bool>
  </property>
  <property fmtid="{D5CDD505-2E9C-101B-9397-08002B2CF9AE}" pid="23" name="MSIP_Label_56324211-5033-4782-8e72-c0d1146c3a50_SetDate">
    <vt:lpwstr>2025-11-12 03:08:42Z</vt:lpwstr>
  </property>
  <property fmtid="{D5CDD505-2E9C-101B-9397-08002B2CF9AE}" pid="24" name="MSIP_Label_56324211-5033-4782-8e72-c0d1146c3a50_Method">
    <vt:lpwstr>Privileged</vt:lpwstr>
  </property>
  <property fmtid="{D5CDD505-2E9C-101B-9397-08002B2CF9AE}" pid="25" name="MSIP_Label_56324211-5033-4782-8e72-c0d1146c3a50_Name">
    <vt:lpwstr>56324211-5033-4782-8e72-c0d1146c3a50</vt:lpwstr>
  </property>
  <property fmtid="{D5CDD505-2E9C-101B-9397-08002B2CF9AE}" pid="26" name="MSIP_Label_56324211-5033-4782-8e72-c0d1146c3a50_SiteId">
    <vt:lpwstr>eeb8d0e8-3544-41d3-aac6-934c309faf5a</vt:lpwstr>
  </property>
  <property fmtid="{D5CDD505-2E9C-101B-9397-08002B2CF9AE}" pid="27" name="MSIP_Label_56324211-5033-4782-8e72-c0d1146c3a50_ActionId">
    <vt:lpwstr>b325a614-f034-4140-a89d-9cae05ed4ed5</vt:lpwstr>
  </property>
  <property fmtid="{D5CDD505-2E9C-101B-9397-08002B2CF9AE}" pid="28" name="MSIP_Label_56324211-5033-4782-8e72-c0d1146c3a50_ContentBits">
    <vt:lpwstr>0</vt:lpwstr>
  </property>
</Properties>
</file>