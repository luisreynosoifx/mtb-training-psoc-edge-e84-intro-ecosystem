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heme/theme2.xml" ContentType="application/vnd.openxmlformats-officedocument.theme+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heme/theme3.xml" ContentType="application/vnd.openxmlformats-officedocument.theme+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notesSlides/notesSlide1.xml" ContentType="application/vnd.openxmlformats-officedocument.presentationml.notesSlide+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notesSlides/notesSlide2.xml" ContentType="application/vnd.openxmlformats-officedocument.presentationml.notesSlide+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78" r:id="rId4"/>
  </p:sldMasterIdLst>
  <p:notesMasterIdLst>
    <p:notesMasterId r:id="rId52"/>
  </p:notesMasterIdLst>
  <p:handoutMasterIdLst>
    <p:handoutMasterId r:id="rId53"/>
  </p:handoutMasterIdLst>
  <p:sldIdLst>
    <p:sldId id="2147480829" r:id="rId5"/>
    <p:sldId id="2147481298" r:id="rId6"/>
    <p:sldId id="2147481299" r:id="rId7"/>
    <p:sldId id="2147480831" r:id="rId8"/>
    <p:sldId id="2147480832" r:id="rId9"/>
    <p:sldId id="2147480833" r:id="rId10"/>
    <p:sldId id="2147481295" r:id="rId11"/>
    <p:sldId id="2147481296" r:id="rId12"/>
    <p:sldId id="2147480837" r:id="rId13"/>
    <p:sldId id="2147480838" r:id="rId14"/>
    <p:sldId id="2147480836" r:id="rId15"/>
    <p:sldId id="2147480839" r:id="rId16"/>
    <p:sldId id="2147480840" r:id="rId17"/>
    <p:sldId id="2147480841" r:id="rId18"/>
    <p:sldId id="2147480842" r:id="rId19"/>
    <p:sldId id="2147480843" r:id="rId20"/>
    <p:sldId id="2147480854" r:id="rId21"/>
    <p:sldId id="2147480855" r:id="rId22"/>
    <p:sldId id="2147480856" r:id="rId23"/>
    <p:sldId id="2147480857" r:id="rId24"/>
    <p:sldId id="2147480858" r:id="rId25"/>
    <p:sldId id="2147480859" r:id="rId26"/>
    <p:sldId id="2147480860" r:id="rId27"/>
    <p:sldId id="2147480861" r:id="rId28"/>
    <p:sldId id="2147480862" r:id="rId29"/>
    <p:sldId id="2147480863" r:id="rId30"/>
    <p:sldId id="2147480864" r:id="rId31"/>
    <p:sldId id="2147480865" r:id="rId32"/>
    <p:sldId id="2147480866" r:id="rId33"/>
    <p:sldId id="2147480867" r:id="rId34"/>
    <p:sldId id="2147480868" r:id="rId35"/>
    <p:sldId id="2147480869" r:id="rId36"/>
    <p:sldId id="2147480870" r:id="rId37"/>
    <p:sldId id="2147480871" r:id="rId38"/>
    <p:sldId id="2147480872" r:id="rId39"/>
    <p:sldId id="2147481300" r:id="rId40"/>
    <p:sldId id="2147481290" r:id="rId41"/>
    <p:sldId id="2147480874" r:id="rId42"/>
    <p:sldId id="2147481291" r:id="rId43"/>
    <p:sldId id="2147481301" r:id="rId44"/>
    <p:sldId id="2147481292" r:id="rId45"/>
    <p:sldId id="2147480877" r:id="rId46"/>
    <p:sldId id="2147480878" r:id="rId47"/>
    <p:sldId id="2147480879" r:id="rId48"/>
    <p:sldId id="2147480880" r:id="rId49"/>
    <p:sldId id="757" r:id="rId50"/>
    <p:sldId id="2076137485" r:id="rId51"/>
  </p:sldIdLst>
  <p:sldSz cx="12192000" cy="6858000"/>
  <p:notesSz cx="7104063" cy="10234613"/>
  <p:custDataLst>
    <p:tags r:id="rId54"/>
  </p:custDataLst>
  <p:defaultTex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Title section" id="{0869A68B-0EEF-431F-BD2A-23A74D1A85C2}">
          <p14:sldIdLst>
            <p14:sldId id="2147480829"/>
            <p14:sldId id="2147481298"/>
          </p14:sldIdLst>
        </p14:section>
        <p14:section name="Development ecosystem for PSOC™ Edge E84" id="{B8F81093-4B91-4E55-A97E-B28D13895DBB}">
          <p14:sldIdLst>
            <p14:sldId id="2147481299"/>
            <p14:sldId id="2147480831"/>
            <p14:sldId id="2147480832"/>
            <p14:sldId id="2147480833"/>
            <p14:sldId id="2147481295"/>
            <p14:sldId id="2147481296"/>
            <p14:sldId id="2147480837"/>
            <p14:sldId id="2147480838"/>
            <p14:sldId id="2147480836"/>
            <p14:sldId id="2147480839"/>
            <p14:sldId id="2147480840"/>
            <p14:sldId id="2147480841"/>
            <p14:sldId id="2147480842"/>
            <p14:sldId id="2147480843"/>
            <p14:sldId id="2147480854"/>
            <p14:sldId id="2147480855"/>
            <p14:sldId id="2147480856"/>
            <p14:sldId id="2147480857"/>
            <p14:sldId id="2147480858"/>
            <p14:sldId id="2147480859"/>
            <p14:sldId id="2147480860"/>
            <p14:sldId id="2147480861"/>
            <p14:sldId id="2147480862"/>
            <p14:sldId id="2147480863"/>
            <p14:sldId id="2147480864"/>
            <p14:sldId id="2147480865"/>
            <p14:sldId id="2147480866"/>
            <p14:sldId id="2147480867"/>
            <p14:sldId id="2147480868"/>
            <p14:sldId id="2147480869"/>
            <p14:sldId id="2147480870"/>
            <p14:sldId id="2147480871"/>
            <p14:sldId id="2147480872"/>
          </p14:sldIdLst>
        </p14:section>
        <p14:section name="Code Example 1: Hello World + Blinky" id="{47853EB3-E871-4A37-9CBE-9A160ADFCA5A}">
          <p14:sldIdLst>
            <p14:sldId id="2147481300"/>
            <p14:sldId id="2147481290"/>
            <p14:sldId id="2147480874"/>
            <p14:sldId id="2147481291"/>
          </p14:sldIdLst>
        </p14:section>
        <p14:section name="Code Example 2: IPC Semaphores using PDL API" id="{07DC7DE2-E3EE-46DA-9CA7-A2C3771CC418}">
          <p14:sldIdLst>
            <p14:sldId id="2147481301"/>
            <p14:sldId id="2147481292"/>
            <p14:sldId id="2147480877"/>
            <p14:sldId id="2147480878"/>
            <p14:sldId id="2147480879"/>
            <p14:sldId id="2147480880"/>
          </p14:sldIdLst>
        </p14:section>
        <p14:section name="Revision history" id="{A833DF9F-62C4-4D37-9E64-991FEAB11B56}">
          <p14:sldIdLst>
            <p14:sldId id="757"/>
          </p14:sldIdLst>
        </p14:section>
        <p14:section name="Last Section" id="{959521A0-BF7D-4D6A-961F-4CE604D659C5}">
          <p14:sldIdLst>
            <p14:sldId id="2076137485"/>
          </p14:sldIdLst>
        </p14:section>
      </p14:sectionLst>
    </p:ex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187" userDrawn="1">
          <p15:clr>
            <a:srgbClr val="A4A3A4"/>
          </p15:clr>
        </p15:guide>
        <p15:guide id="2" orient="horz" pos="638" userDrawn="1">
          <p15:clr>
            <a:srgbClr val="A4A3A4"/>
          </p15:clr>
        </p15:guide>
        <p15:guide id="3" orient="horz" pos="453" userDrawn="1">
          <p15:clr>
            <a:srgbClr val="A4A3A4"/>
          </p15:clr>
        </p15:guide>
        <p15:guide id="4" orient="horz" pos="6262" userDrawn="1">
          <p15:clr>
            <a:srgbClr val="A4A3A4"/>
          </p15:clr>
        </p15:guide>
        <p15:guide id="5" pos="4189" userDrawn="1">
          <p15:clr>
            <a:srgbClr val="A4A3A4"/>
          </p15:clr>
        </p15:guide>
        <p15:guide id="6" pos="286" userDrawn="1">
          <p15:clr>
            <a:srgbClr val="A4A3A4"/>
          </p15:clr>
        </p15:guide>
        <p15:guide id="7" pos="831" userDrawn="1">
          <p15:clr>
            <a:srgbClr val="A4A3A4"/>
          </p15:clr>
        </p15:guide>
        <p15:guide id="8" pos="3872"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95900F-D047-BE89-3F90-0979D368E73F}" name="Bhuvankumar Nishaa (DCI DCP TP 2)" initials="NB" userId="S::Nishaa.Bhuvankumar@infineon.com::a74cbcb7-3661-46a5-a815-ebd69be1c6b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DC7A1"/>
    <a:srgbClr val="CD5C12"/>
    <a:srgbClr val="FFFFFF"/>
    <a:srgbClr val="EFF3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21E4AEA4-8DFA-4A89-87EB-49C32662AFE0}" styleName="Medium Style 2 - Accent 2">
    <a:wholeTbl>
      <a:tcTxStyle>
        <a:fontRef idx="minor">
          <a:prstClr val="black"/>
        </a:fontRef>
        <a:schemeClr val="dk1"/>
      </a:tcTxStyle>
      <a:tcStyle>
        <a:tcBdr>
          <a:left>
            <a:ln w="9525" cmpd="sng">
              <a:solidFill>
                <a:schemeClr val="lt1"/>
              </a:solidFill>
            </a:ln>
          </a:left>
          <a:right>
            <a:ln w="9525" cmpd="sng">
              <a:solidFill>
                <a:srgbClr val="FFFFFF"/>
              </a:solidFill>
            </a:ln>
          </a:right>
          <a:top>
            <a:ln w="9525" cmpd="sng">
              <a:solidFill>
                <a:srgbClr val="FFFFFF"/>
              </a:solidFill>
            </a:ln>
          </a:top>
          <a:bottom>
            <a:ln w="9525" cmpd="sng">
              <a:solidFill>
                <a:srgbClr val="FFFFFF"/>
              </a:solidFill>
            </a:ln>
          </a:bottom>
          <a:insideH>
            <a:ln w="9525" cmpd="sng">
              <a:solidFill>
                <a:srgbClr val="FFFFFF"/>
              </a:solidFill>
            </a:ln>
          </a:insideH>
          <a:insideV>
            <a:ln w="9525" cmpd="sng">
              <a:solidFill>
                <a:srgbClr val="FFFFFF"/>
              </a:solidFill>
            </a:ln>
          </a:insideV>
        </a:tcBdr>
        <a:fill>
          <a:solidFill>
            <a:schemeClr val="lt2"/>
          </a:solidFill>
        </a:fill>
      </a:tcStyle>
    </a:wholeTbl>
    <a:band1H>
      <a:tcStyle>
        <a:tcBdr/>
      </a:tcStyle>
    </a:band1H>
    <a:band2H>
      <a:tcTxStyle>
        <a:fontRef idx="minor">
          <a:prstClr val="white"/>
        </a:fontRef>
        <a:schemeClr val="lt1"/>
      </a:tcTxStyle>
      <a:tcStyle>
        <a:tcBdr/>
        <a:fill>
          <a:solidFill>
            <a:schemeClr val="accent2"/>
          </a:solidFill>
        </a:fill>
      </a:tcStyle>
    </a:band2H>
    <a:band1V>
      <a:tcStyle>
        <a:tcBdr/>
      </a:tcStyle>
    </a:band1V>
    <a:band2V>
      <a:tcTxStyle>
        <a:fontRef idx="minor">
          <a:prstClr val="white"/>
        </a:fontRef>
        <a:schemeClr val="lt1"/>
      </a:tcTxStyle>
      <a:tcStyle>
        <a:tcBdr/>
        <a:fill>
          <a:solidFill>
            <a:schemeClr val="accent2"/>
          </a:solidFill>
        </a:fill>
      </a:tcStyle>
    </a:band2V>
    <a:lastCol>
      <a:tcTxStyle b="on">
        <a:fontRef idx="minor">
          <a:prstClr val="white"/>
        </a:fontRef>
        <a:schemeClr val="lt1"/>
      </a:tcTxStyle>
      <a:tcStyle>
        <a:tcBdr/>
        <a:fill>
          <a:solidFill>
            <a:schemeClr val="accent2"/>
          </a:solidFill>
        </a:fill>
      </a:tcStyle>
    </a:lastCol>
    <a:firstCol>
      <a:tcTxStyle b="on">
        <a:fontRef idx="minor">
          <a:prstClr val="white"/>
        </a:fontRef>
        <a:schemeClr val="lt1"/>
      </a:tcTxStyle>
      <a:tcStyle>
        <a:tcBdr/>
        <a:fill>
          <a:solidFill>
            <a:schemeClr val="accent2"/>
          </a:solidFill>
        </a:fill>
      </a:tcStyle>
    </a:firstCol>
    <a:lastRow>
      <a:tcTxStyle b="on">
        <a:fontRef idx="minor">
          <a:prstClr val="white"/>
        </a:fontRef>
        <a:schemeClr val="lt1"/>
      </a:tcTxStyle>
      <a:tcStyle>
        <a:tcBdr/>
        <a:fill>
          <a:solidFill>
            <a:schemeClr val="accent2"/>
          </a:solidFill>
        </a:fill>
      </a:tcStyle>
    </a:lastRow>
    <a:firstRow>
      <a:tcTxStyle b="on">
        <a:fontRef idx="minor">
          <a:prstClr val="white"/>
        </a:fontRef>
        <a:schemeClr val="lt1"/>
      </a:tcTxStyle>
      <a:tcStyle>
        <a:tcBdr/>
        <a:fill>
          <a:solidFill>
            <a:schemeClr val="accent2"/>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94306" autoAdjust="0"/>
  </p:normalViewPr>
  <p:slideViewPr>
    <p:cSldViewPr snapToObjects="1" showGuides="1">
      <p:cViewPr varScale="1">
        <p:scale>
          <a:sx n="68" d="100"/>
          <a:sy n="68" d="100"/>
        </p:scale>
        <p:origin x="86" y="374"/>
      </p:cViewPr>
      <p:guideLst>
        <p:guide pos="3840"/>
        <p:guide orient="horz" pos="2160"/>
      </p:guideLst>
    </p:cSldViewPr>
  </p:slideViewPr>
  <p:outlineViewPr>
    <p:cViewPr>
      <p:scale>
        <a:sx n="33" d="100"/>
        <a:sy n="33" d="100"/>
      </p:scale>
      <p:origin x="0" y="-2964"/>
    </p:cViewPr>
  </p:outlineViewPr>
  <p:notesTextViewPr>
    <p:cViewPr>
      <p:scale>
        <a:sx n="125" d="100"/>
        <a:sy n="125" d="100"/>
      </p:scale>
      <p:origin x="0" y="0"/>
    </p:cViewPr>
  </p:notesTextViewPr>
  <p:sorterViewPr>
    <p:cViewPr>
      <p:scale>
        <a:sx n="200" d="100"/>
        <a:sy n="200" d="100"/>
      </p:scale>
      <p:origin x="0" y="0"/>
    </p:cViewPr>
  </p:sorterViewPr>
  <p:notesViewPr>
    <p:cSldViewPr snapToObjects="1" showGuides="1">
      <p:cViewPr varScale="1">
        <p:scale>
          <a:sx n="106" d="100"/>
          <a:sy n="106" d="100"/>
        </p:scale>
        <p:origin x="3240" y="108"/>
      </p:cViewPr>
      <p:guideLst>
        <p:guide orient="horz" pos="187"/>
        <p:guide orient="horz" pos="638"/>
        <p:guide orient="horz" pos="453"/>
        <p:guide orient="horz" pos="6262"/>
        <p:guide pos="4189"/>
        <p:guide pos="286"/>
        <p:guide pos="831"/>
        <p:guide pos="3872"/>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gs" Target="tags/tag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8" Type="http://schemas.openxmlformats.org/officeDocument/2006/relationships/tags" Target="../tags/tag87.xml"/><Relationship Id="rId3" Type="http://schemas.openxmlformats.org/officeDocument/2006/relationships/tags" Target="../tags/tag82.xml"/><Relationship Id="rId7" Type="http://schemas.openxmlformats.org/officeDocument/2006/relationships/tags" Target="../tags/tag86.xml"/><Relationship Id="rId12" Type="http://schemas.openxmlformats.org/officeDocument/2006/relationships/image" Target="../media/image4.png"/><Relationship Id="rId2" Type="http://schemas.openxmlformats.org/officeDocument/2006/relationships/tags" Target="../tags/tag81.xml"/><Relationship Id="rId1" Type="http://schemas.openxmlformats.org/officeDocument/2006/relationships/theme" Target="../theme/theme3.xml"/><Relationship Id="rId6" Type="http://schemas.openxmlformats.org/officeDocument/2006/relationships/tags" Target="../tags/tag85.xml"/><Relationship Id="rId11" Type="http://schemas.openxmlformats.org/officeDocument/2006/relationships/tags" Target="../tags/tag90.xml"/><Relationship Id="rId5" Type="http://schemas.openxmlformats.org/officeDocument/2006/relationships/tags" Target="../tags/tag84.xml"/><Relationship Id="rId10" Type="http://schemas.openxmlformats.org/officeDocument/2006/relationships/tags" Target="../tags/tag89.xml"/><Relationship Id="rId4" Type="http://schemas.openxmlformats.org/officeDocument/2006/relationships/tags" Target="../tags/tag83.xml"/><Relationship Id="rId9" Type="http://schemas.openxmlformats.org/officeDocument/2006/relationships/tags" Target="../tags/tag8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200">
                <a:latin typeface="Tahoma" pitchFamily="34" charset="0"/>
              </a:defRPr>
            </a:lvl1pPr>
          </a:lstStyle>
          <a:p>
            <a:endParaRPr lang="en-US" sz="100" dirty="0">
              <a:noFill/>
              <a:latin typeface="Arial" panose="020B0604020202020204" pitchFamily="34" charset="0"/>
              <a:cs typeface="Arial" panose="020B0604020202020204" pitchFamily="34" charset="0"/>
            </a:endParaRPr>
          </a:p>
        </p:txBody>
      </p:sp>
      <p:sp>
        <p:nvSpPr>
          <p:cNvPr id="7" name="Footer Placeholder" hidden="1"/>
          <p:cNvSpPr>
            <a:spLocks noGrp="1"/>
          </p:cNvSpPr>
          <p:nvPr>
            <p:ph type="ftr" sz="quarter" idx="2"/>
            <p:custDataLst>
              <p:tags r:id="rId3"/>
            </p:custDataLst>
          </p:nvPr>
        </p:nvSpPr>
        <p:spPr>
          <a:xfrm>
            <a:off x="7104063" y="10234613"/>
            <a:ext cx="0" cy="0"/>
          </a:xfrm>
          <a:prstGeom prst="rect">
            <a:avLst/>
          </a:prstGeom>
        </p:spPr>
        <p:txBody>
          <a:bodyPr vert="horz" lIns="91440" tIns="45720" rIns="91440" bIns="45720" rtlCol="0" anchor="ctr"/>
          <a:lstStyle>
            <a:lvl1pPr algn="l">
              <a:defRPr sz="1200"/>
            </a:lvl1pPr>
          </a:lstStyle>
          <a:p>
            <a:pPr algn="ctr"/>
            <a:r>
              <a:rPr lang="en-US" sz="100" dirty="0">
                <a:noFill/>
                <a:latin typeface="Arial" panose="020B0604020202020204" pitchFamily="34" charset="0"/>
                <a:ea typeface="Verdana" pitchFamily="34" charset="0"/>
                <a:cs typeface="Arial" panose="020B0604020202020204" pitchFamily="34" charset="0"/>
              </a:rPr>
              <a:t>Copyright © Infineon Technologies AG 2020. All rights reserved.</a:t>
            </a:r>
          </a:p>
          <a:p>
            <a:pPr algn="ctr"/>
            <a:r>
              <a:rPr lang="en-US" sz="100" b="1" dirty="0">
                <a:noFill/>
                <a:latin typeface="Arial" panose="020B0604020202020204" pitchFamily="34" charset="0"/>
                <a:ea typeface="Verdana" pitchFamily="34" charset="0"/>
                <a:cs typeface="Arial" panose="020B0604020202020204" pitchFamily="34" charset="0"/>
              </a:rPr>
              <a:t>public</a:t>
            </a:r>
          </a:p>
        </p:txBody>
      </p:sp>
      <p:sp>
        <p:nvSpPr>
          <p:cNvPr id="9" name="Date Placeholder" hidden="1"/>
          <p:cNvSpPr>
            <a:spLocks noGrp="1"/>
          </p:cNvSpPr>
          <p:nvPr>
            <p:ph type="dt" sz="quarter" idx="1"/>
            <p:custDataLst>
              <p:tags r:id="rId4"/>
            </p:custDataLst>
          </p:nvPr>
        </p:nvSpPr>
        <p:spPr>
          <a:xfrm>
            <a:off x="7104063" y="10234613"/>
            <a:ext cx="0" cy="0"/>
          </a:xfrm>
          <a:prstGeom prst="rect">
            <a:avLst/>
          </a:prstGeom>
        </p:spPr>
        <p:txBody>
          <a:bodyPr vert="horz" lIns="91440" tIns="45720" rIns="91440" bIns="45720" rtlCol="0" anchor="ctr"/>
          <a:lstStyle>
            <a:lvl1pPr algn="r">
              <a:defRPr sz="1200"/>
            </a:lvl1pPr>
          </a:lstStyle>
          <a:p>
            <a:pPr algn="l"/>
            <a:fld id="{A8F4C974-FF7A-4D7E-875F-E87C01A76215}" type="datetime7">
              <a:rPr lang="en-US" sz="100" smtClean="0">
                <a:noFill/>
                <a:latin typeface="Arial" panose="020B0604020202020204" pitchFamily="34" charset="0"/>
                <a:ea typeface="Verdana" pitchFamily="34" charset="0"/>
                <a:cs typeface="Arial" panose="020B0604020202020204" pitchFamily="34" charset="0"/>
              </a:rPr>
              <a:t>Mar-26</a:t>
            </a:fld>
            <a:endParaRPr lang="en-US" sz="100" dirty="0">
              <a:noFill/>
              <a:latin typeface="Arial" panose="020B0604020202020204" pitchFamily="34" charset="0"/>
              <a:ea typeface="Verdana" pitchFamily="34" charset="0"/>
              <a:cs typeface="Arial" panose="020B0604020202020204" pitchFamily="34" charset="0"/>
            </a:endParaRPr>
          </a:p>
        </p:txBody>
      </p:sp>
      <p:sp>
        <p:nvSpPr>
          <p:cNvPr id="10" name="Slide Number Placeholder"/>
          <p:cNvSpPr>
            <a:spLocks noGrp="1"/>
          </p:cNvSpPr>
          <p:nvPr>
            <p:ph type="sldNum" sz="quarter" idx="3"/>
          </p:nvPr>
        </p:nvSpPr>
        <p:spPr>
          <a:xfrm>
            <a:off x="6001946" y="9833798"/>
            <a:ext cx="612411" cy="288000"/>
          </a:xfrm>
          <a:prstGeom prst="rect">
            <a:avLst/>
          </a:prstGeom>
        </p:spPr>
        <p:txBody>
          <a:bodyPr vert="horz" lIns="0" tIns="0" rIns="0" bIns="0" rtlCol="0" anchor="ctr"/>
          <a:lstStyle>
            <a:lvl1pPr algn="r">
              <a:defRPr sz="1200"/>
            </a:lvl1pPr>
          </a:lstStyle>
          <a:p>
            <a:fld id="{4F5EA4BF-E9AE-43AF-B3B0-E8B2B4D213BF}" type="slidenum">
              <a:rPr lang="en-US" sz="800">
                <a:solidFill>
                  <a:srgbClr val="928285"/>
                </a:solidFill>
                <a:latin typeface="Arial" panose="020B0604020202020204" pitchFamily="34" charset="0"/>
                <a:ea typeface="Verdana" pitchFamily="34" charset="0"/>
                <a:cs typeface="Arial" panose="020B0604020202020204" pitchFamily="34" charset="0"/>
              </a:rPr>
              <a:pPr/>
              <a:t>‹#›</a:t>
            </a:fld>
            <a:endParaRPr lang="en-US" sz="80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AB77BC53-8E05-4977-B193-6A6AD69A870A}"/>
              </a:ext>
            </a:extLst>
          </p:cNvPr>
          <p:cNvSpPr txBox="1"/>
          <p:nvPr userDrawn="1">
            <p:custDataLst>
              <p:tags r:id="rId5"/>
            </p:custDataLst>
          </p:nvPr>
        </p:nvSpPr>
        <p:spPr bwMode="auto">
          <a:xfrm>
            <a:off x="489638"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8A3F532B-9233-4B6C-A1AE-20F78C1A46B8}"/>
              </a:ext>
            </a:extLst>
          </p:cNvPr>
          <p:cNvSpPr txBox="1"/>
          <p:nvPr userDrawn="1">
            <p:custDataLst>
              <p:tags r:id="rId6"/>
            </p:custDataLst>
          </p:nvPr>
        </p:nvSpPr>
        <p:spPr bwMode="auto">
          <a:xfrm>
            <a:off x="5641705"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707F235E-2AB2-45AA-AAE4-3CA5D9E6B283}"/>
              </a:ext>
            </a:extLst>
          </p:cNvPr>
          <p:cNvSpPr txBox="1"/>
          <p:nvPr userDrawn="1">
            <p:custDataLst>
              <p:tags r:id="rId7"/>
            </p:custDataLst>
          </p:nvPr>
        </p:nvSpPr>
        <p:spPr bwMode="auto">
          <a:xfrm>
            <a:off x="489638"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5B6337D7-EF4A-437B-98C9-7A76CBDDE797}"/>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2026.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6" name="empower_classification_attention_placeholder" hidden="1">
            <a:extLst>
              <a:ext uri="{FF2B5EF4-FFF2-40B4-BE49-F238E27FC236}">
                <a16:creationId xmlns:a16="http://schemas.microsoft.com/office/drawing/2014/main" id="{07AA87B6-2D72-4228-A7D0-DDCA437050BF}"/>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6" name="empower_classification_placeholder">
            <a:extLst>
              <a:ext uri="{FF2B5EF4-FFF2-40B4-BE49-F238E27FC236}">
                <a16:creationId xmlns:a16="http://schemas.microsoft.com/office/drawing/2014/main" id="{162FD7ED-CC36-4F26-ADD4-95B9EFF2AE3D}"/>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4" name="empower_date_placeholder">
            <a:extLst>
              <a:ext uri="{FF2B5EF4-FFF2-40B4-BE49-F238E27FC236}">
                <a16:creationId xmlns:a16="http://schemas.microsoft.com/office/drawing/2014/main" id="{17C46F5C-5E8F-4CC2-80E6-B88261E13B5B}"/>
              </a:ext>
            </a:extLst>
          </p:cNvPr>
          <p:cNvSpPr txBox="1"/>
          <p:nvPr userDrawn="1">
            <p:custDataLst>
              <p:tags r:id="rId11"/>
            </p:custDataLst>
          </p:nvPr>
        </p:nvSpPr>
        <p:spPr bwMode="auto">
          <a:xfrm>
            <a:off x="489637"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2026-03-15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26"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3594286928"/>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8" Type="http://schemas.openxmlformats.org/officeDocument/2006/relationships/tags" Target="../tags/tag77.xml"/><Relationship Id="rId3" Type="http://schemas.openxmlformats.org/officeDocument/2006/relationships/tags" Target="../tags/tag72.xml"/><Relationship Id="rId7" Type="http://schemas.openxmlformats.org/officeDocument/2006/relationships/tags" Target="../tags/tag76.xml"/><Relationship Id="rId12" Type="http://schemas.openxmlformats.org/officeDocument/2006/relationships/image" Target="../media/image4.png"/><Relationship Id="rId2" Type="http://schemas.openxmlformats.org/officeDocument/2006/relationships/tags" Target="../tags/tag71.xml"/><Relationship Id="rId1" Type="http://schemas.openxmlformats.org/officeDocument/2006/relationships/theme" Target="../theme/theme2.xml"/><Relationship Id="rId6" Type="http://schemas.openxmlformats.org/officeDocument/2006/relationships/tags" Target="../tags/tag75.xml"/><Relationship Id="rId11" Type="http://schemas.openxmlformats.org/officeDocument/2006/relationships/tags" Target="../tags/tag80.xml"/><Relationship Id="rId5" Type="http://schemas.openxmlformats.org/officeDocument/2006/relationships/tags" Target="../tags/tag74.xml"/><Relationship Id="rId10" Type="http://schemas.openxmlformats.org/officeDocument/2006/relationships/tags" Target="../tags/tag79.xml"/><Relationship Id="rId4" Type="http://schemas.openxmlformats.org/officeDocument/2006/relationships/tags" Target="../tags/tag73.xml"/><Relationship Id="rId9" Type="http://schemas.openxmlformats.org/officeDocument/2006/relationships/tags" Target="../tags/tag7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6" name="Slide"/>
          <p:cNvSpPr>
            <a:spLocks noGrp="1" noRot="1" noChangeAspect="1" noChangeArrowheads="1" noTextEdit="1"/>
          </p:cNvSpPr>
          <p:nvPr>
            <p:ph type="sldImg" idx="2"/>
          </p:nvPr>
        </p:nvSpPr>
        <p:spPr bwMode="auto">
          <a:xfrm>
            <a:off x="455613" y="1012825"/>
            <a:ext cx="6192837" cy="3482975"/>
          </a:xfrm>
          <a:prstGeom prst="rect">
            <a:avLst/>
          </a:prstGeom>
          <a:noFill/>
          <a:ln w="9525">
            <a:solidFill>
              <a:srgbClr val="000000"/>
            </a:solidFill>
            <a:miter lim="800000"/>
            <a:headEnd/>
            <a:tailEnd/>
          </a:ln>
          <a:effectLst/>
        </p:spPr>
      </p:sp>
      <p:sp>
        <p:nvSpPr>
          <p:cNvPr id="84997" name="Notes"/>
          <p:cNvSpPr>
            <a:spLocks noGrp="1" noChangeArrowheads="1"/>
          </p:cNvSpPr>
          <p:nvPr>
            <p:ph type="body" sz="quarter" idx="3"/>
          </p:nvPr>
        </p:nvSpPr>
        <p:spPr bwMode="auto">
          <a:xfrm>
            <a:off x="453610" y="4757266"/>
            <a:ext cx="6196122" cy="478323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dirty="0"/>
              <a:t>Enter Notes</a:t>
            </a:r>
          </a:p>
        </p:txBody>
      </p:sp>
      <p:sp>
        <p:nvSpPr>
          <p:cNvPr id="28"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00">
                <a:noFill/>
                <a:latin typeface="Arial" panose="020B0604020202020204" pitchFamily="34" charset="0"/>
                <a:cs typeface="Arial" panose="020B0604020202020204" pitchFamily="34" charset="0"/>
              </a:defRPr>
            </a:lvl1pPr>
          </a:lstStyle>
          <a:p>
            <a:endParaRPr lang="en-US" sz="100" dirty="0"/>
          </a:p>
        </p:txBody>
      </p:sp>
      <p:sp>
        <p:nvSpPr>
          <p:cNvPr id="10" name="Footer Placeholder" hidden="1"/>
          <p:cNvSpPr>
            <a:spLocks noGrp="1"/>
          </p:cNvSpPr>
          <p:nvPr>
            <p:ph type="ftr" sz="quarter" idx="4"/>
            <p:custDataLst>
              <p:tags r:id="rId3"/>
            </p:custDataLst>
          </p:nvPr>
        </p:nvSpPr>
        <p:spPr>
          <a:xfrm>
            <a:off x="7104063" y="10234613"/>
            <a:ext cx="0" cy="0"/>
          </a:xfrm>
          <a:prstGeom prst="rect">
            <a:avLst/>
          </a:prstGeom>
        </p:spPr>
        <p:txBody>
          <a:bodyPr vert="horz" lIns="91440" tIns="45720" rIns="91440" bIns="45720" rtlCol="0" anchor="ctr"/>
          <a:lstStyle>
            <a:lvl1pPr algn="ctr">
              <a:defRPr sz="100">
                <a:noFill/>
                <a:latin typeface="Verdana" pitchFamily="34" charset="0"/>
                <a:ea typeface="Verdana" pitchFamily="34" charset="0"/>
                <a:cs typeface="Verdana" pitchFamily="34" charset="0"/>
              </a:defRPr>
            </a:lvl1p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11" name="Date Placeholder" hidden="1"/>
          <p:cNvSpPr>
            <a:spLocks noGrp="1"/>
          </p:cNvSpPr>
          <p:nvPr>
            <p:ph type="dt" idx="1"/>
            <p:custDataLst>
              <p:tags r:id="rId4"/>
            </p:custDataLst>
          </p:nvPr>
        </p:nvSpPr>
        <p:spPr>
          <a:xfrm>
            <a:off x="7104063" y="10234613"/>
            <a:ext cx="0" cy="0"/>
          </a:xfrm>
          <a:prstGeom prst="rect">
            <a:avLst/>
          </a:prstGeom>
        </p:spPr>
        <p:txBody>
          <a:bodyPr vert="horz" lIns="91440" tIns="45720" rIns="91440" bIns="45720" rtlCol="0" anchor="ctr"/>
          <a:lstStyle>
            <a:lvl1pPr algn="l">
              <a:defRPr sz="100">
                <a:noFill/>
                <a:latin typeface="Arial" panose="020B0604020202020204" pitchFamily="34" charset="0"/>
                <a:ea typeface="Verdana" pitchFamily="34" charset="0"/>
                <a:cs typeface="Arial" panose="020B0604020202020204" pitchFamily="34" charset="0"/>
              </a:defRPr>
            </a:lvl1pPr>
          </a:lstStyle>
          <a:p>
            <a:fld id="{7934E32A-B485-42C1-9192-CCC268DBD90E}" type="datetime7">
              <a:rPr lang="en-US" smtClean="0"/>
              <a:t>Mar-26</a:t>
            </a:fld>
            <a:endParaRPr lang="en-US" dirty="0"/>
          </a:p>
        </p:txBody>
      </p:sp>
      <p:sp>
        <p:nvSpPr>
          <p:cNvPr id="12" name="Slide Number Placeholder"/>
          <p:cNvSpPr>
            <a:spLocks noGrp="1"/>
          </p:cNvSpPr>
          <p:nvPr>
            <p:ph type="sldNum" sz="quarter" idx="5"/>
          </p:nvPr>
        </p:nvSpPr>
        <p:spPr>
          <a:xfrm>
            <a:off x="6037322" y="9833798"/>
            <a:ext cx="612411" cy="288000"/>
          </a:xfrm>
          <a:prstGeom prst="rect">
            <a:avLst/>
          </a:prstGeom>
        </p:spPr>
        <p:txBody>
          <a:bodyPr vert="horz" lIns="0" tIns="0" rIns="0" bIns="0" rtlCol="0" anchor="ctr"/>
          <a:lstStyle>
            <a:lvl1pPr algn="r">
              <a:defRPr sz="800">
                <a:solidFill>
                  <a:srgbClr val="928285"/>
                </a:solidFill>
                <a:latin typeface="Verdana" pitchFamily="34" charset="0"/>
                <a:ea typeface="Verdana" pitchFamily="34" charset="0"/>
                <a:cs typeface="Verdana" pitchFamily="34" charset="0"/>
              </a:defRPr>
            </a:lvl1pPr>
          </a:lstStyle>
          <a:p>
            <a:fld id="{4165D906-55BD-49C5-997D-27A40DB53D15}" type="slidenum">
              <a:rPr lang="en-US">
                <a:latin typeface="Arial" panose="020B0604020202020204" pitchFamily="34" charset="0"/>
                <a:cs typeface="Arial" panose="020B0604020202020204" pitchFamily="34" charset="0"/>
              </a:rPr>
              <a:pPr/>
              <a:t>‹#›</a:t>
            </a:fld>
            <a:endParaRPr lang="en-US" dirty="0">
              <a:latin typeface="Arial" panose="020B0604020202020204"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E8AE2277-2635-47CE-8461-F921E010AD66}"/>
              </a:ext>
            </a:extLst>
          </p:cNvPr>
          <p:cNvSpPr txBox="1"/>
          <p:nvPr userDrawn="1">
            <p:custDataLst>
              <p:tags r:id="rId5"/>
            </p:custDataLst>
          </p:nvPr>
        </p:nvSpPr>
        <p:spPr bwMode="auto">
          <a:xfrm>
            <a:off x="453610"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1ED6373F-3656-4DFD-9B9C-BC0ABABA2CBF}"/>
              </a:ext>
            </a:extLst>
          </p:cNvPr>
          <p:cNvSpPr txBox="1"/>
          <p:nvPr userDrawn="1">
            <p:custDataLst>
              <p:tags r:id="rId6"/>
            </p:custDataLst>
          </p:nvPr>
        </p:nvSpPr>
        <p:spPr bwMode="auto">
          <a:xfrm>
            <a:off x="5677080"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3D3123B4-E08C-4CCD-9703-AD1F689F1FB7}"/>
              </a:ext>
            </a:extLst>
          </p:cNvPr>
          <p:cNvSpPr txBox="1"/>
          <p:nvPr userDrawn="1">
            <p:custDataLst>
              <p:tags r:id="rId7"/>
            </p:custDataLst>
          </p:nvPr>
        </p:nvSpPr>
        <p:spPr bwMode="auto">
          <a:xfrm>
            <a:off x="453610"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7E51E007-F5B3-45C7-900F-9B0FFE9F37F6}"/>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2026.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6" name="empower_classification_attention_placeholder" hidden="1">
            <a:extLst>
              <a:ext uri="{FF2B5EF4-FFF2-40B4-BE49-F238E27FC236}">
                <a16:creationId xmlns:a16="http://schemas.microsoft.com/office/drawing/2014/main" id="{CD1E0C77-9862-4B96-A3C1-8F3320EB5330}"/>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Public</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7" name="empower_classification_placeholder">
            <a:extLst>
              <a:ext uri="{FF2B5EF4-FFF2-40B4-BE49-F238E27FC236}">
                <a16:creationId xmlns:a16="http://schemas.microsoft.com/office/drawing/2014/main" id="{9F464BB7-63C3-4B8A-A50E-5FC32FA6A18F}"/>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Public</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8" name="empower_date_placeholder">
            <a:extLst>
              <a:ext uri="{FF2B5EF4-FFF2-40B4-BE49-F238E27FC236}">
                <a16:creationId xmlns:a16="http://schemas.microsoft.com/office/drawing/2014/main" id="{7E930412-6BBA-43BF-B0D5-11DDE46E471E}"/>
              </a:ext>
            </a:extLst>
          </p:cNvPr>
          <p:cNvSpPr txBox="1"/>
          <p:nvPr userDrawn="1">
            <p:custDataLst>
              <p:tags r:id="rId11"/>
            </p:custDataLst>
          </p:nvPr>
        </p:nvSpPr>
        <p:spPr bwMode="auto">
          <a:xfrm>
            <a:off x="453610"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2026-03-15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32"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123004185"/>
      </p:ext>
    </p:extLst>
  </p:cSld>
  <p:clrMap bg1="lt1" tx1="dk1" bg2="lt2" tx2="dk2" accent1="accent1" accent2="accent2" accent3="accent3" accent4="accent4" accent5="accent5" accent6="accent6" hlink="hlink" folHlink="folHlink"/>
  <p:hf/>
  <p:notesStyle>
    <a:lvl1pPr algn="l" rtl="0" fontAlgn="base">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30000"/>
      </a:spcBef>
      <a:spcAft>
        <a:spcPct val="0"/>
      </a:spcAft>
      <a:defRPr sz="1600" kern="1200">
        <a:solidFill>
          <a:srgbClr val="00214A"/>
        </a:solidFill>
        <a:latin typeface="Verdana" pitchFamily="34" charset="0"/>
        <a:ea typeface="+mn-ea"/>
        <a:cs typeface="+mn-cs"/>
      </a:defRPr>
    </a:lvl2pPr>
    <a:lvl3pPr marL="1219170" algn="l" rtl="0" fontAlgn="base">
      <a:spcBef>
        <a:spcPct val="30000"/>
      </a:spcBef>
      <a:spcAft>
        <a:spcPct val="0"/>
      </a:spcAft>
      <a:defRPr sz="1600" kern="1200">
        <a:solidFill>
          <a:srgbClr val="00214A"/>
        </a:solidFill>
        <a:latin typeface="Verdana" pitchFamily="34" charset="0"/>
        <a:ea typeface="+mn-ea"/>
        <a:cs typeface="+mn-cs"/>
      </a:defRPr>
    </a:lvl3pPr>
    <a:lvl4pPr marL="1828754" algn="l" rtl="0" fontAlgn="base">
      <a:spcBef>
        <a:spcPct val="30000"/>
      </a:spcBef>
      <a:spcAft>
        <a:spcPct val="0"/>
      </a:spcAft>
      <a:defRPr sz="1600" kern="1200">
        <a:solidFill>
          <a:srgbClr val="00214A"/>
        </a:solidFill>
        <a:latin typeface="Verdana" pitchFamily="34" charset="0"/>
        <a:ea typeface="+mn-ea"/>
        <a:cs typeface="+mn-cs"/>
      </a:defRPr>
    </a:lvl4pPr>
    <a:lvl5pPr marL="2438339" algn="l" rtl="0" fontAlgn="base">
      <a:spcBef>
        <a:spcPct val="30000"/>
      </a:spcBef>
      <a:spcAft>
        <a:spcPct val="0"/>
      </a:spcAft>
      <a:defRPr sz="1600" kern="1200">
        <a:solidFill>
          <a:srgbClr val="00214A"/>
        </a:solidFill>
        <a:latin typeface="Verdana"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Hello attendees, a warm welcome to all of you. This presentation provides an overview of the development ecosystem and resources available for PSOC™ Edge E84.</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It also explains how to get started on PSOC™ Edge E84 through code examples at the end of the presentation.</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started!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D610C3EC-8897-4A61-8514-DCC69BBB3EE8}"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663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In this session, we will begin with an overview of the development ecosystem available for the PSOC™ Edge. After completing this overview, we will move into a hands‑on activity where we create our first example that combines the classic Hello World and a simple Blinky application. We will then conclude with a demonstration that illustrates the basic interaction between the two cores in the PSOC™ Edge, the Cortex®‑M33 and the Cortex®‑M55.</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132322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PSOC™ Edge Development Ecosystem provides developers with intuitive, end‑to‑end workflows and resources that streamline development by offering quick access to reference materials, feature‑rich and easy‑to‑use configurator tools, and middleware that abstracts low‑level MCU details. This helps developers focus on bringing their applications to market efficiently. The ecosystem also supports integration with preferred IDEs, enables real‑time control through RTOS environments such as Zephyr and </a:t>
            </a:r>
            <a:r>
              <a:rPr lang="en-US" sz="1200" b="0" i="0" kern="1200" dirty="0" err="1">
                <a:solidFill>
                  <a:schemeClr val="tx1"/>
                </a:solidFill>
                <a:effectLst/>
                <a:latin typeface="Arial" panose="020B0604020202020204" pitchFamily="34" charset="0"/>
                <a:ea typeface="+mn-ea"/>
                <a:cs typeface="Arial" panose="020B0604020202020204" pitchFamily="34" charset="0"/>
              </a:rPr>
              <a:t>FreeRTOS</a:t>
            </a:r>
            <a:r>
              <a:rPr lang="en-US" sz="1200" b="0" i="0" kern="1200" dirty="0">
                <a:solidFill>
                  <a:schemeClr val="tx1"/>
                </a:solidFill>
                <a:effectLst/>
                <a:latin typeface="Arial" panose="020B0604020202020204" pitchFamily="34" charset="0"/>
                <a:ea typeface="+mn-ea"/>
                <a:cs typeface="Arial" panose="020B0604020202020204" pitchFamily="34" charset="0"/>
              </a:rPr>
              <a:t>, and allows the implementation of advanced Edge machine learning models and industry‑leading security capabilities. Additionally, it offers flexible options that adapt to different team workflows, ensuring smooth integration and development.</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437959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Here is the list of PSOC™ Edge E84 resources. Resources play a vital role in the success of any product.</a:t>
            </a:r>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IN" sz="1200" b="0" dirty="0"/>
              <a:t>PSOC™ Edge E84 MCU product page for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MCU-related documents and the </a:t>
            </a:r>
            <a:r>
              <a:rPr lang="en-US" dirty="0"/>
              <a:t>PSOC™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Developers Journey</a:t>
            </a:r>
            <a:endParaRPr lang="en-IN" sz="1200" b="0"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a:t>
            </a:r>
            <a:r>
              <a:rPr lang="en-GB" b="0" dirty="0"/>
              <a:t>d</a:t>
            </a:r>
            <a:r>
              <a:rPr lang="en-GB" dirty="0"/>
              <a:t>atasheets that describe and provide electrical specifications for each device family</a:t>
            </a:r>
            <a:endParaRPr lang="en-GB" sz="1200" b="1"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GB" b="0" dirty="0"/>
              <a:t>Reference </a:t>
            </a:r>
            <a:r>
              <a:rPr lang="en-GB" dirty="0"/>
              <a:t>manuals provide detailed descriptions of the architecture and registers in each device family</a:t>
            </a:r>
            <a:endParaRPr lang="en-GB" b="0" dirty="0"/>
          </a:p>
          <a:p>
            <a:pPr marL="171450" marR="0" lvl="0" indent="-171450" algn="l" defTabSz="914400" rtl="0" eaLnBrk="1" fontAlgn="base" latinLnBrk="0" hangingPunct="1">
              <a:lnSpc>
                <a:spcPct val="100000"/>
              </a:lnSpc>
              <a:spcBef>
                <a:spcPct val="30000"/>
              </a:spcBef>
              <a:spcAft>
                <a:spcPct val="0"/>
              </a:spcAft>
              <a:buClrTx/>
              <a:buSzTx/>
              <a:buFont typeface="Arial" panose="020B0604020202020204" pitchFamily="34" charset="0"/>
              <a:buChar char="•"/>
              <a:tabLst/>
              <a:defRPr/>
            </a:pPr>
            <a:r>
              <a:rPr lang="en-GB" dirty="0"/>
              <a:t>Application notes and Code examples cover a broad range of topics, from basic to advanced. You can browse our collection of application notes and code examples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8881FA0-515F-4122-844C-8C35E7170143}"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7943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For firmware or application development, the use of development tools is essential.</a:t>
            </a:r>
            <a:br>
              <a:rPr lang="en-US" sz="1200" b="0" i="0" u="none" strike="noStrike" kern="1200" baseline="0" dirty="0">
                <a:solidFill>
                  <a:schemeClr val="tx1"/>
                </a:solidFill>
                <a:latin typeface="Arial" panose="020B0604020202020204" pitchFamily="34" charset="0"/>
                <a:ea typeface="+mn-ea"/>
                <a:cs typeface="Arial" panose="020B0604020202020204" pitchFamily="34" charset="0"/>
              </a:rPr>
            </a:b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provides a modern and extensible development environment that supports a wide range of Infineon MCUs, including PSOC™ Edge E84.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tools package offers configurators and utilities for creating and managing applications, as well as configuring the device.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developers can choose their preferred compiler, IDE, RTOS, and ecosystem while maintaining a streamlined workflow, enabling applications that leverage technologies such as CAPSENSE™ Human machine interface, AIROC™ Wi‑Fi and Bluetooth®, security, and other advanced features.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also includes the make build system infrastructure, giving developers full control over the build flow and enabling cross‑platform application builds.</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A07B6B-2C78-44BC-B297-C840B774EBA0}"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7794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supports third‑party IDEs like: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Eclipse IDE</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Visual studio code, Arm® </a:t>
            </a:r>
            <a:r>
              <a:rPr lang="en-IN" sz="1200" b="1" i="0" kern="1200" dirty="0">
                <a:solidFill>
                  <a:schemeClr val="tx1"/>
                </a:solidFill>
                <a:effectLst/>
                <a:latin typeface="Arial" panose="020B0604020202020204" pitchFamily="34" charset="0"/>
                <a:ea typeface="+mn-ea"/>
                <a:cs typeface="Arial" panose="020B0604020202020204" pitchFamily="34" charset="0"/>
              </a:rPr>
              <a:t>microcontroller development kit (MDK)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μVision</a:t>
            </a:r>
            <a:r>
              <a:rPr lang="en-US" sz="1200" b="1" i="0" kern="1200" dirty="0">
                <a:solidFill>
                  <a:schemeClr val="tx1"/>
                </a:solidFill>
                <a:effectLst/>
                <a:latin typeface="Arial" panose="020B0604020202020204" pitchFamily="34" charset="0"/>
                <a:ea typeface="+mn-ea"/>
                <a:cs typeface="Arial" panose="020B0604020202020204" pitchFamily="34" charset="0"/>
              </a:rPr>
              <a:t>), and IAR Embedded Workbench.</a:t>
            </a:r>
            <a:r>
              <a:rPr lang="en-US" sz="1200" b="0" i="0" kern="1200" dirty="0">
                <a:solidFill>
                  <a:schemeClr val="tx1"/>
                </a:solidFill>
                <a:effectLst/>
                <a:latin typeface="Arial" panose="020B0604020202020204" pitchFamily="34" charset="0"/>
                <a:ea typeface="+mn-ea"/>
                <a:cs typeface="Arial" panose="020B0604020202020204" pitchFamily="34" charset="0"/>
              </a:rPr>
              <a:t> The tools package includes the Eclipse IDE for convenience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Additionally, a command‑line interface is available</a:t>
            </a:r>
            <a:r>
              <a:rPr lang="en-US" sz="1200" b="0" i="0" kern="1200" dirty="0">
                <a:solidFill>
                  <a:schemeClr val="tx1"/>
                </a:solidFill>
                <a:effectLst/>
                <a:latin typeface="Arial" panose="020B0604020202020204" pitchFamily="34" charset="0"/>
                <a:ea typeface="+mn-ea"/>
                <a:cs typeface="Arial" panose="020B0604020202020204" pitchFamily="34" charset="0"/>
              </a:rPr>
              <a:t> for developers who prefer working without a graphical environment</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While the Eclipse IDE for </a:t>
            </a:r>
            <a:r>
              <a:rPr lang="en-US" sz="1200" b="1"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1" i="0" kern="1200" dirty="0">
                <a:solidFill>
                  <a:schemeClr val="tx1"/>
                </a:solidFill>
                <a:effectLst/>
                <a:latin typeface="Arial" panose="020B0604020202020204" pitchFamily="34" charset="0"/>
                <a:ea typeface="+mn-ea"/>
                <a:cs typeface="Arial" panose="020B0604020202020204" pitchFamily="34" charset="0"/>
              </a:rPr>
              <a:t>™ provides a downloadable binary after the build process</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IDEs such as IAR embedded workbench and </a:t>
            </a:r>
            <a:r>
              <a:rPr lang="en-US" sz="1200" b="1" i="0" kern="1200" dirty="0" err="1">
                <a:solidFill>
                  <a:schemeClr val="tx1"/>
                </a:solidFill>
                <a:effectLst/>
                <a:latin typeface="Arial" panose="020B0604020202020204" pitchFamily="34" charset="0"/>
                <a:ea typeface="+mn-ea"/>
                <a:cs typeface="Arial" panose="020B0604020202020204" pitchFamily="34" charset="0"/>
              </a:rPr>
              <a:t>μVision</a:t>
            </a:r>
            <a:r>
              <a:rPr lang="en-US" sz="1200" b="1" i="0" kern="1200" dirty="0">
                <a:solidFill>
                  <a:schemeClr val="tx1"/>
                </a:solidFill>
                <a:effectLst/>
                <a:latin typeface="Arial" panose="020B0604020202020204" pitchFamily="34" charset="0"/>
                <a:ea typeface="+mn-ea"/>
                <a:cs typeface="Arial" panose="020B0604020202020204" pitchFamily="34" charset="0"/>
              </a:rPr>
              <a:t> require an additional step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the next section of this video walk‑through, we will look at tools such as Project Creator, Library Manager, and several configurators available in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for PSOC™ Edge development.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0F89330-3EBF-4746-B0DD-6F53889724B0}"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4172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Zephyr and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are two different ecosystems and development environments that both support Infineon devices</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is a targeted ecosystem focused specifically on Infineon devices and the differentiation they enable, while Zephyr is a community‑driven ecosystem that supports a broad range of devices and silicon providers. As a result, much of the support in Zephyr is centered around capabilities that are common across the wider market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As noted earlier,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provides support for multiple development IDEs, whereas Zephyr development is primarily intended for command‑line users, with some community support for working in VS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For toolchains,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supports GCC, IAR, and Arm compilers and uses a make‑based build system. Zephyr primarily uses GCC with a west‑based build system, although community support for additional toolchains continues to grow</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is enabled through graphical device‑configuration tools that automatically generate code. Zephyr does not include standard graphical code‑generation tools; however, there is increasing momentum behind vendor‑specific generators that produce Zephyr‑compatible device‑tree files and related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Both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and Zephyr rely on the underlying low‑level drivers developed and maintained by Infineon.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expands on this foundation with middleware portability APIs, middleware libraries, and Infineon‑specific code examples created by Infineon and partners. Zephyr, on the other hand, uses standardized Zephyr driver APIs, a common set of sample applications, and middleware modules from within the Zephyr ecosystem, including contributions from the community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Regardless of your preference, you can rest assured that both platforms are fully available and supported for PSOC™ Edge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36239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Machine learning is a key capability of the PSOC™ Edge MCU, and to understand its full potential, it is important to review the surrounding tool ecosystem, with a particular focus on DEEPCRAFT™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DEEPCRAFT™ Studio is a development platform designed to create AI models for deployment on edge devices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Beginning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3.6, integration with DEEPCRAFT™ Studio has been further expanded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DEEPCRAFT™ can be installed directly using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Setup program</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provides code examples in Project Creator that align with several DEEPCRAFT™ Studio Accelerator projects, utilizing sensors such as IMU, vibration, audio, and vision. Additional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examples are available to simplify data collection into Studio using the Graph UX workflows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DEEPCRAFT™ Model Converter is supported through dedicated profiling examples that help evaluate the impact of different conversion options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999125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When you create a new DEEPCRAFT™ Studio project, you also have the option to generate a corresponding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 directly from Studio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Studio Accelerator projects are aligned with their matching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examples, helping accelerate development for IMU, vibration, and microphone‑based use cases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Using these accelerator projects, you can update and regenerate models directly into the associated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code example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Working with DEEPCRAFT™ ready models, dedicated “Deploy” code examples allows to evaluate each model’s performance on the targeted hardware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929777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Dring generation of device‑optimized code in DEEPCRAFT™ Studio, select the corresponding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project in the code‑generation dialog so that the source files are updated directly within your embedded PSOC™ project.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Details of the association between DEEPCRAFT™ Studio and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are stored within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project folder structure, allowing the Studio project to be referenced and opened directly from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48607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Setup program is the recommended tool for installing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packages.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can be used to update to the latest releases and automatically resolve dependencies, ensuring that the correct applications are installed on the user’s development </a:t>
            </a:r>
            <a:r>
              <a:rPr lang="en-US" sz="1200" b="0" i="0" kern="1200" dirty="0" err="1">
                <a:solidFill>
                  <a:schemeClr val="tx1"/>
                </a:solidFill>
                <a:effectLst/>
                <a:latin typeface="Arial" panose="020B0604020202020204" pitchFamily="34" charset="0"/>
                <a:ea typeface="+mn-ea"/>
                <a:cs typeface="Arial" panose="020B0604020202020204" pitchFamily="34" charset="0"/>
              </a:rPr>
              <a:t>machine.This</a:t>
            </a:r>
            <a:r>
              <a:rPr lang="en-US" sz="1200" b="0" i="0" kern="1200" dirty="0">
                <a:solidFill>
                  <a:schemeClr val="tx1"/>
                </a:solidFill>
                <a:effectLst/>
                <a:latin typeface="Arial" panose="020B0604020202020204" pitchFamily="34" charset="0"/>
                <a:ea typeface="+mn-ea"/>
                <a:cs typeface="Arial" panose="020B0604020202020204" pitchFamily="34" charset="0"/>
              </a:rPr>
              <a:t> includes installing and managing the versions of DEEPCRAFT™ Studio, the Model Converter, and supported Audio Enhancement packages.</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421696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Now that we have reviewed the ecosystem for PSOC™ Edge, we will move on to a series of demonstrations. The tools used in this presentation are:</a:t>
            </a:r>
          </a:p>
          <a:p>
            <a:pPr marL="171450" indent="-171450" fontAlgn="t">
              <a:buFont typeface="Arial" panose="020B0604020202020204" pitchFamily="34" charset="0"/>
              <a:buChar char="•"/>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and the Eclipse IDE for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Edge Protect Security Suite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Programming Tools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Board support package (BSP) for the PSE84 EVK</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serial terminal emulator such as Terra Term or PuTTY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PSE84 EVK </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addition to these tools, some of the content in this presentation also references information from: The application note “Getting started with PSOC™ Edge on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a:t>
            </a:r>
            <a:r>
              <a:rPr lang="en-US" sz="1200" b="0" i="1" kern="1200" dirty="0">
                <a:solidFill>
                  <a:schemeClr val="tx1"/>
                </a:solidFill>
                <a:effectLst/>
                <a:latin typeface="Arial" panose="020B0604020202020204" pitchFamily="34" charset="0"/>
                <a:ea typeface="+mn-ea"/>
                <a:cs typeface="Arial" panose="020B0604020202020204" pitchFamily="34" charset="0"/>
              </a:rPr>
              <a:t>”</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(DSL) for PSOC™ Edge.</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248455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First, we have the Project Creator tool.</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Project Creator tool is used to create applications that target specific Board Support Packages (BSPs) using the available code example templates.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It is available as both a graphical user interface (GUI) and a command‑line interface (CLI), allowing you to create applications in any preferred software environment.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To launch Project Creator:</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Open the Eclipse IDE for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Launch Project Creator by clicking </a:t>
            </a:r>
            <a:r>
              <a:rPr lang="en-US" sz="1200" b="1" i="0" kern="1200" dirty="0">
                <a:solidFill>
                  <a:schemeClr val="tx1"/>
                </a:solidFill>
                <a:effectLst/>
                <a:latin typeface="Arial" panose="020B0604020202020204" pitchFamily="34" charset="0"/>
                <a:ea typeface="+mn-ea"/>
                <a:cs typeface="Arial" panose="020B0604020202020204" pitchFamily="34" charset="0"/>
              </a:rPr>
              <a:t>New Application</a:t>
            </a:r>
            <a:r>
              <a:rPr lang="en-US" sz="1200" b="0" i="0" kern="1200" dirty="0">
                <a:solidFill>
                  <a:schemeClr val="tx1"/>
                </a:solidFill>
                <a:effectLst/>
                <a:latin typeface="Arial" panose="020B0604020202020204" pitchFamily="34" charset="0"/>
                <a:ea typeface="+mn-ea"/>
                <a:cs typeface="Arial" panose="020B0604020202020204" pitchFamily="34" charset="0"/>
              </a:rPr>
              <a:t> in the Quick Panel</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Project Creator displays all available BSPs you can choose from</a:t>
            </a:r>
          </a:p>
          <a:p>
            <a:pPr marL="228600" indent="-228600" fontAlgn="t">
              <a:buFont typeface="+mj-lt"/>
              <a:buAutoNum type="arabicPeriod"/>
            </a:pPr>
            <a:r>
              <a:rPr lang="en-US" sz="1200" b="0" i="0" kern="1200" dirty="0">
                <a:solidFill>
                  <a:schemeClr val="tx1"/>
                </a:solidFill>
                <a:effectLst/>
                <a:latin typeface="Arial" panose="020B0604020202020204" pitchFamily="34" charset="0"/>
                <a:ea typeface="+mn-ea"/>
                <a:cs typeface="Arial" panose="020B0604020202020204" pitchFamily="34" charset="0"/>
              </a:rPr>
              <a:t>The PSOC™ Edge E84 MCU development kit appears as </a:t>
            </a:r>
            <a:r>
              <a:rPr lang="en-US" sz="1200" b="1" i="0" kern="1200" dirty="0">
                <a:solidFill>
                  <a:schemeClr val="tx1"/>
                </a:solidFill>
                <a:effectLst/>
                <a:latin typeface="Arial" panose="020B0604020202020204" pitchFamily="34" charset="0"/>
                <a:ea typeface="+mn-ea"/>
                <a:cs typeface="Arial" panose="020B0604020202020204" pitchFamily="34" charset="0"/>
              </a:rPr>
              <a:t>KIT_PSOCE84_EVAL_EPC2</a:t>
            </a:r>
            <a:r>
              <a:rPr lang="en-US" sz="1200" b="0" i="0" kern="1200" dirty="0">
                <a:solidFill>
                  <a:schemeClr val="tx1"/>
                </a:solidFill>
                <a:effectLst/>
                <a:latin typeface="Arial" panose="020B0604020202020204" pitchFamily="34" charset="0"/>
                <a:ea typeface="+mn-ea"/>
                <a:cs typeface="Arial" panose="020B0604020202020204" pitchFamily="34" charset="0"/>
              </a:rPr>
              <a:t> under the PSOC™ Edge BSPs. This is the kit we will use in our training</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Project Creator can also be used as a standalone tool by executing its binary directly from a command line.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35D5F8B-8E96-49FF-AACD-3CE23F07B43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62333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After creating an application, it will be located in a top‑level container, or workspace directory, that contains multiple files, one or more application directories, plus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 typical PSOC™ Edge application contains three projects: </a:t>
                </a:r>
                <a:r>
                  <a:rPr lang="en-US" sz="1200" b="1" i="0" kern="1200" dirty="0">
                    <a:solidFill>
                      <a:schemeClr val="tx1"/>
                    </a:solidFill>
                    <a:effectLst/>
                    <a:latin typeface="Arial" panose="020B0604020202020204" pitchFamily="34" charset="0"/>
                    <a:ea typeface="+mn-ea"/>
                    <a:cs typeface="Arial" panose="020B0604020202020204" pitchFamily="34" charset="0"/>
                  </a:rPr>
                  <a:t>Proj_cm33_s</a:t>
                </a:r>
                <a:r>
                  <a:rPr lang="en-US" sz="1200" b="0" i="0" kern="1200" dirty="0">
                    <a:solidFill>
                      <a:schemeClr val="tx1"/>
                    </a:solidFill>
                    <a:effectLst/>
                    <a:latin typeface="Arial" panose="020B0604020202020204" pitchFamily="34" charset="0"/>
                    <a:ea typeface="+mn-ea"/>
                    <a:cs typeface="Arial" panose="020B0604020202020204" pitchFamily="34" charset="0"/>
                  </a:rPr>
                  <a:t> (s stands for secure), </a:t>
                </a:r>
                <a:r>
                  <a:rPr lang="en-US" sz="1200" b="1" i="0" kern="1200" dirty="0">
                    <a:solidFill>
                      <a:schemeClr val="tx1"/>
                    </a:solidFill>
                    <a:effectLst/>
                    <a:latin typeface="Arial" panose="020B0604020202020204" pitchFamily="34" charset="0"/>
                    <a:ea typeface="+mn-ea"/>
                    <a:cs typeface="Arial" panose="020B0604020202020204" pitchFamily="34" charset="0"/>
                  </a:rPr>
                  <a:t>Proj_cm33_ns</a:t>
                </a:r>
                <a:r>
                  <a:rPr lang="en-US" sz="1200" b="0" i="0" kern="1200" dirty="0">
                    <a:solidFill>
                      <a:schemeClr val="tx1"/>
                    </a:solidFill>
                    <a:effectLst/>
                    <a:latin typeface="Arial" panose="020B0604020202020204" pitchFamily="34" charset="0"/>
                    <a:ea typeface="+mn-ea"/>
                    <a:cs typeface="Arial" panose="020B0604020202020204" pitchFamily="34" charset="0"/>
                  </a:rPr>
                  <a:t> (ns stands for non‑secure), and </a:t>
                </a:r>
                <a:r>
                  <a:rPr lang="en-US" sz="1200" b="1" i="0" kern="1200" dirty="0">
                    <a:solidFill>
                      <a:schemeClr val="tx1"/>
                    </a:solidFill>
                    <a:effectLst/>
                    <a:latin typeface="Arial" panose="020B0604020202020204" pitchFamily="34" charset="0"/>
                    <a:ea typeface="+mn-ea"/>
                    <a:cs typeface="Arial" panose="020B0604020202020204" pitchFamily="34" charset="0"/>
                  </a:rPr>
                  <a:t>Proj_cm55</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common.mk</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all projects. It contains variables including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TARGET</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TOOLCHAIN</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In this case, we have a multi‑project structure for all Explorer MCU applications; hence </a:t>
                </a:r>
                <a:r>
                  <a:rPr lang="en-US" sz="1200" b="1" i="0" kern="1200" dirty="0">
                    <a:solidFill>
                      <a:schemeClr val="tx1"/>
                    </a:solidFill>
                    <a:effectLst/>
                    <a:latin typeface="Arial" panose="020B0604020202020204" pitchFamily="34" charset="0"/>
                    <a:ea typeface="+mn-ea"/>
                    <a:cs typeface="Arial" panose="020B0604020202020204" pitchFamily="34" charset="0"/>
                  </a:rPr>
                  <a:t>MTB_TYPE = PROJECT</a:t>
                </a:r>
                <a:r>
                  <a:rPr lang="en-US" sz="1200" b="0" i="0" kern="1200" dirty="0">
                    <a:solidFill>
                      <a:schemeClr val="tx1"/>
                    </a:solidFill>
                    <a:effectLst/>
                    <a:latin typeface="Arial" panose="020B0604020202020204" pitchFamily="34" charset="0"/>
                    <a:ea typeface="+mn-ea"/>
                    <a:cs typeface="Arial" panose="020B0604020202020204" pitchFamily="34" charset="0"/>
                  </a:rPr>
                  <a:t>. This file includes a reference to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the entire application and all its projects. It contains path information indicating the location of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Application‑Level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An application contains a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located in the application's root folder. This file contains the directives that the make tool uses to compile and link the application project.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variable set to </a:t>
                </a:r>
                <a:r>
                  <a:rPr lang="en-US" sz="1200" b="1" i="0" kern="1200" dirty="0">
                    <a:solidFill>
                      <a:schemeClr val="tx1"/>
                    </a:solidFill>
                    <a:effectLst/>
                    <a:latin typeface="Arial" panose="020B0604020202020204" pitchFamily="34" charset="0"/>
                    <a:ea typeface="+mn-ea"/>
                    <a:cs typeface="Arial" panose="020B0604020202020204" pitchFamily="34" charset="0"/>
                  </a:rPr>
                  <a:t>APPLICATION</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1" i="0" kern="1200" dirty="0">
                    <a:solidFill>
                      <a:schemeClr val="tx1"/>
                    </a:solidFill>
                    <a:effectLst/>
                    <a:latin typeface="Arial" panose="020B0604020202020204" pitchFamily="34" charset="0"/>
                    <a:ea typeface="+mn-ea"/>
                    <a:cs typeface="Arial" panose="020B0604020202020204" pitchFamily="34" charset="0"/>
                  </a:rPr>
                  <a:t>MTB_PROJECTS</a:t>
                </a:r>
                <a:r>
                  <a:rPr lang="en-US" sz="1200" b="0" i="0" kern="1200" dirty="0">
                    <a:solidFill>
                      <a:schemeClr val="tx1"/>
                    </a:solidFill>
                    <a:effectLst/>
                    <a:latin typeface="Arial" panose="020B0604020202020204" pitchFamily="34" charset="0"/>
                    <a:ea typeface="+mn-ea"/>
                    <a:cs typeface="Arial" panose="020B0604020202020204" pitchFamily="34" charset="0"/>
                  </a:rPr>
                  <a:t> variable that specifies the included projects. This file also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application.mk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 It is responsible for forwarding build‑related requests to the individual core projects and handles post‑build activities (for example, generating single monolithic HEX files that can be used to program all projects simultaneously) once they are complete</a:t>
                </a: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0" i="0" kern="1200" dirty="0">
                    <a:solidFill>
                      <a:schemeClr val="tx1"/>
                    </a:solidFill>
                    <a:effectLst/>
                    <a:latin typeface="Arial" panose="020B0604020202020204" pitchFamily="34" charset="0"/>
                    <a:ea typeface="+mn-ea"/>
                    <a:cs typeface="Arial" panose="020B0604020202020204" pitchFamily="34" charset="0"/>
                  </a:rPr>
                  <a:t> folder is common to all projects in a multi‑core application. The files provided by the BSP are stored here and are listed under </a:t>
                </a:r>
                <a:r>
                  <a:rPr lang="en-US" sz="1200" b="1" i="0" kern="1200" dirty="0">
                    <a:solidFill>
                      <a:schemeClr val="tx1"/>
                    </a:solidFill>
                    <a:effectLst/>
                    <a:latin typeface="Arial" panose="020B0604020202020204" pitchFamily="34" charset="0"/>
                    <a:ea typeface="+mn-ea"/>
                    <a:cs typeface="Arial" panose="020B0604020202020204" pitchFamily="34" charset="0"/>
                  </a:rPr>
                  <a:t>TARGET_</a:t>
                </a:r>
                <a:r>
                  <a:rPr lang="en-US" sz="1200" b="0" i="0" kern="1200" dirty="0">
                    <a:solidFill>
                      <a:schemeClr val="tx1"/>
                    </a:solidFill>
                    <a:effectLst/>
                    <a:latin typeface="Arial" panose="020B0604020202020204" pitchFamily="34" charset="0"/>
                    <a:ea typeface="+mn-ea"/>
                    <a:cs typeface="Arial" panose="020B0604020202020204" pitchFamily="34" charset="0"/>
                  </a:rPr>
                  <a:t> subfolders. All input files for the device and peripheral configurators are in the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folder inside the BSP. The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 in the BSP contains the files generated by the configurators and are prefixed with </a:t>
                </a:r>
                <a:r>
                  <a:rPr lang="en-US" sz="1200" b="1" i="0" kern="1200" dirty="0" err="1">
                    <a:solidFill>
                      <a:schemeClr val="tx1"/>
                    </a:solidFill>
                    <a:effectLst/>
                    <a:latin typeface="Arial" panose="020B0604020202020204" pitchFamily="34" charset="0"/>
                    <a:ea typeface="+mn-ea"/>
                    <a:cs typeface="Arial" panose="020B0604020202020204" pitchFamily="34" charset="0"/>
                  </a:rPr>
                  <a:t>cycfg</a:t>
                </a:r>
                <a:r>
                  <a:rPr lang="en-US" sz="1200" b="1" i="0" kern="1200" dirty="0">
                    <a:solidFill>
                      <a:schemeClr val="tx1"/>
                    </a:solidFill>
                    <a:effectLst/>
                    <a:latin typeface="Arial" panose="020B0604020202020204" pitchFamily="34" charset="0"/>
                    <a:ea typeface="+mn-ea"/>
                    <a:cs typeface="Arial" panose="020B0604020202020204" pitchFamily="34" charset="0"/>
                  </a:rPr>
                  <a:t>_</a:t>
                </a:r>
                <a:r>
                  <a:rPr lang="en-US" sz="1200" b="0" i="0" kern="1200" dirty="0">
                    <a:solidFill>
                      <a:schemeClr val="tx1"/>
                    </a:solidFill>
                    <a:effectLst/>
                    <a:latin typeface="Arial" panose="020B0604020202020204" pitchFamily="34" charset="0"/>
                    <a:ea typeface="+mn-ea"/>
                    <a:cs typeface="Arial" panose="020B0604020202020204" pitchFamily="34" charset="0"/>
                  </a:rPr>
                  <a:t>. These files contain the design configuration defined by the BSP.</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Starting with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3.x or later, you can directly customize the BSP’s configurator files for your application rather than overriding the default design files with custom ones, since BSPs are fully owned by the application. The BSP folder also contains the linker scripts and the startup code for the Explorer MCU used on the board</a:t>
                </a: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main.c</a:t>
                </a:r>
                <a:r>
                  <a:rPr lang="en-US" sz="1200" b="1" i="0" kern="1200" dirty="0">
                    <a:solidFill>
                      <a:schemeClr val="tx1"/>
                    </a:solidFill>
                    <a:effectLst/>
                    <a:latin typeface="Arial" panose="020B0604020202020204" pitchFamily="34" charset="0"/>
                    <a:ea typeface="+mn-ea"/>
                    <a:cs typeface="Arial" panose="020B0604020202020204" pitchFamily="34" charset="0"/>
                  </a:rPr>
                  <a:t> 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is the file that contains the source code of the project. Each project has its own source code file. If a project has multiple source files, they may be grouped under a </a:t>
                </a:r>
                <a:r>
                  <a:rPr lang="en-US" sz="1200" b="1" i="0" kern="1200" dirty="0">
                    <a:solidFill>
                      <a:schemeClr val="tx1"/>
                    </a:solidFill>
                    <a:effectLst/>
                    <a:latin typeface="Arial" panose="020B0604020202020204" pitchFamily="34" charset="0"/>
                    <a:ea typeface="+mn-ea"/>
                    <a:cs typeface="Arial" panose="020B0604020202020204" pitchFamily="34" charset="0"/>
                  </a:rPr>
                  <a:t>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Project‑Level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is the project’s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It includes numerous variables used by the project, such as </a:t>
                </a:r>
                <a:r>
                  <a:rPr lang="en-US" sz="1200" b="1" i="0" kern="1200" dirty="0">
                    <a:solidFill>
                      <a:schemeClr val="tx1"/>
                    </a:solidFill>
                    <a:effectLst/>
                    <a:latin typeface="Arial" panose="020B0604020202020204" pitchFamily="34" charset="0"/>
                    <a:ea typeface="+mn-ea"/>
                    <a:cs typeface="Arial" panose="020B0604020202020204" pitchFamily="34" charset="0"/>
                  </a:rPr>
                  <a:t>COMPONENTS</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CORE_NAME</a:t>
                </a:r>
                <a:r>
                  <a:rPr lang="en-US" sz="1200" b="0" i="0" kern="1200" dirty="0">
                    <a:solidFill>
                      <a:schemeClr val="tx1"/>
                    </a:solidFill>
                    <a:effectLst/>
                    <a:latin typeface="Arial" panose="020B0604020202020204" pitchFamily="34" charset="0"/>
                    <a:ea typeface="+mn-ea"/>
                    <a:cs typeface="Arial" panose="020B0604020202020204" pitchFamily="34" charset="0"/>
                  </a:rPr>
                  <a:t>, and other variables used to specify flags, as well as pre‑build and post‑build commands.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path information for source code discovery, the shared repo location, and the path to the compiler. Additionally, it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common.mk</a:t>
                </a:r>
                <a:r>
                  <a:rPr lang="en-US" sz="1200" b="0" i="0" kern="1200" dirty="0">
                    <a:solidFill>
                      <a:schemeClr val="tx1"/>
                    </a:solidFill>
                    <a:effectLst/>
                    <a:latin typeface="Arial" panose="020B0604020202020204" pitchFamily="34" charset="0"/>
                    <a:ea typeface="+mn-ea"/>
                    <a:cs typeface="Arial" panose="020B0604020202020204" pitchFamily="34" charset="0"/>
                  </a:rPr>
                  <a:t> file from the application and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start.mk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libs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which point to libraries that are included indirectly as dependencies of a BSP or another library. For each indirect dependency, the Library Manager places a corresponding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in this folder. These files are populated based on the targets available in 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For example, using </a:t>
                </a:r>
                <a:r>
                  <a:rPr lang="en-US" sz="1200" b="1" i="0" kern="1200" dirty="0">
                    <a:solidFill>
                      <a:schemeClr val="tx1"/>
                    </a:solidFill>
                    <a:effectLst/>
                    <a:latin typeface="Arial" panose="020B0604020202020204" pitchFamily="34" charset="0"/>
                    <a:ea typeface="+mn-ea"/>
                    <a:cs typeface="Arial" panose="020B0604020202020204" pitchFamily="34" charset="0"/>
                  </a:rPr>
                  <a:t>BSP KIT_PSOCE84_EVK</a:t>
                </a:r>
                <a:r>
                  <a:rPr lang="en-US" sz="1200" b="0" i="0" kern="1200" dirty="0">
                    <a:solidFill>
                      <a:schemeClr val="tx1"/>
                    </a:solidFill>
                    <a:effectLst/>
                    <a:latin typeface="Arial" panose="020B0604020202020204" pitchFamily="34" charset="0"/>
                    <a:ea typeface="+mn-ea"/>
                    <a:cs typeface="Arial" panose="020B0604020202020204" pitchFamily="34" charset="0"/>
                  </a:rPr>
                  <a:t> populates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with the following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a:t>
                </a:r>
              </a:p>
              <a:p>
                <a:pPr marL="781035" lvl="1" indent="-171450" fontAlgn="t">
                  <a:buFont typeface="Arial" panose="020B0604020202020204" pitchFamily="34" charset="0"/>
                  <a:buChar char="•"/>
                </a:pPr>
                <a:r>
                  <a:rPr lang="en-US" sz="1600" b="0" i="0" kern="1200" dirty="0" err="1">
                    <a:solidFill>
                      <a:schemeClr val="tx1"/>
                    </a:solidFill>
                    <a:effectLst/>
                    <a:latin typeface="Arial" panose="020B0604020202020204" pitchFamily="34" charset="0"/>
                    <a:ea typeface="+mn-ea"/>
                    <a:cs typeface="Arial" panose="020B0604020202020204" pitchFamily="34" charset="0"/>
                  </a:rPr>
                  <a:t>cmsis.mtb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core-</a:t>
                </a:r>
                <a:r>
                  <a:rPr lang="en-US" sz="1600" b="0" i="0" kern="1200" dirty="0" err="1">
                    <a:solidFill>
                      <a:schemeClr val="tx1"/>
                    </a:solidFill>
                    <a:effectLst/>
                    <a:latin typeface="Arial" panose="020B0604020202020204" pitchFamily="34" charset="0"/>
                    <a:ea typeface="+mn-ea"/>
                    <a:cs typeface="Arial" panose="020B0604020202020204" pitchFamily="34" charset="0"/>
                  </a:rPr>
                  <a:t>lib.mtb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core-</a:t>
                </a:r>
                <a:r>
                  <a:rPr lang="en-US" sz="1600" b="0" i="0" kern="1200" dirty="0" err="1">
                    <a:solidFill>
                      <a:schemeClr val="tx1"/>
                    </a:solidFill>
                    <a:effectLst/>
                    <a:latin typeface="Arial" panose="020B0604020202020204" pitchFamily="34" charset="0"/>
                    <a:ea typeface="+mn-ea"/>
                    <a:cs typeface="Arial" panose="020B0604020202020204" pitchFamily="34" charset="0"/>
                  </a:rPr>
                  <a:t>make.mtb</a:t>
                </a:r>
                <a:endParaRPr lang="en-US" sz="1600" b="0" i="0" kern="1200" dirty="0">
                  <a:solidFill>
                    <a:schemeClr val="tx1"/>
                  </a:solidFill>
                  <a:effectLst/>
                  <a:latin typeface="Arial" panose="020B0604020202020204" pitchFamily="34" charset="0"/>
                  <a:ea typeface="+mn-ea"/>
                  <a:cs typeface="Arial" panose="020B0604020202020204" pitchFamily="34" charset="0"/>
                </a:endParaRP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mtb-hal-cat1.mtb</a:t>
                </a: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mtb-pdl-cat1.mtb</a:t>
                </a:r>
              </a:p>
              <a:p>
                <a:pPr marL="781035" lvl="1" indent="-171450" fontAlgn="t">
                  <a:buFont typeface="Arial" panose="020B0604020202020204" pitchFamily="34" charset="0"/>
                  <a:buChar char="•"/>
                </a:pPr>
                <a:r>
                  <a:rPr lang="en-US" sz="1600" b="0" i="0" kern="1200" dirty="0">
                    <a:solidFill>
                      <a:schemeClr val="tx1"/>
                    </a:solidFill>
                    <a:effectLst/>
                    <a:latin typeface="Arial" panose="020B0604020202020204" pitchFamily="34" charset="0"/>
                    <a:ea typeface="+mn-ea"/>
                    <a:cs typeface="Arial" panose="020B0604020202020204" pitchFamily="34" charset="0"/>
                  </a:rPr>
                  <a:t>recipe-make-cat1d.mtb</a:t>
                </a:r>
              </a:p>
              <a:p>
                <a:pPr marL="609585" lvl="1" indent="0" fontAlgn="t">
                  <a:buFont typeface="Arial" panose="020B0604020202020204" pitchFamily="34" charset="0"/>
                  <a:buNone/>
                </a:pP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also contains the file </a:t>
                </a:r>
                <a:r>
                  <a:rPr lang="en-US" sz="1200" b="1" i="0" kern="1200" dirty="0">
                    <a:solidFill>
                      <a:schemeClr val="tx1"/>
                    </a:solidFill>
                    <a:effectLst/>
                    <a:latin typeface="Arial" panose="020B0604020202020204" pitchFamily="34" charset="0"/>
                    <a:ea typeface="+mn-ea"/>
                    <a:cs typeface="Arial" panose="020B0604020202020204" pitchFamily="34" charset="0"/>
                  </a:rPr>
                  <a:t>mtb.mk</a:t>
                </a:r>
                <a:r>
                  <a:rPr lang="en-US" sz="1200" b="0" i="0" kern="1200" dirty="0">
                    <a:solidFill>
                      <a:schemeClr val="tx1"/>
                    </a:solidFill>
                    <a:effectLst/>
                    <a:latin typeface="Arial" panose="020B0604020202020204" pitchFamily="34" charset="0"/>
                    <a:ea typeface="+mn-ea"/>
                    <a:cs typeface="Arial" panose="020B0604020202020204" pitchFamily="34" charset="0"/>
                  </a:rPr>
                  <a:t>, which stores the relative paths of all the libraries required by the application. The build system uses this file to locate the necessary libraries.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Everything in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is generated by the Library Manager, so you should not manually edit anything in that folder.</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build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build</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all artifacts generated from building the project. The output files are organized by target BSPs</a:t>
                </a:r>
              </a:p>
              <a:p>
                <a:pPr marL="171450" indent="-171450" fontAlgn="t">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deps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that specify where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retrieves the libraries directly referenced by the application.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These files typically contain the GitHub location of a library. Each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also includes a Git commit hash or tag specifying which version of the library to fetch, as well as the path where the library should be stored locally</a:t>
                </a:r>
              </a:p>
              <a:p>
                <a:pPr lvl="1" fontAlgn="t"/>
                <a:r>
                  <a:rPr lang="en-US" sz="1600" b="0" i="0" kern="1200" dirty="0">
                    <a:solidFill>
                      <a:schemeClr val="tx1"/>
                    </a:solidFill>
                    <a:effectLst/>
                    <a:latin typeface="Arial" panose="020B0604020202020204" pitchFamily="34" charset="0"/>
                    <a:ea typeface="+mn-ea"/>
                    <a:cs typeface="Arial" panose="020B0604020202020204" pitchFamily="34" charset="0"/>
                  </a:rPr>
                  <a:t>Example:</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1" i="0" kern="1200" dirty="0">
                    <a:solidFill>
                      <a:schemeClr val="tx1"/>
                    </a:solidFill>
                    <a:effectLst/>
                    <a:latin typeface="Arial" panose="020B0604020202020204" pitchFamily="34" charset="0"/>
                    <a:ea typeface="+mn-ea"/>
                    <a:cs typeface="Arial" panose="020B0604020202020204" pitchFamily="34" charset="0"/>
                  </a:rPr>
                  <a:t>retarget‑</a:t>
                </a:r>
                <a:r>
                  <a:rPr lang="en-US" sz="1600" b="1" i="0" kern="1200" dirty="0" err="1">
                    <a:solidFill>
                      <a:schemeClr val="tx1"/>
                    </a:solidFill>
                    <a:effectLst/>
                    <a:latin typeface="Arial" panose="020B0604020202020204" pitchFamily="34" charset="0"/>
                    <a:ea typeface="+mn-ea"/>
                    <a:cs typeface="Arial" panose="020B0604020202020204" pitchFamily="34" charset="0"/>
                  </a:rPr>
                  <a:t>io.mtb</a:t>
                </a:r>
                <a:r>
                  <a:rPr lang="en-US" sz="1600" b="0" i="0" kern="1200" dirty="0">
                    <a:solidFill>
                      <a:schemeClr val="tx1"/>
                    </a:solidFill>
                    <a:effectLst/>
                    <a:latin typeface="Arial" panose="020B0604020202020204" pitchFamily="34" charset="0"/>
                    <a:ea typeface="+mn-ea"/>
                    <a:cs typeface="Arial" panose="020B0604020202020204" pitchFamily="34" charset="0"/>
                  </a:rPr>
                  <a:t> points to:</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mtb://retarget-io#latest-v1.X#$ASSET_REPO$/retarget-io/latest-v1.X</a:t>
                </a:r>
              </a:p>
              <a:p>
                <a:pPr lvl="1" fontAlgn="t"/>
                <a:r>
                  <a:rPr lang="en-US" sz="1600" b="0" i="0" kern="1200" dirty="0">
                    <a:solidFill>
                      <a:schemeClr val="tx1"/>
                    </a:solidFill>
                    <a:effectLst/>
                    <a:latin typeface="Arial" panose="020B0604020202020204" pitchFamily="34" charset="0"/>
                    <a:ea typeface="+mn-ea"/>
                    <a:cs typeface="Arial" panose="020B0604020202020204" pitchFamily="34" charset="0"/>
                  </a:rPr>
                  <a:t>The variable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𝐴𝑆𝑆𝐸</m:t>
                    </m:r>
                    <m:sSub>
                      <m:sSubPr>
                        <m:ctrlPr>
                          <a:rPr lang="en-US" sz="1600" i="1" kern="1200">
                            <a:solidFill>
                              <a:schemeClr val="tx1"/>
                            </a:solidFill>
                            <a:latin typeface="Cambria Math" panose="02040503050406030204" pitchFamily="18" charset="0"/>
                            <a:ea typeface="+mn-ea"/>
                            <a:cs typeface="Arial" panose="020B0604020202020204" pitchFamily="34" charset="0"/>
                          </a:rPr>
                        </m:ctrlPr>
                      </m:sSubPr>
                      <m:e>
                        <m:r>
                          <a:rPr lang="en-US" sz="1600" i="1" kern="1200">
                            <a:solidFill>
                              <a:schemeClr val="tx1"/>
                            </a:solidFill>
                            <a:latin typeface="Cambria Math" panose="02040503050406030204" pitchFamily="18" charset="0"/>
                            <a:ea typeface="+mn-ea"/>
                            <a:cs typeface="Arial" panose="020B0604020202020204" pitchFamily="34" charset="0"/>
                          </a:rPr>
                          <m:t>𝑇</m:t>
                        </m:r>
                      </m:e>
                      <m:sub>
                        <m:r>
                          <a:rPr lang="en-US" sz="1600" i="1" kern="1200">
                            <a:solidFill>
                              <a:schemeClr val="tx1"/>
                            </a:solidFill>
                            <a:latin typeface="Cambria Math" panose="02040503050406030204" pitchFamily="18" charset="0"/>
                            <a:ea typeface="+mn-ea"/>
                            <a:cs typeface="Arial" panose="020B0604020202020204" pitchFamily="34" charset="0"/>
                          </a:rPr>
                          <m:t>𝑅</m:t>
                        </m:r>
                      </m:sub>
                    </m:sSub>
                    <m:r>
                      <a:rPr lang="en-US" sz="1600" i="1" kern="1200">
                        <a:solidFill>
                          <a:schemeClr val="tx1"/>
                        </a:solidFill>
                        <a:latin typeface="Cambria Math" panose="02040503050406030204" pitchFamily="18" charset="0"/>
                        <a:ea typeface="+mn-ea"/>
                        <a:cs typeface="Arial" panose="020B0604020202020204" pitchFamily="34" charset="0"/>
                      </a:rPr>
                      <m:t>𝐸𝑃𝑂</m:t>
                    </m:r>
                  </m:oMath>
                </a14:m>
                <a:r>
                  <a:rPr lang="en-US" sz="1600" b="0" i="0" kern="1200" dirty="0">
                    <a:solidFill>
                      <a:schemeClr val="tx1"/>
                    </a:solidFill>
                    <a:effectLst/>
                    <a:latin typeface="Arial" panose="020B0604020202020204" pitchFamily="34" charset="0"/>
                    <a:ea typeface="+mn-ea"/>
                    <a:cs typeface="Arial" panose="020B0604020202020204" pitchFamily="34" charset="0"/>
                  </a:rPr>
                  <a:t> points to the root of the shared library location, which defaults to </a:t>
                </a:r>
                <a:r>
                  <a:rPr lang="en-US" sz="16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600" b="0" i="0" kern="1200" dirty="0">
                    <a:solidFill>
                      <a:schemeClr val="tx1"/>
                    </a:solidFill>
                    <a:effectLst/>
                    <a:latin typeface="Arial" panose="020B0604020202020204" pitchFamily="34" charset="0"/>
                    <a:ea typeface="+mn-ea"/>
                    <a:cs typeface="Arial" panose="020B0604020202020204" pitchFamily="34" charset="0"/>
                  </a:rPr>
                  <a:t>.</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If the library must be local to the application instead of shared, use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𝐿𝑂𝐶𝐴𝐿</m:t>
                    </m:r>
                  </m:oMath>
                </a14:m>
                <a:r>
                  <a:rPr lang="en-US" sz="1600" b="0" i="0" kern="1200" dirty="0">
                    <a:solidFill>
                      <a:schemeClr val="tx1"/>
                    </a:solidFill>
                    <a:effectLst/>
                    <a:latin typeface="Arial" panose="020B0604020202020204" pitchFamily="34" charset="0"/>
                    <a:ea typeface="+mn-ea"/>
                    <a:cs typeface="Arial" panose="020B0604020202020204" pitchFamily="34" charset="0"/>
                  </a:rPr>
                  <a:t> instead of </a:t>
                </a:r>
                <a14:m>
                  <m:oMath xmlns:m="http://schemas.openxmlformats.org/officeDocument/2006/math">
                    <m:r>
                      <a:rPr lang="en-US" sz="1600" i="1" kern="1200" smtClean="0">
                        <a:solidFill>
                          <a:schemeClr val="tx1"/>
                        </a:solidFill>
                        <a:latin typeface="Cambria Math" panose="02040503050406030204" pitchFamily="18" charset="0"/>
                        <a:ea typeface="+mn-ea"/>
                        <a:cs typeface="Arial" panose="020B0604020202020204" pitchFamily="34" charset="0"/>
                      </a:rPr>
                      <m:t>𝐴𝑆𝑆𝐸</m:t>
                    </m:r>
                    <m:sSub>
                      <m:sSubPr>
                        <m:ctrlPr>
                          <a:rPr lang="en-US" sz="1600" i="1" kern="1200">
                            <a:solidFill>
                              <a:schemeClr val="tx1"/>
                            </a:solidFill>
                            <a:latin typeface="Cambria Math" panose="02040503050406030204" pitchFamily="18" charset="0"/>
                            <a:ea typeface="+mn-ea"/>
                            <a:cs typeface="Arial" panose="020B0604020202020204" pitchFamily="34" charset="0"/>
                          </a:rPr>
                        </m:ctrlPr>
                      </m:sSubPr>
                      <m:e>
                        <m:r>
                          <a:rPr lang="en-US" sz="1600" i="1" kern="1200">
                            <a:solidFill>
                              <a:schemeClr val="tx1"/>
                            </a:solidFill>
                            <a:latin typeface="Cambria Math" panose="02040503050406030204" pitchFamily="18" charset="0"/>
                            <a:ea typeface="+mn-ea"/>
                            <a:cs typeface="Arial" panose="020B0604020202020204" pitchFamily="34" charset="0"/>
                          </a:rPr>
                          <m:t>𝑇</m:t>
                        </m:r>
                      </m:e>
                      <m:sub>
                        <m:r>
                          <a:rPr lang="en-US" sz="1600" i="1" kern="1200">
                            <a:solidFill>
                              <a:schemeClr val="tx1"/>
                            </a:solidFill>
                            <a:latin typeface="Cambria Math" panose="02040503050406030204" pitchFamily="18" charset="0"/>
                            <a:ea typeface="+mn-ea"/>
                            <a:cs typeface="Arial" panose="020B0604020202020204" pitchFamily="34" charset="0"/>
                          </a:rPr>
                          <m:t>𝑅</m:t>
                        </m:r>
                      </m:sub>
                    </m:sSub>
                    <m:r>
                      <a:rPr lang="en-US" sz="1600" i="1" kern="1200">
                        <a:solidFill>
                          <a:schemeClr val="tx1"/>
                        </a:solidFill>
                        <a:latin typeface="Cambria Math" panose="02040503050406030204" pitchFamily="18" charset="0"/>
                        <a:ea typeface="+mn-ea"/>
                        <a:cs typeface="Arial" panose="020B0604020202020204" pitchFamily="34" charset="0"/>
                      </a:rPr>
                      <m:t>𝐸𝑃𝑂</m:t>
                    </m:r>
                  </m:oMath>
                </a14:m>
                <a:r>
                  <a:rPr lang="en-US" sz="1600" b="0" i="0" kern="1200" dirty="0">
                    <a:solidFill>
                      <a:schemeClr val="tx1"/>
                    </a:solidFill>
                    <a:effectLst/>
                    <a:latin typeface="Arial" panose="020B0604020202020204" pitchFamily="34" charset="0"/>
                    <a:ea typeface="+mn-ea"/>
                    <a:cs typeface="Arial" panose="020B0604020202020204" pitchFamily="34" charset="0"/>
                  </a:rPr>
                  <a:t>.</a:t>
                </a:r>
                <a:br>
                  <a:rPr lang="en-US" sz="1600" b="0" i="0" kern="1200" dirty="0">
                    <a:solidFill>
                      <a:schemeClr val="tx1"/>
                    </a:solidFill>
                    <a:effectLst/>
                    <a:latin typeface="Arial" panose="020B0604020202020204" pitchFamily="34" charset="0"/>
                    <a:ea typeface="+mn-ea"/>
                    <a:cs typeface="Arial" panose="020B0604020202020204" pitchFamily="34" charset="0"/>
                  </a:rPr>
                </a:br>
                <a:r>
                  <a:rPr lang="en-US" sz="1600" b="0" i="0" kern="1200" dirty="0">
                    <a:solidFill>
                      <a:schemeClr val="tx1"/>
                    </a:solidFill>
                    <a:effectLst/>
                    <a:latin typeface="Arial" panose="020B0604020202020204" pitchFamily="34" charset="0"/>
                    <a:ea typeface="+mn-ea"/>
                    <a:cs typeface="Arial" panose="020B0604020202020204" pitchFamily="34" charset="0"/>
                  </a:rPr>
                  <a:t>This folder also contains the </a:t>
                </a:r>
                <a:r>
                  <a:rPr lang="en-US" sz="1600" b="1" i="0" kern="1200" dirty="0">
                    <a:solidFill>
                      <a:schemeClr val="tx1"/>
                    </a:solidFill>
                    <a:effectLst/>
                    <a:latin typeface="Arial" panose="020B0604020202020204" pitchFamily="34" charset="0"/>
                    <a:ea typeface="+mn-ea"/>
                    <a:cs typeface="Arial" panose="020B0604020202020204" pitchFamily="34" charset="0"/>
                  </a:rPr>
                  <a:t>locking_commit.log</a:t>
                </a:r>
                <a:r>
                  <a:rPr lang="en-US" sz="1600" b="0" i="0" kern="1200" dirty="0">
                    <a:solidFill>
                      <a:schemeClr val="tx1"/>
                    </a:solidFill>
                    <a:effectLst/>
                    <a:latin typeface="Arial" panose="020B0604020202020204" pitchFamily="34" charset="0"/>
                    <a:ea typeface="+mn-ea"/>
                    <a:cs typeface="Arial" panose="020B0604020202020204" pitchFamily="34" charset="0"/>
                  </a:rPr>
                  <a:t> file, which tracks the version information for each dependent library.</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By default, when creating a new application or adding a library to an existing one and marking it as shared, all shared libraries are placed in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folder is shared between different applications within the same workspace. Different applications may use different versions of shared libraries if required.</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Each workspace created with one or more applications will include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next to the application directories, and this is where shared libraries are cloned by default. This location can be modified by specifying the </a:t>
                </a:r>
                <a:r>
                  <a:rPr lang="en-US" sz="1200" b="1" i="0" kern="1200" dirty="0">
                    <a:solidFill>
                      <a:schemeClr val="tx1"/>
                    </a:solidFill>
                    <a:effectLst/>
                    <a:latin typeface="Arial" panose="020B0604020202020204" pitchFamily="34" charset="0"/>
                    <a:ea typeface="+mn-ea"/>
                    <a:cs typeface="Arial" panose="020B0604020202020204" pitchFamily="34" charset="0"/>
                  </a:rPr>
                  <a:t>CY_GETLIBS_PATH</a:t>
                </a:r>
                <a:r>
                  <a:rPr lang="en-US" sz="1200" b="0" i="0" kern="1200" dirty="0">
                    <a:solidFill>
                      <a:schemeClr val="tx1"/>
                    </a:solidFill>
                    <a:effectLst/>
                    <a:latin typeface="Arial" panose="020B0604020202020204" pitchFamily="34" charset="0"/>
                    <a:ea typeface="+mn-ea"/>
                    <a:cs typeface="Arial" panose="020B0604020202020204" pitchFamily="34" charset="0"/>
                  </a:rPr>
                  <a:t> variable.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Duplicate libraries are checked to determine whether they reference the same commit; if so, only one copy is stored in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Regeneration of the shared library files can be done using the Library Manager whenever needed</a:t>
                </a: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Conclusion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A similar project structure can be observed in the Hello World project created</a:t>
                </a:r>
              </a:p>
            </p:txBody>
          </p:sp>
        </mc:Choice>
        <mc:Fallback xmlns="">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After creating an application, it will be located in a top-level container, or workspace directory, that contains multiple files, one or more application directories, plus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 typical </a:t>
                </a:r>
                <a:r>
                  <a:rPr lang="en-US" sz="1200" b="1" i="0" kern="1200" dirty="0">
                    <a:solidFill>
                      <a:schemeClr val="tx1"/>
                    </a:solidFill>
                    <a:effectLst/>
                    <a:latin typeface="Arial" panose="020B0604020202020204" pitchFamily="34" charset="0"/>
                    <a:ea typeface="+mn-ea"/>
                    <a:cs typeface="Arial" panose="020B0604020202020204" pitchFamily="34" charset="0"/>
                  </a:rPr>
                  <a:t>PSOC™ Edge</a:t>
                </a:r>
                <a:r>
                  <a:rPr lang="en-US" sz="1200" b="0" i="0" kern="1200" dirty="0">
                    <a:solidFill>
                      <a:schemeClr val="tx1"/>
                    </a:solidFill>
                    <a:effectLst/>
                    <a:latin typeface="Arial" panose="020B0604020202020204" pitchFamily="34" charset="0"/>
                    <a:ea typeface="+mn-ea"/>
                    <a:cs typeface="Arial" panose="020B0604020202020204" pitchFamily="34" charset="0"/>
                  </a:rPr>
                  <a:t> application contains three projects: </a:t>
                </a:r>
                <a:r>
                  <a:rPr lang="en-US" sz="1200" b="1" i="0" kern="1200" dirty="0">
                    <a:solidFill>
                      <a:schemeClr val="tx1"/>
                    </a:solidFill>
                    <a:effectLst/>
                    <a:latin typeface="Arial" panose="020B0604020202020204" pitchFamily="34" charset="0"/>
                    <a:ea typeface="+mn-ea"/>
                    <a:cs typeface="Arial" panose="020B0604020202020204" pitchFamily="34" charset="0"/>
                  </a:rPr>
                  <a:t>Proj_cm33_s</a:t>
                </a:r>
                <a:r>
                  <a:rPr lang="en-US" sz="1200" b="0" i="0" kern="1200" dirty="0">
                    <a:solidFill>
                      <a:schemeClr val="tx1"/>
                    </a:solidFill>
                    <a:effectLst/>
                    <a:latin typeface="Arial" panose="020B0604020202020204" pitchFamily="34" charset="0"/>
                    <a:ea typeface="+mn-ea"/>
                    <a:cs typeface="Arial" panose="020B0604020202020204" pitchFamily="34" charset="0"/>
                  </a:rPr>
                  <a:t> (s stands for secure), </a:t>
                </a:r>
                <a:r>
                  <a:rPr lang="en-US" sz="1200" b="1" i="0" kern="1200" dirty="0">
                    <a:solidFill>
                      <a:schemeClr val="tx1"/>
                    </a:solidFill>
                    <a:effectLst/>
                    <a:latin typeface="Arial" panose="020B0604020202020204" pitchFamily="34" charset="0"/>
                    <a:ea typeface="+mn-ea"/>
                    <a:cs typeface="Arial" panose="020B0604020202020204" pitchFamily="34" charset="0"/>
                  </a:rPr>
                  <a:t>Proj_cm33_ns</a:t>
                </a:r>
                <a:r>
                  <a:rPr lang="en-US" sz="1200" b="0" i="0" kern="1200" dirty="0">
                    <a:solidFill>
                      <a:schemeClr val="tx1"/>
                    </a:solidFill>
                    <a:effectLst/>
                    <a:latin typeface="Arial" panose="020B0604020202020204" pitchFamily="34" charset="0"/>
                    <a:ea typeface="+mn-ea"/>
                    <a:cs typeface="Arial" panose="020B0604020202020204" pitchFamily="34" charset="0"/>
                  </a:rPr>
                  <a:t> (ns stands for non-secure), and </a:t>
                </a:r>
                <a:r>
                  <a:rPr lang="en-US" sz="1200" b="1" i="0" kern="1200" dirty="0">
                    <a:solidFill>
                      <a:schemeClr val="tx1"/>
                    </a:solidFill>
                    <a:effectLst/>
                    <a:latin typeface="Arial" panose="020B0604020202020204" pitchFamily="34" charset="0"/>
                    <a:ea typeface="+mn-ea"/>
                    <a:cs typeface="Arial" panose="020B0604020202020204" pitchFamily="34" charset="0"/>
                  </a:rPr>
                  <a:t>Proj_cm55</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common.mk</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all projects. It contains variables including: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TARGET</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TOOLCHAIN</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In this case, we have a multi-project structure for all Explorer MCU applications; hence </a:t>
                </a:r>
                <a:r>
                  <a:rPr lang="en-US" sz="1200" b="1" i="0" kern="1200" dirty="0">
                    <a:solidFill>
                      <a:schemeClr val="tx1"/>
                    </a:solidFill>
                    <a:effectLst/>
                    <a:latin typeface="Arial" panose="020B0604020202020204" pitchFamily="34" charset="0"/>
                    <a:ea typeface="+mn-ea"/>
                    <a:cs typeface="Arial" panose="020B0604020202020204" pitchFamily="34" charset="0"/>
                  </a:rPr>
                  <a:t>MTB_TYPE = PROJECT</a:t>
                </a:r>
                <a:r>
                  <a:rPr lang="en-US" sz="1200" b="0" i="0" kern="1200" dirty="0">
                    <a:solidFill>
                      <a:schemeClr val="tx1"/>
                    </a:solidFill>
                    <a:effectLst/>
                    <a:latin typeface="Arial" panose="020B0604020202020204" pitchFamily="34" charset="0"/>
                    <a:ea typeface="+mn-ea"/>
                    <a:cs typeface="Arial" panose="020B0604020202020204" pitchFamily="34" charset="0"/>
                  </a:rPr>
                  <a:t>. This file includes a reference to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is shared across the entire application and all its projects. It contains path information to indicate the location of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Application-Level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endParaRPr lang="en-US" sz="1200" b="1"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An application contains a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that is located in the application's root folder. This file contains the directives that the </a:t>
                </a:r>
                <a:r>
                  <a:rPr lang="en-US" sz="1200" b="0" i="1" kern="1200" dirty="0">
                    <a:solidFill>
                      <a:schemeClr val="tx1"/>
                    </a:solidFill>
                    <a:effectLst/>
                    <a:latin typeface="Arial" panose="020B0604020202020204" pitchFamily="34" charset="0"/>
                    <a:ea typeface="+mn-ea"/>
                    <a:cs typeface="Arial" panose="020B0604020202020204" pitchFamily="34" charset="0"/>
                  </a:rPr>
                  <a:t>make</a:t>
                </a:r>
                <a:r>
                  <a:rPr lang="en-US" sz="1200" b="0" i="0" kern="1200" dirty="0">
                    <a:solidFill>
                      <a:schemeClr val="tx1"/>
                    </a:solidFill>
                    <a:effectLst/>
                    <a:latin typeface="Arial" panose="020B0604020202020204" pitchFamily="34" charset="0"/>
                    <a:ea typeface="+mn-ea"/>
                    <a:cs typeface="Arial" panose="020B0604020202020204" pitchFamily="34" charset="0"/>
                  </a:rPr>
                  <a:t> tool uses to compile and link the application project.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This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MTB_TYPE</a:t>
                </a:r>
                <a:r>
                  <a:rPr lang="en-US" sz="1200" b="0" i="0" kern="1200" dirty="0">
                    <a:solidFill>
                      <a:schemeClr val="tx1"/>
                    </a:solidFill>
                    <a:effectLst/>
                    <a:latin typeface="Arial" panose="020B0604020202020204" pitchFamily="34" charset="0"/>
                    <a:ea typeface="+mn-ea"/>
                    <a:cs typeface="Arial" panose="020B0604020202020204" pitchFamily="34" charset="0"/>
                  </a:rPr>
                  <a:t> variable set to </a:t>
                </a:r>
                <a:r>
                  <a:rPr lang="en-US" sz="1200" b="1" i="0" kern="1200" dirty="0">
                    <a:solidFill>
                      <a:schemeClr val="tx1"/>
                    </a:solidFill>
                    <a:effectLst/>
                    <a:latin typeface="Arial" panose="020B0604020202020204" pitchFamily="34" charset="0"/>
                    <a:ea typeface="+mn-ea"/>
                    <a:cs typeface="Arial" panose="020B0604020202020204" pitchFamily="34" charset="0"/>
                  </a:rPr>
                  <a:t>APPLICATION</a:t>
                </a:r>
                <a:r>
                  <a:rPr lang="en-US" sz="1200" b="0" i="0" kern="1200" dirty="0">
                    <a:solidFill>
                      <a:schemeClr val="tx1"/>
                    </a:solidFill>
                    <a:effectLst/>
                    <a:latin typeface="Arial" panose="020B0604020202020204" pitchFamily="34" charset="0"/>
                    <a:ea typeface="+mn-ea"/>
                    <a:cs typeface="Arial" panose="020B0604020202020204" pitchFamily="34" charset="0"/>
                  </a:rPr>
                  <a:t>, and the </a:t>
                </a:r>
                <a:r>
                  <a:rPr lang="en-US" sz="1200" b="1" i="0" kern="1200" dirty="0">
                    <a:solidFill>
                      <a:schemeClr val="tx1"/>
                    </a:solidFill>
                    <a:effectLst/>
                    <a:latin typeface="Arial" panose="020B0604020202020204" pitchFamily="34" charset="0"/>
                    <a:ea typeface="+mn-ea"/>
                    <a:cs typeface="Arial" panose="020B0604020202020204" pitchFamily="34" charset="0"/>
                  </a:rPr>
                  <a:t>MTB_PROJECTS</a:t>
                </a:r>
                <a:r>
                  <a:rPr lang="en-US" sz="1200" b="0" i="0" kern="1200" dirty="0">
                    <a:solidFill>
                      <a:schemeClr val="tx1"/>
                    </a:solidFill>
                    <a:effectLst/>
                    <a:latin typeface="Arial" panose="020B0604020202020204" pitchFamily="34" charset="0"/>
                    <a:ea typeface="+mn-ea"/>
                    <a:cs typeface="Arial" panose="020B0604020202020204" pitchFamily="34" charset="0"/>
                  </a:rPr>
                  <a:t> variable that specifies the included projects.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common_app.mk</a:t>
                </a:r>
                <a:r>
                  <a:rPr lang="en-US" sz="1200" b="0" i="0" kern="1200" dirty="0">
                    <a:solidFill>
                      <a:schemeClr val="tx1"/>
                    </a:solidFill>
                    <a:effectLst/>
                    <a:latin typeface="Arial" panose="020B0604020202020204" pitchFamily="34" charset="0"/>
                    <a:ea typeface="+mn-ea"/>
                    <a:cs typeface="Arial" panose="020B0604020202020204" pitchFamily="34" charset="0"/>
                  </a:rPr>
                  <a:t> file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application.mk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 This file is responsible for forwarding build-related requests to the individual core projects and deals with post-build activities (for example, generating single monolithic HEX files that can be used to program all projects simultaneously) when they are complete.</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bsps</a:t>
                </a:r>
                <a:r>
                  <a:rPr lang="en-US" sz="1200" b="0" i="0" kern="1200" dirty="0">
                    <a:solidFill>
                      <a:schemeClr val="tx1"/>
                    </a:solidFill>
                    <a:effectLst/>
                    <a:latin typeface="Arial" panose="020B0604020202020204" pitchFamily="34" charset="0"/>
                    <a:ea typeface="+mn-ea"/>
                    <a:cs typeface="Arial" panose="020B0604020202020204" pitchFamily="34" charset="0"/>
                  </a:rPr>
                  <a:t> folder is common to all projects in a multi-core application. The files provided by the BSP are present here and are listed under </a:t>
                </a:r>
                <a:r>
                  <a:rPr lang="en-US" sz="1200" b="1" i="0" kern="1200" dirty="0">
                    <a:solidFill>
                      <a:schemeClr val="tx1"/>
                    </a:solidFill>
                    <a:effectLst/>
                    <a:latin typeface="Arial" panose="020B0604020202020204" pitchFamily="34" charset="0"/>
                    <a:ea typeface="+mn-ea"/>
                    <a:cs typeface="Arial" panose="020B0604020202020204" pitchFamily="34" charset="0"/>
                  </a:rPr>
                  <a:t>TARGET_</a:t>
                </a:r>
                <a:r>
                  <a:rPr lang="en-US" sz="1200" b="0" i="0" kern="1200" dirty="0">
                    <a:solidFill>
                      <a:schemeClr val="tx1"/>
                    </a:solidFill>
                    <a:effectLst/>
                    <a:latin typeface="Arial" panose="020B0604020202020204" pitchFamily="34" charset="0"/>
                    <a:ea typeface="+mn-ea"/>
                    <a:cs typeface="Arial" panose="020B0604020202020204" pitchFamily="34" charset="0"/>
                  </a:rPr>
                  <a:t> subfolders.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All the input files for the device and peripheral configurators are in the </a:t>
                </a:r>
                <a:r>
                  <a:rPr lang="en-US" sz="1200" b="1" i="0" kern="1200" dirty="0">
                    <a:solidFill>
                      <a:schemeClr val="tx1"/>
                    </a:solidFill>
                    <a:effectLst/>
                    <a:latin typeface="Arial" panose="020B0604020202020204" pitchFamily="34" charset="0"/>
                    <a:ea typeface="+mn-ea"/>
                    <a:cs typeface="Arial" panose="020B0604020202020204" pitchFamily="34" charset="0"/>
                  </a:rPr>
                  <a:t>config</a:t>
                </a:r>
                <a:r>
                  <a:rPr lang="en-US" sz="1200" b="0" i="0" kern="1200" dirty="0">
                    <a:solidFill>
                      <a:schemeClr val="tx1"/>
                    </a:solidFill>
                    <a:effectLst/>
                    <a:latin typeface="Arial" panose="020B0604020202020204" pitchFamily="34" charset="0"/>
                    <a:ea typeface="+mn-ea"/>
                    <a:cs typeface="Arial" panose="020B0604020202020204" pitchFamily="34" charset="0"/>
                  </a:rPr>
                  <a:t> folder inside the BSP. The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 in the BSP contains the files that are generated by the configurators and are prefixed with </a:t>
                </a:r>
                <a:r>
                  <a:rPr lang="en-US" sz="1200" b="1" i="0" kern="1200" dirty="0" err="1">
                    <a:solidFill>
                      <a:schemeClr val="tx1"/>
                    </a:solidFill>
                    <a:effectLst/>
                    <a:latin typeface="Arial" panose="020B0604020202020204" pitchFamily="34" charset="0"/>
                    <a:ea typeface="+mn-ea"/>
                    <a:cs typeface="Arial" panose="020B0604020202020204" pitchFamily="34" charset="0"/>
                  </a:rPr>
                  <a:t>cycfg</a:t>
                </a:r>
                <a:r>
                  <a:rPr lang="en-US" sz="1200" b="1" i="0" kern="1200" dirty="0">
                    <a:solidFill>
                      <a:schemeClr val="tx1"/>
                    </a:solidFill>
                    <a:effectLst/>
                    <a:latin typeface="Arial" panose="020B0604020202020204" pitchFamily="34" charset="0"/>
                    <a:ea typeface="+mn-ea"/>
                    <a:cs typeface="Arial" panose="020B0604020202020204" pitchFamily="34" charset="0"/>
                  </a:rPr>
                  <a:t>_</a:t>
                </a:r>
                <a:r>
                  <a:rPr lang="en-US" sz="1200" b="0" i="0" kern="1200" dirty="0">
                    <a:solidFill>
                      <a:schemeClr val="tx1"/>
                    </a:solidFill>
                    <a:effectLst/>
                    <a:latin typeface="Arial" panose="020B0604020202020204" pitchFamily="34" charset="0"/>
                    <a:ea typeface="+mn-ea"/>
                    <a:cs typeface="Arial" panose="020B0604020202020204" pitchFamily="34" charset="0"/>
                  </a:rPr>
                  <a:t>. These files contain the design configuration as defined by the BSP.</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From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3.x or later, you can directly customize configurator files of the BSP for your application rather than overriding the default design configurator files with custom ones, since BSPs are completely owned by the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BSP folder also contains the linker scripts and the startup code for the Explorer MCU used on the board.</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main.c</a:t>
                </a:r>
                <a:r>
                  <a:rPr lang="en-US" sz="1200" b="1" i="0" kern="1200" dirty="0">
                    <a:solidFill>
                      <a:schemeClr val="tx1"/>
                    </a:solidFill>
                    <a:effectLst/>
                    <a:latin typeface="Arial" panose="020B0604020202020204" pitchFamily="34" charset="0"/>
                    <a:ea typeface="+mn-ea"/>
                    <a:cs typeface="Arial" panose="020B0604020202020204" pitchFamily="34" charset="0"/>
                  </a:rPr>
                  <a:t> file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is the file containing the source code of the project. Each project has its own source code file. If a project has multiple source code files, they can be grouped under a </a:t>
                </a:r>
                <a:r>
                  <a:rPr lang="en-US" sz="1200" b="1" i="0" kern="1200" dirty="0">
                    <a:solidFill>
                      <a:schemeClr val="tx1"/>
                    </a:solidFill>
                    <a:effectLst/>
                    <a:latin typeface="Arial" panose="020B0604020202020204" pitchFamily="34" charset="0"/>
                    <a:ea typeface="+mn-ea"/>
                    <a:cs typeface="Arial" panose="020B0604020202020204" pitchFamily="34" charset="0"/>
                  </a:rPr>
                  <a:t>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Project-Level </a:t>
                </a:r>
                <a:r>
                  <a:rPr lang="en-US" sz="1200" b="1" i="0" kern="1200" dirty="0" err="1">
                    <a:solidFill>
                      <a:schemeClr val="tx1"/>
                    </a:solidFill>
                    <a:effectLst/>
                    <a:latin typeface="Arial" panose="020B0604020202020204" pitchFamily="34" charset="0"/>
                    <a:ea typeface="+mn-ea"/>
                    <a:cs typeface="Arial" panose="020B0604020202020204" pitchFamily="34" charset="0"/>
                  </a:rPr>
                  <a:t>Makefile</a:t>
                </a:r>
                <a:endParaRPr lang="en-US" sz="1200" b="1"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is the project’s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a:t>
                </a:r>
                <a:r>
                  <a:rPr lang="en-US" sz="1200" b="0" i="0" kern="1200" dirty="0">
                    <a:solidFill>
                      <a:schemeClr val="tx1"/>
                    </a:solidFill>
                    <a:effectLst/>
                    <a:latin typeface="Arial" panose="020B0604020202020204" pitchFamily="34" charset="0"/>
                    <a:ea typeface="+mn-ea"/>
                    <a:cs typeface="Arial" panose="020B0604020202020204" pitchFamily="34" charset="0"/>
                  </a:rPr>
                  <a:t>. It includes numerous variables used by the project, such as </a:t>
                </a:r>
                <a:r>
                  <a:rPr lang="en-US" sz="1200" b="1" i="0" kern="1200" dirty="0">
                    <a:solidFill>
                      <a:schemeClr val="tx1"/>
                    </a:solidFill>
                    <a:effectLst/>
                    <a:latin typeface="Arial" panose="020B0604020202020204" pitchFamily="34" charset="0"/>
                    <a:ea typeface="+mn-ea"/>
                    <a:cs typeface="Arial" panose="020B0604020202020204" pitchFamily="34" charset="0"/>
                  </a:rPr>
                  <a:t>COMPONENTS</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CORE_NAME</a:t>
                </a:r>
                <a:r>
                  <a:rPr lang="en-US" sz="1200" b="0" i="0" kern="1200" dirty="0">
                    <a:solidFill>
                      <a:schemeClr val="tx1"/>
                    </a:solidFill>
                    <a:effectLst/>
                    <a:latin typeface="Arial" panose="020B0604020202020204" pitchFamily="34" charset="0"/>
                    <a:ea typeface="+mn-ea"/>
                    <a:cs typeface="Arial" panose="020B0604020202020204" pitchFamily="34" charset="0"/>
                  </a:rPr>
                  <a:t>, and other variables used to specify flags and pre-build and post-build commands.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file also includes path information for source code discovery, shared repo location, and the path to the compiler. Additionally, it includes the </a:t>
                </a:r>
                <a:r>
                  <a:rPr lang="en-US" sz="1200" b="1" i="0" kern="1200" dirty="0">
                    <a:solidFill>
                      <a:schemeClr val="tx1"/>
                    </a:solidFill>
                    <a:effectLst/>
                    <a:latin typeface="Arial" panose="020B0604020202020204" pitchFamily="34" charset="0"/>
                    <a:ea typeface="+mn-ea"/>
                    <a:cs typeface="Arial" panose="020B0604020202020204" pitchFamily="34" charset="0"/>
                  </a:rPr>
                  <a:t>common.mk</a:t>
                </a:r>
                <a:r>
                  <a:rPr lang="en-US" sz="1200" b="0" i="0" kern="1200" dirty="0">
                    <a:solidFill>
                      <a:schemeClr val="tx1"/>
                    </a:solidFill>
                    <a:effectLst/>
                    <a:latin typeface="Arial" panose="020B0604020202020204" pitchFamily="34" charset="0"/>
                    <a:ea typeface="+mn-ea"/>
                    <a:cs typeface="Arial" panose="020B0604020202020204" pitchFamily="34" charset="0"/>
                  </a:rPr>
                  <a:t> file from the application and the path information to the </a:t>
                </a:r>
                <a:r>
                  <a:rPr lang="en-US" sz="1200" b="1" i="0" kern="1200" dirty="0">
                    <a:solidFill>
                      <a:schemeClr val="tx1"/>
                    </a:solidFill>
                    <a:effectLst/>
                    <a:latin typeface="Arial" panose="020B0604020202020204" pitchFamily="34" charset="0"/>
                    <a:ea typeface="+mn-ea"/>
                    <a:cs typeface="Arial" panose="020B0604020202020204" pitchFamily="34" charset="0"/>
                  </a:rPr>
                  <a:t>start.mk</a:t>
                </a:r>
                <a:r>
                  <a:rPr lang="en-US" sz="1200" b="0" i="0" kern="1200" dirty="0">
                    <a:solidFill>
                      <a:schemeClr val="tx1"/>
                    </a:solidFill>
                    <a:effectLst/>
                    <a:latin typeface="Arial" panose="020B0604020202020204" pitchFamily="34" charset="0"/>
                    <a:ea typeface="+mn-ea"/>
                    <a:cs typeface="Arial" panose="020B0604020202020204" pitchFamily="34" charset="0"/>
                  </a:rPr>
                  <a:t> file in the installation </a:t>
                </a:r>
                <a:r>
                  <a:rPr lang="en-US" sz="1200" b="1" i="0" kern="1200" dirty="0">
                    <a:solidFill>
                      <a:schemeClr val="tx1"/>
                    </a:solidFill>
                    <a:effectLst/>
                    <a:latin typeface="Arial" panose="020B0604020202020204" pitchFamily="34" charset="0"/>
                    <a:ea typeface="+mn-ea"/>
                    <a:cs typeface="Arial" panose="020B0604020202020204" pitchFamily="34" charset="0"/>
                  </a:rPr>
                  <a:t>tools_</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libs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These point to libraries that are included indirectly as dependencies of a BSP or another library. For each indirect dependency, the Library Manager places an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 in this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These files are populated based on the targets available in 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For example, using BSP </a:t>
                </a:r>
                <a:r>
                  <a:rPr lang="en-US" sz="1200" b="1" i="0" kern="1200" dirty="0">
                    <a:solidFill>
                      <a:schemeClr val="tx1"/>
                    </a:solidFill>
                    <a:effectLst/>
                    <a:latin typeface="Arial" panose="020B0604020202020204" pitchFamily="34" charset="0"/>
                    <a:ea typeface="+mn-ea"/>
                    <a:cs typeface="Arial" panose="020B0604020202020204" pitchFamily="34" charset="0"/>
                  </a:rPr>
                  <a:t>KIT_PSOCE84_EVK</a:t>
                </a:r>
                <a:r>
                  <a:rPr lang="en-US" sz="1200" b="0" i="0" kern="1200" dirty="0">
                    <a:solidFill>
                      <a:schemeClr val="tx1"/>
                    </a:solidFill>
                    <a:effectLst/>
                    <a:latin typeface="Arial" panose="020B0604020202020204" pitchFamily="34" charset="0"/>
                    <a:ea typeface="+mn-ea"/>
                    <a:cs typeface="Arial" panose="020B0604020202020204" pitchFamily="34" charset="0"/>
                  </a:rPr>
                  <a:t> populates the libs folder with the following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a:t>
                </a:r>
              </a:p>
              <a:p>
                <a:pPr fontAlgn="t"/>
                <a:r>
                  <a:rPr lang="en-US" sz="1200" b="0" i="0" kern="1200" dirty="0" err="1">
                    <a:solidFill>
                      <a:schemeClr val="tx1"/>
                    </a:solidFill>
                    <a:effectLst/>
                    <a:latin typeface="Arial" panose="020B0604020202020204" pitchFamily="34" charset="0"/>
                    <a:ea typeface="+mn-ea"/>
                    <a:cs typeface="Arial" panose="020B0604020202020204" pitchFamily="34" charset="0"/>
                  </a:rPr>
                  <a:t>cmsis.mtb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err="1">
                    <a:solidFill>
                      <a:schemeClr val="tx1"/>
                    </a:solidFill>
                    <a:effectLst/>
                    <a:latin typeface="Arial" panose="020B0604020202020204" pitchFamily="34" charset="0"/>
                    <a:ea typeface="+mn-ea"/>
                    <a:cs typeface="Arial" panose="020B0604020202020204" pitchFamily="34" charset="0"/>
                  </a:rPr>
                  <a:t>lib.mtb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core-</a:t>
                </a:r>
                <a:r>
                  <a:rPr lang="en-US" sz="1200" b="0" i="0" kern="1200" dirty="0" err="1">
                    <a:solidFill>
                      <a:schemeClr val="tx1"/>
                    </a:solidFill>
                    <a:effectLst/>
                    <a:latin typeface="Arial" panose="020B0604020202020204" pitchFamily="34" charset="0"/>
                    <a:ea typeface="+mn-ea"/>
                    <a:cs typeface="Arial" panose="020B0604020202020204" pitchFamily="34" charset="0"/>
                  </a:rPr>
                  <a:t>make.mtb</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mtb-hal-cat1.mtb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mtb-pdl-cat1.mtb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recipe-make-cat1d.mtb</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also contains the file </a:t>
                </a:r>
                <a:r>
                  <a:rPr lang="en-US" sz="1200" b="1" i="0" kern="1200" dirty="0">
                    <a:solidFill>
                      <a:schemeClr val="tx1"/>
                    </a:solidFill>
                    <a:effectLst/>
                    <a:latin typeface="Arial" panose="020B0604020202020204" pitchFamily="34" charset="0"/>
                    <a:ea typeface="+mn-ea"/>
                    <a:cs typeface="Arial" panose="020B0604020202020204" pitchFamily="34" charset="0"/>
                  </a:rPr>
                  <a:t>mtb.mk</a:t>
                </a:r>
                <a:r>
                  <a:rPr lang="en-US" sz="1200" b="0" i="0" kern="1200" dirty="0">
                    <a:solidFill>
                      <a:schemeClr val="tx1"/>
                    </a:solidFill>
                    <a:effectLst/>
                    <a:latin typeface="Arial" panose="020B0604020202020204" pitchFamily="34" charset="0"/>
                    <a:ea typeface="+mn-ea"/>
                    <a:cs typeface="Arial" panose="020B0604020202020204" pitchFamily="34" charset="0"/>
                  </a:rPr>
                  <a:t>, which stores the relative paths of all the libraries required by the application. The build system uses this file to find the required libraries.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Everything in the </a:t>
                </a:r>
                <a:r>
                  <a:rPr lang="en-US" sz="1200" b="1" i="0" kern="1200" dirty="0">
                    <a:solidFill>
                      <a:schemeClr val="tx1"/>
                    </a:solidFill>
                    <a:effectLst/>
                    <a:latin typeface="Arial" panose="020B0604020202020204" pitchFamily="34" charset="0"/>
                    <a:ea typeface="+mn-ea"/>
                    <a:cs typeface="Arial" panose="020B0604020202020204" pitchFamily="34" charset="0"/>
                  </a:rPr>
                  <a:t>libs</a:t>
                </a:r>
                <a:r>
                  <a:rPr lang="en-US" sz="1200" b="0" i="0" kern="1200" dirty="0">
                    <a:solidFill>
                      <a:schemeClr val="tx1"/>
                    </a:solidFill>
                    <a:effectLst/>
                    <a:latin typeface="Arial" panose="020B0604020202020204" pitchFamily="34" charset="0"/>
                    <a:ea typeface="+mn-ea"/>
                    <a:cs typeface="Arial" panose="020B0604020202020204" pitchFamily="34" charset="0"/>
                  </a:rPr>
                  <a:t> folder is generated by the Library Manager, so you should </a:t>
                </a:r>
                <a:r>
                  <a:rPr lang="en-US" sz="1200" b="1" i="0" kern="1200" dirty="0">
                    <a:solidFill>
                      <a:schemeClr val="tx1"/>
                    </a:solidFill>
                    <a:effectLst/>
                    <a:latin typeface="Arial" panose="020B0604020202020204" pitchFamily="34" charset="0"/>
                    <a:ea typeface="+mn-ea"/>
                    <a:cs typeface="Arial" panose="020B0604020202020204" pitchFamily="34" charset="0"/>
                  </a:rPr>
                  <a:t>not</a:t>
                </a:r>
                <a:r>
                  <a:rPr lang="en-US" sz="1200" b="0" i="0" kern="1200" dirty="0">
                    <a:solidFill>
                      <a:schemeClr val="tx1"/>
                    </a:solidFill>
                    <a:effectLst/>
                    <a:latin typeface="Arial" panose="020B0604020202020204" pitchFamily="34" charset="0"/>
                    <a:ea typeface="+mn-ea"/>
                    <a:cs typeface="Arial" panose="020B0604020202020204" pitchFamily="34" charset="0"/>
                  </a:rPr>
                  <a:t> manually edit anything in that folder.</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build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build</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all the artifacts resulting from a build of the project. The output files are organized by target BSPs.</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deps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a:solidFill>
                      <a:schemeClr val="tx1"/>
                    </a:solidFill>
                    <a:effectLst/>
                    <a:latin typeface="Arial" panose="020B0604020202020204" pitchFamily="34" charset="0"/>
                    <a:ea typeface="+mn-ea"/>
                    <a:cs typeface="Arial" panose="020B0604020202020204" pitchFamily="34" charset="0"/>
                  </a:rPr>
                  <a:t>deps</a:t>
                </a:r>
                <a:r>
                  <a:rPr lang="en-US" sz="1200" b="0" i="0" kern="1200" dirty="0">
                    <a:solidFill>
                      <a:schemeClr val="tx1"/>
                    </a:solidFill>
                    <a:effectLst/>
                    <a:latin typeface="Arial" panose="020B0604020202020204" pitchFamily="34" charset="0"/>
                    <a:ea typeface="+mn-ea"/>
                    <a:cs typeface="Arial" panose="020B0604020202020204" pitchFamily="34" charset="0"/>
                  </a:rPr>
                  <a:t> folder contains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which provide the locations from which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pulls the libraries that are directly referenced by the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These files typically contain the GitHub location of a library. The .</a:t>
                </a:r>
                <a:r>
                  <a:rPr lang="en-US" sz="1200" b="0" i="0" kern="1200" dirty="0" err="1">
                    <a:solidFill>
                      <a:schemeClr val="tx1"/>
                    </a:solidFill>
                    <a:effectLst/>
                    <a:latin typeface="Arial" panose="020B0604020202020204" pitchFamily="34" charset="0"/>
                    <a:ea typeface="+mn-ea"/>
                    <a:cs typeface="Arial" panose="020B0604020202020204" pitchFamily="34" charset="0"/>
                  </a:rPr>
                  <a:t>mtb</a:t>
                </a:r>
                <a:r>
                  <a:rPr lang="en-US" sz="1200" b="0" i="0" kern="1200" dirty="0">
                    <a:solidFill>
                      <a:schemeClr val="tx1"/>
                    </a:solidFill>
                    <a:effectLst/>
                    <a:latin typeface="Arial" panose="020B0604020202020204" pitchFamily="34" charset="0"/>
                    <a:ea typeface="+mn-ea"/>
                    <a:cs typeface="Arial" panose="020B0604020202020204" pitchFamily="34" charset="0"/>
                  </a:rPr>
                  <a:t> files also include a Git commit hash or tag that specifies which version of the library is to be fetched, along with the path where the library should be stored locally.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Example:</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retarget-</a:t>
                </a:r>
                <a:r>
                  <a:rPr lang="en-US" sz="1200" b="0" i="0" kern="1200" dirty="0" err="1">
                    <a:solidFill>
                      <a:schemeClr val="tx1"/>
                    </a:solidFill>
                    <a:effectLst/>
                    <a:latin typeface="Arial" panose="020B0604020202020204" pitchFamily="34" charset="0"/>
                    <a:ea typeface="+mn-ea"/>
                    <a:cs typeface="Arial" panose="020B0604020202020204" pitchFamily="34" charset="0"/>
                  </a:rPr>
                  <a:t>io.mtb</a:t>
                </a:r>
                <a:r>
                  <a:rPr lang="en-US" sz="1200" b="0" i="0" kern="1200" dirty="0">
                    <a:solidFill>
                      <a:schemeClr val="tx1"/>
                    </a:solidFill>
                    <a:effectLst/>
                    <a:latin typeface="Arial" panose="020B0604020202020204" pitchFamily="34" charset="0"/>
                    <a:ea typeface="+mn-ea"/>
                    <a:cs typeface="Arial" panose="020B0604020202020204" pitchFamily="34" charset="0"/>
                  </a:rPr>
                  <a:t> points to:</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mtb://retarget-io#latest-v1.X#$ASSET_REPO$/retarget-io/latest-v1.X</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variable </a:t>
                </a:r>
                <a:r>
                  <a:rPr lang="en-US" sz="1200" i="0" kern="1200">
                    <a:solidFill>
                      <a:schemeClr val="tx1"/>
                    </a:solidFill>
                    <a:latin typeface="Arial" panose="020B0604020202020204" pitchFamily="34" charset="0"/>
                    <a:ea typeface="+mn-ea"/>
                    <a:cs typeface="Arial" panose="020B0604020202020204" pitchFamily="34" charset="0"/>
                  </a:rPr>
                  <a:t>𝐴𝑆𝑆𝐸𝑇_𝑅 𝐸𝑃𝑂</a:t>
                </a:r>
                <a:r>
                  <a:rPr lang="en-US" sz="1200" b="0" i="0" kern="1200" dirty="0">
                    <a:solidFill>
                      <a:schemeClr val="tx1"/>
                    </a:solidFill>
                    <a:effectLst/>
                    <a:latin typeface="Arial" panose="020B0604020202020204" pitchFamily="34" charset="0"/>
                    <a:ea typeface="+mn-ea"/>
                    <a:cs typeface="Arial" panose="020B0604020202020204" pitchFamily="34" charset="0"/>
                  </a:rPr>
                  <a:t>points to the root of the shared location, which defaults to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If the library must be local to the application instead of shared, use </a:t>
                </a:r>
                <a:r>
                  <a:rPr lang="en-US" sz="1200" i="0" kern="1200">
                    <a:solidFill>
                      <a:schemeClr val="tx1"/>
                    </a:solidFill>
                    <a:latin typeface="Arial" panose="020B0604020202020204" pitchFamily="34" charset="0"/>
                    <a:ea typeface="+mn-ea"/>
                    <a:cs typeface="Arial" panose="020B0604020202020204" pitchFamily="34" charset="0"/>
                  </a:rPr>
                  <a:t>𝐿𝑂𝐶𝐴𝐿</a:t>
                </a:r>
                <a:r>
                  <a:rPr lang="en-US" sz="1200" b="0" i="0" kern="1200" dirty="0">
                    <a:solidFill>
                      <a:schemeClr val="tx1"/>
                    </a:solidFill>
                    <a:effectLst/>
                    <a:latin typeface="Arial" panose="020B0604020202020204" pitchFamily="34" charset="0"/>
                    <a:ea typeface="+mn-ea"/>
                    <a:cs typeface="Arial" panose="020B0604020202020204" pitchFamily="34" charset="0"/>
                  </a:rPr>
                  <a:t>instead of </a:t>
                </a:r>
                <a:r>
                  <a:rPr lang="en-US" sz="1200" i="0" kern="1200">
                    <a:solidFill>
                      <a:schemeClr val="tx1"/>
                    </a:solidFill>
                    <a:latin typeface="Arial" panose="020B0604020202020204" pitchFamily="34" charset="0"/>
                    <a:ea typeface="+mn-ea"/>
                    <a:cs typeface="Arial" panose="020B0604020202020204" pitchFamily="34" charset="0"/>
                  </a:rPr>
                  <a:t>𝐴𝑆𝑆𝐸𝑇_𝑅 𝐸𝑃𝑂</a:t>
                </a:r>
                <a:r>
                  <a:rPr lang="en-US" sz="1200" b="0" i="0" kern="1200" dirty="0">
                    <a:solidFill>
                      <a:schemeClr val="tx1"/>
                    </a:solidFill>
                    <a:effectLst/>
                    <a:latin typeface="Arial" panose="020B0604020202020204" pitchFamily="34" charset="0"/>
                    <a:ea typeface="+mn-ea"/>
                    <a:cs typeface="Arial" panose="020B0604020202020204" pitchFamily="34" charset="0"/>
                  </a:rPr>
                  <a: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subdirectory also contains the </a:t>
                </a:r>
                <a:r>
                  <a:rPr lang="en-US" sz="1200" b="1" i="0" kern="1200" dirty="0">
                    <a:solidFill>
                      <a:schemeClr val="tx1"/>
                    </a:solidFill>
                    <a:effectLst/>
                    <a:latin typeface="Arial" panose="020B0604020202020204" pitchFamily="34" charset="0"/>
                    <a:ea typeface="+mn-ea"/>
                    <a:cs typeface="Arial" panose="020B0604020202020204" pitchFamily="34" charset="0"/>
                  </a:rPr>
                  <a:t>locking_commit.log</a:t>
                </a:r>
                <a:r>
                  <a:rPr lang="en-US" sz="1200" b="0" i="0" kern="1200" dirty="0">
                    <a:solidFill>
                      <a:schemeClr val="tx1"/>
                    </a:solidFill>
                    <a:effectLst/>
                    <a:latin typeface="Arial" panose="020B0604020202020204" pitchFamily="34" charset="0"/>
                    <a:ea typeface="+mn-ea"/>
                    <a:cs typeface="Arial" panose="020B0604020202020204" pitchFamily="34" charset="0"/>
                  </a:rPr>
                  <a:t> file, which keeps track of the version for each dependent library.</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1" i="0" kern="1200" dirty="0">
                    <a:solidFill>
                      <a:schemeClr val="tx1"/>
                    </a:solidFill>
                    <a:effectLst/>
                    <a:latin typeface="Arial" panose="020B0604020202020204" pitchFamily="34" charset="0"/>
                    <a:ea typeface="+mn-ea"/>
                    <a:cs typeface="Arial" panose="020B0604020202020204" pitchFamily="34" charset="0"/>
                  </a:rPr>
                  <a:t> folder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By default, when creating a new application or adding a library to an existing application and specifying it as shared, all libraries are placed in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folder is shared between different applications within a workspace. Different applications may use different versions of shared libraries if necessary.</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Each workspace created with one or more applications will include an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 adjacent to the application directories, and this is where shared libraries are cloned by default. This location can be modified by specifying the </a:t>
                </a:r>
                <a:r>
                  <a:rPr lang="en-US" sz="1200" b="1" i="0" kern="1200" dirty="0">
                    <a:solidFill>
                      <a:schemeClr val="tx1"/>
                    </a:solidFill>
                    <a:effectLst/>
                    <a:latin typeface="Arial" panose="020B0604020202020204" pitchFamily="34" charset="0"/>
                    <a:ea typeface="+mn-ea"/>
                    <a:cs typeface="Arial" panose="020B0604020202020204" pitchFamily="34" charset="0"/>
                  </a:rPr>
                  <a:t>CY_GETLIBS_PATH</a:t>
                </a:r>
                <a:r>
                  <a:rPr lang="en-US" sz="1200" b="0" i="0" kern="1200" dirty="0">
                    <a:solidFill>
                      <a:schemeClr val="tx1"/>
                    </a:solidFill>
                    <a:effectLst/>
                    <a:latin typeface="Arial" panose="020B0604020202020204" pitchFamily="34" charset="0"/>
                    <a:ea typeface="+mn-ea"/>
                    <a:cs typeface="Arial" panose="020B0604020202020204" pitchFamily="34" charset="0"/>
                  </a:rPr>
                  <a:t> variable.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Duplicate libraries are checked to see whether they point to the same commit; if so, only one copy is kept in the </a:t>
                </a:r>
                <a:r>
                  <a:rPr lang="en-US" sz="1200" b="1" i="0" kern="1200" dirty="0" err="1">
                    <a:solidFill>
                      <a:schemeClr val="tx1"/>
                    </a:solidFill>
                    <a:effectLst/>
                    <a:latin typeface="Arial" panose="020B0604020202020204" pitchFamily="34" charset="0"/>
                    <a:ea typeface="+mn-ea"/>
                    <a:cs typeface="Arial" panose="020B0604020202020204" pitchFamily="34" charset="0"/>
                  </a:rPr>
                  <a:t>mtb_shared</a:t>
                </a:r>
                <a:r>
                  <a:rPr lang="en-US" sz="1200" b="0" i="0" kern="1200" dirty="0">
                    <a:solidFill>
                      <a:schemeClr val="tx1"/>
                    </a:solidFill>
                    <a:effectLst/>
                    <a:latin typeface="Arial" panose="020B0604020202020204" pitchFamily="34" charset="0"/>
                    <a:ea typeface="+mn-ea"/>
                    <a:cs typeface="Arial" panose="020B0604020202020204" pitchFamily="34" charset="0"/>
                  </a:rPr>
                  <a:t> directory.</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You can regenerate these files using the Library Manager as needed.</a:t>
                </a:r>
              </a:p>
              <a:p>
                <a:pPr fontAlgn="t"/>
                <a:br>
                  <a:rPr lang="en-US" sz="1200" b="0" i="0" kern="1200" dirty="0">
                    <a:solidFill>
                      <a:schemeClr val="tx1"/>
                    </a:solidFill>
                    <a:effectLst/>
                    <a:latin typeface="Arial" panose="020B0604020202020204" pitchFamily="34" charset="0"/>
                    <a:ea typeface="+mn-ea"/>
                    <a:cs typeface="Arial" panose="020B0604020202020204" pitchFamily="34" charset="0"/>
                  </a:rPr>
                </a:b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Conclusion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A similar project structure can be observed in the Hello World project we created.</a:t>
                </a:r>
              </a:p>
            </p:txBody>
          </p:sp>
        </mc:Fallback>
      </mc:AlternateContent>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DB2A601-12D2-4AE1-BDDD-99AB8A0D83C6}"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8785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Next, we have the Library Manager.</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Library Manager provides a GUI that allows you to select which board support package (BSP) and version should be used when building a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tool also enables you to add or remove libraries and change their versions for the selected project. This makes it easy to manage libraries without needing to create a new application.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To launch the Library Manager: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Open it from Windows, click </a:t>
            </a:r>
            <a:r>
              <a:rPr lang="en-US" sz="1200" b="1" i="0" kern="1200" dirty="0">
                <a:solidFill>
                  <a:schemeClr val="tx1"/>
                </a:solidFill>
                <a:effectLst/>
                <a:latin typeface="Arial" panose="020B0604020202020204" pitchFamily="34" charset="0"/>
                <a:ea typeface="+mn-ea"/>
                <a:cs typeface="Arial" panose="020B0604020202020204" pitchFamily="34" charset="0"/>
              </a:rPr>
              <a:t>Browse</a:t>
            </a:r>
            <a:r>
              <a:rPr lang="en-US" sz="1200" b="0" i="0" kern="1200" dirty="0">
                <a:solidFill>
                  <a:schemeClr val="tx1"/>
                </a:solidFill>
                <a:effectLst/>
                <a:latin typeface="Arial" panose="020B0604020202020204" pitchFamily="34" charset="0"/>
                <a:ea typeface="+mn-ea"/>
                <a:cs typeface="Arial" panose="020B0604020202020204" pitchFamily="34" charset="0"/>
              </a:rPr>
              <a:t>, and point to the application directory</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tool will display all libraries, middleware, and BSPs added for each project in the application</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When you select a specific library, the </a:t>
            </a:r>
            <a:r>
              <a:rPr lang="en-US" sz="1200" b="1" i="0" kern="1200" dirty="0">
                <a:solidFill>
                  <a:schemeClr val="tx1"/>
                </a:solidFill>
                <a:effectLst/>
                <a:latin typeface="Arial" panose="020B0604020202020204" pitchFamily="34" charset="0"/>
                <a:ea typeface="+mn-ea"/>
                <a:cs typeface="Arial" panose="020B0604020202020204" pitchFamily="34" charset="0"/>
              </a:rPr>
              <a:t>Properties</a:t>
            </a:r>
            <a:r>
              <a:rPr lang="en-US" sz="1200" b="0" i="0" kern="1200" dirty="0">
                <a:solidFill>
                  <a:schemeClr val="tx1"/>
                </a:solidFill>
                <a:effectLst/>
                <a:latin typeface="Arial" panose="020B0604020202020204" pitchFamily="34" charset="0"/>
                <a:ea typeface="+mn-ea"/>
                <a:cs typeface="Arial" panose="020B0604020202020204" pitchFamily="34" charset="0"/>
              </a:rPr>
              <a:t> tab on the right‑hand side shows its details, such as name, version, type, and more. Choose specific versions using this tab</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Additional BSPs can be added using </a:t>
            </a:r>
            <a:r>
              <a:rPr lang="en-US" sz="1200" b="1" i="0" kern="1200" dirty="0">
                <a:solidFill>
                  <a:schemeClr val="tx1"/>
                </a:solidFill>
                <a:effectLst/>
                <a:latin typeface="Arial" panose="020B0604020202020204" pitchFamily="34" charset="0"/>
                <a:ea typeface="+mn-ea"/>
                <a:cs typeface="Arial" panose="020B0604020202020204" pitchFamily="34" charset="0"/>
              </a:rPr>
              <a:t>Add BSP</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Additional libraries can be added using </a:t>
            </a:r>
            <a:r>
              <a:rPr lang="en-US" sz="1200" b="1" i="0" kern="1200" dirty="0">
                <a:solidFill>
                  <a:schemeClr val="tx1"/>
                </a:solidFill>
                <a:effectLst/>
                <a:latin typeface="Arial" panose="020B0604020202020204" pitchFamily="34" charset="0"/>
                <a:ea typeface="+mn-ea"/>
                <a:cs typeface="Arial" panose="020B0604020202020204" pitchFamily="34" charset="0"/>
              </a:rPr>
              <a:t>Add library</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Once all changes are complete, click </a:t>
            </a:r>
            <a:r>
              <a:rPr lang="en-US" sz="1200" b="1" i="0" kern="1200" dirty="0">
                <a:solidFill>
                  <a:schemeClr val="tx1"/>
                </a:solidFill>
                <a:effectLst/>
                <a:latin typeface="Arial" panose="020B0604020202020204" pitchFamily="34" charset="0"/>
                <a:ea typeface="+mn-ea"/>
                <a:cs typeface="Arial" panose="020B0604020202020204" pitchFamily="34" charset="0"/>
              </a:rPr>
              <a:t>Update</a:t>
            </a:r>
            <a:r>
              <a:rPr lang="en-US" sz="1200" b="0" i="0" kern="1200" dirty="0">
                <a:solidFill>
                  <a:schemeClr val="tx1"/>
                </a:solidFill>
                <a:effectLst/>
                <a:latin typeface="Arial" panose="020B0604020202020204" pitchFamily="34" charset="0"/>
                <a:ea typeface="+mn-ea"/>
                <a:cs typeface="Arial" panose="020B0604020202020204" pitchFamily="34" charset="0"/>
              </a:rPr>
              <a:t> to apply the changes to your project</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C0F8A453-1D65-4F54-B812-FB420469063C}"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8984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Moving on to the configurators.</a:t>
            </a:r>
          </a:p>
          <a:p>
            <a:pPr marL="0" indent="0" fontAlgn="t">
              <a:buFont typeface="Arial" panose="020B0604020202020204" pitchFamily="34" charset="0"/>
              <a:buNone/>
            </a:pP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includes configurators designed to simplify hardware configuration. These tools allows to: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Define settings and generate driver‑level configuration code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Configure connections such as pins and clocks for a peripheral</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Define settings and generate code for middleware components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PSOC™ Edge E84 MCU applications are supported by several configurators, including the Device, ML, USB, and QSPI Configurators, among others.</a:t>
            </a:r>
          </a:p>
          <a:p>
            <a:pPr fontAlgn="t"/>
            <a:r>
              <a:rPr lang="en-US" sz="1200" b="1" i="0" kern="1200" dirty="0">
                <a:solidFill>
                  <a:schemeClr val="tx1"/>
                </a:solidFill>
                <a:effectLst/>
                <a:latin typeface="Arial" panose="020B0604020202020204" pitchFamily="34" charset="0"/>
                <a:ea typeface="+mn-ea"/>
                <a:cs typeface="Arial" panose="020B0604020202020204" pitchFamily="34" charset="0"/>
              </a:rPr>
              <a:t>NOTE:</a:t>
            </a:r>
            <a:r>
              <a:rPr lang="en-US" sz="1200" b="0" i="0" kern="1200" dirty="0">
                <a:solidFill>
                  <a:schemeClr val="tx1"/>
                </a:solidFill>
                <a:effectLst/>
                <a:latin typeface="Arial" panose="020B0604020202020204" pitchFamily="34" charset="0"/>
                <a:ea typeface="+mn-ea"/>
                <a:cs typeface="Arial" panose="020B0604020202020204" pitchFamily="34" charset="0"/>
              </a:rPr>
              <a:t> Configurators streamline the initial setup of hardware accessed through the PDL. They generate the structures required by the PDL, so you do not need to understand their internal composition. After initializing a peripheral with the PDL, you can review and modify the generated object as needed. Use the Quick Panel to access all configurators, or right‑click the project and use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option to view the full list.</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Let’s examine the configurators in detail.</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C16DC70-1928-40FE-8617-1DA20C6F7A9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5573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
            </a:r>
            <a:r>
              <a:rPr lang="en-US" sz="1200" b="0" i="0" kern="1200" dirty="0">
                <a:solidFill>
                  <a:schemeClr val="tx1"/>
                </a:solidFill>
                <a:effectLst/>
                <a:latin typeface="Arial" panose="020B0604020202020204" pitchFamily="34" charset="0"/>
                <a:ea typeface="+mn-ea"/>
                <a:cs typeface="Arial" panose="020B0604020202020204" pitchFamily="34" charset="0"/>
              </a:rPr>
              <a:t>et’s take a look at the QSPI Configurator.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Quad Serial Peripheral Interface (QSPI) Configurator assists in configuring external memories and generating code for seamless integration into the application. Memory configuration files can be opened or created, memory slots can be configured, and application‑ready code can be generated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CAT1D category of devices, which includes the PSOC™ Edge E84 MCUs, supports extending default RAM and Flash using external memory devices such as Flash, non‑volatile FRAM, or RAM</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QSPI Configurator contains information for a set of default memory parts. However, if a required memory part is not listed, a new part can be created</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Configuration data is saved in a </a:t>
            </a:r>
            <a:r>
              <a:rPr lang="en-US" sz="1200" b="1" i="0" kern="1200" dirty="0">
                <a:solidFill>
                  <a:schemeClr val="tx1"/>
                </a:solidFill>
                <a:effectLst/>
                <a:latin typeface="Arial" panose="020B0604020202020204" pitchFamily="34" charset="0"/>
                <a:ea typeface="+mn-ea"/>
                <a:cs typeface="Arial" panose="020B0604020202020204" pitchFamily="34" charset="0"/>
              </a:rPr>
              <a:t>.</a:t>
            </a:r>
            <a:r>
              <a:rPr lang="en-US" sz="1200" b="1" i="0" kern="1200" dirty="0" err="1">
                <a:solidFill>
                  <a:schemeClr val="tx1"/>
                </a:solidFill>
                <a:effectLst/>
                <a:latin typeface="Arial" panose="020B0604020202020204" pitchFamily="34" charset="0"/>
                <a:ea typeface="+mn-ea"/>
                <a:cs typeface="Arial" panose="020B0604020202020204" pitchFamily="34" charset="0"/>
              </a:rPr>
              <a:t>cyqspi</a:t>
            </a:r>
            <a:r>
              <a:rPr lang="en-US" sz="1200" b="0" i="0" kern="1200" dirty="0">
                <a:solidFill>
                  <a:schemeClr val="tx1"/>
                </a:solidFill>
                <a:effectLst/>
                <a:latin typeface="Arial" panose="020B0604020202020204" pitchFamily="34" charset="0"/>
                <a:ea typeface="+mn-ea"/>
                <a:cs typeface="Arial" panose="020B0604020202020204" pitchFamily="34" charset="0"/>
              </a:rPr>
              <a:t> file, which contains all required details about the device and the application. When changes are saved, the QSPI Configurator generates or updates the corresponding firmware in the BSP’s </a:t>
            </a:r>
            <a:r>
              <a:rPr lang="en-US" sz="1200" b="1" i="0" kern="1200" dirty="0" err="1">
                <a:solidFill>
                  <a:schemeClr val="tx1"/>
                </a:solidFill>
                <a:effectLst/>
                <a:latin typeface="Arial" panose="020B0604020202020204" pitchFamily="34" charset="0"/>
                <a:ea typeface="+mn-ea"/>
                <a:cs typeface="Arial" panose="020B0604020202020204" pitchFamily="34" charset="0"/>
              </a:rPr>
              <a:t>GeneratedSource</a:t>
            </a:r>
            <a:r>
              <a:rPr lang="en-US" sz="1200" b="0" i="0" kern="1200" dirty="0">
                <a:solidFill>
                  <a:schemeClr val="tx1"/>
                </a:solidFill>
                <a:effectLst/>
                <a:latin typeface="Arial" panose="020B0604020202020204" pitchFamily="34" charset="0"/>
                <a:ea typeface="+mn-ea"/>
                <a:cs typeface="Arial" panose="020B0604020202020204" pitchFamily="34" charset="0"/>
              </a:rPr>
              <a:t> folder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8AE9D4C-35CD-42B6-958E-4D928C5CE904}"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57655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further, we have the SMART I/O Configurator.</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Smart I/O Configurator is part of the collection of tools included in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and provides a GUI for configuring Smart I/O</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Smart I/O block adds programmable logic to an I/O port</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It is positioned in the signal path between the high‑speed I/O matrix (HSIOM) and the I/O port. The HSIOM multiplexes output signals from fixed‑function peripherals and the CPU to specific port pins and vice versa. The Smart I/O block is placed along this path, functioning as a bridge capable of processing signals between port pins and the HSIOM</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Several areas in the GUI are available for configuring signals: </a:t>
            </a:r>
            <a:r>
              <a:rPr lang="en-US" sz="1200" b="1" i="0" kern="1200" dirty="0">
                <a:solidFill>
                  <a:schemeClr val="tx1"/>
                </a:solidFill>
                <a:effectLst/>
                <a:latin typeface="Arial" panose="020B0604020202020204" pitchFamily="34" charset="0"/>
                <a:ea typeface="+mn-ea"/>
                <a:cs typeface="Arial" panose="020B0604020202020204" pitchFamily="34" charset="0"/>
              </a:rPr>
              <a:t>Chip</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I/O</a:t>
            </a:r>
            <a:r>
              <a:rPr lang="en-US" sz="1200" b="0" i="0" kern="1200" dirty="0">
                <a:solidFill>
                  <a:schemeClr val="tx1"/>
                </a:solidFill>
                <a:effectLst/>
                <a:latin typeface="Arial" panose="020B0604020202020204" pitchFamily="34" charset="0"/>
                <a:ea typeface="+mn-ea"/>
                <a:cs typeface="Arial" panose="020B0604020202020204" pitchFamily="34" charset="0"/>
              </a:rPr>
              <a:t>, </a:t>
            </a:r>
            <a:r>
              <a:rPr lang="en-US" sz="1200" b="1" i="0" kern="1200" dirty="0">
                <a:solidFill>
                  <a:schemeClr val="tx1"/>
                </a:solidFill>
                <a:effectLst/>
                <a:latin typeface="Arial" panose="020B0604020202020204" pitchFamily="34" charset="0"/>
                <a:ea typeface="+mn-ea"/>
                <a:cs typeface="Arial" panose="020B0604020202020204" pitchFamily="34" charset="0"/>
              </a:rPr>
              <a:t>Data Unit</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LUT (Look‑Up Table)</a:t>
            </a:r>
            <a:r>
              <a:rPr lang="en-US" sz="1200" b="0" i="0" kern="1200" dirty="0">
                <a:solidFill>
                  <a:schemeClr val="tx1"/>
                </a:solidFill>
                <a:effectLst/>
                <a:latin typeface="Arial" panose="020B0604020202020204" pitchFamily="34" charset="0"/>
                <a:ea typeface="+mn-ea"/>
                <a:cs typeface="Arial" panose="020B0604020202020204" pitchFamily="34" charset="0"/>
              </a:rPr>
              <a:t>. Inputs arriving from the I/O port can undergo logical operations before being routed to peripheral blocks or internal chip connections. Similarly, outputs from peripheral blocks or internal connections can be processed logically before being routed to the I/O port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8EDDD615-7707-4163-B8F9-2334B1C5759E}"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20742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PSOC™ Edge E84 secured boot process begins with BOOT_ROM, which serves as the hardware root of trust by enforcing next‑stage software authentication through public‑key cryptography to ensure that only authorized code is loaded and executed. The secured enclave, implemented with a lock‑step Cortex®‑M0+ CPU and dedicated ROM, SRAM, and replicated hardware cryptographic accelerators, maintains exclusive access to sensitive data and operates as an isolated environment for secure boot and PSA‑compliant cryptographic services. Communication between APPCPUSS, SYSCPUSS, and the secured enclave occurs through a tightly controlled IPC mechanism, with the enclave determining what information may be shared. The enclave supports multi‑stage booting through immutable ROM_BOOT and RRAM_BOOT, which establish the trust anchor, apply trims, authenticate and launch Extended Boot, authenticate and launch SE </a:t>
            </a:r>
            <a:r>
              <a:rPr lang="en-US" sz="1200" b="0" i="0" kern="1200" dirty="0" err="1">
                <a:solidFill>
                  <a:schemeClr val="tx1"/>
                </a:solidFill>
                <a:effectLst/>
                <a:latin typeface="Arial" panose="020B0604020202020204" pitchFamily="34" charset="0"/>
                <a:ea typeface="+mn-ea"/>
                <a:cs typeface="Arial" panose="020B0604020202020204" pitchFamily="34" charset="0"/>
              </a:rPr>
              <a:t>RAMApps</a:t>
            </a:r>
            <a:r>
              <a:rPr lang="en-US" sz="1200" b="0" i="0" kern="1200" dirty="0">
                <a:solidFill>
                  <a:schemeClr val="tx1"/>
                </a:solidFill>
                <a:effectLst/>
                <a:latin typeface="Arial" panose="020B0604020202020204" pitchFamily="34" charset="0"/>
                <a:ea typeface="+mn-ea"/>
                <a:cs typeface="Arial" panose="020B0604020202020204" pitchFamily="34" charset="0"/>
              </a:rPr>
              <a:t> for device provisioning, enforce secured‑debug restrictions on SWD/JTAG, and provide PSA‑compliant cryptographic services to the application CPUs.</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Extended Boot is the first software executed by the CM33 CPU and is authenticated and launched by the secured enclave from RRAM. Devices are shipped in the development lifecycle with Extended Boot pre‑programmed but not locked. The standard image includes alternate serial interfaces such as I2C, SPI, UART, and USB, while an Infineon‑released reduced‑footprint version excludes these interfaces. During the development lifecycle, Extended Boot may be reprogrammed through secured‑enclave </a:t>
            </a:r>
            <a:r>
              <a:rPr lang="en-US" sz="1200" b="0" i="0" kern="1200" dirty="0" err="1">
                <a:solidFill>
                  <a:schemeClr val="tx1"/>
                </a:solidFill>
                <a:effectLst/>
                <a:latin typeface="Arial" panose="020B0604020202020204" pitchFamily="34" charset="0"/>
                <a:ea typeface="+mn-ea"/>
                <a:cs typeface="Arial" panose="020B0604020202020204" pitchFamily="34" charset="0"/>
              </a:rPr>
              <a:t>RAMApps</a:t>
            </a:r>
            <a:r>
              <a:rPr lang="en-US" sz="1200" b="0" i="0" kern="1200" dirty="0">
                <a:solidFill>
                  <a:schemeClr val="tx1"/>
                </a:solidFill>
                <a:effectLst/>
                <a:latin typeface="Arial" panose="020B0604020202020204" pitchFamily="34" charset="0"/>
                <a:ea typeface="+mn-ea"/>
                <a:cs typeface="Arial" panose="020B0604020202020204" pitchFamily="34" charset="0"/>
              </a:rPr>
              <a:t> but becomes locked when transitioning to the production lifecycle. Because the secured enclave authenticates only Infineon‑signed images, Infineon‑released versions are mandatory. After authentication, Extended Boot launches the CM33 Secure project from a fixed RRAM address; this project configures external QSPI flash in XIP mode, launches the CM33 Non‑Secure application, and subsequently enables the CM55 CPU and starts the CM55 application residing in external flash.</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3343E869-51C1-487E-A659-DF7459E7FCF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22493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device begins in the </a:t>
            </a:r>
            <a:r>
              <a:rPr lang="en-US" sz="1200" b="1" i="0" kern="1200" dirty="0">
                <a:solidFill>
                  <a:schemeClr val="tx1"/>
                </a:solidFill>
                <a:effectLst/>
                <a:latin typeface="Arial" panose="020B0604020202020204" pitchFamily="34" charset="0"/>
                <a:ea typeface="+mn-ea"/>
                <a:cs typeface="Arial" panose="020B0604020202020204" pitchFamily="34" charset="0"/>
              </a:rPr>
              <a:t>Development lifecycle</a:t>
            </a:r>
            <a:r>
              <a:rPr lang="en-US" sz="1200" b="0" i="0" kern="1200" dirty="0">
                <a:solidFill>
                  <a:schemeClr val="tx1"/>
                </a:solidFill>
                <a:effectLst/>
                <a:latin typeface="Arial" panose="020B0604020202020204" pitchFamily="34" charset="0"/>
                <a:ea typeface="+mn-ea"/>
                <a:cs typeface="Arial" panose="020B0604020202020204" pitchFamily="34" charset="0"/>
              </a:rPr>
              <a:t>, during which it is shipped provisioned with the OEM certificate and policy. This stage allows installation of OEM keys, debug, boot, and system‑configuration policies, along with the Extended Boot software. Secure boot may be enabled or disabled in this lifecycle, and all development activity is expected to occur here until production readiness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Transition to the </a:t>
            </a:r>
            <a:r>
              <a:rPr lang="en-US" sz="1200" b="1" i="0" kern="1200" dirty="0">
                <a:solidFill>
                  <a:schemeClr val="tx1"/>
                </a:solidFill>
                <a:effectLst/>
                <a:latin typeface="Arial" panose="020B0604020202020204" pitchFamily="34" charset="0"/>
                <a:ea typeface="+mn-ea"/>
                <a:cs typeface="Arial" panose="020B0604020202020204" pitchFamily="34" charset="0"/>
              </a:rPr>
              <a:t>Production lifecycle</a:t>
            </a:r>
            <a:r>
              <a:rPr lang="en-US" sz="1200" b="0" i="0" kern="1200" dirty="0">
                <a:solidFill>
                  <a:schemeClr val="tx1"/>
                </a:solidFill>
                <a:effectLst/>
                <a:latin typeface="Arial" panose="020B0604020202020204" pitchFamily="34" charset="0"/>
                <a:ea typeface="+mn-ea"/>
                <a:cs typeface="Arial" panose="020B0604020202020204" pitchFamily="34" charset="0"/>
              </a:rPr>
              <a:t> is performed by provisioning the device with an OEM Production Certificate. Re‑provisioning is permitted only if allowed by the existing policy. In this lifecycle, secure boot is always enabled, and most device assets are fixed unless explicitly permitted by the re‑provisioning policy. OEM certificates used for provisioning must be Infineon‑signed, using the Edge Protect Signing Service</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device may enter the </a:t>
            </a:r>
            <a:r>
              <a:rPr lang="en-US" sz="1200" b="1" i="0" kern="1200" dirty="0">
                <a:solidFill>
                  <a:schemeClr val="tx1"/>
                </a:solidFill>
                <a:effectLst/>
                <a:latin typeface="Arial" panose="020B0604020202020204" pitchFamily="34" charset="0"/>
                <a:ea typeface="+mn-ea"/>
                <a:cs typeface="Arial" panose="020B0604020202020204" pitchFamily="34" charset="0"/>
              </a:rPr>
              <a:t>RMA lifecycle</a:t>
            </a:r>
            <a:r>
              <a:rPr lang="en-US" sz="1200" b="0" i="0" kern="1200" dirty="0">
                <a:solidFill>
                  <a:schemeClr val="tx1"/>
                </a:solidFill>
                <a:effectLst/>
                <a:latin typeface="Arial" panose="020B0604020202020204" pitchFamily="34" charset="0"/>
                <a:ea typeface="+mn-ea"/>
                <a:cs typeface="Arial" panose="020B0604020202020204" pitchFamily="34" charset="0"/>
              </a:rPr>
              <a:t> from either Development or Production. This transition must be completed through an SE Service application provided by Infineon. Devices in the RMA lifecycle may be returned to Infineon for failure analysis</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56CCE82-5A64-46D9-9D1E-096EC9A930DF}"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3/15/2026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20</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42750995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MCU implements Arm® </a:t>
            </a:r>
            <a:r>
              <a:rPr lang="en-US" dirty="0" err="1"/>
              <a:t>TrustZone</a:t>
            </a:r>
            <a:r>
              <a:rPr lang="en-US" dirty="0"/>
              <a:t> on the Cortex®-M33 CPU.</a:t>
            </a:r>
          </a:p>
          <a:p>
            <a:r>
              <a:rPr lang="en-US" dirty="0"/>
              <a:t>Arm® </a:t>
            </a:r>
            <a:r>
              <a:rPr lang="en-US" dirty="0" err="1"/>
              <a:t>TrustZone</a:t>
            </a:r>
            <a:r>
              <a:rPr lang="en-US" dirty="0"/>
              <a:t> defines security domains, which are software abstractions that group system resources into domains and isolate those resources from other domains.</a:t>
            </a:r>
          </a:p>
          <a:p>
            <a:r>
              <a:rPr lang="en-US" dirty="0"/>
              <a:t>These secure states are applied on top of the well-established operating modes for Arm® Cortex® MCUs, handler mode and thread mode.</a:t>
            </a:r>
          </a:p>
          <a:p>
            <a:pPr marL="171450" indent="-171450">
              <a:buFont typeface="Arial" panose="020B0604020202020204" pitchFamily="34" charset="0"/>
              <a:buChar char="•"/>
            </a:pPr>
            <a:r>
              <a:rPr lang="en-US" dirty="0"/>
              <a:t>At Isolation Level 1, there are two domains, the Secure Processing Environment (SPE) and the Non-Secure Processing Environment (NSPE). The SPE is represented in the Secure CM33, and the NSPE represents both the Non-Secure CM33 and Non-Secure CM55 </a:t>
            </a:r>
          </a:p>
          <a:p>
            <a:pPr marL="171450" indent="-171450">
              <a:buFont typeface="Arial" panose="020B0604020202020204" pitchFamily="34" charset="0"/>
              <a:buChar char="•"/>
            </a:pPr>
            <a:r>
              <a:rPr lang="en-US" dirty="0"/>
              <a:t>At Isolation Level 2, we drill down further into the SPE to isolate the Platform Root of Trust (</a:t>
            </a:r>
            <a:r>
              <a:rPr lang="en-US" dirty="0" err="1"/>
              <a:t>RoT</a:t>
            </a:r>
            <a:r>
              <a:rPr lang="en-US" dirty="0"/>
              <a:t>) and Application Root of Trust (</a:t>
            </a:r>
            <a:r>
              <a:rPr lang="en-US" dirty="0" err="1"/>
              <a:t>RoT</a:t>
            </a:r>
            <a:r>
              <a:rPr lang="en-US" dirty="0"/>
              <a:t>)</a:t>
            </a:r>
          </a:p>
          <a:p>
            <a:pPr marL="171450" indent="-171450">
              <a:buFont typeface="Arial" panose="020B0604020202020204" pitchFamily="34" charset="0"/>
              <a:buChar char="•"/>
            </a:pPr>
            <a:r>
              <a:rPr lang="en-US" dirty="0"/>
              <a:t>At Isolation Level 3, we isolate all the secure services that are offered as part of the Platform </a:t>
            </a:r>
            <a:r>
              <a:rPr lang="en-US" dirty="0" err="1"/>
              <a:t>RoT</a:t>
            </a:r>
            <a:r>
              <a:rPr lang="en-US" dirty="0"/>
              <a:t> and Application </a:t>
            </a:r>
            <a:r>
              <a:rPr lang="en-US" dirty="0" err="1"/>
              <a:t>RoT</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39EDB7D-8C77-40C6-88E0-E30217972BEB}"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65262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the Device Configurator, system resources are assigned to specific security domains to maintain isolation between secure and non‑secure operations. In the shown configuration, peripheral </a:t>
            </a:r>
            <a:r>
              <a:rPr lang="en-US" sz="1200" b="1" i="0" kern="1200" dirty="0">
                <a:solidFill>
                  <a:schemeClr val="tx1"/>
                </a:solidFill>
                <a:effectLst/>
                <a:latin typeface="Arial" panose="020B0604020202020204" pitchFamily="34" charset="0"/>
                <a:ea typeface="+mn-ea"/>
                <a:cs typeface="Arial" panose="020B0604020202020204" pitchFamily="34" charset="0"/>
              </a:rPr>
              <a:t>SCB 1</a:t>
            </a:r>
            <a:r>
              <a:rPr lang="en-US" sz="1200" b="0" i="0" kern="1200" dirty="0">
                <a:solidFill>
                  <a:schemeClr val="tx1"/>
                </a:solidFill>
                <a:effectLst/>
                <a:latin typeface="Arial" panose="020B0604020202020204" pitchFamily="34" charset="0"/>
                <a:ea typeface="+mn-ea"/>
                <a:cs typeface="Arial" panose="020B0604020202020204" pitchFamily="34" charset="0"/>
              </a:rPr>
              <a:t> is designated as part of the </a:t>
            </a:r>
            <a:r>
              <a:rPr lang="en-US" sz="1200" b="1" i="0" kern="1200" dirty="0">
                <a:solidFill>
                  <a:schemeClr val="tx1"/>
                </a:solidFill>
                <a:effectLst/>
                <a:latin typeface="Arial" panose="020B0604020202020204" pitchFamily="34" charset="0"/>
                <a:ea typeface="+mn-ea"/>
                <a:cs typeface="Arial" panose="020B0604020202020204" pitchFamily="34" charset="0"/>
              </a:rPr>
              <a:t>non‑secure processing environment</a:t>
            </a:r>
            <a:r>
              <a:rPr lang="en-US" sz="1200" b="0" i="0" kern="1200" dirty="0">
                <a:solidFill>
                  <a:schemeClr val="tx1"/>
                </a:solidFill>
                <a:effectLst/>
                <a:latin typeface="Arial" panose="020B0604020202020204" pitchFamily="34" charset="0"/>
                <a:ea typeface="+mn-ea"/>
                <a:cs typeface="Arial" panose="020B0604020202020204" pitchFamily="34" charset="0"/>
              </a:rPr>
              <a: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2E1C4D55-AF10-4F66-A722-8697E4961800}"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250648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Trusted Firmware‑M (TF‑M) is provided to implement Platform Security Architecture (PSA) on PSOC™ Edge and can be integrated into any new or existing firmware project. TF‑M depends on the </a:t>
            </a:r>
            <a:r>
              <a:rPr lang="en-US" sz="1200" b="0" i="0" kern="1200" dirty="0" err="1">
                <a:solidFill>
                  <a:schemeClr val="tx1"/>
                </a:solidFill>
                <a:effectLst/>
                <a:latin typeface="Arial" panose="020B0604020202020204" pitchFamily="34" charset="0"/>
                <a:ea typeface="+mn-ea"/>
                <a:cs typeface="Arial" panose="020B0604020202020204" pitchFamily="34" charset="0"/>
              </a:rPr>
              <a:t>MCUboot</a:t>
            </a:r>
            <a:r>
              <a:rPr lang="en-US" sz="1200" b="0" i="0" kern="1200" dirty="0">
                <a:solidFill>
                  <a:schemeClr val="tx1"/>
                </a:solidFill>
                <a:effectLst/>
                <a:latin typeface="Arial" panose="020B0604020202020204" pitchFamily="34" charset="0"/>
                <a:ea typeface="+mn-ea"/>
                <a:cs typeface="Arial" panose="020B0604020202020204" pitchFamily="34" charset="0"/>
              </a:rPr>
              <a:t>‑based Edge Protect Bootloader to deliver secure boot and secure firmware‑update functionality, enabling PSA‑certifiable products and real‑time operating systems on PSOC™ Edge devices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TF‑M uses MCU security features to establish an isolated Secure Processing Environment (SPE) for protected processing and storage of sensitive data. It provides secure services including CRYPTO, Internal Trusted Storage (ITS), Protected Storage (PS), firmware update, attestation, and TF‑M platform services such as message logging and non‑volatile counters. These services are accessed from the non‑secure processing environment through PSA APIs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The Edge Protect Configurator offers a GUI for configuring memory, protection, and security settings, and for enabling or disabling TF‑M secure services. It supports predefined TF‑M profiles and isolation levels, as well as custom user‑defined Application </a:t>
            </a:r>
            <a:r>
              <a:rPr lang="en-US" sz="1200" b="0" i="0" kern="1200" dirty="0" err="1">
                <a:solidFill>
                  <a:schemeClr val="tx1"/>
                </a:solidFill>
                <a:effectLst/>
                <a:latin typeface="Arial" panose="020B0604020202020204" pitchFamily="34" charset="0"/>
                <a:ea typeface="+mn-ea"/>
                <a:cs typeface="Arial" panose="020B0604020202020204" pitchFamily="34" charset="0"/>
              </a:rPr>
              <a:t>RoT</a:t>
            </a:r>
            <a:r>
              <a:rPr lang="en-US" sz="1200" b="0" i="0" kern="1200" dirty="0">
                <a:solidFill>
                  <a:schemeClr val="tx1"/>
                </a:solidFill>
                <a:effectLst/>
                <a:latin typeface="Arial" panose="020B0604020202020204" pitchFamily="34" charset="0"/>
                <a:ea typeface="+mn-ea"/>
                <a:cs typeface="Arial" panose="020B0604020202020204" pitchFamily="34" charset="0"/>
              </a:rPr>
              <a:t> partitions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5B7323C1-379D-449B-BA8B-6B5859824FAF}"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66448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PSOC™ Edge provides extensive memory resources organized across two power domains: </a:t>
            </a:r>
            <a:r>
              <a:rPr lang="en-US" sz="1200" b="1" i="0" kern="1200" dirty="0">
                <a:solidFill>
                  <a:schemeClr val="tx1"/>
                </a:solidFill>
                <a:effectLst/>
                <a:latin typeface="Arial" panose="020B0604020202020204" pitchFamily="34" charset="0"/>
                <a:ea typeface="+mn-ea"/>
                <a:cs typeface="Arial" panose="020B0604020202020204" pitchFamily="34" charset="0"/>
              </a:rPr>
              <a:t>PD0</a:t>
            </a:r>
            <a:r>
              <a:rPr lang="en-US" sz="1200" b="0" i="0" kern="1200" dirty="0">
                <a:solidFill>
                  <a:schemeClr val="tx1"/>
                </a:solidFill>
                <a:effectLst/>
                <a:latin typeface="Arial" panose="020B0604020202020204" pitchFamily="34" charset="0"/>
                <a:ea typeface="+mn-ea"/>
                <a:cs typeface="Arial" panose="020B0604020202020204" pitchFamily="34" charset="0"/>
              </a:rPr>
              <a:t> and </a:t>
            </a:r>
            <a:r>
              <a:rPr lang="en-US" sz="1200" b="1" i="0" kern="1200" dirty="0">
                <a:solidFill>
                  <a:schemeClr val="tx1"/>
                </a:solidFill>
                <a:effectLst/>
                <a:latin typeface="Arial" panose="020B0604020202020204" pitchFamily="34" charset="0"/>
                <a:ea typeface="+mn-ea"/>
                <a:cs typeface="Arial" panose="020B0604020202020204" pitchFamily="34" charset="0"/>
              </a:rPr>
              <a:t>PD1</a:t>
            </a:r>
            <a:r>
              <a:rPr lang="en-US" sz="1200" b="0" i="0" kern="1200" dirty="0">
                <a:solidFill>
                  <a:schemeClr val="tx1"/>
                </a:solidFill>
                <a:effectLst/>
                <a:latin typeface="Arial" panose="020B0604020202020204" pitchFamily="34" charset="0"/>
                <a:ea typeface="+mn-ea"/>
                <a:cs typeface="Arial" panose="020B0604020202020204" pitchFamily="34" charset="0"/>
              </a:rPr>
              <a:t>.</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1" i="0" kern="1200" dirty="0">
                <a:solidFill>
                  <a:schemeClr val="tx1"/>
                </a:solidFill>
                <a:effectLst/>
                <a:latin typeface="Arial" panose="020B0604020202020204" pitchFamily="34" charset="0"/>
                <a:ea typeface="+mn-ea"/>
                <a:cs typeface="Arial" panose="020B0604020202020204" pitchFamily="34" charset="0"/>
              </a:rPr>
              <a:t>PD0</a:t>
            </a:r>
            <a:r>
              <a:rPr lang="en-US" sz="1200" b="0" i="0" kern="1200" dirty="0">
                <a:solidFill>
                  <a:schemeClr val="tx1"/>
                </a:solidFill>
                <a:effectLst/>
                <a:latin typeface="Arial" panose="020B0604020202020204" pitchFamily="34" charset="0"/>
                <a:ea typeface="+mn-ea"/>
                <a:cs typeface="Arial" panose="020B0604020202020204" pitchFamily="34" charset="0"/>
              </a:rPr>
              <a:t>, the always‑on low‑power domain, maintains essential functions during low‑power operation.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1" i="0" kern="1200" dirty="0">
                <a:solidFill>
                  <a:schemeClr val="tx1"/>
                </a:solidFill>
                <a:effectLst/>
                <a:latin typeface="Arial" panose="020B0604020202020204" pitchFamily="34" charset="0"/>
                <a:ea typeface="+mn-ea"/>
                <a:cs typeface="Arial" panose="020B0604020202020204" pitchFamily="34" charset="0"/>
              </a:rPr>
              <a:t>PD1</a:t>
            </a:r>
            <a:r>
              <a:rPr lang="en-US" sz="1200" b="0" i="0" kern="1200" dirty="0">
                <a:solidFill>
                  <a:schemeClr val="tx1"/>
                </a:solidFill>
                <a:effectLst/>
                <a:latin typeface="Arial" panose="020B0604020202020204" pitchFamily="34" charset="0"/>
                <a:ea typeface="+mn-ea"/>
                <a:cs typeface="Arial" panose="020B0604020202020204" pitchFamily="34" charset="0"/>
              </a:rPr>
              <a:t>, the high‑performance domain, supports high‑speed data processing and compute‑intensive tasks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Both domains operate from the same internal buck regulator output, ensuring a common voltage level. The architecture enables </a:t>
            </a:r>
            <a:r>
              <a:rPr lang="en-US" sz="1200" b="1" i="0" kern="1200" dirty="0">
                <a:solidFill>
                  <a:schemeClr val="tx1"/>
                </a:solidFill>
                <a:effectLst/>
                <a:latin typeface="Arial" panose="020B0604020202020204" pitchFamily="34" charset="0"/>
                <a:ea typeface="+mn-ea"/>
                <a:cs typeface="Arial" panose="020B0604020202020204" pitchFamily="34" charset="0"/>
              </a:rPr>
              <a:t>independent control</a:t>
            </a:r>
            <a:r>
              <a:rPr lang="en-US" sz="1200" b="0" i="0" kern="1200" dirty="0">
                <a:solidFill>
                  <a:schemeClr val="tx1"/>
                </a:solidFill>
                <a:effectLst/>
                <a:latin typeface="Arial" panose="020B0604020202020204" pitchFamily="34" charset="0"/>
                <a:ea typeface="+mn-ea"/>
                <a:cs typeface="Arial" panose="020B0604020202020204" pitchFamily="34" charset="0"/>
              </a:rPr>
              <a:t>, allowing PD1 to be powered down without affecting PD0, delivering significant power savings when high‑performance features are not required. Memories tied to PD1 can also be switched off in the same manner as PD1‑associated peripherals</a:t>
            </a:r>
          </a:p>
          <a:p>
            <a:pPr marL="171450" indent="-171450" fontAlgn="t">
              <a:buFont typeface="Arial" panose="020B0604020202020204" pitchFamily="34" charset="0"/>
              <a:buChar char="•"/>
            </a:pPr>
            <a:r>
              <a:rPr lang="en-US" sz="1200" b="0" i="0" kern="1200" dirty="0">
                <a:solidFill>
                  <a:schemeClr val="tx1"/>
                </a:solidFill>
                <a:effectLst/>
                <a:latin typeface="Arial" panose="020B0604020202020204" pitchFamily="34" charset="0"/>
                <a:ea typeface="+mn-ea"/>
                <a:cs typeface="Arial" panose="020B0604020202020204" pitchFamily="34" charset="0"/>
              </a:rPr>
              <a:t>A typical use case is a system operating solely on PD0 for low‑power tasks—such as running the Cortex® M33 processor, analog peripherals, and wake‑word detection—while PD1 remains fully powered down. Upon activation detection, PD1 is enabled to utilize the M55 processor, U55 neural‑network co‑processor, and larger memories for computationally intensive processing</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998651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Developers must understand the linker scripts included in a typical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application for PSOC™ Edge. The default project structure contains four top‑level linker files: one for the CM33 bootloader, separate files for the CM33 Secure and Non‑secure domains, and one for the CM55 core. Although the example uses the GCC toolchain, equivalent linker structures exist for all supported toolchains. Each linker file includes a default template defining memory regions aligned with the output of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Configurator. The order, size, and physical placement of these regions can be modified through the Device Configurator’s graphical interface, and the build reflects these changes. When additional memory regions are required beyond the predefined set, manual updates to the linker files are necessary.</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E1067919-F3AE-4952-B55B-CBEB4703250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3942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The PSOC™ Edge ecosystem provides a rich set of software resources:</a:t>
            </a:r>
          </a:p>
          <a:p>
            <a:pPr marL="285750" indent="-285750">
              <a:buFont typeface="Arial" panose="020B0604020202020204" pitchFamily="34" charset="0"/>
              <a:buChar char="•"/>
            </a:pPr>
            <a:r>
              <a:rPr lang="en-US" sz="1800" dirty="0"/>
              <a:t>At the application layer, we offer more than 100 code examples and reference designs to help you build applications faster</a:t>
            </a:r>
          </a:p>
          <a:p>
            <a:pPr marL="285750" indent="-285750">
              <a:buFont typeface="Arial" panose="020B0604020202020204" pitchFamily="34" charset="0"/>
              <a:buChar char="•"/>
            </a:pPr>
            <a:r>
              <a:rPr lang="en-US" sz="1800" dirty="0"/>
              <a:t>The middleware layer provides an extensive set of libraries for graphics, touch‑sensing, machine learning, USB, and security. You can add these to your application using the Library Manager</a:t>
            </a:r>
          </a:p>
          <a:p>
            <a:endParaRPr lang="en-US" dirty="0"/>
          </a:p>
          <a:p>
            <a:endParaRPr lang="en-US" dirty="0"/>
          </a:p>
        </p:txBody>
      </p:sp>
      <p:sp>
        <p:nvSpPr>
          <p:cNvPr id="4" name="Slide Number Placeholder 3"/>
          <p:cNvSpPr>
            <a:spLocks noGrp="1"/>
          </p:cNvSpPr>
          <p:nvPr>
            <p:ph type="sldNum" sz="quarter" idx="5"/>
          </p:nvPr>
        </p:nvSpPr>
        <p:spPr/>
        <p:txBody>
          <a:bodyPr/>
          <a:lstStyle/>
          <a:p>
            <a:fld id="{E1BF97BA-8199-46CD-BCC6-AEFD91915EAF}" type="slidenum">
              <a:rPr lang="en-US" smtClean="0"/>
              <a:t>26</a:t>
            </a:fld>
            <a:endParaRPr lang="en-US" dirty="0"/>
          </a:p>
        </p:txBody>
      </p:sp>
    </p:spTree>
    <p:extLst>
      <p:ext uri="{BB962C8B-B14F-4D97-AF65-F5344CB8AC3E}">
        <p14:creationId xmlns:p14="http://schemas.microsoft.com/office/powerpoint/2010/main" val="187092546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US" sz="1800" b="0" dirty="0"/>
              <a:t>Next, let’s examine the Middleware Portability APIs. Middleware libraries provide hardware generic, high-level APIs enabling increasing portability across devices. These Middleware Portability APIs have replaced the former HAL layers, making code reuse noticeably easier.</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27</a:t>
            </a:fld>
            <a:endParaRPr lang="en-US" dirty="0"/>
          </a:p>
        </p:txBody>
      </p:sp>
    </p:spTree>
    <p:extLst>
      <p:ext uri="{BB962C8B-B14F-4D97-AF65-F5344CB8AC3E}">
        <p14:creationId xmlns:p14="http://schemas.microsoft.com/office/powerpoint/2010/main" val="360303534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Finally, let’s review the Peripheral Driver Library (PDL). </a:t>
            </a:r>
            <a:r>
              <a:rPr lang="en-US" sz="1800" b="0" dirty="0"/>
              <a:t>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PDL contains a set of low-level APIs to control hardware peripherals such as UART, SPI and many other peripherals. These drivers are often specific to a particular device, thus providing the developer with finer control of a peripheral, but at the expense of less code portability.</a:t>
            </a:r>
          </a:p>
          <a:p>
            <a:pPr>
              <a:lnSpc>
                <a:spcPct val="107000"/>
              </a:lnSpc>
              <a:spcAft>
                <a:spcPts val="800"/>
              </a:spcAft>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28</a:t>
            </a:fld>
            <a:endParaRPr lang="en-US" dirty="0"/>
          </a:p>
        </p:txBody>
      </p:sp>
    </p:spTree>
    <p:extLst>
      <p:ext uri="{BB962C8B-B14F-4D97-AF65-F5344CB8AC3E}">
        <p14:creationId xmlns:p14="http://schemas.microsoft.com/office/powerpoint/2010/main" val="5297417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Device Support Library provides all required device‑specific components for software development on the PSE8xxGP device family. The DSL package includes the Peripheral Driver Library (PDL), device utilities that implement predefined System Power Management (</a:t>
            </a:r>
            <a:r>
              <a:rPr lang="en-US" sz="1200" b="0" i="0" kern="1200" dirty="0" err="1">
                <a:solidFill>
                  <a:schemeClr val="tx1"/>
                </a:solidFill>
                <a:effectLst/>
                <a:latin typeface="Arial" panose="020B0604020202020204" pitchFamily="34" charset="0"/>
                <a:ea typeface="+mn-ea"/>
                <a:cs typeface="Arial" panose="020B0604020202020204" pitchFamily="34" charset="0"/>
              </a:rPr>
              <a:t>SysPm</a:t>
            </a:r>
            <a:r>
              <a:rPr lang="en-US" sz="1200" b="0" i="0" kern="1200" dirty="0">
                <a:solidFill>
                  <a:schemeClr val="tx1"/>
                </a:solidFill>
                <a:effectLst/>
                <a:latin typeface="Arial" panose="020B0604020202020204" pitchFamily="34" charset="0"/>
                <a:ea typeface="+mn-ea"/>
                <a:cs typeface="Arial" panose="020B0604020202020204" pitchFamily="34" charset="0"/>
              </a:rPr>
              <a:t>) callbacks for peripherals requiring special handling when entering or exiting Deep Sleep, and </a:t>
            </a:r>
            <a:r>
              <a:rPr lang="en-US" sz="1200" b="0" i="0" kern="1200" dirty="0" err="1">
                <a:solidFill>
                  <a:schemeClr val="tx1"/>
                </a:solidFill>
                <a:effectLst/>
                <a:latin typeface="Arial" panose="020B0604020202020204" pitchFamily="34" charset="0"/>
                <a:ea typeface="+mn-ea"/>
                <a:cs typeface="Arial" panose="020B0604020202020204" pitchFamily="34" charset="0"/>
              </a:rPr>
              <a:t>makefiles</a:t>
            </a:r>
            <a:r>
              <a:rPr lang="en-US" sz="1200" b="0" i="0" kern="1200" dirty="0">
                <a:solidFill>
                  <a:schemeClr val="tx1"/>
                </a:solidFill>
                <a:effectLst/>
                <a:latin typeface="Arial" panose="020B0604020202020204" pitchFamily="34" charset="0"/>
                <a:ea typeface="+mn-ea"/>
                <a:cs typeface="Arial" panose="020B0604020202020204" pitchFamily="34" charset="0"/>
              </a:rPr>
              <a:t> that supply build recipes and programming scripts for device applications. DSL documentation is available via its online link and can also be accessed through the </a:t>
            </a:r>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Eclipse Quick Panel under each component’s API Documentation section.</a:t>
            </a:r>
          </a:p>
        </p:txBody>
      </p:sp>
      <p:sp>
        <p:nvSpPr>
          <p:cNvPr id="4" name="Slide Number Placeholder 3"/>
          <p:cNvSpPr>
            <a:spLocks noGrp="1"/>
          </p:cNvSpPr>
          <p:nvPr>
            <p:ph type="sldNum" sz="quarter" idx="5"/>
          </p:nvPr>
        </p:nvSpPr>
        <p:spPr/>
        <p:txBody>
          <a:bodyPr/>
          <a:lstStyle/>
          <a:p>
            <a:fld id="{E1BF97BA-8199-46CD-BCC6-AEFD91915EAF}" type="slidenum">
              <a:rPr lang="en-US" smtClean="0"/>
              <a:t>29</a:t>
            </a:fld>
            <a:endParaRPr lang="en-US" dirty="0"/>
          </a:p>
        </p:txBody>
      </p:sp>
    </p:spTree>
    <p:extLst>
      <p:ext uri="{BB962C8B-B14F-4D97-AF65-F5344CB8AC3E}">
        <p14:creationId xmlns:p14="http://schemas.microsoft.com/office/powerpoint/2010/main" val="5106265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on let’s look at how to add </a:t>
            </a:r>
            <a:r>
              <a:rPr lang="en-US" dirty="0" err="1"/>
              <a:t>FreeRTOS</a:t>
            </a:r>
            <a:r>
              <a:rPr lang="en-US" dirty="0"/>
              <a:t> to the application.	</a:t>
            </a:r>
          </a:p>
          <a:p>
            <a:r>
              <a:rPr lang="en-US" dirty="0"/>
              <a:t>Adding native </a:t>
            </a:r>
            <a:r>
              <a:rPr lang="en-US" dirty="0" err="1"/>
              <a:t>FreeRTOS</a:t>
            </a:r>
            <a:r>
              <a:rPr lang="en-US" dirty="0"/>
              <a:t> support to a </a:t>
            </a:r>
            <a:r>
              <a:rPr lang="en-US" dirty="0" err="1"/>
              <a:t>ModusToolbox</a:t>
            </a:r>
            <a:r>
              <a:rPr lang="en-US" dirty="0"/>
              <a:t>™ application project is like adding any middleware library. </a:t>
            </a:r>
          </a:p>
          <a:p>
            <a:r>
              <a:rPr lang="en-US" dirty="0"/>
              <a:t>Include the </a:t>
            </a:r>
            <a:r>
              <a:rPr lang="en-US" dirty="0" err="1"/>
              <a:t>FreeRTOS</a:t>
            </a:r>
            <a:r>
              <a:rPr lang="en-US" dirty="0"/>
              <a:t> middleware in your application by using the Library Manager.</a:t>
            </a:r>
          </a:p>
          <a:p>
            <a:r>
              <a:rPr lang="en-US" dirty="0"/>
              <a:t>If using the Eclipse IDE, select the application and the following: </a:t>
            </a:r>
          </a:p>
          <a:p>
            <a:pPr marL="171450" indent="-171450">
              <a:buFont typeface="Arial" panose="020B0604020202020204" pitchFamily="34" charset="0"/>
              <a:buChar char="•"/>
            </a:pPr>
            <a:r>
              <a:rPr lang="en-US" dirty="0"/>
              <a:t>Click the Library Manager link in the Quick Panel</a:t>
            </a:r>
          </a:p>
          <a:p>
            <a:pPr marL="171450" indent="-171450">
              <a:buFont typeface="Arial" panose="020B0604020202020204" pitchFamily="34" charset="0"/>
              <a:buChar char="•"/>
            </a:pPr>
            <a:r>
              <a:rPr lang="en-US" dirty="0"/>
              <a:t>Click Add Library </a:t>
            </a:r>
          </a:p>
          <a:p>
            <a:pPr marL="171450" indent="-171450">
              <a:buFont typeface="Arial" panose="020B0604020202020204" pitchFamily="34" charset="0"/>
              <a:buChar char="•"/>
            </a:pPr>
            <a:r>
              <a:rPr lang="en-US" dirty="0"/>
              <a:t>Select </a:t>
            </a:r>
            <a:r>
              <a:rPr lang="en-US" dirty="0" err="1"/>
              <a:t>freertos</a:t>
            </a:r>
            <a:r>
              <a:rPr lang="en-US" dirty="0"/>
              <a:t> from the Core dialog</a:t>
            </a:r>
          </a:p>
          <a:p>
            <a:pPr marL="171450" indent="-171450">
              <a:buFont typeface="Arial" panose="020B0604020202020204" pitchFamily="34" charset="0"/>
              <a:buChar char="•"/>
            </a:pPr>
            <a:r>
              <a:rPr lang="en-US" dirty="0"/>
              <a:t>Click OK</a:t>
            </a:r>
          </a:p>
          <a:p>
            <a:pPr marL="171450" indent="-171450">
              <a:buFont typeface="Arial" panose="020B0604020202020204" pitchFamily="34" charset="0"/>
              <a:buChar char="•"/>
            </a:pPr>
            <a:r>
              <a:rPr lang="en-US" dirty="0"/>
              <a:t>Update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68C4B104-81A4-47F3-B35A-2D75CB8E3712}"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56844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covered the software resources available to the PSOC™ Edge developer, let’s look at some of the hardware options.</a:t>
            </a:r>
          </a:p>
          <a:p>
            <a:pPr marL="171450" indent="-171450">
              <a:buFont typeface="Arial" panose="020B0604020202020204" pitchFamily="34" charset="0"/>
              <a:buChar char="•"/>
            </a:pPr>
            <a:r>
              <a:rPr lang="en-US" dirty="0"/>
              <a:t>The PSOC™ Edge E84 Evaluation Kit (EVK) enables applications using the PSOC™ Edge MCU alongside multiple on‑board multimedia, machine‑learning, and connectivity features, including MIPI DSI displays, audio interfaces, and AIROC™ Wi‑Fi and Bluetooth®</a:t>
            </a:r>
          </a:p>
          <a:p>
            <a:pPr marL="171450" indent="-171450">
              <a:buFont typeface="Arial" panose="020B0604020202020204" pitchFamily="34" charset="0"/>
              <a:buChar char="•"/>
            </a:pPr>
            <a:r>
              <a:rPr lang="en-US" dirty="0"/>
              <a:t>The depicted kit image is the top view of the EVK, with many hardware resources such as the on‑board programmer/debugger (KitProg3), CAPSENSE™ slider and buttons, USB Host Type‑A and Type‑C connectors, and an on‑board speaker</a:t>
            </a:r>
          </a:p>
          <a:p>
            <a:pPr marL="171450" indent="-171450">
              <a:buFont typeface="Arial" panose="020B0604020202020204" pitchFamily="34" charset="0"/>
              <a:buChar char="•"/>
            </a:pPr>
            <a:r>
              <a:rPr lang="en-US" dirty="0"/>
              <a:t>Additional sensors include proximity, IMU, and magnetometer devices, as well as user LEDs and push buttons </a:t>
            </a:r>
          </a:p>
          <a:p>
            <a:pPr marL="171450" indent="-171450">
              <a:buFont typeface="Arial" panose="020B0604020202020204" pitchFamily="34" charset="0"/>
              <a:buChar char="•"/>
            </a:pPr>
            <a:r>
              <a:rPr lang="en-US" dirty="0"/>
              <a:t>There are also numerous interfaces and components for expansion and rapid prototyping, plus key jumpers that facilitate power measurements to validate the low‑power performance of the PSOC™ Edge device</a:t>
            </a:r>
          </a:p>
          <a:p>
            <a:pPr marL="171450" indent="-171450">
              <a:buFont typeface="Arial" panose="020B0604020202020204" pitchFamily="34" charset="0"/>
              <a:buChar char="•"/>
            </a:pPr>
            <a:r>
              <a:rPr lang="en-US" dirty="0"/>
              <a:t>At the center is a SODIMM‑based, detachable SOM that hosts the PSOC™ Edge MCU and AIROC™ devices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4AECB975-376F-417A-8F32-30B3894DAA59}"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561485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the back view of the EVK, there is support for an SD card, on‑board dual digital and analog microphones (DMICs and AMICs), connectors for an external MIPI DSI display, and a headphone jack.</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12B00249-6362-45A1-8FDA-282CDAED790C}"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306752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In a close-up of the SOM’s top side,  we can see the PSOC™ Edge MCU, its QSPI flash, and the AIROC™ Wi‑Fi/Bluetooth combo module with an associated antenna.</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765EDF48-01B0-4A30-832A-3E415370A4E1}"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175910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Turning to the bottom view of the SOM, you will find octal RAM, octal flash, and the CAPSENSE™ co‑processor.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EACFB63-2C96-45A6-9708-227D1108792C}"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8503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Finally, the EVK provides robust support for programming and debugging PSOC™ Edge.</a:t>
            </a:r>
          </a:p>
          <a:p>
            <a:r>
              <a:rPr lang="en-US" sz="1800" dirty="0" err="1"/>
              <a:t>ModusToolbox</a:t>
            </a:r>
            <a:r>
              <a:rPr lang="en-US" sz="1800" dirty="0"/>
              <a:t>™ supports programming the device and debugging your code.</a:t>
            </a:r>
          </a:p>
          <a:p>
            <a:r>
              <a:rPr lang="en-US" sz="1800" dirty="0"/>
              <a:t>The PSOC™ Edge development kit includes a KitProg3 on‑board programmer/debugger. It supports CMSIS‑DAP (Cortex® Microcontroller Software Interface Standard – Debug Access Port).</a:t>
            </a:r>
          </a:p>
          <a:p>
            <a:r>
              <a:rPr lang="en-US" sz="1800" dirty="0"/>
              <a:t>Programming and debugging integrate with your chosen development environment. Infineon devices are supported by major programming and debug tools such as J‑Link and </a:t>
            </a:r>
            <a:r>
              <a:rPr lang="en-US" sz="1800" dirty="0" err="1"/>
              <a:t>OpenOCD</a:t>
            </a:r>
            <a:r>
              <a:rPr lang="en-US" sz="1800" dirty="0"/>
              <a:t> (Open On‑Chip Debugger).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B7997091-2A3D-4647-AF5D-338EE58D6EF2}"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23498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00912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first hands-on section of this presentation.</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200" dirty="0">
                <a:solidFill>
                  <a:schemeClr val="tx1"/>
                </a:solidFill>
                <a:effectLst/>
                <a:latin typeface="Arial" panose="020B0604020202020204" pitchFamily="34" charset="0"/>
                <a:ea typeface="+mn-ea"/>
                <a:cs typeface="Arial" panose="020B0604020202020204" pitchFamily="34" charset="0"/>
              </a:rPr>
              <a:t>Please follow the instructions provided in the training manual accompanying this presentation. </a:t>
            </a:r>
            <a:endParaRPr lang="en-US" sz="1200" b="0" i="0" kern="1200" dirty="0">
              <a:solidFill>
                <a:schemeClr val="tx1"/>
              </a:solidFill>
              <a:effectLst/>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this video at this point and proceed with the detailed instructions in the lab manual.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Note that the manual not only includes the steps to run the basic lab, but it also includes additional instructions to modify the example in different ways.</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Give them a try to learn more about PSOC™ Edge E84, its capabilities and its tools.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A98A1A9-5712-49FF-82FE-61658954D523}"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718724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Let’s take a look at the steps the Hello World plus Blinky example will take:</a:t>
            </a:r>
            <a:endParaRPr lang="en-US" sz="2400" b="1" dirty="0">
              <a:solidFill>
                <a:srgbClr val="1D1D1D"/>
              </a:solidFill>
            </a:endParaRPr>
          </a:p>
          <a:p>
            <a:pPr marL="228600" indent="-228600">
              <a:buFont typeface="+mj-lt"/>
              <a:buAutoNum type="arabicPeriod"/>
            </a:pPr>
            <a:r>
              <a:rPr lang="en-US" sz="1200" b="0" dirty="0">
                <a:solidFill>
                  <a:srgbClr val="1D1D1D"/>
                </a:solidFill>
              </a:rPr>
              <a:t>The CM33 secure application initializes secure resources.</a:t>
            </a:r>
          </a:p>
          <a:p>
            <a:pPr marL="228600" indent="-228600">
              <a:buFont typeface="+mj-lt"/>
              <a:buAutoNum type="arabicPeriod"/>
            </a:pPr>
            <a:r>
              <a:rPr lang="en-US" sz="1200" b="0" dirty="0">
                <a:solidFill>
                  <a:srgbClr val="1D1D1D"/>
                </a:solidFill>
              </a:rPr>
              <a:t>The CM33 secure application calls the CM33 non-secure application, which initializes resources including clocks, system, and I/</a:t>
            </a:r>
            <a:r>
              <a:rPr lang="en-US" sz="1200" b="0" dirty="0" err="1">
                <a:solidFill>
                  <a:srgbClr val="1D1D1D"/>
                </a:solidFill>
              </a:rPr>
              <a:t>Os</a:t>
            </a:r>
            <a:r>
              <a:rPr lang="en-US" sz="1200" b="0" dirty="0">
                <a:solidFill>
                  <a:srgbClr val="1D1D1D"/>
                </a:solidFill>
              </a:rPr>
              <a:t>.</a:t>
            </a:r>
          </a:p>
          <a:p>
            <a:pPr marL="228600" indent="-228600">
              <a:buFont typeface="+mj-lt"/>
              <a:buAutoNum type="arabicPeriod"/>
            </a:pPr>
            <a:r>
              <a:rPr lang="en-US" sz="1200" b="0" dirty="0">
                <a:solidFill>
                  <a:srgbClr val="1D1D1D"/>
                </a:solidFill>
              </a:rPr>
              <a:t>The retarget-io library is initialized to use the debug UART to print information to the console.</a:t>
            </a:r>
          </a:p>
          <a:p>
            <a:pPr marL="228600" indent="-228600">
              <a:buFont typeface="+mj-lt"/>
              <a:buAutoNum type="arabicPeriod"/>
            </a:pPr>
            <a:r>
              <a:rPr lang="en-US" sz="1200" b="0" dirty="0">
                <a:solidFill>
                  <a:srgbClr val="1D1D1D"/>
                </a:solidFill>
              </a:rPr>
              <a:t>The CM33 non-secure application prints the hello world message to the terminal.</a:t>
            </a:r>
          </a:p>
          <a:p>
            <a:pPr marL="228600" indent="-228600">
              <a:buFont typeface="+mj-lt"/>
              <a:buAutoNum type="arabicPeriod"/>
            </a:pPr>
            <a:r>
              <a:rPr lang="en-US" sz="1200" b="0" dirty="0">
                <a:solidFill>
                  <a:srgbClr val="1D1D1D"/>
                </a:solidFill>
              </a:rPr>
              <a:t>The CM33 non-secure application initializes the CM55 application.</a:t>
            </a:r>
          </a:p>
          <a:p>
            <a:pPr marL="228600" indent="-228600">
              <a:buFont typeface="+mj-lt"/>
              <a:buAutoNum type="arabicPeriod"/>
            </a:pPr>
            <a:r>
              <a:rPr lang="en-US" sz="1200" b="0" dirty="0">
                <a:solidFill>
                  <a:srgbClr val="1D1D1D"/>
                </a:solidFill>
              </a:rPr>
              <a:t>The CM55 initializes and goes to Deep Sleep.</a:t>
            </a:r>
          </a:p>
          <a:p>
            <a:pPr marL="228600" indent="-228600">
              <a:buFont typeface="+mj-lt"/>
              <a:buAutoNum type="arabicPeriod"/>
            </a:pPr>
            <a:r>
              <a:rPr lang="en-US" sz="1200" b="0" dirty="0">
                <a:solidFill>
                  <a:srgbClr val="1D1D1D"/>
                </a:solidFill>
              </a:rPr>
              <a:t>The CM33 keeps executing, toggling an LED every second.</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9AB39965-86D5-4AC8-901B-E8CFFFF021E4}"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212217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E1F-CCAC-16A6-79D1-4B9241582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02BF3-44E9-34B3-0C57-2DB560114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AD60D3-A8AA-F07F-7E49-59B4D45EDD33}"/>
              </a:ext>
            </a:extLst>
          </p:cNvPr>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The modification included in the training manual explains how to use Device Configurator to modify the alias of the pin driving the LED.</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Try it and observe how the Device Configurator generates initialization code for your application.</a:t>
            </a:r>
          </a:p>
        </p:txBody>
      </p:sp>
      <p:sp>
        <p:nvSpPr>
          <p:cNvPr id="4" name="Header Placeholder 3">
            <a:extLst>
              <a:ext uri="{FF2B5EF4-FFF2-40B4-BE49-F238E27FC236}">
                <a16:creationId xmlns:a16="http://schemas.microsoft.com/office/drawing/2014/main" id="{793950DF-A45B-33A9-A83A-28C0748C66AD}"/>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5BD8BB35-442E-D3D5-4198-8964147AB24A}"/>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a:extLst>
              <a:ext uri="{FF2B5EF4-FFF2-40B4-BE49-F238E27FC236}">
                <a16:creationId xmlns:a16="http://schemas.microsoft.com/office/drawing/2014/main" id="{1886995D-EAE8-5D73-544B-E881D236ECDB}"/>
              </a:ext>
            </a:extLst>
          </p:cNvPr>
          <p:cNvSpPr>
            <a:spLocks noGrp="1"/>
          </p:cNvSpPr>
          <p:nvPr>
            <p:ph type="dt" idx="1"/>
          </p:nvPr>
        </p:nvSpPr>
        <p:spPr/>
        <p:txBody>
          <a:bodyPr/>
          <a:lstStyle/>
          <a:p>
            <a:fld id="{9AB39965-86D5-4AC8-901B-E8CFFFF021E4}" type="datetime1">
              <a:rPr lang="en-US" smtClean="0"/>
              <a:t>3/15/2026</a:t>
            </a:fld>
            <a:endParaRPr lang="en-US" dirty="0"/>
          </a:p>
        </p:txBody>
      </p:sp>
      <p:sp>
        <p:nvSpPr>
          <p:cNvPr id="7" name="Slide Number Placeholder 6">
            <a:extLst>
              <a:ext uri="{FF2B5EF4-FFF2-40B4-BE49-F238E27FC236}">
                <a16:creationId xmlns:a16="http://schemas.microsoft.com/office/drawing/2014/main" id="{75E14B34-CA1F-9612-B754-5D8AA49D9B75}"/>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424687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Now, let’s move on to the final code example in this presentation.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In this hands-on lab, we will build firmware that enables communication between the CM33 and CM55 cores using Inter-Processor Communication (IPC) over the AHB5 interface, leveraging the semaphore features available in the IPC PDL.</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Before we begin, let’s take a moment to understand the IPC resources and the overall architecture.</a:t>
            </a:r>
          </a:p>
          <a:p>
            <a:endParaRPr lang="en-IN"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a:latin typeface="Arial" panose="020B0604020202020204" pitchFamily="34" charset="0"/>
                <a:cs typeface="Arial" panose="020B0604020202020204" pitchFamily="34" charset="0"/>
              </a:rPr>
              <a:t>Copyright © Infineon Technologies AG 2020. All rights reserved.</a:t>
            </a:r>
          </a:p>
          <a:p>
            <a:r>
              <a:rPr lang="en-US" b="1">
                <a:latin typeface="Arial" panose="020B0604020202020204" pitchFamily="34" charset="0"/>
                <a:cs typeface="Arial" panose="020B0604020202020204" pitchFamily="34" charset="0"/>
              </a:rPr>
              <a:t>public</a:t>
            </a:r>
            <a:endParaRPr lang="en-US" b="1" dirty="0">
              <a:latin typeface="Arial" panose="020B0604020202020204" pitchFamily="34" charset="0"/>
              <a:cs typeface="Arial" panose="020B0604020202020204" pitchFamily="34" charset="0"/>
            </a:endParaRPr>
          </a:p>
        </p:txBody>
      </p:sp>
      <p:sp>
        <p:nvSpPr>
          <p:cNvPr id="6" name="Date Placeholder 5"/>
          <p:cNvSpPr>
            <a:spLocks noGrp="1"/>
          </p:cNvSpPr>
          <p:nvPr>
            <p:ph type="dt" idx="1"/>
          </p:nvPr>
        </p:nvSpPr>
        <p:spPr/>
        <p:txBody>
          <a:bodyPr/>
          <a:lstStyle/>
          <a:p>
            <a:fld id="{7934E32A-B485-42C1-9192-CCC268DBD90E}" type="datetime7">
              <a:rPr lang="en-US" smtClean="0"/>
              <a:t>Mar-26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4508709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0E89C-BDD7-F702-902C-500AE3014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3F4D65-8C8D-4508-44D0-2C2C48E6BB2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4130B-3B6D-55DD-3ED9-DDB311E85F3B}"/>
              </a:ext>
            </a:extLst>
          </p:cNvPr>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Now it’s time for the second hands-on section of this presentation.</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Please follow the instructions provided in the training manual that accompanies this presentation.</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Feel free to pause the video at this point and continue with the detailed steps in the lab manual.</a:t>
            </a:r>
          </a:p>
          <a:p>
            <a:pPr fontAlgn="t"/>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includes examples demonstrating how to use IPC semaphores; however, the training manual explains how to add them from scratch to the Hello World code example.</a:t>
            </a:r>
          </a:p>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The lab manual begins by showing how to use the Library Manager to move the retarget-io library from CM33 to CM55.</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It then explains how to print messages to the UART interface shared by both CPUs.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Finally, it guides you through enabling IPC semaphores to synchronize access to the UART.</a:t>
            </a:r>
          </a:p>
        </p:txBody>
      </p:sp>
      <p:sp>
        <p:nvSpPr>
          <p:cNvPr id="4" name="Header Placeholder 3">
            <a:extLst>
              <a:ext uri="{FF2B5EF4-FFF2-40B4-BE49-F238E27FC236}">
                <a16:creationId xmlns:a16="http://schemas.microsoft.com/office/drawing/2014/main" id="{B8DA3436-2F87-12DC-4392-C95CA7702ADE}"/>
              </a:ext>
            </a:extLst>
          </p:cNvPr>
          <p:cNvSpPr>
            <a:spLocks noGrp="1"/>
          </p:cNvSpPr>
          <p:nvPr>
            <p:ph type="hdr" sz="quarter"/>
          </p:nvPr>
        </p:nvSpPr>
        <p:spPr/>
        <p:txBody>
          <a:bodyPr/>
          <a:lstStyle/>
          <a:p>
            <a:endParaRPr lang="en-US" sz="100" dirty="0"/>
          </a:p>
        </p:txBody>
      </p:sp>
      <p:sp>
        <p:nvSpPr>
          <p:cNvPr id="5" name="Footer Placeholder 4">
            <a:extLst>
              <a:ext uri="{FF2B5EF4-FFF2-40B4-BE49-F238E27FC236}">
                <a16:creationId xmlns:a16="http://schemas.microsoft.com/office/drawing/2014/main" id="{74C74DFC-4D7D-7FE3-9249-3CBC8CC14073}"/>
              </a:ext>
            </a:extLst>
          </p:cNvPr>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a:extLst>
              <a:ext uri="{FF2B5EF4-FFF2-40B4-BE49-F238E27FC236}">
                <a16:creationId xmlns:a16="http://schemas.microsoft.com/office/drawing/2014/main" id="{5838FAE7-76EA-DC97-0FB9-ED2B6FC5D780}"/>
              </a:ext>
            </a:extLst>
          </p:cNvPr>
          <p:cNvSpPr>
            <a:spLocks noGrp="1"/>
          </p:cNvSpPr>
          <p:nvPr>
            <p:ph type="dt" idx="1"/>
          </p:nvPr>
        </p:nvSpPr>
        <p:spPr/>
        <p:txBody>
          <a:bodyPr/>
          <a:lstStyle/>
          <a:p>
            <a:fld id="{6A98A1A9-5712-49FF-82FE-61658954D523}" type="datetime7">
              <a:rPr lang="en-US" smtClean="0"/>
              <a:t>Mar-26</a:t>
            </a:fld>
            <a:endParaRPr lang="en-US" dirty="0"/>
          </a:p>
        </p:txBody>
      </p:sp>
      <p:sp>
        <p:nvSpPr>
          <p:cNvPr id="7" name="Slide Number Placeholder 6">
            <a:extLst>
              <a:ext uri="{FF2B5EF4-FFF2-40B4-BE49-F238E27FC236}">
                <a16:creationId xmlns:a16="http://schemas.microsoft.com/office/drawing/2014/main" id="{50703676-F1FE-4A6A-7D34-A6382648A4F9}"/>
              </a:ext>
            </a:extLst>
          </p:cNvPr>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15215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PSOC™ Edge E84 Inter-Processor Communication module is designed to facilitate the exchange of signaling messages between CPUs. The Inter-Processor Communication (IPC) module plays an important role in enabling multiple processors to effectively communicate and </a:t>
            </a:r>
            <a:r>
              <a:rPr lang="en-US" dirty="0" err="1"/>
              <a:t>synchronise</a:t>
            </a:r>
            <a:r>
              <a:rPr lang="en-US" dirty="0"/>
              <a:t> their operations.</a:t>
            </a:r>
            <a:br>
              <a:rPr lang="en-US" dirty="0"/>
            </a:b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IPC module support for up to 16 communication channels and 16 interrupts, adding a significant degree of versatility and flexibility to the communication framework. The IPC module operates when the CPU is in the Active power mode, but it becomes inactive in the Sleep and Deep Sleep CPU power modes.</a:t>
            </a:r>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304917C2-1492-4418-BFF1-592B6F9B3DF9}"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3/15/2026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42</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42380840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0" kern="1200" dirty="0">
                <a:solidFill>
                  <a:schemeClr val="tx1"/>
                </a:solidFill>
                <a:effectLst/>
                <a:latin typeface="Arial" panose="020B0604020202020204" pitchFamily="34" charset="0"/>
                <a:ea typeface="+mn-ea"/>
                <a:cs typeface="Arial" panose="020B0604020202020204" pitchFamily="34" charset="0"/>
              </a:rPr>
              <a:t>The communication between more than one thread (CPU or task) is supported using an IPC driver. It implements two common methods, typically available in RTOS environments for thread interactions: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marL="171450" lvl="0" indent="-171450">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Semaphore (or binary): </a:t>
            </a:r>
            <a:r>
              <a:rPr lang="en-US" sz="1200" i="0" kern="1200" dirty="0">
                <a:solidFill>
                  <a:schemeClr val="tx1"/>
                </a:solidFill>
                <a:effectLst/>
                <a:latin typeface="Arial" panose="020B0604020202020204" pitchFamily="34" charset="0"/>
                <a:ea typeface="+mn-ea"/>
                <a:cs typeface="Arial" panose="020B0604020202020204" pitchFamily="34" charset="0"/>
              </a:rPr>
              <a:t>used to regulate accesses to shared resources between two or more threads or used for signaling between two tasks. This type of semaphore can assume only values 0 or 1. Any thread can take (value set to 1) or give (value set to 0) the semaphore</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marL="171450" lvl="0" indent="-171450">
              <a:buFont typeface="Arial" panose="020B0604020202020204" pitchFamily="34" charset="0"/>
              <a:buChar char="•"/>
            </a:pPr>
            <a:r>
              <a:rPr lang="en-US" sz="1200" b="1" i="0" kern="1200" dirty="0">
                <a:solidFill>
                  <a:schemeClr val="tx1"/>
                </a:solidFill>
                <a:effectLst/>
                <a:latin typeface="Arial" panose="020B0604020202020204" pitchFamily="34" charset="0"/>
                <a:ea typeface="+mn-ea"/>
                <a:cs typeface="Arial" panose="020B0604020202020204" pitchFamily="34" charset="0"/>
              </a:rPr>
              <a:t>Pipes:</a:t>
            </a:r>
            <a:r>
              <a:rPr lang="en-US" sz="1200" i="0" kern="1200" dirty="0">
                <a:solidFill>
                  <a:schemeClr val="tx1"/>
                </a:solidFill>
                <a:effectLst/>
                <a:latin typeface="Arial" panose="020B0604020202020204" pitchFamily="34" charset="0"/>
                <a:ea typeface="+mn-ea"/>
                <a:cs typeface="Arial" panose="020B0604020202020204" pitchFamily="34" charset="0"/>
              </a:rPr>
              <a:t> </a:t>
            </a:r>
            <a:r>
              <a:rPr lang="en-US" sz="1200" b="0" i="0" kern="1200" dirty="0">
                <a:solidFill>
                  <a:schemeClr val="tx1"/>
                </a:solidFill>
                <a:effectLst/>
                <a:latin typeface="Arial" panose="020B0604020202020204" pitchFamily="34" charset="0"/>
                <a:ea typeface="+mn-ea"/>
                <a:cs typeface="Arial" panose="020B0604020202020204" pitchFamily="34" charset="0"/>
              </a:rPr>
              <a:t>A pipe is typically a full-duplex communication channel between CPU cores. A pipe allows a single conduit to transfer messages or data to and from multiple processes or CPUs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0D3D7130-9EF1-4911-BDBC-4B728CF12BDC}"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088892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lang="en-US" sz="1200" b="0" i="0" kern="1200" dirty="0">
                <a:solidFill>
                  <a:schemeClr val="tx1"/>
                </a:solidFill>
                <a:effectLst/>
                <a:latin typeface="Arial" panose="020B0604020202020204" pitchFamily="34" charset="0"/>
                <a:ea typeface="+mn-ea"/>
                <a:cs typeface="Arial" panose="020B0604020202020204" pitchFamily="34" charset="0"/>
              </a:rPr>
              <a:t>This lab uses the IPC semaphore layer. As depicted here are the IPC Peripheral Abstraction Layer (PDL) APIs for binary semaphores.</a:t>
            </a:r>
            <a:br>
              <a:rPr lang="en-US" sz="1200" b="0" i="0" kern="1200" dirty="0">
                <a:solidFill>
                  <a:schemeClr val="tx1"/>
                </a:solidFill>
                <a:effectLst/>
                <a:latin typeface="Arial" panose="020B0604020202020204" pitchFamily="34" charset="0"/>
                <a:ea typeface="+mn-ea"/>
                <a:cs typeface="Arial" panose="020B0604020202020204" pitchFamily="34" charset="0"/>
              </a:rPr>
            </a:br>
            <a:r>
              <a:rPr lang="en-US" sz="1200" b="0" i="0" kern="1200" dirty="0">
                <a:solidFill>
                  <a:schemeClr val="tx1"/>
                </a:solidFill>
                <a:effectLst/>
                <a:latin typeface="Arial" panose="020B0604020202020204" pitchFamily="34" charset="0"/>
                <a:ea typeface="+mn-ea"/>
                <a:cs typeface="Arial" panose="020B0604020202020204" pitchFamily="34" charset="0"/>
              </a:rPr>
              <a:t>We will use the semaphore functions to initialize the subsystem, set and clear semaphore values, and retrieve the current status of a given semaphore.</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public</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48D6CF6-2243-41A7-80AD-F72536B252BA}"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3/15/2026</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44</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3844998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flow diagram for our lab. In this lab, we will use an IPC semaphore to synchronize access to a common UART between the CM33 and CM55 cores.</a:t>
            </a:r>
          </a:p>
          <a:p>
            <a:pPr marL="171450" indent="-171450">
              <a:buFont typeface="Arial" panose="020B0604020202020204" pitchFamily="34" charset="0"/>
              <a:buChar char="•"/>
            </a:pPr>
            <a:r>
              <a:rPr lang="en-US" dirty="0"/>
              <a:t>The CM33 code is highlighted in green, while the CM55 code is highlighted in dark gray</a:t>
            </a:r>
          </a:p>
          <a:p>
            <a:pPr marL="171450" indent="-171450">
              <a:buFont typeface="Arial" panose="020B0604020202020204" pitchFamily="34" charset="0"/>
              <a:buChar char="•"/>
            </a:pPr>
            <a:r>
              <a:rPr lang="en-US" dirty="0"/>
              <a:t>The boot process proceeds as usual, with the CM33 non-secure application taking control from the CM33 secure application</a:t>
            </a:r>
          </a:p>
          <a:p>
            <a:pPr marL="171450" indent="-171450">
              <a:buFont typeface="Arial" panose="020B0604020202020204" pitchFamily="34" charset="0"/>
              <a:buChar char="•"/>
            </a:pPr>
            <a:r>
              <a:rPr lang="en-US" dirty="0"/>
              <a:t>The CM33 will initialize the BSP, enable global interrupts (keep in mind “global” is relative to a core, not the device), and set up the semaphore subsystem</a:t>
            </a:r>
          </a:p>
          <a:p>
            <a:pPr marL="171450" indent="-171450">
              <a:buFont typeface="Arial" panose="020B0604020202020204" pitchFamily="34" charset="0"/>
              <a:buChar char="•"/>
            </a:pPr>
            <a:r>
              <a:rPr lang="en-US" dirty="0"/>
              <a:t>The CM33 then initializes the CM55 application</a:t>
            </a:r>
          </a:p>
          <a:p>
            <a:pPr marL="171450" indent="-171450">
              <a:buFont typeface="Arial" panose="020B0604020202020204" pitchFamily="34" charset="0"/>
              <a:buChar char="•"/>
            </a:pPr>
            <a:r>
              <a:rPr lang="en-US" dirty="0"/>
              <a:t>Once enabled, the CM55 initializes clock resources, enables global interrupts, calls the semaphore </a:t>
            </a:r>
            <a:r>
              <a:rPr lang="en-US" dirty="0" err="1"/>
              <a:t>init</a:t>
            </a:r>
            <a:r>
              <a:rPr lang="en-US" dirty="0"/>
              <a:t> </a:t>
            </a:r>
            <a:br>
              <a:rPr lang="en-US" dirty="0"/>
            </a:br>
            <a:r>
              <a:rPr lang="en-US" dirty="0"/>
              <a:t>function-only to confirm that the semaphore subsystem is running and initializes the retarget-io middleware</a:t>
            </a:r>
          </a:p>
          <a:p>
            <a:pPr marL="171450" indent="-171450">
              <a:buFont typeface="Arial" panose="020B0604020202020204" pitchFamily="34" charset="0"/>
              <a:buChar char="•"/>
            </a:pPr>
            <a:r>
              <a:rPr lang="en-US" dirty="0"/>
              <a:t>At this point, both CPUs will wait for the assigned user button on the EVK to be pressed</a:t>
            </a:r>
          </a:p>
          <a:p>
            <a:pPr marL="171450" indent="-171450">
              <a:buFont typeface="Arial" panose="020B0604020202020204" pitchFamily="34" charset="0"/>
              <a:buChar char="•"/>
            </a:pPr>
            <a:r>
              <a:rPr lang="en-US" dirty="0"/>
              <a:t>Once the user button is pressed, both CPUs will attempt to acquire the semaphore. Once acquired, each CPU will print a message to UART and then it will release the semaphore </a:t>
            </a:r>
          </a:p>
          <a:p>
            <a:pPr marL="171450" indent="-171450">
              <a:buFont typeface="Arial" panose="020B0604020202020204" pitchFamily="34" charset="0"/>
              <a:buChar char="•"/>
            </a:pPr>
            <a:r>
              <a:rPr lang="en-US" dirty="0"/>
              <a:t>Without the semaphore, you should observe that the messages get corrupted in the terminal; but this will be prevented after using the IPC semaphores</a:t>
            </a:r>
          </a:p>
          <a:p>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public</a:t>
            </a:r>
          </a:p>
        </p:txBody>
      </p:sp>
      <p:sp>
        <p:nvSpPr>
          <p:cNvPr id="6" name="Date Placeholder 5"/>
          <p:cNvSpPr>
            <a:spLocks noGrp="1"/>
          </p:cNvSpPr>
          <p:nvPr>
            <p:ph type="dt" idx="1"/>
          </p:nvPr>
        </p:nvSpPr>
        <p:spPr/>
        <p:txBody>
          <a:bodyPr/>
          <a:lstStyle/>
          <a:p>
            <a:fld id="{F31B47D0-07D2-445B-A17E-51FA99A850CD}" type="datetime1">
              <a:rPr lang="en-US" smtClean="0"/>
              <a:t>3/15/2026</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404024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870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en-US" dirty="0"/>
          </a:p>
        </p:txBody>
      </p:sp>
      <p:sp>
        <p:nvSpPr>
          <p:cNvPr id="87044" name="Slide Number Placeholder 3"/>
          <p:cNvSpPr>
            <a:spLocks noGrp="1"/>
          </p:cNvSpPr>
          <p:nvPr>
            <p:ph type="sldNum" sz="quarter" idx="5"/>
          </p:nvPr>
        </p:nvSpPr>
        <p:spPr bwMode="auto">
          <a:xfrm>
            <a:off x="3956051" y="8818563"/>
            <a:ext cx="3027363" cy="4635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424" tIns="45711" rIns="91424" bIns="45711"/>
          <a:lstStyle>
            <a:lvl1pPr>
              <a:defRPr>
                <a:solidFill>
                  <a:schemeClr val="tx1"/>
                </a:solidFill>
                <a:latin typeface="Arial" panose="020B0604020202020204" pitchFamily="34" charset="0"/>
                <a:ea typeface="MS PGothic" panose="020B0600070205080204" pitchFamily="34" charset="-128"/>
              </a:defRPr>
            </a:lvl1pPr>
            <a:lvl2pPr marL="742818" indent="-285699">
              <a:defRPr>
                <a:solidFill>
                  <a:schemeClr val="tx1"/>
                </a:solidFill>
                <a:latin typeface="Arial" panose="020B0604020202020204" pitchFamily="34" charset="0"/>
                <a:ea typeface="MS PGothic" panose="020B0600070205080204" pitchFamily="34" charset="-128"/>
              </a:defRPr>
            </a:lvl2pPr>
            <a:lvl3pPr marL="1142797" indent="-228559">
              <a:defRPr>
                <a:solidFill>
                  <a:schemeClr val="tx1"/>
                </a:solidFill>
                <a:latin typeface="Arial" panose="020B0604020202020204" pitchFamily="34" charset="0"/>
                <a:ea typeface="MS PGothic" panose="020B0600070205080204" pitchFamily="34" charset="-128"/>
              </a:defRPr>
            </a:lvl3pPr>
            <a:lvl4pPr marL="1599915" indent="-228559">
              <a:defRPr>
                <a:solidFill>
                  <a:schemeClr val="tx1"/>
                </a:solidFill>
                <a:latin typeface="Arial" panose="020B0604020202020204" pitchFamily="34" charset="0"/>
                <a:ea typeface="MS PGothic" panose="020B0600070205080204" pitchFamily="34" charset="-128"/>
              </a:defRPr>
            </a:lvl4pPr>
            <a:lvl5pPr marL="2057034" indent="-228559">
              <a:defRPr>
                <a:solidFill>
                  <a:schemeClr val="tx1"/>
                </a:solidFill>
                <a:latin typeface="Arial" panose="020B0604020202020204" pitchFamily="34" charset="0"/>
                <a:ea typeface="MS PGothic" panose="020B0600070205080204" pitchFamily="34" charset="-128"/>
              </a:defRPr>
            </a:lvl5pPr>
            <a:lvl6pPr marL="2514153"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6pPr>
            <a:lvl7pPr marL="2971272"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7pPr>
            <a:lvl8pPr marL="3428390"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8pPr>
            <a:lvl9pPr marL="3885509" indent="-228559" eaLnBrk="0" fontAlgn="base" hangingPunct="0">
              <a:spcBef>
                <a:spcPct val="0"/>
              </a:spcBef>
              <a:spcAft>
                <a:spcPct val="0"/>
              </a:spcAft>
              <a:defRPr>
                <a:solidFill>
                  <a:schemeClr val="tx1"/>
                </a:solidFill>
                <a:latin typeface="Arial" panose="020B0604020202020204" pitchFamily="34" charset="0"/>
                <a:ea typeface="MS PGothic" panose="020B0600070205080204" pitchFamily="34" charset="-128"/>
              </a:defRPr>
            </a:lvl9pPr>
          </a:lstStyle>
          <a:p>
            <a:fld id="{58BF699F-C6C8-4B3C-86EA-E7382367795B}" type="slidenum">
              <a:rPr lang="en-US" altLang="ja-JP" smtClean="0">
                <a:latin typeface="Calibri" panose="020F0502020204030204" pitchFamily="34" charset="0"/>
              </a:rPr>
              <a:pPr/>
              <a:t>46</a:t>
            </a:fld>
            <a:endParaRPr lang="en-US" altLang="ja-JP" dirty="0">
              <a:latin typeface="Calibri" panose="020F0502020204030204" pitchFamily="34" charset="0"/>
            </a:endParaRPr>
          </a:p>
        </p:txBody>
      </p:sp>
    </p:spTree>
    <p:extLst>
      <p:ext uri="{BB962C8B-B14F-4D97-AF65-F5344CB8AC3E}">
        <p14:creationId xmlns:p14="http://schemas.microsoft.com/office/powerpoint/2010/main" val="18276703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image" Target="../media/image1.png"/><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image" Target="../media/image2.jp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slideMaster" Target="../slideMasters/slideMaster1.xml"/><Relationship Id="rId5" Type="http://schemas.openxmlformats.org/officeDocument/2006/relationships/tags" Target="../tags/tag10.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23.xml"/><Relationship Id="rId3" Type="http://schemas.openxmlformats.org/officeDocument/2006/relationships/tags" Target="../tags/tag18.xml"/><Relationship Id="rId7" Type="http://schemas.openxmlformats.org/officeDocument/2006/relationships/tags" Target="../tags/tag22.xml"/><Relationship Id="rId12" Type="http://schemas.openxmlformats.org/officeDocument/2006/relationships/image" Target="../media/image1.pn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tags" Target="../tags/tag21.xml"/><Relationship Id="rId11" Type="http://schemas.openxmlformats.org/officeDocument/2006/relationships/image" Target="../media/image3.jpg"/><Relationship Id="rId5" Type="http://schemas.openxmlformats.org/officeDocument/2006/relationships/tags" Target="../tags/tag20.xml"/><Relationship Id="rId10" Type="http://schemas.openxmlformats.org/officeDocument/2006/relationships/slideMaster" Target="../slideMasters/slideMaster1.xml"/><Relationship Id="rId4" Type="http://schemas.openxmlformats.org/officeDocument/2006/relationships/tags" Target="../tags/tag19.xml"/><Relationship Id="rId9" Type="http://schemas.openxmlformats.org/officeDocument/2006/relationships/tags" Target="../tags/tag24.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3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image" Target="../media/image1.png"/><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slideMaster" Target="../slideMasters/slideMaster1.xml"/><Relationship Id="rId5" Type="http://schemas.openxmlformats.org/officeDocument/2006/relationships/tags" Target="../tags/tag29.xml"/><Relationship Id="rId10" Type="http://schemas.openxmlformats.org/officeDocument/2006/relationships/tags" Target="../tags/tag34.xml"/><Relationship Id="rId4" Type="http://schemas.openxmlformats.org/officeDocument/2006/relationships/tags" Target="../tags/tag28.xml"/><Relationship Id="rId9" Type="http://schemas.openxmlformats.org/officeDocument/2006/relationships/tags" Target="../tags/tag33.xml"/></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42.xml"/><Relationship Id="rId13" Type="http://schemas.openxmlformats.org/officeDocument/2006/relationships/tags" Target="../tags/tag47.xml"/><Relationship Id="rId3" Type="http://schemas.openxmlformats.org/officeDocument/2006/relationships/tags" Target="../tags/tag37.xml"/><Relationship Id="rId7" Type="http://schemas.openxmlformats.org/officeDocument/2006/relationships/tags" Target="../tags/tag41.xml"/><Relationship Id="rId12" Type="http://schemas.openxmlformats.org/officeDocument/2006/relationships/tags" Target="../tags/tag46.xml"/><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tags" Target="../tags/tag40.xml"/><Relationship Id="rId11" Type="http://schemas.openxmlformats.org/officeDocument/2006/relationships/tags" Target="../tags/tag45.xml"/><Relationship Id="rId5" Type="http://schemas.openxmlformats.org/officeDocument/2006/relationships/tags" Target="../tags/tag39.xml"/><Relationship Id="rId10" Type="http://schemas.openxmlformats.org/officeDocument/2006/relationships/tags" Target="../tags/tag44.xml"/><Relationship Id="rId4" Type="http://schemas.openxmlformats.org/officeDocument/2006/relationships/tags" Target="../tags/tag38.xml"/><Relationship Id="rId9" Type="http://schemas.openxmlformats.org/officeDocument/2006/relationships/tags" Target="../tags/tag43.xml"/><Relationship Id="rId1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55.xml"/><Relationship Id="rId13" Type="http://schemas.openxmlformats.org/officeDocument/2006/relationships/tags" Target="../tags/tag60.xml"/><Relationship Id="rId3" Type="http://schemas.openxmlformats.org/officeDocument/2006/relationships/tags" Target="../tags/tag50.xml"/><Relationship Id="rId7" Type="http://schemas.openxmlformats.org/officeDocument/2006/relationships/tags" Target="../tags/tag54.xml"/><Relationship Id="rId12" Type="http://schemas.openxmlformats.org/officeDocument/2006/relationships/tags" Target="../tags/tag59.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tags" Target="../tags/tag53.xml"/><Relationship Id="rId11" Type="http://schemas.openxmlformats.org/officeDocument/2006/relationships/tags" Target="../tags/tag58.xml"/><Relationship Id="rId5" Type="http://schemas.openxmlformats.org/officeDocument/2006/relationships/tags" Target="../tags/tag52.xml"/><Relationship Id="rId10" Type="http://schemas.openxmlformats.org/officeDocument/2006/relationships/tags" Target="../tags/tag57.xml"/><Relationship Id="rId4" Type="http://schemas.openxmlformats.org/officeDocument/2006/relationships/tags" Target="../tags/tag51.xml"/><Relationship Id="rId9" Type="http://schemas.openxmlformats.org/officeDocument/2006/relationships/tags" Target="../tags/tag56.xml"/><Relationship Id="rId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tags" Target="../tags/tag63.xml"/><Relationship Id="rId2" Type="http://schemas.openxmlformats.org/officeDocument/2006/relationships/tags" Target="../tags/tag62.xml"/><Relationship Id="rId1" Type="http://schemas.openxmlformats.org/officeDocument/2006/relationships/tags" Target="../tags/tag61.xml"/><Relationship Id="rId6" Type="http://schemas.openxmlformats.org/officeDocument/2006/relationships/slideMaster" Target="../slideMasters/slideMaster1.xml"/><Relationship Id="rId5" Type="http://schemas.openxmlformats.org/officeDocument/2006/relationships/tags" Target="../tags/tag65.xml"/><Relationship Id="rId4" Type="http://schemas.openxmlformats.org/officeDocument/2006/relationships/tags" Target="../tags/tag64.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68.xml"/><Relationship Id="rId7" Type="http://schemas.openxmlformats.org/officeDocument/2006/relationships/image" Target="../media/image1.png"/><Relationship Id="rId2" Type="http://schemas.openxmlformats.org/officeDocument/2006/relationships/tags" Target="../tags/tag67.xml"/><Relationship Id="rId1" Type="http://schemas.openxmlformats.org/officeDocument/2006/relationships/tags" Target="../tags/tag66.xml"/><Relationship Id="rId6" Type="http://schemas.openxmlformats.org/officeDocument/2006/relationships/slideMaster" Target="../slideMasters/slideMaster1.xml"/><Relationship Id="rId5" Type="http://schemas.openxmlformats.org/officeDocument/2006/relationships/tags" Target="../tags/tag70.xml"/><Relationship Id="rId4" Type="http://schemas.openxmlformats.org/officeDocument/2006/relationships/tags" Target="../tags/tag6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2"/>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hidden="1">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10" name="empower_classification_placeholder">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85641673"/>
      </p:ext>
    </p:extLst>
  </p:cSld>
  <p:clrMapOvr>
    <a:masterClrMapping/>
  </p:clrMapOvr>
  <p:hf hdr="0" dt="0"/>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1"/>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9" name="empower_classification_placeholder">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userDrawn="1">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3805020276"/>
      </p:ext>
    </p:extLst>
  </p:cSld>
  <p:clrMapOvr>
    <a:masterClrMapping/>
  </p:clrMapOvr>
  <p:hf hdr="0" dt="0"/>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hidden="1">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9" name="empower_classification_placeholder">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Public</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userDrawn="1">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587259754"/>
      </p:ext>
    </p:extLst>
  </p:cSld>
  <p:clrMapOvr>
    <a:masterClrMapping/>
  </p:clrMapOvr>
  <p:hf hdr="0" dt="0"/>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empower_additionalText_placeholder">
            <a:extLst>
              <a:ext uri="{FF2B5EF4-FFF2-40B4-BE49-F238E27FC236}">
                <a16:creationId xmlns:a16="http://schemas.microsoft.com/office/drawing/2014/main" id="{93F7048C-8316-453D-8883-8716B78B0306}"/>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r>
              <a:rPr lang="en-US" b="0" baseline="0" noProof="0">
                <a:solidFill>
                  <a:schemeClr val="tx1"/>
                </a:solidFill>
                <a:latin typeface="+mn-lt"/>
                <a:ea typeface="+mn-ea"/>
                <a:cs typeface="+mn-cs"/>
              </a:rPr>
              <a:t>                                                                                                                                                                                                                                         002-42402 Rev.*A</a:t>
            </a:r>
            <a:endParaRPr lang="en-US" b="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19AD8A63-6441-49F3-BD90-8D4DF9E47EE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7EE7D08-6A4F-4583-B0FB-2642238529C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BBB3932D-D47B-4955-93EE-467AC52E4E27}"/>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6" name="empower_footer_placeholder">
            <a:extLst>
              <a:ext uri="{FF2B5EF4-FFF2-40B4-BE49-F238E27FC236}">
                <a16:creationId xmlns:a16="http://schemas.microsoft.com/office/drawing/2014/main" id="{BB857729-3B9C-45BF-8F44-236D56EED406}"/>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Copyright © Infineon Technologies AG 2026. All rights reserved.</a:t>
            </a:r>
          </a:p>
        </p:txBody>
      </p:sp>
      <p:sp>
        <p:nvSpPr>
          <p:cNvPr id="18" name="empower_classification_attention_placeholder" hidden="1">
            <a:extLst>
              <a:ext uri="{FF2B5EF4-FFF2-40B4-BE49-F238E27FC236}">
                <a16:creationId xmlns:a16="http://schemas.microsoft.com/office/drawing/2014/main" id="{ED12D396-6789-4220-B5FF-8F4E755A3C76}"/>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Public</a:t>
            </a:r>
            <a:endParaRPr lang="en-US" sz="800" b="1" kern="0" baseline="0" noProof="0" dirty="0">
              <a:solidFill>
                <a:schemeClr val="tx2"/>
              </a:solidFill>
              <a:latin typeface="+mn-lt"/>
              <a:ea typeface="+mn-ea"/>
              <a:cs typeface="+mn-cs"/>
            </a:endParaRPr>
          </a:p>
        </p:txBody>
      </p:sp>
      <p:sp>
        <p:nvSpPr>
          <p:cNvPr id="20" name="empower_classification_placeholder">
            <a:extLst>
              <a:ext uri="{FF2B5EF4-FFF2-40B4-BE49-F238E27FC236}">
                <a16:creationId xmlns:a16="http://schemas.microsoft.com/office/drawing/2014/main" id="{37C1E426-F34B-4FFB-A688-C9E251A8BC0B}"/>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Public</a:t>
            </a:r>
            <a:endParaRPr lang="en-US" sz="800" b="1" kern="0" baseline="0" noProof="0" dirty="0">
              <a:solidFill>
                <a:schemeClr val="tx1"/>
              </a:solidFill>
              <a:latin typeface="+mn-lt"/>
              <a:ea typeface="+mn-ea"/>
              <a:cs typeface="+mn-cs"/>
            </a:endParaRPr>
          </a:p>
        </p:txBody>
      </p:sp>
      <p:sp>
        <p:nvSpPr>
          <p:cNvPr id="22" name="empower_date_placeholder">
            <a:extLst>
              <a:ext uri="{FF2B5EF4-FFF2-40B4-BE49-F238E27FC236}">
                <a16:creationId xmlns:a16="http://schemas.microsoft.com/office/drawing/2014/main" id="{6976A686-032A-4DD8-ACB2-F6323D2BEB1D}"/>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2026-03-15</a:t>
            </a:r>
            <a:endParaRPr lang="en-US" sz="800" kern="0" baseline="0" noProof="0" dirty="0">
              <a:solidFill>
                <a:schemeClr val="tx1"/>
              </a:solidFill>
              <a:latin typeface="+mn-lt"/>
              <a:ea typeface="+mn-ea"/>
              <a:cs typeface="+mn-cs"/>
            </a:endParaRPr>
          </a:p>
        </p:txBody>
      </p:sp>
      <p:sp>
        <p:nvSpPr>
          <p:cNvPr id="6" name="Title">
            <a:extLst>
              <a:ext uri="{FF2B5EF4-FFF2-40B4-BE49-F238E27FC236}">
                <a16:creationId xmlns:a16="http://schemas.microsoft.com/office/drawing/2014/main" id="{4807386D-5007-41B0-8720-8A575EEBAF4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F5FE3C92-21D9-4EC7-8208-A5BA097E9D7D}"/>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D1F9AA12-4C8C-4488-AF38-E06943B19AAF}"/>
              </a:ext>
            </a:extLst>
          </p:cNvPr>
          <p:cNvSpPr>
            <a:spLocks noGrp="1"/>
          </p:cNvSpPr>
          <p:nvPr>
            <p:ph type="dt" sz="half" idx="10"/>
            <p:custDataLst>
              <p:tags r:id="rId10"/>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971F8BAB-E178-4122-ADFD-FE4894CC864F}"/>
              </a:ext>
            </a:extLst>
          </p:cNvPr>
          <p:cNvSpPr>
            <a:spLocks noGrp="1"/>
          </p:cNvSpPr>
          <p:nvPr>
            <p:ph type="ftr" sz="quarter" idx="11"/>
            <p:custDataLst>
              <p:tags r:id="rId11"/>
            </p:custDataLst>
          </p:nvPr>
        </p:nvSpPr>
        <p:spPr/>
        <p:txBody>
          <a:bodyPr/>
          <a:lstStyle/>
          <a:p>
            <a:endParaRPr lang="en-US" dirty="0"/>
          </a:p>
        </p:txBody>
      </p:sp>
      <p:sp>
        <p:nvSpPr>
          <p:cNvPr id="11" name="Slide Number Placeholder 10" hidden="1">
            <a:extLst>
              <a:ext uri="{FF2B5EF4-FFF2-40B4-BE49-F238E27FC236}">
                <a16:creationId xmlns:a16="http://schemas.microsoft.com/office/drawing/2014/main" id="{F4BB077B-5178-4306-A596-17CDBFA21A56}"/>
              </a:ext>
            </a:extLst>
          </p:cNvPr>
          <p:cNvSpPr>
            <a:spLocks noGrp="1"/>
          </p:cNvSpPr>
          <p:nvPr>
            <p:ph type="sldNum" sz="quarter" idx="12"/>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D23B78-ED4D-4135-B16E-F5097554D30C}"/>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92117053"/>
      </p:ext>
    </p:extLst>
  </p:cSld>
  <p:clrMapOvr>
    <a:masterClrMapping/>
  </p:clrMapOvr>
  <p:hf hdr="0" dt="0"/>
  <p:extLst>
    <p:ext uri="{DCECCB84-F9BA-43D5-87BE-67443E8EF086}">
      <p15:sldGuideLst xmlns:p15="http://schemas.microsoft.com/office/powerpoint/2012/main">
        <p15:guide id="2" orient="horz" pos="4020">
          <p15:clr>
            <a:srgbClr val="FBAE40"/>
          </p15:clr>
        </p15:guide>
        <p15:guide id="3" pos="7469">
          <p15:clr>
            <a:srgbClr val="FBAE40"/>
          </p15:clr>
        </p15:guide>
        <p15:guide id="4" pos="211">
          <p15:clr>
            <a:srgbClr val="FBAE40"/>
          </p15:clr>
        </p15:guide>
        <p15:guide id="15" orient="horz" pos="79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 content">
    <p:spTree>
      <p:nvGrpSpPr>
        <p:cNvPr id="1" name=""/>
        <p:cNvGrpSpPr/>
        <p:nvPr/>
      </p:nvGrpSpPr>
      <p:grpSpPr>
        <a:xfrm>
          <a:off x="0" y="0"/>
          <a:ext cx="0" cy="0"/>
          <a:chOff x="0" y="0"/>
          <a:chExt cx="0" cy="0"/>
        </a:xfrm>
      </p:grpSpPr>
      <p:sp>
        <p:nvSpPr>
          <p:cNvPr id="8" name="empower_additionalText_placeholder">
            <a:extLst>
              <a:ext uri="{FF2B5EF4-FFF2-40B4-BE49-F238E27FC236}">
                <a16:creationId xmlns:a16="http://schemas.microsoft.com/office/drawing/2014/main" id="{9D9C4037-B0BC-4E62-B476-A41D0440655D}"/>
              </a:ext>
            </a:extLst>
          </p:cNvPr>
          <p:cNvSpPr txBox="1">
            <a:spLocks/>
          </p:cNvSpPr>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r>
              <a:rPr lang="en-US" b="0" noProof="0">
                <a:solidFill>
                  <a:schemeClr val="tx1"/>
                </a:solidFill>
                <a:latin typeface="+mn-lt"/>
                <a:ea typeface="+mn-ea"/>
                <a:cs typeface="+mn-cs"/>
              </a:rPr>
              <a:t>                                                                                                                                                                                                                                         002-42402 Rev.*A</a:t>
            </a:r>
            <a:endParaRPr lang="en-US" b="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BEA6DD0-FBBB-494B-9C03-C447E71492A5}"/>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3" name="empower_proprietary_placeholder" hidden="1">
            <a:extLst>
              <a:ext uri="{FF2B5EF4-FFF2-40B4-BE49-F238E27FC236}">
                <a16:creationId xmlns:a16="http://schemas.microsoft.com/office/drawing/2014/main" id="{295E96AB-B6AB-4A8B-A097-6438B2DA5C51}"/>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5" name="empower_draft_placeholder" hidden="1">
            <a:extLst>
              <a:ext uri="{FF2B5EF4-FFF2-40B4-BE49-F238E27FC236}">
                <a16:creationId xmlns:a16="http://schemas.microsoft.com/office/drawing/2014/main" id="{0B3EC6CF-5868-40BD-BF1B-882B13F49F5C}"/>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7" name="empower_footer_placeholder">
            <a:extLst>
              <a:ext uri="{FF2B5EF4-FFF2-40B4-BE49-F238E27FC236}">
                <a16:creationId xmlns:a16="http://schemas.microsoft.com/office/drawing/2014/main" id="{FE09BAC5-F3BC-4C51-A794-098F4099C052}"/>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2026. All rights reserved.</a:t>
            </a:r>
          </a:p>
        </p:txBody>
      </p:sp>
      <p:sp>
        <p:nvSpPr>
          <p:cNvPr id="19" name="empower_classification_attention_placeholder" hidden="1">
            <a:extLst>
              <a:ext uri="{FF2B5EF4-FFF2-40B4-BE49-F238E27FC236}">
                <a16:creationId xmlns:a16="http://schemas.microsoft.com/office/drawing/2014/main" id="{E695FB18-B641-433F-A03A-D58B93F377B4}"/>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Public</a:t>
            </a:r>
            <a:endParaRPr lang="en-US" sz="800" b="1" kern="0" noProof="0" dirty="0">
              <a:solidFill>
                <a:schemeClr val="tx2"/>
              </a:solidFill>
              <a:latin typeface="+mn-lt"/>
              <a:ea typeface="+mn-ea"/>
              <a:cs typeface="+mn-cs"/>
            </a:endParaRPr>
          </a:p>
        </p:txBody>
      </p:sp>
      <p:sp>
        <p:nvSpPr>
          <p:cNvPr id="21" name="empower_classification_placeholder">
            <a:extLst>
              <a:ext uri="{FF2B5EF4-FFF2-40B4-BE49-F238E27FC236}">
                <a16:creationId xmlns:a16="http://schemas.microsoft.com/office/drawing/2014/main" id="{6F76DDB4-3F8E-4A82-B473-4784C9B20BC1}"/>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Public</a:t>
            </a:r>
            <a:endParaRPr lang="en-US" sz="800" b="1" kern="0" noProof="0" dirty="0">
              <a:solidFill>
                <a:schemeClr val="tx1"/>
              </a:solidFill>
              <a:latin typeface="+mn-lt"/>
              <a:ea typeface="+mn-ea"/>
              <a:cs typeface="+mn-cs"/>
            </a:endParaRPr>
          </a:p>
        </p:txBody>
      </p:sp>
      <p:sp>
        <p:nvSpPr>
          <p:cNvPr id="23" name="empower_date_placeholder">
            <a:extLst>
              <a:ext uri="{FF2B5EF4-FFF2-40B4-BE49-F238E27FC236}">
                <a16:creationId xmlns:a16="http://schemas.microsoft.com/office/drawing/2014/main" id="{2C326E6F-F54B-4E77-BCF5-73E6B02466B0}"/>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2026-03-15</a:t>
            </a:r>
            <a:endParaRPr lang="en-US" sz="800" kern="0" noProof="0" dirty="0">
              <a:solidFill>
                <a:schemeClr val="tx1"/>
              </a:solidFill>
              <a:latin typeface="+mn-lt"/>
              <a:ea typeface="+mn-ea"/>
              <a:cs typeface="+mn-cs"/>
            </a:endParaRPr>
          </a:p>
        </p:txBody>
      </p:sp>
      <p:sp>
        <p:nvSpPr>
          <p:cNvPr id="7" name="Content"/>
          <p:cNvSpPr>
            <a:spLocks noGrp="1"/>
          </p:cNvSpPr>
          <p:nvPr>
            <p:ph sz="quarter" idx="13" hasCustomPrompt="1"/>
          </p:nvPr>
        </p:nvSpPr>
        <p:spPr>
          <a:xfrm>
            <a:off x="334800" y="1268414"/>
            <a:ext cx="11520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a:extLst>
              <a:ext uri="{FF2B5EF4-FFF2-40B4-BE49-F238E27FC236}">
                <a16:creationId xmlns:a16="http://schemas.microsoft.com/office/drawing/2014/main" id="{2209D2CA-FDE2-4B12-9D75-213CCFE3FA9C}"/>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9" name="LOGO PROTECTION" hidden="1">
            <a:extLst>
              <a:ext uri="{FF2B5EF4-FFF2-40B4-BE49-F238E27FC236}">
                <a16:creationId xmlns:a16="http://schemas.microsoft.com/office/drawing/2014/main" id="{DF1FB678-4F92-45E5-9B25-2B5FE93A0952}"/>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B8A1C3-E607-4E28-91A1-A973183FE78F}"/>
              </a:ext>
            </a:extLst>
          </p:cNvPr>
          <p:cNvSpPr>
            <a:spLocks noGrp="1"/>
          </p:cNvSpPr>
          <p:nvPr>
            <p:ph type="dt" sz="half" idx="14"/>
            <p:custDataLst>
              <p:tags r:id="rId10"/>
            </p:custDataLst>
          </p:nvPr>
        </p:nvSpPr>
        <p:spPr/>
        <p:txBody>
          <a:bodyPr/>
          <a:lstStyle/>
          <a:p>
            <a:endParaRPr lang="en-US" b="1" dirty="0"/>
          </a:p>
        </p:txBody>
      </p:sp>
      <p:sp>
        <p:nvSpPr>
          <p:cNvPr id="10" name="Footer Placeholder 9" hidden="1">
            <a:extLst>
              <a:ext uri="{FF2B5EF4-FFF2-40B4-BE49-F238E27FC236}">
                <a16:creationId xmlns:a16="http://schemas.microsoft.com/office/drawing/2014/main" id="{6B901E0B-D453-4CEB-8C35-51C25A27F89D}"/>
              </a:ext>
            </a:extLst>
          </p:cNvPr>
          <p:cNvSpPr>
            <a:spLocks noGrp="1"/>
          </p:cNvSpPr>
          <p:nvPr>
            <p:ph type="ftr" sz="quarter" idx="15"/>
            <p:custDataLst>
              <p:tags r:id="rId11"/>
            </p:custDataLst>
          </p:nvPr>
        </p:nvSpPr>
        <p:spPr/>
        <p:txBody>
          <a:bodyPr/>
          <a:lstStyle/>
          <a:p>
            <a:endParaRPr lang="en-US" dirty="0"/>
          </a:p>
        </p:txBody>
      </p:sp>
      <p:sp>
        <p:nvSpPr>
          <p:cNvPr id="12" name="Slide Number Placeholder 11" hidden="1">
            <a:extLst>
              <a:ext uri="{FF2B5EF4-FFF2-40B4-BE49-F238E27FC236}">
                <a16:creationId xmlns:a16="http://schemas.microsoft.com/office/drawing/2014/main" id="{212E0C1A-F772-4C8C-B2E7-03887DA46ED9}"/>
              </a:ext>
            </a:extLst>
          </p:cNvPr>
          <p:cNvSpPr>
            <a:spLocks noGrp="1"/>
          </p:cNvSpPr>
          <p:nvPr>
            <p:ph type="sldNum" sz="quarter" idx="16"/>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0BE19B5-FA3E-481C-ACF3-046C2AA8A91D}"/>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4012019780"/>
      </p:ext>
    </p:extLst>
  </p:cSld>
  <p:clrMapOvr>
    <a:masterClrMapping/>
  </p:clrMapOvr>
  <p:hf hdr="0" dt="0"/>
  <p:extLst>
    <p:ext uri="{DCECCB84-F9BA-43D5-87BE-67443E8EF086}">
      <p15:sldGuideLst xmlns:p15="http://schemas.microsoft.com/office/powerpoint/2012/main">
        <p15:guide id="1" pos="7469">
          <p15:clr>
            <a:srgbClr val="FBAE40"/>
          </p15:clr>
        </p15:guide>
        <p15:guide id="2" pos="211">
          <p15:clr>
            <a:srgbClr val="FBAE40"/>
          </p15:clr>
        </p15:guide>
        <p15:guide id="3" orient="horz" pos="799">
          <p15:clr>
            <a:srgbClr val="FBAE40"/>
          </p15:clr>
        </p15:guide>
        <p15:guide id="4" orient="horz" pos="402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1">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 name="Crystal Shape">
            <a:extLst>
              <a:ext uri="{FF2B5EF4-FFF2-40B4-BE49-F238E27FC236}">
                <a16:creationId xmlns:a16="http://schemas.microsoft.com/office/drawing/2014/main" id="{3FBBF7BF-BA7F-647C-39AB-CEDA0092AA91}"/>
              </a:ext>
            </a:extLst>
          </p:cNvPr>
          <p:cNvSpPr/>
          <p:nvPr userDrawn="1"/>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bg1"/>
                </a:solidFill>
                <a:latin typeface="+mj-lt"/>
                <a:ea typeface="+mj-ea"/>
                <a:cs typeface="+mj-cs"/>
              </a:defRPr>
            </a:lvl1pPr>
          </a:lstStyle>
          <a:p>
            <a:r>
              <a:rPr lang="en-US" noProof="0" dirty="0"/>
              <a:t>Click to enter Section</a:t>
            </a:r>
          </a:p>
        </p:txBody>
      </p:sp>
      <p:sp>
        <p:nvSpPr>
          <p:cNvPr id="5" name="LOGO PROTECTION" hidden="1">
            <a:extLst>
              <a:ext uri="{FF2B5EF4-FFF2-40B4-BE49-F238E27FC236}">
                <a16:creationId xmlns:a16="http://schemas.microsoft.com/office/drawing/2014/main" id="{D0048F1C-4756-47EC-8B66-DB56E576453D}"/>
              </a:ext>
            </a:extLst>
          </p:cNvPr>
          <p:cNvSpPr/>
          <p:nvPr>
            <p:custDataLst>
              <p:tags r:id="rId1"/>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2"/>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3"/>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4"/>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554E90-4FD5-45B2-A49A-214245B7F6D7}"/>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2900713720"/>
      </p:ext>
    </p:extLst>
  </p:cSld>
  <p:clrMapOvr>
    <a:masterClrMapping/>
  </p:clrMapOvr>
  <p:hf hdr="0" dt="0"/>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objOnly" preserve="1">
  <p:cSld name="Final">
    <p:spTree>
      <p:nvGrpSpPr>
        <p:cNvPr id="1" name=""/>
        <p:cNvGrpSpPr/>
        <p:nvPr/>
      </p:nvGrpSpPr>
      <p:grpSpPr>
        <a:xfrm>
          <a:off x="0" y="0"/>
          <a:ext cx="0" cy="0"/>
          <a:chOff x="0" y="0"/>
          <a:chExt cx="0" cy="0"/>
        </a:xfrm>
      </p:grpSpPr>
      <p:sp>
        <p:nvSpPr>
          <p:cNvPr id="10" name="Background White">
            <a:extLst>
              <a:ext uri="{FF2B5EF4-FFF2-40B4-BE49-F238E27FC236}">
                <a16:creationId xmlns:a16="http://schemas.microsoft.com/office/drawing/2014/main" id="{8739B1C3-A1A6-48E1-B2C4-F4CE3C824436}"/>
              </a:ext>
            </a:extLst>
          </p:cNvPr>
          <p:cNvSpPr/>
          <p:nvPr/>
        </p:nvSpPr>
        <p:spPr bwMode="auto">
          <a:xfrm>
            <a:off x="0" y="0"/>
            <a:ext cx="12192000" cy="6858000"/>
          </a:xfrm>
          <a:prstGeom prst="rect">
            <a:avLst/>
          </a:prstGeom>
          <a:solidFill>
            <a:schemeClr val="bg1"/>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LOGO PROTECTION" hidden="1">
            <a:extLst>
              <a:ext uri="{FF2B5EF4-FFF2-40B4-BE49-F238E27FC236}">
                <a16:creationId xmlns:a16="http://schemas.microsoft.com/office/drawing/2014/main" id="{8182E335-5A52-4E3C-BCEC-9507D81BA511}"/>
              </a:ext>
            </a:extLst>
          </p:cNvPr>
          <p:cNvSpPr/>
          <p:nvPr>
            <p:custDataLst>
              <p:tags r:id="rId1"/>
            </p:custDataLst>
          </p:nvPr>
        </p:nvSpPr>
        <p:spPr bwMode="auto">
          <a:xfrm>
            <a:off x="2927650" y="1920766"/>
            <a:ext cx="6336702" cy="3088476"/>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6" name="MIO_AGENDA_LAST_SLIDE" hidden="1">
            <a:extLst>
              <a:ext uri="{FF2B5EF4-FFF2-40B4-BE49-F238E27FC236}">
                <a16:creationId xmlns:a16="http://schemas.microsoft.com/office/drawing/2014/main" id="{45591D6F-6D52-44E5-B3AA-2575CCD4520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2" name="MIO_AGENDA_IGNORE_NAVIGATION" hidden="1">
            <a:extLst>
              <a:ext uri="{FF2B5EF4-FFF2-40B4-BE49-F238E27FC236}">
                <a16:creationId xmlns:a16="http://schemas.microsoft.com/office/drawing/2014/main" id="{C7038F66-C11F-4566-ADAF-A099AF95755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3" name="MIO_AGENDA_IGNORE_CHAPTER_REFERENCE" hidden="1">
            <a:extLst>
              <a:ext uri="{FF2B5EF4-FFF2-40B4-BE49-F238E27FC236}">
                <a16:creationId xmlns:a16="http://schemas.microsoft.com/office/drawing/2014/main" id="{E0318986-8EA2-446A-AFF2-E8441C3AF8A6}"/>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8" name="Date Placeholder 7" hidden="1">
            <a:extLst>
              <a:ext uri="{FF2B5EF4-FFF2-40B4-BE49-F238E27FC236}">
                <a16:creationId xmlns:a16="http://schemas.microsoft.com/office/drawing/2014/main" id="{087EFA22-3F6E-4210-A8FC-0864CD1DE4EF}"/>
              </a:ext>
            </a:extLst>
          </p:cNvPr>
          <p:cNvSpPr>
            <a:spLocks noGrp="1"/>
          </p:cNvSpPr>
          <p:nvPr>
            <p:ph type="dt" sz="half" idx="10"/>
            <p:custDataLst>
              <p:tags r:id="rId2"/>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BDF262C8-30D5-474A-BD81-CA14ACCE51B5}"/>
              </a:ext>
            </a:extLst>
          </p:cNvPr>
          <p:cNvSpPr>
            <a:spLocks noGrp="1"/>
          </p:cNvSpPr>
          <p:nvPr>
            <p:ph type="ftr" sz="quarter" idx="11"/>
            <p:custDataLst>
              <p:tags r:id="rId3"/>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3F1C5DF9-A781-4661-8C3B-816A398ADFDD}"/>
              </a:ext>
            </a:extLst>
          </p:cNvPr>
          <p:cNvSpPr>
            <a:spLocks noGrp="1"/>
          </p:cNvSpPr>
          <p:nvPr>
            <p:ph type="sldNum" sz="quarter" idx="12"/>
            <p:custDataLst>
              <p:tags r:id="rId4"/>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77B07280-C452-41A8-A8A7-B816EB9C3C9E}"/>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4" name="LOGO">
            <a:extLst>
              <a:ext uri="{FF2B5EF4-FFF2-40B4-BE49-F238E27FC236}">
                <a16:creationId xmlns:a16="http://schemas.microsoft.com/office/drawing/2014/main" id="{1D664F82-C381-42D9-B168-31F6D4282D28}"/>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Tree>
    <p:extLst>
      <p:ext uri="{BB962C8B-B14F-4D97-AF65-F5344CB8AC3E}">
        <p14:creationId xmlns:p14="http://schemas.microsoft.com/office/powerpoint/2010/main" val="841304894"/>
      </p:ext>
    </p:extLst>
  </p:cSld>
  <p:clrMapOvr>
    <a:masterClrMapping/>
  </p:clrMapOvr>
  <p:hf hdr="0" dt="0"/>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5.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4.xml"/><Relationship Id="rId5" Type="http://schemas.openxmlformats.org/officeDocument/2006/relationships/slideLayout" Target="../slideLayouts/slideLayout5.xml"/><Relationship Id="rId10" Type="http://schemas.openxmlformats.org/officeDocument/2006/relationships/tags" Target="../tags/tag3.xml"/><Relationship Id="rId4" Type="http://schemas.openxmlformats.org/officeDocument/2006/relationships/slideLayout" Target="../slideLayouts/slideLayout4.xml"/><Relationship Id="rId9" Type="http://schemas.openxmlformats.org/officeDocument/2006/relationships/tags" Target="../tags/tag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5" name="Slide Number Placeholder" hidden="1">
            <a:extLst>
              <a:ext uri="{FF2B5EF4-FFF2-40B4-BE49-F238E27FC236}">
                <a16:creationId xmlns:a16="http://schemas.microsoft.com/office/drawing/2014/main" id="{372AE43B-8F10-43C8-8785-1E1CB85CFADE}"/>
              </a:ext>
            </a:extLst>
          </p:cNvPr>
          <p:cNvSpPr>
            <a:spLocks noGrp="1"/>
          </p:cNvSpPr>
          <p:nvPr>
            <p:ph type="sldNum" sz="quarter" idx="4"/>
            <p:custDataLst>
              <p:tags r:id="rId9"/>
            </p:custDataLst>
          </p:nvPr>
        </p:nvSpPr>
        <p:spPr>
          <a:xfrm>
            <a:off x="12192000" y="6858000"/>
            <a:ext cx="0" cy="0"/>
          </a:xfrm>
          <a:prstGeom prst="rect">
            <a:avLst/>
          </a:prstGeom>
        </p:spPr>
        <p:txBody>
          <a:bodyPr vert="horz" wrap="none" lIns="0" tIns="0" rIns="0" bIns="0" rtlCol="0" anchor="b">
            <a:noAutofit/>
          </a:bodyPr>
          <a:lstStyle>
            <a:lvl1pPr algn="r" fontAlgn="t">
              <a:buClr>
                <a:srgbClr val="928285"/>
              </a:buClr>
              <a:defRPr sz="100" b="0">
                <a:noFill/>
                <a:latin typeface="+mn-lt"/>
                <a:ea typeface="+mn-ea"/>
                <a:cs typeface="+mn-cs"/>
              </a:defRPr>
            </a:lvl1pPr>
          </a:lstStyle>
          <a:p>
            <a:r>
              <a:rPr lang="en-US"/>
              <a:t> </a:t>
            </a:r>
            <a:endParaRPr lang="en-US" dirty="0"/>
          </a:p>
        </p:txBody>
      </p:sp>
      <p:sp>
        <p:nvSpPr>
          <p:cNvPr id="7" name="Footer Placeholder" hidden="1">
            <a:extLst>
              <a:ext uri="{FF2B5EF4-FFF2-40B4-BE49-F238E27FC236}">
                <a16:creationId xmlns:a16="http://schemas.microsoft.com/office/drawing/2014/main" id="{4D268FD3-4056-49DC-8C79-D4C201EED65B}"/>
              </a:ext>
            </a:extLst>
          </p:cNvPr>
          <p:cNvSpPr>
            <a:spLocks noGrp="1"/>
          </p:cNvSpPr>
          <p:nvPr>
            <p:ph type="ftr" sz="quarter" idx="3"/>
            <p:custDataLst>
              <p:tags r:id="rId10"/>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dirty="0"/>
          </a:p>
        </p:txBody>
      </p:sp>
      <p:sp>
        <p:nvSpPr>
          <p:cNvPr id="6" name="Date Placeholder" hidden="1">
            <a:extLst>
              <a:ext uri="{FF2B5EF4-FFF2-40B4-BE49-F238E27FC236}">
                <a16:creationId xmlns:a16="http://schemas.microsoft.com/office/drawing/2014/main" id="{59032602-9911-40B1-9BF6-AFD731868C06}"/>
              </a:ext>
            </a:extLst>
          </p:cNvPr>
          <p:cNvSpPr>
            <a:spLocks noGrp="1"/>
          </p:cNvSpPr>
          <p:nvPr>
            <p:ph type="dt" sz="half" idx="2"/>
            <p:custDataLst>
              <p:tags r:id="rId11"/>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b="1" dirty="0"/>
          </a:p>
        </p:txBody>
      </p:sp>
      <p:sp>
        <p:nvSpPr>
          <p:cNvPr id="15" name="Title"/>
          <p:cNvSpPr>
            <a:spLocks noGrp="1"/>
          </p:cNvSpPr>
          <p:nvPr>
            <p:ph type="title"/>
          </p:nvPr>
        </p:nvSpPr>
        <p:spPr>
          <a:xfrm>
            <a:off x="335360" y="188720"/>
            <a:ext cx="9613068" cy="720000"/>
          </a:xfrm>
          <a:prstGeom prst="rect">
            <a:avLst/>
          </a:prstGeom>
        </p:spPr>
        <p:txBody>
          <a:bodyPr vert="horz" lIns="0" tIns="0" rIns="0" bIns="10800" rtlCol="0" anchor="b" anchorCtr="0">
            <a:noAutofit/>
          </a:bodyPr>
          <a:lstStyle/>
          <a:p>
            <a:r>
              <a:rPr lang="en-US" noProof="0" dirty="0"/>
              <a:t>Click to edit title</a:t>
            </a:r>
          </a:p>
        </p:txBody>
      </p:sp>
      <p:sp>
        <p:nvSpPr>
          <p:cNvPr id="16" name="Content"/>
          <p:cNvSpPr>
            <a:spLocks noGrp="1"/>
          </p:cNvSpPr>
          <p:nvPr>
            <p:ph type="body" idx="1"/>
          </p:nvPr>
        </p:nvSpPr>
        <p:spPr>
          <a:xfrm>
            <a:off x="334434" y="1268414"/>
            <a:ext cx="11521017" cy="5113337"/>
          </a:xfrm>
          <a:prstGeom prst="rect">
            <a:avLst/>
          </a:prstGeom>
        </p:spPr>
        <p:txBody>
          <a:bodyPr vert="horz" lIns="0" tIns="0" rIns="0" bIns="0" rtlCol="0">
            <a:noAutofit/>
          </a:body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3" name="empower - DO NOT DELETE!!!" hidden="1"/>
          <p:cNvSpPr/>
          <p:nvPr>
            <p:custDataLst>
              <p:tags r:id="rId12"/>
            </p:custDataLst>
          </p:nvPr>
        </p:nvSpPr>
        <p:spPr bwMode="auto">
          <a:xfrm>
            <a:off x="0" y="0"/>
            <a:ext cx="0" cy="0"/>
          </a:xfrm>
          <a:prstGeom prst="ellipse">
            <a:avLst/>
          </a:prstGeom>
          <a:solidFill>
            <a:schemeClr val="accent4"/>
          </a:solidFill>
          <a:ln w="9525">
            <a:noFill/>
            <a:miter lim="800000"/>
            <a:headEnd/>
            <a:tailEnd/>
          </a:ln>
        </p:spPr>
        <p:txBody>
          <a:bodyPr wrap="square" lIns="72000" tIns="72000" rIns="72000" bIns="72000" rtlCol="0" anchor="ctr"/>
          <a:lstStyle/>
          <a:p>
            <a:pPr lvl="0" algn="ctr" eaLnBrk="0" hangingPunct="0"/>
            <a:endParaRPr lang="en-US" sz="1600" baseline="0" noProof="0" dirty="0">
              <a:latin typeface="+mn-lt"/>
              <a:ea typeface="+mn-ea"/>
              <a:cs typeface="+mn-cs"/>
            </a:endParaRPr>
          </a:p>
        </p:txBody>
      </p:sp>
      <p:sp>
        <p:nvSpPr>
          <p:cNvPr id="4" name="Fixed Page Placeholder">
            <a:extLst>
              <a:ext uri="{FF2B5EF4-FFF2-40B4-BE49-F238E27FC236}">
                <a16:creationId xmlns:a16="http://schemas.microsoft.com/office/drawing/2014/main" id="{E361B9A9-2219-4F44-982D-701D7F2A6185}"/>
              </a:ext>
            </a:extLst>
          </p:cNvPr>
          <p:cNvSpPr txBox="1"/>
          <p:nvPr/>
        </p:nvSpPr>
        <p:spPr bwMode="auto">
          <a:xfrm>
            <a:off x="11471403" y="6489341"/>
            <a:ext cx="384048" cy="361460"/>
          </a:xfrm>
          <a:prstGeom prst="rect">
            <a:avLst/>
          </a:prstGeom>
          <a:noFill/>
          <a:ln w="9525">
            <a:noFill/>
            <a:miter lim="800000"/>
            <a:headEnd/>
            <a:tailEnd/>
          </a:ln>
          <a:effectLst/>
        </p:spPr>
        <p:txBody>
          <a:bodyPr wrap="square" lIns="0" tIns="0" rIns="0" bIns="0" rtlCol="0" anchor="ctr" anchorCtr="0">
            <a:noAutofit/>
          </a:bodyPr>
          <a:lstStyle/>
          <a:p>
            <a:pPr marL="0" marR="0" indent="0" algn="r" defTabSz="576000" eaLnBrk="0" fontAlgn="auto" latinLnBrk="0" hangingPunct="0">
              <a:spcBef>
                <a:spcPts val="0"/>
              </a:spcBef>
              <a:spcAft>
                <a:spcPts val="0"/>
              </a:spcAft>
              <a:buClr>
                <a:schemeClr val="accent1"/>
              </a:buClr>
              <a:buSzTx/>
              <a:buFontTx/>
              <a:buNone/>
              <a:tabLst/>
            </a:pPr>
            <a:fld id="{AE05A9AF-4D70-4052-9354-7E4D957B036D}" type="slidenum">
              <a:rPr lang="de-DE" sz="800" b="1" kern="0" baseline="0">
                <a:solidFill>
                  <a:schemeClr val="tx1"/>
                </a:solidFill>
                <a:latin typeface="+mn-lt"/>
                <a:ea typeface="+mn-ea"/>
                <a:cs typeface="+mn-cs"/>
              </a:rPr>
              <a:pPr marL="0" marR="0" indent="0" algn="r" defTabSz="576000" eaLnBrk="0" fontAlgn="auto" latinLnBrk="0" hangingPunct="0">
                <a:spcBef>
                  <a:spcPts val="0"/>
                </a:spcBef>
                <a:spcAft>
                  <a:spcPts val="0"/>
                </a:spcAft>
                <a:buClr>
                  <a:schemeClr val="accent1"/>
                </a:buClr>
                <a:buSzTx/>
                <a:buFontTx/>
                <a:buNone/>
                <a:tabLst/>
              </a:pPr>
              <a:t>‹#›</a:t>
            </a:fld>
            <a:endParaRPr lang="de-DE" sz="800" b="1" kern="0" baseline="0" dirty="0">
              <a:solidFill>
                <a:schemeClr val="tx1"/>
              </a:solidFill>
              <a:latin typeface="+mn-lt"/>
              <a:ea typeface="+mn-ea"/>
              <a:cs typeface="+mn-cs"/>
            </a:endParaRPr>
          </a:p>
        </p:txBody>
      </p:sp>
      <p:pic>
        <p:nvPicPr>
          <p:cNvPr id="10" name="LOGO">
            <a:extLst>
              <a:ext uri="{FF2B5EF4-FFF2-40B4-BE49-F238E27FC236}">
                <a16:creationId xmlns:a16="http://schemas.microsoft.com/office/drawing/2014/main" id="{F0C8D1F1-BA28-4973-A394-021D3C969BE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904786999"/>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81" r:id="rId3"/>
    <p:sldLayoutId id="2147483782" r:id="rId4"/>
    <p:sldLayoutId id="2147483783" r:id="rId5"/>
    <p:sldLayoutId id="2147483785" r:id="rId6"/>
    <p:sldLayoutId id="2147483796" r:id="rId7"/>
  </p:sldLayoutIdLst>
  <p:hf hdr="0" dt="0"/>
  <p:txStyles>
    <p:title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p:titleStyle>
    <p:body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p:bodyStyle>
    <p:otherStyle>
      <a:defPPr>
        <a:defRPr lang="de-DE"/>
      </a:defPPr>
      <a:lvl1pPr marL="0" algn="l" defTabSz="1219170" rtl="0" eaLnBrk="1" latinLnBrk="0" hangingPunct="1">
        <a:defRPr sz="1800" kern="1200">
          <a:solidFill>
            <a:schemeClr val="tx1"/>
          </a:solidFill>
          <a:latin typeface="+mn-lt"/>
          <a:ea typeface="+mn-ea"/>
          <a:cs typeface="+mn-cs"/>
        </a:defRPr>
      </a:lvl1pPr>
      <a:lvl2pPr marL="609585" algn="l" defTabSz="1219170" rtl="0" eaLnBrk="1" latinLnBrk="0" hangingPunct="1">
        <a:defRPr sz="1800" kern="1200">
          <a:solidFill>
            <a:schemeClr val="tx1"/>
          </a:solidFill>
          <a:latin typeface="+mn-lt"/>
          <a:ea typeface="+mn-ea"/>
          <a:cs typeface="+mn-cs"/>
        </a:defRPr>
      </a:lvl2pPr>
      <a:lvl3pPr marL="1219170" algn="l" defTabSz="1219170" rtl="0" eaLnBrk="1" latinLnBrk="0" hangingPunct="1">
        <a:defRPr sz="1800" kern="1200">
          <a:solidFill>
            <a:schemeClr val="tx1"/>
          </a:solidFill>
          <a:latin typeface="+mn-lt"/>
          <a:ea typeface="+mn-ea"/>
          <a:cs typeface="+mn-cs"/>
        </a:defRPr>
      </a:lvl3pPr>
      <a:lvl4pPr marL="1828754" algn="l" defTabSz="1219170" rtl="0" eaLnBrk="1" latinLnBrk="0" hangingPunct="1">
        <a:defRPr sz="1800" kern="1200">
          <a:solidFill>
            <a:schemeClr val="tx1"/>
          </a:solidFill>
          <a:latin typeface="+mn-lt"/>
          <a:ea typeface="+mn-ea"/>
          <a:cs typeface="+mn-cs"/>
        </a:defRPr>
      </a:lvl4pPr>
      <a:lvl5pPr marL="2438339" algn="l" defTabSz="1219170" rtl="0" eaLnBrk="1" latinLnBrk="0" hangingPunct="1">
        <a:defRPr sz="1800" kern="1200">
          <a:solidFill>
            <a:schemeClr val="tx1"/>
          </a:solidFill>
          <a:latin typeface="+mn-lt"/>
          <a:ea typeface="+mn-ea"/>
          <a:cs typeface="+mn-cs"/>
        </a:defRPr>
      </a:lvl5pPr>
      <a:lvl6pPr marL="3047924" algn="l" defTabSz="1219170" rtl="0" eaLnBrk="1" latinLnBrk="0" hangingPunct="1">
        <a:defRPr sz="1800" kern="1200">
          <a:solidFill>
            <a:schemeClr val="tx1"/>
          </a:solidFill>
          <a:latin typeface="+mn-lt"/>
          <a:ea typeface="+mn-ea"/>
          <a:cs typeface="+mn-cs"/>
        </a:defRPr>
      </a:lvl6pPr>
      <a:lvl7pPr marL="3657509" algn="l" defTabSz="1219170" rtl="0" eaLnBrk="1" latinLnBrk="0" hangingPunct="1">
        <a:defRPr sz="1800" kern="1200">
          <a:solidFill>
            <a:schemeClr val="tx1"/>
          </a:solidFill>
          <a:latin typeface="+mn-lt"/>
          <a:ea typeface="+mn-ea"/>
          <a:cs typeface="+mn-cs"/>
        </a:defRPr>
      </a:lvl7pPr>
      <a:lvl8pPr marL="4267093" algn="l" defTabSz="1219170" rtl="0" eaLnBrk="1" latinLnBrk="0" hangingPunct="1">
        <a:defRPr sz="1800" kern="1200">
          <a:solidFill>
            <a:schemeClr val="tx1"/>
          </a:solidFill>
          <a:latin typeface="+mn-lt"/>
          <a:ea typeface="+mn-ea"/>
          <a:cs typeface="+mn-cs"/>
        </a:defRPr>
      </a:lvl8pPr>
      <a:lvl9pPr marL="4876678" algn="l" defTabSz="121917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tags" Target="../tags/tag98.xml"/><Relationship Id="rId13" Type="http://schemas.openxmlformats.org/officeDocument/2006/relationships/notesSlide" Target="../notesSlides/notesSlide2.xml"/><Relationship Id="rId3" Type="http://schemas.openxmlformats.org/officeDocument/2006/relationships/tags" Target="../tags/tag93.xml"/><Relationship Id="rId7" Type="http://schemas.openxmlformats.org/officeDocument/2006/relationships/tags" Target="../tags/tag97.xml"/><Relationship Id="rId12" Type="http://schemas.openxmlformats.org/officeDocument/2006/relationships/slideLayout" Target="../slideLayouts/slideLayout4.xml"/><Relationship Id="rId2" Type="http://schemas.openxmlformats.org/officeDocument/2006/relationships/tags" Target="../tags/tag92.xml"/><Relationship Id="rId16" Type="http://schemas.openxmlformats.org/officeDocument/2006/relationships/slide" Target="slide40.xml"/><Relationship Id="rId1" Type="http://schemas.openxmlformats.org/officeDocument/2006/relationships/tags" Target="../tags/tag91.xml"/><Relationship Id="rId6" Type="http://schemas.openxmlformats.org/officeDocument/2006/relationships/tags" Target="../tags/tag96.xml"/><Relationship Id="rId11" Type="http://schemas.openxmlformats.org/officeDocument/2006/relationships/tags" Target="../tags/tag101.xml"/><Relationship Id="rId5" Type="http://schemas.openxmlformats.org/officeDocument/2006/relationships/tags" Target="../tags/tag95.xml"/><Relationship Id="rId15" Type="http://schemas.openxmlformats.org/officeDocument/2006/relationships/slide" Target="slide36.xml"/><Relationship Id="rId10" Type="http://schemas.openxmlformats.org/officeDocument/2006/relationships/tags" Target="../tags/tag100.xml"/><Relationship Id="rId4" Type="http://schemas.openxmlformats.org/officeDocument/2006/relationships/tags" Target="../tags/tag94.xml"/><Relationship Id="rId9" Type="http://schemas.openxmlformats.org/officeDocument/2006/relationships/tags" Target="../tags/tag99.xml"/><Relationship Id="rId14" Type="http://schemas.openxmlformats.org/officeDocument/2006/relationships/slide" Target="slide3.xml"/></Relationships>
</file>

<file path=ppt/slides/_rels/slide3.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notesSlide" Target="../notesSlides/notesSlide3.xml"/><Relationship Id="rId3" Type="http://schemas.openxmlformats.org/officeDocument/2006/relationships/tags" Target="../tags/tag104.xml"/><Relationship Id="rId7" Type="http://schemas.openxmlformats.org/officeDocument/2006/relationships/tags" Target="../tags/tag108.xml"/><Relationship Id="rId12" Type="http://schemas.openxmlformats.org/officeDocument/2006/relationships/slideLayout" Target="../slideLayouts/slideLayout4.xml"/><Relationship Id="rId2" Type="http://schemas.openxmlformats.org/officeDocument/2006/relationships/tags" Target="../tags/tag103.xml"/><Relationship Id="rId16" Type="http://schemas.openxmlformats.org/officeDocument/2006/relationships/slide" Target="slide40.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tags" Target="../tags/tag112.xml"/><Relationship Id="rId5" Type="http://schemas.openxmlformats.org/officeDocument/2006/relationships/tags" Target="../tags/tag106.xml"/><Relationship Id="rId15" Type="http://schemas.openxmlformats.org/officeDocument/2006/relationships/slide" Target="slide36.xml"/><Relationship Id="rId10" Type="http://schemas.openxmlformats.org/officeDocument/2006/relationships/tags" Target="../tags/tag111.xml"/><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slide" Target="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www.infineon.com/" TargetMode="External"/><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hyperlink" Target="https://www.infineon.com/ModusToolboxInstallguide"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5.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5.xml"/><Relationship Id="rId5" Type="http://schemas.openxmlformats.org/officeDocument/2006/relationships/image" Target="../media/image30.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hyperlink" Target="https://infineon.github.io/mtb-dsl-pse8xxgp/html/index.html" TargetMode="External"/><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1.xml"/><Relationship Id="rId1" Type="http://schemas.openxmlformats.org/officeDocument/2006/relationships/slideLayout" Target="../slideLayouts/slideLayout5.xml"/><Relationship Id="rId5" Type="http://schemas.openxmlformats.org/officeDocument/2006/relationships/image" Target="../media/image34.wmf"/><Relationship Id="rId4" Type="http://schemas.openxmlformats.org/officeDocument/2006/relationships/oleObject" Target="../embeddings/oleObject2.bin"/></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8" Type="http://schemas.openxmlformats.org/officeDocument/2006/relationships/tags" Target="../tags/tag120.xml"/><Relationship Id="rId13" Type="http://schemas.openxmlformats.org/officeDocument/2006/relationships/notesSlide" Target="../notesSlides/notesSlide36.xml"/><Relationship Id="rId3" Type="http://schemas.openxmlformats.org/officeDocument/2006/relationships/tags" Target="../tags/tag115.xml"/><Relationship Id="rId7" Type="http://schemas.openxmlformats.org/officeDocument/2006/relationships/tags" Target="../tags/tag119.xml"/><Relationship Id="rId12" Type="http://schemas.openxmlformats.org/officeDocument/2006/relationships/slideLayout" Target="../slideLayouts/slideLayout4.xml"/><Relationship Id="rId2" Type="http://schemas.openxmlformats.org/officeDocument/2006/relationships/tags" Target="../tags/tag114.xml"/><Relationship Id="rId16" Type="http://schemas.openxmlformats.org/officeDocument/2006/relationships/slide" Target="slide40.xml"/><Relationship Id="rId1" Type="http://schemas.openxmlformats.org/officeDocument/2006/relationships/tags" Target="../tags/tag113.xml"/><Relationship Id="rId6" Type="http://schemas.openxmlformats.org/officeDocument/2006/relationships/tags" Target="../tags/tag118.xml"/><Relationship Id="rId11" Type="http://schemas.openxmlformats.org/officeDocument/2006/relationships/tags" Target="../tags/tag123.xml"/><Relationship Id="rId5" Type="http://schemas.openxmlformats.org/officeDocument/2006/relationships/tags" Target="../tags/tag117.xml"/><Relationship Id="rId15" Type="http://schemas.openxmlformats.org/officeDocument/2006/relationships/slide" Target="slide36.xml"/><Relationship Id="rId10" Type="http://schemas.openxmlformats.org/officeDocument/2006/relationships/tags" Target="../tags/tag122.xml"/><Relationship Id="rId4" Type="http://schemas.openxmlformats.org/officeDocument/2006/relationships/tags" Target="../tags/tag116.xml"/><Relationship Id="rId9" Type="http://schemas.openxmlformats.org/officeDocument/2006/relationships/tags" Target="../tags/tag121.xml"/><Relationship Id="rId14" Type="http://schemas.openxmlformats.org/officeDocument/2006/relationships/slide" Target="slide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5.xml"/><Relationship Id="rId4" Type="http://schemas.openxmlformats.org/officeDocument/2006/relationships/image" Target="../media/image40.png"/></Relationships>
</file>

<file path=ppt/slides/_rels/slide40.xml.rels><?xml version="1.0" encoding="UTF-8" standalone="yes"?>
<Relationships xmlns="http://schemas.openxmlformats.org/package/2006/relationships"><Relationship Id="rId8" Type="http://schemas.openxmlformats.org/officeDocument/2006/relationships/tags" Target="../tags/tag131.xml"/><Relationship Id="rId13" Type="http://schemas.openxmlformats.org/officeDocument/2006/relationships/notesSlide" Target="../notesSlides/notesSlide40.xml"/><Relationship Id="rId3" Type="http://schemas.openxmlformats.org/officeDocument/2006/relationships/tags" Target="../tags/tag126.xml"/><Relationship Id="rId7" Type="http://schemas.openxmlformats.org/officeDocument/2006/relationships/tags" Target="../tags/tag130.xml"/><Relationship Id="rId12" Type="http://schemas.openxmlformats.org/officeDocument/2006/relationships/slideLayout" Target="../slideLayouts/slideLayout4.xml"/><Relationship Id="rId2" Type="http://schemas.openxmlformats.org/officeDocument/2006/relationships/tags" Target="../tags/tag125.xml"/><Relationship Id="rId16" Type="http://schemas.openxmlformats.org/officeDocument/2006/relationships/slide" Target="slide40.xml"/><Relationship Id="rId1" Type="http://schemas.openxmlformats.org/officeDocument/2006/relationships/tags" Target="../tags/tag124.xml"/><Relationship Id="rId6" Type="http://schemas.openxmlformats.org/officeDocument/2006/relationships/tags" Target="../tags/tag129.xml"/><Relationship Id="rId11" Type="http://schemas.openxmlformats.org/officeDocument/2006/relationships/tags" Target="../tags/tag134.xml"/><Relationship Id="rId5" Type="http://schemas.openxmlformats.org/officeDocument/2006/relationships/tags" Target="../tags/tag128.xml"/><Relationship Id="rId15" Type="http://schemas.openxmlformats.org/officeDocument/2006/relationships/slide" Target="slide36.xml"/><Relationship Id="rId10" Type="http://schemas.openxmlformats.org/officeDocument/2006/relationships/tags" Target="../tags/tag133.xml"/><Relationship Id="rId4" Type="http://schemas.openxmlformats.org/officeDocument/2006/relationships/tags" Target="../tags/tag127.xml"/><Relationship Id="rId9" Type="http://schemas.openxmlformats.org/officeDocument/2006/relationships/tags" Target="../tags/tag132.xml"/><Relationship Id="rId14" Type="http://schemas.openxmlformats.org/officeDocument/2006/relationships/slide" Target="slide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41589B28-D26E-44F4-8C62-FEE4AAED4A70}"/>
              </a:ext>
            </a:extLst>
          </p:cNvPr>
          <p:cNvSpPr>
            <a:spLocks noGrp="1"/>
          </p:cNvSpPr>
          <p:nvPr>
            <p:ph type="pic" sz="quarter" idx="15"/>
          </p:nvPr>
        </p:nvSpPr>
        <p:spPr/>
        <p:txBody>
          <a:bodyPr/>
          <a:lstStyle/>
          <a:p>
            <a:endParaRPr lang="en-US" dirty="0"/>
          </a:p>
        </p:txBody>
      </p:sp>
      <p:sp>
        <p:nvSpPr>
          <p:cNvPr id="7" name="Title 6">
            <a:extLst>
              <a:ext uri="{FF2B5EF4-FFF2-40B4-BE49-F238E27FC236}">
                <a16:creationId xmlns:a16="http://schemas.microsoft.com/office/drawing/2014/main" id="{3FB1C68C-D054-4F8D-AA7A-F778CCFFFD34}"/>
              </a:ext>
            </a:extLst>
          </p:cNvPr>
          <p:cNvSpPr>
            <a:spLocks noGrp="1"/>
          </p:cNvSpPr>
          <p:nvPr>
            <p:ph type="ctrTitle" hasCustomPrompt="1"/>
          </p:nvPr>
        </p:nvSpPr>
        <p:spPr>
          <a:xfrm>
            <a:off x="551384" y="3933056"/>
            <a:ext cx="10657183" cy="2232248"/>
          </a:xfrm>
        </p:spPr>
        <p:txBody>
          <a:bodyPr>
            <a:normAutofit fontScale="90000"/>
          </a:bodyPr>
          <a:lstStyle/>
          <a:p>
            <a:r>
              <a:rPr dirty="0"/>
              <a:t>E2 - Getting </a:t>
            </a:r>
            <a:r>
              <a:rPr lang="en-IN" dirty="0"/>
              <a:t>s</a:t>
            </a:r>
            <a:r>
              <a:rPr dirty="0"/>
              <a:t>tarted with the </a:t>
            </a:r>
            <a:r>
              <a:rPr lang="en-IN" dirty="0"/>
              <a:t>d</a:t>
            </a:r>
            <a:r>
              <a:rPr dirty="0" err="1"/>
              <a:t>evelopment</a:t>
            </a:r>
            <a:r>
              <a:rPr dirty="0"/>
              <a:t> </a:t>
            </a:r>
            <a:r>
              <a:rPr lang="en-IN" dirty="0"/>
              <a:t>e</a:t>
            </a:r>
            <a:r>
              <a:rPr dirty="0" err="1"/>
              <a:t>cosystem</a:t>
            </a:r>
            <a:r>
              <a:rPr dirty="0"/>
              <a:t> for PSOC™ Edge E84</a:t>
            </a:r>
            <a:br>
              <a:rPr lang="en-IN" dirty="0"/>
            </a:br>
            <a:r>
              <a:rPr lang="en-IN" sz="1100" dirty="0"/>
              <a:t>  </a:t>
            </a:r>
            <a:br>
              <a:rPr lang="en-IN" dirty="0"/>
            </a:br>
            <a:r>
              <a:rPr lang="en-IN" sz="3000" b="0" dirty="0"/>
              <a:t>Customer training workshop (CTW)</a:t>
            </a:r>
            <a:br>
              <a:rPr lang="en-IN" sz="3000" b="0" dirty="0"/>
            </a:br>
            <a:br>
              <a:rPr lang="en-IN" sz="3000" b="0"/>
            </a:br>
            <a:r>
              <a:rPr lang="en-IN" sz="2000" b="0">
                <a:solidFill>
                  <a:schemeClr val="tx1"/>
                </a:solidFill>
              </a:rPr>
              <a:t>March </a:t>
            </a:r>
            <a:r>
              <a:rPr lang="en-IN" sz="2000" b="0" dirty="0">
                <a:solidFill>
                  <a:schemeClr val="tx1"/>
                </a:solidFill>
              </a:rPr>
              <a:t>2026</a:t>
            </a:r>
            <a:endParaRPr sz="2000" b="0" dirty="0">
              <a:solidFill>
                <a:schemeClr val="tx1"/>
              </a:solidFill>
            </a:endParaRPr>
          </a:p>
        </p:txBody>
      </p:sp>
      <p:sp>
        <p:nvSpPr>
          <p:cNvPr id="3" name="Footer Placeholder 2">
            <a:extLst>
              <a:ext uri="{FF2B5EF4-FFF2-40B4-BE49-F238E27FC236}">
                <a16:creationId xmlns:a16="http://schemas.microsoft.com/office/drawing/2014/main" id="{7D43619A-8DE9-28E1-5FC5-7C396EDEDBC6}"/>
              </a:ext>
            </a:extLst>
          </p:cNvPr>
          <p:cNvSpPr>
            <a:spLocks noGrp="1"/>
          </p:cNvSpPr>
          <p:nvPr>
            <p:ph type="ftr" sz="quarter" idx="11"/>
          </p:nvPr>
        </p:nvSpPr>
        <p:spPr/>
        <p:txBody>
          <a:bodyPr/>
          <a:lstStyle/>
          <a:p>
            <a:endParaRPr lang="en-US" dirty="0"/>
          </a:p>
        </p:txBody>
      </p:sp>
    </p:spTree>
    <p:extLst>
      <p:ext uri="{BB962C8B-B14F-4D97-AF65-F5344CB8AC3E}">
        <p14:creationId xmlns:p14="http://schemas.microsoft.com/office/powerpoint/2010/main" val="3235021668"/>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9FAE0CD8-1493-D803-2111-66C56F03277E}"/>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C6B1028C-5D0B-A42A-0897-84F82EB38368}"/>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31FC9C43-E548-1743-E7A7-DEB815BD66DD}"/>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85AE94C3-9EE0-0D1E-D868-EE457BFB41FD}"/>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F9816F47-55F6-5907-7BC8-3B074D8234B5}"/>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E3A961F0-EE80-7B22-0612-9EE5BBBAE410}"/>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07C3FDE1-F941-DBE6-3CD0-05FE66D6A8BC}"/>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C946342-3D5A-6408-2870-FC14E1269F78}"/>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F8BCF06B-AF13-4F8E-CE1D-0A31C60FCD70}"/>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A1B927BE-EB37-B621-925E-3670693DE1C4}"/>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14383176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6A930409-9662-6667-E45A-5B6A57237016}"/>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10F5C4B5-0302-2A52-4C50-1F088446478C}"/>
                </a:ext>
              </a:extLst>
            </p:cNvPr>
            <p:cNvSpPr>
              <a:spLocks/>
            </p:cNvSpPr>
            <p:nvPr>
              <p:custDataLst>
                <p:tags r:id="rId3"/>
              </p:custDataLst>
            </p:nvPr>
          </p:nvSpPr>
          <p:spPr>
            <a:xfrm>
              <a:off x="1235075" y="1268413"/>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Development ecosystem for PSOC™ Edge E84</a:t>
              </a:r>
              <a:endParaRPr lang="de-DE" sz="1800" b="1" dirty="0">
                <a:solidFill>
                  <a:schemeClr val="tx2"/>
                </a:solidFill>
                <a:latin typeface="+mn-lt"/>
              </a:endParaRPr>
            </a:p>
          </p:txBody>
        </p:sp>
        <p:sp>
          <p:nvSpPr>
            <p:cNvPr id="6" name="MIO_AGENDA_ELEMENT_ELEMENTNUMBER_1">
              <a:hlinkClick r:id="rId14" action="ppaction://hlinksldjump"/>
              <a:extLst>
                <a:ext uri="{FF2B5EF4-FFF2-40B4-BE49-F238E27FC236}">
                  <a16:creationId xmlns:a16="http://schemas.microsoft.com/office/drawing/2014/main" id="{33672765-D708-C6E2-45D3-8105E454ABF6}"/>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9B74D98B-982A-2754-18CE-5FDFC0E5E26C}"/>
                </a:ext>
              </a:extLst>
            </p:cNvPr>
            <p:cNvSpPr txBox="1">
              <a:spLocks/>
            </p:cNvSpPr>
            <p:nvPr>
              <p:custDataLst>
                <p:tags r:id="rId5"/>
              </p:custDataLst>
            </p:nvPr>
          </p:nvSpPr>
          <p:spPr>
            <a:xfrm>
              <a:off x="11026666" y="1268413"/>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3</a:t>
              </a:r>
              <a:endParaRPr lang="de-DE" sz="1800" b="1" dirty="0">
                <a:solidFill>
                  <a:schemeClr val="tx2"/>
                </a:solidFill>
                <a:latin typeface="+mn-lt"/>
                <a:cs typeface="Segoe UI Semibold" panose="020B0702040204020203" pitchFamily="34" charset="0"/>
              </a:endParaRPr>
            </a:p>
          </p:txBody>
        </p:sp>
        <p:sp>
          <p:nvSpPr>
            <p:cNvPr id="8" name="MIO_AGENDA_ELEMENT_TITEL_2">
              <a:hlinkClick r:id="rId15" action="ppaction://hlinksldjump"/>
              <a:extLst>
                <a:ext uri="{FF2B5EF4-FFF2-40B4-BE49-F238E27FC236}">
                  <a16:creationId xmlns:a16="http://schemas.microsoft.com/office/drawing/2014/main" id="{36284AB8-B13C-0000-F57A-57C087E020BA}"/>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593CBE7D-76AF-54E0-F2DF-F355658A013B}"/>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6E45443F-E0AB-40F3-EEAB-02AE904FA8FB}"/>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0699AD6A-D176-67C0-7964-24E4828E80EB}"/>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5FBD1A64-7886-506B-F282-5FB7E9E54F58}"/>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7B704A12-6620-2BA9-53A7-A72E1142AA3B}"/>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35263182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A27F10-987C-4773-9670-C2405C0139DA}"/>
              </a:ext>
            </a:extLst>
          </p:cNvPr>
          <p:cNvSpPr>
            <a:spLocks noGrp="1"/>
          </p:cNvSpPr>
          <p:nvPr>
            <p:ph sz="quarter" idx="13" hasCustomPrompt="1"/>
          </p:nvPr>
        </p:nvSpPr>
        <p:spPr>
          <a:xfrm>
            <a:off x="334800" y="1276988"/>
            <a:ext cx="11161800" cy="4968897"/>
          </a:xfrm>
        </p:spPr>
        <p:txBody>
          <a:bodyPr/>
          <a:lstStyle/>
          <a:p>
            <a:pPr>
              <a:lnSpc>
                <a:spcPct val="150000"/>
              </a:lnSpc>
              <a:buFont typeface="Arial" panose="020B0604020202020204" pitchFamily="34" charset="0"/>
              <a:buChar char="‒"/>
            </a:pPr>
            <a:r>
              <a:rPr sz="1600" dirty="0">
                <a:latin typeface="+mj-lt"/>
              </a:rPr>
              <a:t>PSOC™ Edge E84 MCU</a:t>
            </a:r>
            <a:r>
              <a:rPr lang="en-US" sz="1600" dirty="0">
                <a:latin typeface="+mj-lt"/>
              </a:rPr>
              <a:t> Product page and PSOC™ Developer Journey on </a:t>
            </a:r>
            <a:r>
              <a:rPr lang="en-US" sz="1600" dirty="0">
                <a:latin typeface="+mj-lt"/>
                <a:hlinkClick r:id="rId3"/>
              </a:rPr>
              <a:t>Infineon.com</a:t>
            </a:r>
            <a:endParaRPr sz="1600" dirty="0">
              <a:latin typeface="+mj-lt"/>
            </a:endParaRPr>
          </a:p>
          <a:p>
            <a:pPr>
              <a:lnSpc>
                <a:spcPct val="150000"/>
              </a:lnSpc>
              <a:buFont typeface="Arial" panose="020B0604020202020204" pitchFamily="34" charset="0"/>
              <a:buChar char="‒"/>
            </a:pPr>
            <a:r>
              <a:rPr sz="1600" dirty="0">
                <a:latin typeface="+mj-lt"/>
              </a:rPr>
              <a:t>Datasheets </a:t>
            </a:r>
          </a:p>
          <a:p>
            <a:pPr>
              <a:lnSpc>
                <a:spcPct val="150000"/>
              </a:lnSpc>
            </a:pPr>
            <a:r>
              <a:rPr lang="en-IN" sz="1600" dirty="0"/>
              <a:t>Architecture and registers </a:t>
            </a:r>
            <a:r>
              <a:rPr lang="en-IN" sz="1600" dirty="0">
                <a:latin typeface="+mj-lt"/>
              </a:rPr>
              <a:t>r</a:t>
            </a:r>
            <a:r>
              <a:rPr sz="1600" dirty="0" err="1">
                <a:latin typeface="+mj-lt"/>
              </a:rPr>
              <a:t>eference</a:t>
            </a:r>
            <a:r>
              <a:rPr sz="1600" dirty="0">
                <a:latin typeface="+mj-lt"/>
              </a:rPr>
              <a:t> manuals</a:t>
            </a:r>
            <a:endParaRPr lang="en-IN" sz="1600" dirty="0">
              <a:latin typeface="+mj-lt"/>
            </a:endParaRPr>
          </a:p>
          <a:p>
            <a:pPr marL="263525" indent="-263525">
              <a:lnSpc>
                <a:spcPct val="150000"/>
              </a:lnSpc>
            </a:pPr>
            <a:r>
              <a:rPr lang="en-US" sz="1600" dirty="0">
                <a:latin typeface="+mj-lt"/>
              </a:rPr>
              <a:t>Application notes </a:t>
            </a:r>
          </a:p>
          <a:p>
            <a:pPr marL="263525" indent="-263525">
              <a:lnSpc>
                <a:spcPct val="150000"/>
              </a:lnSpc>
            </a:pPr>
            <a:r>
              <a:rPr lang="en-US" sz="1600" dirty="0">
                <a:latin typeface="+mj-lt"/>
              </a:rPr>
              <a:t>Code examples </a:t>
            </a:r>
          </a:p>
          <a:p>
            <a:pPr marL="263525" indent="-263525">
              <a:lnSpc>
                <a:spcPct val="150000"/>
              </a:lnSpc>
            </a:pPr>
            <a:r>
              <a:rPr lang="en-US" sz="1600" dirty="0">
                <a:latin typeface="+mj-lt"/>
              </a:rPr>
              <a:t>Development kits </a:t>
            </a:r>
          </a:p>
          <a:p>
            <a:pPr marL="263525" indent="-263525">
              <a:lnSpc>
                <a:spcPct val="150000"/>
              </a:lnSpc>
            </a:pPr>
            <a:r>
              <a:rPr lang="en-US" sz="1600" dirty="0">
                <a:latin typeface="+mj-lt"/>
              </a:rPr>
              <a:t>KBAs and community forum</a:t>
            </a:r>
            <a:endParaRPr lang="en-US" sz="1600" b="1" i="1" dirty="0">
              <a:latin typeface="+mj-lt"/>
            </a:endParaRPr>
          </a:p>
          <a:p>
            <a:pPr>
              <a:lnSpc>
                <a:spcPct val="150000"/>
              </a:lnSpc>
              <a:buFont typeface="Arial" panose="020B0604020202020204" pitchFamily="34" charset="0"/>
              <a:buChar char="‒"/>
            </a:pPr>
            <a:endParaRPr lang="en-US" sz="2200" b="1" dirty="0"/>
          </a:p>
          <a:p>
            <a:pPr>
              <a:lnSpc>
                <a:spcPct val="150000"/>
              </a:lnSpc>
              <a:buClr>
                <a:srgbClr val="5EA290"/>
              </a:buClr>
              <a:buFont typeface="Wingdings" panose="05000000000000000000" pitchFamily="2" charset="2"/>
              <a:buChar char="q"/>
            </a:pPr>
            <a:endParaRPr lang="en-US" sz="2200" b="1" dirty="0"/>
          </a:p>
        </p:txBody>
      </p:sp>
      <p:sp>
        <p:nvSpPr>
          <p:cNvPr id="3" name="Title 2">
            <a:extLst>
              <a:ext uri="{FF2B5EF4-FFF2-40B4-BE49-F238E27FC236}">
                <a16:creationId xmlns:a16="http://schemas.microsoft.com/office/drawing/2014/main" id="{D14CA30D-9474-49A7-9B49-1A4F8407DEED}"/>
              </a:ext>
            </a:extLst>
          </p:cNvPr>
          <p:cNvSpPr>
            <a:spLocks noGrp="1"/>
          </p:cNvSpPr>
          <p:nvPr>
            <p:ph type="title" hasCustomPrompt="1"/>
          </p:nvPr>
        </p:nvSpPr>
        <p:spPr>
          <a:xfrm>
            <a:off x="335360" y="188720"/>
            <a:ext cx="9613068" cy="720000"/>
          </a:xfrm>
          <a:noFill/>
          <a:ln/>
          <a:extLst>
            <a:ext uri="{909E8E84-426E-40DD-AFC4-6F175D3DCCD1}">
              <a14:hiddenFill xmlns:a14="http://schemas.microsoft.com/office/drawing/2010/main">
                <a:solidFill>
                  <a:srgbClr val="FFFFFF">
                    <a:alpha val="0"/>
                  </a:srgbClr>
                </a:solidFill>
              </a14:hiddenFill>
            </a:ext>
          </a:extLst>
        </p:spPr>
        <p:txBody>
          <a:bodyPr lIns="0" tIns="0" rIns="0" bIns="10800" anchor="b">
            <a:noAutofit/>
          </a:bodyPr>
          <a:lstStyle/>
          <a:p>
            <a:r>
              <a:rPr dirty="0">
                <a:solidFill>
                  <a:srgbClr val="0A8276"/>
                </a:solidFill>
                <a:latin typeface="Arial" panose="020B0604020202020204" pitchFamily="34" charset="0"/>
              </a:rPr>
              <a:t>PSOC™ Edge E84 resources </a:t>
            </a:r>
          </a:p>
        </p:txBody>
      </p:sp>
    </p:spTree>
    <p:extLst>
      <p:ext uri="{BB962C8B-B14F-4D97-AF65-F5344CB8AC3E}">
        <p14:creationId xmlns:p14="http://schemas.microsoft.com/office/powerpoint/2010/main" val="3720747581"/>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anim calcmode="lin" valueType="num">
                                      <p:cBhvr additive="base">
                                        <p:cTn id="25"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nodeType="clickEffect">
                                  <p:stCondLst>
                                    <p:cond delay="0"/>
                                  </p:stCondLst>
                                  <p:childTnLst>
                                    <p:set>
                                      <p:cBhvr>
                                        <p:cTn id="30" dur="1" fill="hold">
                                          <p:stCondLst>
                                            <p:cond delay="0"/>
                                          </p:stCondLst>
                                        </p:cTn>
                                        <p:tgtEl>
                                          <p:spTgt spid="2">
                                            <p:txEl>
                                              <p:pRg st="3" end="3"/>
                                            </p:txEl>
                                          </p:spTgt>
                                        </p:tgtEl>
                                        <p:attrNameLst>
                                          <p:attrName>style.visibility</p:attrName>
                                        </p:attrNameLst>
                                      </p:cBhvr>
                                      <p:to>
                                        <p:strVal val="visible"/>
                                      </p:to>
                                    </p:set>
                                    <p:anim calcmode="lin" valueType="num">
                                      <p:cBhvr additive="base">
                                        <p:cTn id="31"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2">
                                            <p:txEl>
                                              <p:pRg st="4" end="4"/>
                                            </p:txEl>
                                          </p:spTgt>
                                        </p:tgtEl>
                                        <p:attrNameLst>
                                          <p:attrName>style.visibility</p:attrName>
                                        </p:attrNameLst>
                                      </p:cBhvr>
                                      <p:to>
                                        <p:strVal val="visible"/>
                                      </p:to>
                                    </p:set>
                                    <p:anim calcmode="lin" valueType="num">
                                      <p:cBhvr additive="base">
                                        <p:cTn id="37"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nodeType="clickEffect">
                                  <p:stCondLst>
                                    <p:cond delay="0"/>
                                  </p:stCondLst>
                                  <p:childTnLst>
                                    <p:set>
                                      <p:cBhvr>
                                        <p:cTn id="42" dur="1" fill="hold">
                                          <p:stCondLst>
                                            <p:cond delay="0"/>
                                          </p:stCondLst>
                                        </p:cTn>
                                        <p:tgtEl>
                                          <p:spTgt spid="2">
                                            <p:txEl>
                                              <p:pRg st="5" end="5"/>
                                            </p:txEl>
                                          </p:spTgt>
                                        </p:tgtEl>
                                        <p:attrNameLst>
                                          <p:attrName>style.visibility</p:attrName>
                                        </p:attrNameLst>
                                      </p:cBhvr>
                                      <p:to>
                                        <p:strVal val="visible"/>
                                      </p:to>
                                    </p:set>
                                    <p:anim calcmode="lin" valueType="num">
                                      <p:cBhvr additive="base">
                                        <p:cTn id="43"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644AD9-BC39-4F15-969D-66670C793F8B}"/>
              </a:ext>
            </a:extLst>
          </p:cNvPr>
          <p:cNvPicPr>
            <a:picLocks noChangeAspect="1"/>
          </p:cNvPicPr>
          <p:nvPr/>
        </p:nvPicPr>
        <p:blipFill>
          <a:blip r:embed="rId3"/>
          <a:stretch>
            <a:fillRect/>
          </a:stretch>
        </p:blipFill>
        <p:spPr>
          <a:xfrm>
            <a:off x="7241109" y="1268415"/>
            <a:ext cx="4462202" cy="4320825"/>
          </a:xfrm>
          <a:prstGeom prst="rect">
            <a:avLst/>
          </a:prstGeom>
        </p:spPr>
      </p:pic>
      <p:graphicFrame>
        <p:nvGraphicFramePr>
          <p:cNvPr id="2" name="Table 1">
            <a:extLst>
              <a:ext uri="{FF2B5EF4-FFF2-40B4-BE49-F238E27FC236}">
                <a16:creationId xmlns:a16="http://schemas.microsoft.com/office/drawing/2014/main" id="{B589B46C-1BC2-7B3F-7F42-B6D27089AFCB}"/>
              </a:ext>
            </a:extLst>
          </p:cNvPr>
          <p:cNvGraphicFramePr>
            <a:graphicFrameLocks noGrp="1"/>
          </p:cNvGraphicFramePr>
          <p:nvPr>
            <p:extLst>
              <p:ext uri="{D42A27DB-BD31-4B8C-83A1-F6EECF244321}">
                <p14:modId xmlns:p14="http://schemas.microsoft.com/office/powerpoint/2010/main" val="2616409709"/>
              </p:ext>
            </p:extLst>
          </p:nvPr>
        </p:nvGraphicFramePr>
        <p:xfrm>
          <a:off x="6888088" y="1271800"/>
          <a:ext cx="4680520" cy="4101415"/>
        </p:xfrm>
        <a:graphic>
          <a:graphicData uri="http://schemas.openxmlformats.org/drawingml/2006/table">
            <a:tbl>
              <a:tblPr firstRow="1" bandRow="1">
                <a:tableStyleId>{5940675A-B579-460E-94D1-54222C63F5DA}</a:tableStyleId>
              </a:tblPr>
              <a:tblGrid>
                <a:gridCol w="4680520">
                  <a:extLst>
                    <a:ext uri="{9D8B030D-6E8A-4147-A177-3AD203B41FA5}">
                      <a16:colId xmlns:a16="http://schemas.microsoft.com/office/drawing/2014/main" val="2519619517"/>
                    </a:ext>
                  </a:extLst>
                </a:gridCol>
              </a:tblGrid>
              <a:tr h="4101415">
                <a:tc>
                  <a:txBody>
                    <a:bodyPr/>
                    <a:lstStyle/>
                    <a:p>
                      <a:endParaRPr lang="en-IN" dirty="0"/>
                    </a:p>
                  </a:txBody>
                  <a:tcPr/>
                </a:tc>
                <a:extLst>
                  <a:ext uri="{0D108BD9-81ED-4DB2-BD59-A6C34878D82A}">
                    <a16:rowId xmlns:a16="http://schemas.microsoft.com/office/drawing/2014/main" val="1764098461"/>
                  </a:ext>
                </a:extLst>
              </a:tr>
            </a:tbl>
          </a:graphicData>
        </a:graphic>
      </p:graphicFrame>
      <p:sp>
        <p:nvSpPr>
          <p:cNvPr id="3" name="Title 2">
            <a:extLst>
              <a:ext uri="{FF2B5EF4-FFF2-40B4-BE49-F238E27FC236}">
                <a16:creationId xmlns:a16="http://schemas.microsoft.com/office/drawing/2014/main" id="{FC798ED4-470F-4CAA-85BD-5CEDD36AB8BC}"/>
              </a:ext>
            </a:extLst>
          </p:cNvPr>
          <p:cNvSpPr>
            <a:spLocks noGrp="1"/>
          </p:cNvSpPr>
          <p:nvPr>
            <p:ph type="title" hasCustomPrompt="1"/>
          </p:nvPr>
        </p:nvSpPr>
        <p:spPr>
          <a:xfrm>
            <a:off x="334800" y="14649"/>
            <a:ext cx="9613068" cy="720000"/>
          </a:xfrm>
        </p:spPr>
        <p:txBody>
          <a:bodyPr/>
          <a:lstStyle/>
          <a:p>
            <a:r>
              <a:rPr dirty="0" err="1"/>
              <a:t>Firmwar</a:t>
            </a:r>
            <a:r>
              <a:rPr lang="en-IN" dirty="0"/>
              <a:t>e</a:t>
            </a:r>
            <a:r>
              <a:rPr dirty="0"/>
              <a:t>/</a:t>
            </a:r>
            <a:r>
              <a:rPr lang="en-IN" dirty="0"/>
              <a:t>a</a:t>
            </a:r>
            <a:r>
              <a:rPr dirty="0" err="1"/>
              <a:t>pplication</a:t>
            </a:r>
            <a:r>
              <a:rPr dirty="0"/>
              <a:t> </a:t>
            </a:r>
            <a:r>
              <a:rPr lang="en-IN" dirty="0"/>
              <a:t>d</a:t>
            </a:r>
            <a:r>
              <a:rPr dirty="0" err="1"/>
              <a:t>evelopment</a:t>
            </a:r>
            <a:endParaRPr dirty="0"/>
          </a:p>
        </p:txBody>
      </p:sp>
      <p:sp>
        <p:nvSpPr>
          <p:cNvPr id="5" name="Content Placeholder 1">
            <a:extLst>
              <a:ext uri="{FF2B5EF4-FFF2-40B4-BE49-F238E27FC236}">
                <a16:creationId xmlns:a16="http://schemas.microsoft.com/office/drawing/2014/main" id="{A011D990-3044-4ACB-9577-45308A449B3B}"/>
              </a:ext>
            </a:extLst>
          </p:cNvPr>
          <p:cNvSpPr txBox="1">
            <a:spLocks/>
          </p:cNvSpPr>
          <p:nvPr/>
        </p:nvSpPr>
        <p:spPr>
          <a:xfrm>
            <a:off x="334800" y="1268414"/>
            <a:ext cx="6337264" cy="5113337"/>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marL="0" indent="0">
              <a:lnSpc>
                <a:spcPct val="150000"/>
              </a:lnSpc>
              <a:buNone/>
            </a:pPr>
            <a:r>
              <a:rPr lang="en-US" sz="1600" b="1" kern="0" dirty="0"/>
              <a:t> ModusToolbox™ provides</a:t>
            </a:r>
          </a:p>
          <a:p>
            <a:pPr>
              <a:lnSpc>
                <a:spcPct val="150000"/>
              </a:lnSpc>
            </a:pPr>
            <a:r>
              <a:rPr lang="en-US" sz="1600" kern="0" dirty="0"/>
              <a:t> Development environment for Infineon MCUs </a:t>
            </a:r>
          </a:p>
          <a:p>
            <a:pPr>
              <a:lnSpc>
                <a:spcPct val="150000"/>
              </a:lnSpc>
            </a:pPr>
            <a:r>
              <a:rPr lang="en-US" sz="1600" kern="0" dirty="0"/>
              <a:t> Flexible set of tools for project and system-level configuration</a:t>
            </a:r>
          </a:p>
          <a:p>
            <a:pPr>
              <a:lnSpc>
                <a:spcPct val="150000"/>
              </a:lnSpc>
            </a:pPr>
            <a:r>
              <a:rPr lang="en-US" sz="1600" kern="0" dirty="0"/>
              <a:t> Low-level drivers</a:t>
            </a:r>
          </a:p>
          <a:p>
            <a:pPr>
              <a:lnSpc>
                <a:spcPct val="150000"/>
              </a:lnSpc>
            </a:pPr>
            <a:r>
              <a:rPr lang="en-US" sz="1600" kern="0" dirty="0"/>
              <a:t> Libraries</a:t>
            </a:r>
          </a:p>
          <a:p>
            <a:pPr>
              <a:lnSpc>
                <a:spcPct val="150000"/>
              </a:lnSpc>
            </a:pPr>
            <a:r>
              <a:rPr lang="en-US" sz="1600" kern="0" dirty="0"/>
              <a:t> Operating system support Linux, macOS, and Windows</a:t>
            </a:r>
          </a:p>
          <a:p>
            <a:pPr marL="504000" lvl="2" indent="0">
              <a:lnSpc>
                <a:spcPct val="150000"/>
              </a:lnSpc>
              <a:buNone/>
            </a:pPr>
            <a:endParaRPr lang="en-US" sz="1200" kern="0" dirty="0"/>
          </a:p>
          <a:p>
            <a:pPr marL="0" indent="0">
              <a:lnSpc>
                <a:spcPct val="150000"/>
              </a:lnSpc>
              <a:buNone/>
            </a:pPr>
            <a:r>
              <a:rPr lang="en-US" sz="1600" kern="0" dirty="0"/>
              <a:t>For more details, go to: </a:t>
            </a:r>
            <a:r>
              <a:rPr lang="en-US" sz="1600" u="sng" dirty="0">
                <a:hlinkClick r:id="rId4"/>
              </a:rPr>
              <a:t>https://www.infineon.com/ModusToolboxInstallguide</a:t>
            </a:r>
            <a:endParaRPr lang="en-US" sz="1600" dirty="0"/>
          </a:p>
          <a:p>
            <a:pPr marL="504000" lvl="2" indent="0">
              <a:lnSpc>
                <a:spcPct val="150000"/>
              </a:lnSpc>
              <a:buNone/>
            </a:pPr>
            <a:endParaRPr lang="en-US" sz="2200" kern="0" dirty="0">
              <a:solidFill>
                <a:srgbClr val="FF0000"/>
              </a:solidFill>
            </a:endParaRPr>
          </a:p>
        </p:txBody>
      </p:sp>
    </p:spTree>
    <p:extLst>
      <p:ext uri="{BB962C8B-B14F-4D97-AF65-F5344CB8AC3E}">
        <p14:creationId xmlns:p14="http://schemas.microsoft.com/office/powerpoint/2010/main" val="8226892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D6C302B-136A-DCEE-BFE0-7159100B6833}"/>
              </a:ext>
            </a:extLst>
          </p:cNvPr>
          <p:cNvGraphicFramePr>
            <a:graphicFrameLocks noGrp="1"/>
          </p:cNvGraphicFramePr>
          <p:nvPr>
            <p:extLst>
              <p:ext uri="{D42A27DB-BD31-4B8C-83A1-F6EECF244321}">
                <p14:modId xmlns:p14="http://schemas.microsoft.com/office/powerpoint/2010/main" val="3798156508"/>
              </p:ext>
            </p:extLst>
          </p:nvPr>
        </p:nvGraphicFramePr>
        <p:xfrm>
          <a:off x="335360" y="1188790"/>
          <a:ext cx="11161240" cy="5192538"/>
        </p:xfrm>
        <a:graphic>
          <a:graphicData uri="http://schemas.openxmlformats.org/drawingml/2006/table">
            <a:tbl>
              <a:tblPr firstRow="1" bandRow="1">
                <a:tableStyleId>{5940675A-B579-460E-94D1-54222C63F5DA}</a:tableStyleId>
              </a:tblPr>
              <a:tblGrid>
                <a:gridCol w="11161240">
                  <a:extLst>
                    <a:ext uri="{9D8B030D-6E8A-4147-A177-3AD203B41FA5}">
                      <a16:colId xmlns:a16="http://schemas.microsoft.com/office/drawing/2014/main" val="2976421478"/>
                    </a:ext>
                  </a:extLst>
                </a:gridCol>
              </a:tblGrid>
              <a:tr h="5192538">
                <a:tc>
                  <a:txBody>
                    <a:bodyPr/>
                    <a:lstStyle/>
                    <a:p>
                      <a:endParaRPr lang="en-IN" dirty="0"/>
                    </a:p>
                  </a:txBody>
                  <a:tcPr/>
                </a:tc>
                <a:extLst>
                  <a:ext uri="{0D108BD9-81ED-4DB2-BD59-A6C34878D82A}">
                    <a16:rowId xmlns:a16="http://schemas.microsoft.com/office/drawing/2014/main" val="3000846562"/>
                  </a:ext>
                </a:extLst>
              </a:tr>
            </a:tbl>
          </a:graphicData>
        </a:graphic>
      </p:graphicFrame>
      <p:sp>
        <p:nvSpPr>
          <p:cNvPr id="3" name="Title 2">
            <a:extLst>
              <a:ext uri="{FF2B5EF4-FFF2-40B4-BE49-F238E27FC236}">
                <a16:creationId xmlns:a16="http://schemas.microsoft.com/office/drawing/2014/main" id="{38192774-4AC7-429C-965F-F0EDCB59D815}"/>
              </a:ext>
            </a:extLst>
          </p:cNvPr>
          <p:cNvSpPr>
            <a:spLocks noGrp="1"/>
          </p:cNvSpPr>
          <p:nvPr>
            <p:ph type="title" hasCustomPrompt="1"/>
          </p:nvPr>
        </p:nvSpPr>
        <p:spPr/>
        <p:txBody>
          <a:bodyPr/>
          <a:lstStyle/>
          <a:p>
            <a:r>
              <a:t>Support for IDEs</a:t>
            </a:r>
          </a:p>
        </p:txBody>
      </p:sp>
      <p:grpSp>
        <p:nvGrpSpPr>
          <p:cNvPr id="2" name="Group 1">
            <a:extLst>
              <a:ext uri="{FF2B5EF4-FFF2-40B4-BE49-F238E27FC236}">
                <a16:creationId xmlns:a16="http://schemas.microsoft.com/office/drawing/2014/main" id="{3F678551-B93E-7672-6FA4-68E37FA5E221}"/>
              </a:ext>
            </a:extLst>
          </p:cNvPr>
          <p:cNvGrpSpPr/>
          <p:nvPr/>
        </p:nvGrpSpPr>
        <p:grpSpPr>
          <a:xfrm>
            <a:off x="610853" y="1376422"/>
            <a:ext cx="10669724" cy="4872448"/>
            <a:chOff x="610852" y="1553618"/>
            <a:chExt cx="11272165" cy="4872448"/>
          </a:xfrm>
        </p:grpSpPr>
        <p:sp>
          <p:nvSpPr>
            <p:cNvPr id="5" name="Rectangle: Rounded Corners 4">
              <a:extLst>
                <a:ext uri="{FF2B5EF4-FFF2-40B4-BE49-F238E27FC236}">
                  <a16:creationId xmlns:a16="http://schemas.microsoft.com/office/drawing/2014/main" id="{7F567529-7468-4B84-A088-B334E46CCE48}"/>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6" name="Rectangle: Rounded Corners 5">
              <a:extLst>
                <a:ext uri="{FF2B5EF4-FFF2-40B4-BE49-F238E27FC236}">
                  <a16:creationId xmlns:a16="http://schemas.microsoft.com/office/drawing/2014/main" id="{771B1FDA-4540-4254-A4B2-F005BC8751E7}"/>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a:t>
              </a:r>
            </a:p>
          </p:txBody>
        </p:sp>
        <p:sp>
          <p:nvSpPr>
            <p:cNvPr id="7" name="Rectangle: Rounded Corners 6">
              <a:extLst>
                <a:ext uri="{FF2B5EF4-FFF2-40B4-BE49-F238E27FC236}">
                  <a16:creationId xmlns:a16="http://schemas.microsoft.com/office/drawing/2014/main" id="{34C27D49-4522-4A43-9013-6E299EEF0237}"/>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Visual Studio</a:t>
              </a:r>
            </a:p>
            <a:p>
              <a:pPr algn="ctr" defTabSz="576000" eaLnBrk="0" hangingPunct="0">
                <a:lnSpc>
                  <a:spcPct val="120000"/>
                </a:lnSpc>
              </a:pPr>
              <a:r>
                <a:rPr lang="en-US" sz="1600">
                  <a:solidFill>
                    <a:schemeClr val="bg1"/>
                  </a:solidFill>
                </a:rPr>
                <a:t>Code</a:t>
              </a:r>
              <a:endParaRPr lang="en-US" sz="1600" dirty="0">
                <a:solidFill>
                  <a:schemeClr val="bg1"/>
                </a:solidFill>
              </a:endParaRPr>
            </a:p>
          </p:txBody>
        </p:sp>
        <p:sp>
          <p:nvSpPr>
            <p:cNvPr id="8" name="Rectangle: Rounded Corners 7">
              <a:extLst>
                <a:ext uri="{FF2B5EF4-FFF2-40B4-BE49-F238E27FC236}">
                  <a16:creationId xmlns:a16="http://schemas.microsoft.com/office/drawing/2014/main" id="{45660B57-ED20-41CE-8DBC-A735B278B8DD}"/>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Arm® MDK</a:t>
              </a:r>
            </a:p>
            <a:p>
              <a:pPr algn="ctr" defTabSz="576000" eaLnBrk="0" hangingPunct="0">
                <a:lnSpc>
                  <a:spcPct val="120000"/>
                </a:lnSpc>
              </a:pPr>
              <a:r>
                <a:rPr lang="en-US" sz="1600">
                  <a:solidFill>
                    <a:schemeClr val="bg1"/>
                  </a:solidFill>
                </a:rPr>
                <a:t>µVision</a:t>
              </a:r>
              <a:endParaRPr lang="en-US" sz="1600" dirty="0">
                <a:solidFill>
                  <a:schemeClr val="bg1"/>
                </a:solidFill>
              </a:endParaRPr>
            </a:p>
          </p:txBody>
        </p:sp>
        <p:cxnSp>
          <p:nvCxnSpPr>
            <p:cNvPr id="9" name="Connector: Elbow 8">
              <a:extLst>
                <a:ext uri="{FF2B5EF4-FFF2-40B4-BE49-F238E27FC236}">
                  <a16:creationId xmlns:a16="http://schemas.microsoft.com/office/drawing/2014/main" id="{86D81637-61E4-463A-A2CC-04A5BE30424E}"/>
                </a:ext>
              </a:extLst>
            </p:cNvPr>
            <p:cNvCxnSpPr>
              <a:cxnSpLocks/>
              <a:stCxn id="5" idx="2"/>
              <a:endCxn id="6"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10" name="Connector: Elbow 9">
              <a:extLst>
                <a:ext uri="{FF2B5EF4-FFF2-40B4-BE49-F238E27FC236}">
                  <a16:creationId xmlns:a16="http://schemas.microsoft.com/office/drawing/2014/main" id="{3207F351-09E6-4DA8-B2C7-BA06AB3E9738}"/>
                </a:ext>
              </a:extLst>
            </p:cNvPr>
            <p:cNvCxnSpPr>
              <a:cxnSpLocks/>
              <a:stCxn id="12"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1" name="Straight Connector 10">
              <a:extLst>
                <a:ext uri="{FF2B5EF4-FFF2-40B4-BE49-F238E27FC236}">
                  <a16:creationId xmlns:a16="http://schemas.microsoft.com/office/drawing/2014/main" id="{0AE524BE-064F-42B6-A1D8-31377D3ED1FE}"/>
                </a:ext>
              </a:extLst>
            </p:cNvPr>
            <p:cNvCxnSpPr>
              <a:cxnSpLocks/>
              <a:stCxn id="7"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12" name="Rectangle: Rounded Corners 11">
              <a:extLst>
                <a:ext uri="{FF2B5EF4-FFF2-40B4-BE49-F238E27FC236}">
                  <a16:creationId xmlns:a16="http://schemas.microsoft.com/office/drawing/2014/main" id="{DA3E4217-35DC-4D40-83F9-88CDB7EC60B1}"/>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IAR</a:t>
              </a:r>
            </a:p>
            <a:p>
              <a:pPr algn="ctr" defTabSz="576000" eaLnBrk="0" hangingPunct="0">
                <a:lnSpc>
                  <a:spcPct val="120000"/>
                </a:lnSpc>
              </a:pPr>
              <a:r>
                <a:rPr lang="en-US" sz="1600">
                  <a:solidFill>
                    <a:schemeClr val="bg1"/>
                  </a:solidFill>
                </a:rPr>
                <a:t>Embedded</a:t>
              </a:r>
            </a:p>
            <a:p>
              <a:pPr algn="ctr" defTabSz="576000" eaLnBrk="0" hangingPunct="0">
                <a:lnSpc>
                  <a:spcPct val="120000"/>
                </a:lnSpc>
              </a:pPr>
              <a:r>
                <a:rPr lang="en-US" sz="1600">
                  <a:solidFill>
                    <a:schemeClr val="bg1"/>
                  </a:solidFill>
                </a:rPr>
                <a:t>Workbench</a:t>
              </a:r>
              <a:endParaRPr lang="en-US" sz="1600" dirty="0">
                <a:solidFill>
                  <a:schemeClr val="bg1"/>
                </a:solidFill>
              </a:endParaRPr>
            </a:p>
          </p:txBody>
        </p:sp>
        <p:cxnSp>
          <p:nvCxnSpPr>
            <p:cNvPr id="13" name="Connector: Elbow 12">
              <a:extLst>
                <a:ext uri="{FF2B5EF4-FFF2-40B4-BE49-F238E27FC236}">
                  <a16:creationId xmlns:a16="http://schemas.microsoft.com/office/drawing/2014/main" id="{9E06BEC8-A23E-4012-8C3A-4935D2C50564}"/>
                </a:ext>
              </a:extLst>
            </p:cNvPr>
            <p:cNvCxnSpPr>
              <a:cxnSpLocks/>
              <a:stCxn id="8"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6" name="Straight Connector 78">
              <a:extLst>
                <a:ext uri="{FF2B5EF4-FFF2-40B4-BE49-F238E27FC236}">
                  <a16:creationId xmlns:a16="http://schemas.microsoft.com/office/drawing/2014/main" id="{55381D64-689E-4DF2-90BF-0FB21EE3AAEE}"/>
                </a:ext>
              </a:extLst>
            </p:cNvPr>
            <p:cNvCxnSpPr>
              <a:cxnSpLocks/>
              <a:stCxn id="17" idx="0"/>
            </p:cNvCxnSpPr>
            <p:nvPr/>
          </p:nvCxnSpPr>
          <p:spPr>
            <a:xfrm flipV="1">
              <a:off x="6110574" y="3087901"/>
              <a:ext cx="0" cy="2001260"/>
            </a:xfrm>
            <a:prstGeom prst="straightConnector1">
              <a:avLst/>
            </a:prstGeom>
            <a:ln>
              <a:tailEnd type="none"/>
            </a:ln>
          </p:spPr>
          <p:style>
            <a:lnRef idx="3">
              <a:schemeClr val="accent6"/>
            </a:lnRef>
            <a:fillRef idx="0">
              <a:schemeClr val="accent6"/>
            </a:fillRef>
            <a:effectRef idx="2">
              <a:schemeClr val="accent6"/>
            </a:effectRef>
            <a:fontRef idx="minor">
              <a:schemeClr val="tx1"/>
            </a:fontRef>
          </p:style>
        </p:cxnSp>
        <p:sp>
          <p:nvSpPr>
            <p:cNvPr id="17" name="Rectangle: Rounded Corners 16">
              <a:extLst>
                <a:ext uri="{FF2B5EF4-FFF2-40B4-BE49-F238E27FC236}">
                  <a16:creationId xmlns:a16="http://schemas.microsoft.com/office/drawing/2014/main" id="{779F2242-BB68-4E29-8EA7-62688C842B80}"/>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14" name="Rectangle: Rounded Corners 13">
              <a:extLst>
                <a:ext uri="{FF2B5EF4-FFF2-40B4-BE49-F238E27FC236}">
                  <a16:creationId xmlns:a16="http://schemas.microsoft.com/office/drawing/2014/main" id="{84360866-44F9-4D56-858F-3DC4504F49CB}"/>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15" name="Rectangle: Rounded Corners 14">
              <a:extLst>
                <a:ext uri="{FF2B5EF4-FFF2-40B4-BE49-F238E27FC236}">
                  <a16:creationId xmlns:a16="http://schemas.microsoft.com/office/drawing/2014/main" id="{C2856575-07C1-4EFC-8805-48DAE8849BC5}"/>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for </a:t>
              </a:r>
              <a:r>
                <a:rPr lang="en-US" sz="1600" dirty="0" err="1">
                  <a:solidFill>
                    <a:schemeClr val="bg1"/>
                  </a:solidFill>
                </a:rPr>
                <a:t>ModusToolbox</a:t>
              </a:r>
              <a:r>
                <a:rPr lang="en-US" sz="1600" dirty="0">
                  <a:solidFill>
                    <a:schemeClr val="bg1"/>
                  </a:solidFill>
                </a:rPr>
                <a:t>™ </a:t>
              </a:r>
            </a:p>
          </p:txBody>
        </p:sp>
        <p:sp>
          <p:nvSpPr>
            <p:cNvPr id="18" name="Rectangle: Rounded Corners 17">
              <a:extLst>
                <a:ext uri="{FF2B5EF4-FFF2-40B4-BE49-F238E27FC236}">
                  <a16:creationId xmlns:a16="http://schemas.microsoft.com/office/drawing/2014/main" id="{8163A67B-0064-4D69-AB6F-DEE82B011146}"/>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Visual Studio</a:t>
              </a:r>
            </a:p>
            <a:p>
              <a:pPr algn="ctr" defTabSz="576000" eaLnBrk="0" hangingPunct="0">
                <a:lnSpc>
                  <a:spcPct val="120000"/>
                </a:lnSpc>
              </a:pPr>
              <a:r>
                <a:rPr lang="en-US" sz="1600" dirty="0">
                  <a:solidFill>
                    <a:schemeClr val="bg1"/>
                  </a:solidFill>
                </a:rPr>
                <a:t>Code</a:t>
              </a:r>
            </a:p>
          </p:txBody>
        </p:sp>
        <p:sp>
          <p:nvSpPr>
            <p:cNvPr id="19" name="Rectangle: Rounded Corners 18">
              <a:extLst>
                <a:ext uri="{FF2B5EF4-FFF2-40B4-BE49-F238E27FC236}">
                  <a16:creationId xmlns:a16="http://schemas.microsoft.com/office/drawing/2014/main" id="{8CAB4524-00AA-4B49-88FE-0F06521F3F45}"/>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Arm</a:t>
              </a:r>
              <a:r>
                <a:rPr lang="en-US" sz="1600" baseline="30000" dirty="0">
                  <a:solidFill>
                    <a:schemeClr val="bg1"/>
                  </a:solidFill>
                </a:rPr>
                <a:t>®</a:t>
              </a:r>
              <a:r>
                <a:rPr lang="en-US" sz="1600" dirty="0">
                  <a:solidFill>
                    <a:schemeClr val="bg1"/>
                  </a:solidFill>
                </a:rPr>
                <a:t> MDK</a:t>
              </a:r>
            </a:p>
            <a:p>
              <a:pPr algn="ctr" defTabSz="576000" eaLnBrk="0" hangingPunct="0">
                <a:lnSpc>
                  <a:spcPct val="120000"/>
                </a:lnSpc>
              </a:pPr>
              <a:r>
                <a:rPr lang="en-US" sz="1600" dirty="0">
                  <a:solidFill>
                    <a:schemeClr val="bg1"/>
                  </a:solidFill>
                </a:rPr>
                <a:t>with µVision IDE</a:t>
              </a:r>
            </a:p>
          </p:txBody>
        </p:sp>
        <p:cxnSp>
          <p:nvCxnSpPr>
            <p:cNvPr id="20" name="Connector: Elbow 19">
              <a:extLst>
                <a:ext uri="{FF2B5EF4-FFF2-40B4-BE49-F238E27FC236}">
                  <a16:creationId xmlns:a16="http://schemas.microsoft.com/office/drawing/2014/main" id="{5E029571-F504-49DB-9EE9-BC49E5ECF7FF}"/>
                </a:ext>
              </a:extLst>
            </p:cNvPr>
            <p:cNvCxnSpPr>
              <a:cxnSpLocks/>
              <a:stCxn id="14" idx="2"/>
              <a:endCxn id="15"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21" name="Connector: Elbow 20">
              <a:extLst>
                <a:ext uri="{FF2B5EF4-FFF2-40B4-BE49-F238E27FC236}">
                  <a16:creationId xmlns:a16="http://schemas.microsoft.com/office/drawing/2014/main" id="{CD8A147B-67A0-4064-8654-907D8AB5C21F}"/>
                </a:ext>
              </a:extLst>
            </p:cNvPr>
            <p:cNvCxnSpPr>
              <a:cxnSpLocks/>
              <a:stCxn id="23"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22" name="Straight Connector 21">
              <a:extLst>
                <a:ext uri="{FF2B5EF4-FFF2-40B4-BE49-F238E27FC236}">
                  <a16:creationId xmlns:a16="http://schemas.microsoft.com/office/drawing/2014/main" id="{8DD75F2C-EA64-4E89-B616-E43FEFFFA07C}"/>
                </a:ext>
              </a:extLst>
            </p:cNvPr>
            <p:cNvCxnSpPr>
              <a:cxnSpLocks/>
              <a:stCxn id="18"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23" name="Rectangle: Rounded Corners 22">
              <a:extLst>
                <a:ext uri="{FF2B5EF4-FFF2-40B4-BE49-F238E27FC236}">
                  <a16:creationId xmlns:a16="http://schemas.microsoft.com/office/drawing/2014/main" id="{BD594BF7-EB7B-40D9-AE00-42A50AE1BD7C}"/>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IAR</a:t>
              </a:r>
            </a:p>
            <a:p>
              <a:pPr algn="ctr" defTabSz="576000" eaLnBrk="0" hangingPunct="0">
                <a:lnSpc>
                  <a:spcPct val="120000"/>
                </a:lnSpc>
              </a:pPr>
              <a:r>
                <a:rPr lang="en-US" sz="1600" dirty="0">
                  <a:solidFill>
                    <a:schemeClr val="bg1"/>
                  </a:solidFill>
                </a:rPr>
                <a:t>Embedded Workbench</a:t>
              </a:r>
            </a:p>
          </p:txBody>
        </p:sp>
        <p:cxnSp>
          <p:nvCxnSpPr>
            <p:cNvPr id="24" name="Connector: Elbow 23">
              <a:extLst>
                <a:ext uri="{FF2B5EF4-FFF2-40B4-BE49-F238E27FC236}">
                  <a16:creationId xmlns:a16="http://schemas.microsoft.com/office/drawing/2014/main" id="{553B240B-5630-4F92-8C08-5A199D718E65}"/>
                </a:ext>
              </a:extLst>
            </p:cNvPr>
            <p:cNvCxnSpPr>
              <a:cxnSpLocks/>
              <a:stCxn id="19"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sp>
          <p:nvSpPr>
            <p:cNvPr id="26" name="Rectangle: Rounded Corners 25">
              <a:extLst>
                <a:ext uri="{FF2B5EF4-FFF2-40B4-BE49-F238E27FC236}">
                  <a16:creationId xmlns:a16="http://schemas.microsoft.com/office/drawing/2014/main" id="{C6AFB06A-9067-4C6D-B552-620A2557706C}"/>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
          <p:nvSpPr>
            <p:cNvPr id="27" name="Right Brace 26">
              <a:extLst>
                <a:ext uri="{FF2B5EF4-FFF2-40B4-BE49-F238E27FC236}">
                  <a16:creationId xmlns:a16="http://schemas.microsoft.com/office/drawing/2014/main" id="{E00A7F3E-693F-4408-B59B-D8D8C5FFC017}"/>
                </a:ext>
              </a:extLst>
            </p:cNvPr>
            <p:cNvSpPr/>
            <p:nvPr/>
          </p:nvSpPr>
          <p:spPr>
            <a:xfrm rot="5400000">
              <a:off x="8908203" y="2114347"/>
              <a:ext cx="621038" cy="5328590"/>
            </a:xfrm>
            <a:prstGeom prst="rightBrace">
              <a:avLst>
                <a:gd name="adj1" fmla="val 34279"/>
                <a:gd name="adj2" fmla="val 38479"/>
              </a:avLst>
            </a:prstGeom>
            <a:ln w="38100">
              <a:solidFill>
                <a:srgbClr val="575352"/>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16519DA7-0495-415A-908B-6F9E128CFF07}"/>
                </a:ext>
              </a:extLst>
            </p:cNvPr>
            <p:cNvSpPr txBox="1"/>
            <p:nvPr/>
          </p:nvSpPr>
          <p:spPr bwMode="auto">
            <a:xfrm>
              <a:off x="8422559" y="5157192"/>
              <a:ext cx="3168352" cy="1268874"/>
            </a:xfrm>
            <a:prstGeom prst="rect">
              <a:avLst/>
            </a:prstGeom>
            <a:noFill/>
            <a:ln w="9525">
              <a:noFill/>
              <a:miter lim="800000"/>
              <a:headEnd/>
              <a:tailEnd/>
            </a:ln>
            <a:effectLst/>
          </p:spPr>
          <p:txBody>
            <a:bodyPr wrap="square" lIns="0" tIns="0" rIns="0" bIns="0" rtlCol="0" anchor="t" anchorCtr="0">
              <a:spAutoFit/>
            </a:bodyPr>
            <a:lstStyle/>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Embedded workbench and µVision require additional </a:t>
              </a:r>
              <a:br>
                <a:rPr lang="en-US" dirty="0"/>
              </a:br>
              <a:r>
                <a:rPr lang="en-US" dirty="0"/>
                <a:t>post-build step configuration</a:t>
              </a:r>
            </a:p>
            <a:p>
              <a:pPr marL="285750" indent="-28575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dirty="0"/>
                <a:t>Details documented within IDE respective user manuals</a:t>
              </a:r>
            </a:p>
          </p:txBody>
        </p:sp>
      </p:grpSp>
    </p:spTree>
    <p:extLst>
      <p:ext uri="{BB962C8B-B14F-4D97-AF65-F5344CB8AC3E}">
        <p14:creationId xmlns:p14="http://schemas.microsoft.com/office/powerpoint/2010/main" val="2988276359"/>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C6ADC231-778D-FF78-5969-ACE87784F43D}"/>
              </a:ext>
            </a:extLst>
          </p:cNvPr>
          <p:cNvSpPr>
            <a:spLocks noGrp="1"/>
          </p:cNvSpPr>
          <p:nvPr>
            <p:ph sz="quarter" idx="13"/>
          </p:nvPr>
        </p:nvSpPr>
        <p:spPr>
          <a:xfrm>
            <a:off x="335360" y="3121635"/>
            <a:ext cx="5275146" cy="3330103"/>
          </a:xfrm>
        </p:spPr>
        <p:txBody>
          <a:bodyPr/>
          <a:lstStyle/>
          <a:p>
            <a:pPr>
              <a:spcAft>
                <a:spcPts val="600"/>
              </a:spcAft>
            </a:pPr>
            <a:r>
              <a:rPr sz="1600" dirty="0"/>
              <a:t>IDE support, including </a:t>
            </a:r>
            <a:r>
              <a:rPr sz="1600" dirty="0">
                <a:solidFill>
                  <a:schemeClr val="tx2"/>
                </a:solidFill>
              </a:rPr>
              <a:t>Eclipse IDE</a:t>
            </a:r>
            <a:r>
              <a:rPr sz="1600" dirty="0"/>
              <a:t>, </a:t>
            </a:r>
            <a:br>
              <a:rPr sz="1600" dirty="0"/>
            </a:br>
            <a:r>
              <a:rPr sz="1600" dirty="0">
                <a:solidFill>
                  <a:schemeClr val="tx2"/>
                </a:solidFill>
              </a:rPr>
              <a:t>VS Code</a:t>
            </a:r>
            <a:r>
              <a:rPr sz="1600" dirty="0"/>
              <a:t>, and</a:t>
            </a:r>
            <a:r>
              <a:rPr sz="1600" dirty="0">
                <a:solidFill>
                  <a:schemeClr val="tx2"/>
                </a:solidFill>
              </a:rPr>
              <a:t> </a:t>
            </a:r>
            <a:r>
              <a:rPr lang="en-IN" sz="1600" dirty="0">
                <a:solidFill>
                  <a:schemeClr val="tx2"/>
                </a:solidFill>
              </a:rPr>
              <a:t>third-</a:t>
            </a:r>
            <a:r>
              <a:rPr sz="1600" dirty="0">
                <a:solidFill>
                  <a:schemeClr val="tx2"/>
                </a:solidFill>
              </a:rPr>
              <a:t>party IDEs</a:t>
            </a:r>
            <a:endParaRPr sz="1600" dirty="0"/>
          </a:p>
          <a:p>
            <a:pPr>
              <a:spcAft>
                <a:spcPts val="600"/>
              </a:spcAft>
            </a:pPr>
            <a:r>
              <a:rPr sz="1600" dirty="0"/>
              <a:t>Support for GCC, IAR, and Arm compilers using ‘</a:t>
            </a:r>
            <a:r>
              <a:rPr sz="1600" dirty="0">
                <a:solidFill>
                  <a:schemeClr val="tx2"/>
                </a:solidFill>
              </a:rPr>
              <a:t>make</a:t>
            </a:r>
            <a:r>
              <a:rPr sz="1600" dirty="0"/>
              <a:t>’ based </a:t>
            </a:r>
            <a:r>
              <a:rPr sz="1600" dirty="0">
                <a:solidFill>
                  <a:schemeClr val="tx2"/>
                </a:solidFill>
              </a:rPr>
              <a:t>ModusToolbox™ build system</a:t>
            </a:r>
            <a:endParaRPr sz="1600" dirty="0"/>
          </a:p>
          <a:p>
            <a:pPr>
              <a:spcAft>
                <a:spcPts val="600"/>
              </a:spcAft>
            </a:pPr>
            <a:r>
              <a:rPr sz="1600" dirty="0"/>
              <a:t>Graphical </a:t>
            </a:r>
            <a:r>
              <a:rPr sz="1600" dirty="0">
                <a:solidFill>
                  <a:schemeClr val="tx2"/>
                </a:solidFill>
              </a:rPr>
              <a:t>UI configurations </a:t>
            </a:r>
            <a:r>
              <a:rPr sz="1600" dirty="0"/>
              <a:t>tool</a:t>
            </a:r>
          </a:p>
          <a:p>
            <a:pPr>
              <a:spcAft>
                <a:spcPts val="600"/>
              </a:spcAft>
            </a:pPr>
            <a:r>
              <a:rPr sz="1600" dirty="0"/>
              <a:t>Leverages </a:t>
            </a:r>
            <a:r>
              <a:rPr lang="en-IN" sz="1600" dirty="0">
                <a:solidFill>
                  <a:schemeClr val="tx2"/>
                </a:solidFill>
              </a:rPr>
              <a:t>Infineon-developed</a:t>
            </a:r>
            <a:r>
              <a:rPr sz="1600" dirty="0">
                <a:solidFill>
                  <a:schemeClr val="tx2"/>
                </a:solidFill>
              </a:rPr>
              <a:t> </a:t>
            </a:r>
            <a:r>
              <a:rPr sz="1600" dirty="0"/>
              <a:t>low-level drivers, middleware abstraction, middleware, and code examples</a:t>
            </a:r>
          </a:p>
          <a:p>
            <a:pPr>
              <a:spcAft>
                <a:spcPts val="600"/>
              </a:spcAft>
            </a:pPr>
            <a:r>
              <a:rPr sz="1600" dirty="0"/>
              <a:t>Enables key partner middleware via </a:t>
            </a:r>
            <a:r>
              <a:rPr sz="1600" dirty="0">
                <a:solidFill>
                  <a:srgbClr val="0A8276"/>
                </a:solidFill>
              </a:rPr>
              <a:t>ModusToolbox™ </a:t>
            </a:r>
            <a:r>
              <a:rPr lang="en-IN" sz="1600" dirty="0">
                <a:solidFill>
                  <a:srgbClr val="0A8276"/>
                </a:solidFill>
              </a:rPr>
              <a:t>and</a:t>
            </a:r>
            <a:r>
              <a:rPr sz="1600" dirty="0">
                <a:solidFill>
                  <a:srgbClr val="0A8276"/>
                </a:solidFill>
              </a:rPr>
              <a:t> Friends </a:t>
            </a:r>
            <a:r>
              <a:rPr sz="1600" dirty="0"/>
              <a:t>program </a:t>
            </a:r>
          </a:p>
        </p:txBody>
      </p:sp>
      <p:sp>
        <p:nvSpPr>
          <p:cNvPr id="2" name="Title 1">
            <a:extLst>
              <a:ext uri="{FF2B5EF4-FFF2-40B4-BE49-F238E27FC236}">
                <a16:creationId xmlns:a16="http://schemas.microsoft.com/office/drawing/2014/main" id="{023FA8F0-4622-094A-E2EB-77C4E8D9A731}"/>
              </a:ext>
            </a:extLst>
          </p:cNvPr>
          <p:cNvSpPr>
            <a:spLocks noGrp="1"/>
          </p:cNvSpPr>
          <p:nvPr>
            <p:ph type="title"/>
          </p:nvPr>
        </p:nvSpPr>
        <p:spPr/>
        <p:txBody>
          <a:bodyPr/>
          <a:lstStyle/>
          <a:p>
            <a:r>
              <a:rPr dirty="0"/>
              <a:t>Understanding ModusToolbox™ and Zephyr</a:t>
            </a:r>
          </a:p>
        </p:txBody>
      </p:sp>
      <p:pic>
        <p:nvPicPr>
          <p:cNvPr id="6" name="Google Shape;546;p78">
            <a:extLst>
              <a:ext uri="{FF2B5EF4-FFF2-40B4-BE49-F238E27FC236}">
                <a16:creationId xmlns:a16="http://schemas.microsoft.com/office/drawing/2014/main" id="{7D4CFD01-AC3E-7E15-0533-3D0E15C66395}"/>
              </a:ext>
            </a:extLst>
          </p:cNvPr>
          <p:cNvPicPr preferRelativeResize="0"/>
          <p:nvPr/>
        </p:nvPicPr>
        <p:blipFill rotWithShape="1">
          <a:blip r:embed="rId3">
            <a:alphaModFix/>
          </a:blip>
          <a:srcRect/>
          <a:stretch/>
        </p:blipFill>
        <p:spPr>
          <a:xfrm>
            <a:off x="5486400" y="1298295"/>
            <a:ext cx="2249129" cy="1173619"/>
          </a:xfrm>
          <a:prstGeom prst="rect">
            <a:avLst/>
          </a:prstGeom>
          <a:noFill/>
          <a:ln>
            <a:noFill/>
          </a:ln>
        </p:spPr>
      </p:pic>
      <p:pic>
        <p:nvPicPr>
          <p:cNvPr id="8" name="Picture 7" descr="A diagram of software tools&#10;&#10;Description automatically generated">
            <a:extLst>
              <a:ext uri="{FF2B5EF4-FFF2-40B4-BE49-F238E27FC236}">
                <a16:creationId xmlns:a16="http://schemas.microsoft.com/office/drawing/2014/main" id="{58FB3127-D5DF-EC33-FCE2-FDF361CB96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0378" y="1378004"/>
            <a:ext cx="1371600" cy="1366126"/>
          </a:xfrm>
          <a:prstGeom prst="rect">
            <a:avLst/>
          </a:prstGeom>
        </p:spPr>
      </p:pic>
      <p:sp>
        <p:nvSpPr>
          <p:cNvPr id="12" name="Content Placeholder 8">
            <a:extLst>
              <a:ext uri="{FF2B5EF4-FFF2-40B4-BE49-F238E27FC236}">
                <a16:creationId xmlns:a16="http://schemas.microsoft.com/office/drawing/2014/main" id="{7FA7BCDF-6320-2590-7708-71875FECA71F}"/>
              </a:ext>
            </a:extLst>
          </p:cNvPr>
          <p:cNvSpPr txBox="1">
            <a:spLocks/>
          </p:cNvSpPr>
          <p:nvPr/>
        </p:nvSpPr>
        <p:spPr>
          <a:xfrm>
            <a:off x="6507363" y="2823565"/>
            <a:ext cx="5029200" cy="318135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spcAft>
                <a:spcPts val="600"/>
              </a:spcAft>
            </a:pPr>
            <a:r>
              <a:rPr lang="en-US" sz="1600" kern="0" dirty="0"/>
              <a:t>Targeted at </a:t>
            </a:r>
            <a:r>
              <a:rPr lang="en-US" sz="1600" kern="0" dirty="0">
                <a:solidFill>
                  <a:srgbClr val="0A8276"/>
                </a:solidFill>
              </a:rPr>
              <a:t>command-line users </a:t>
            </a:r>
            <a:r>
              <a:rPr lang="en-US" sz="1600" kern="0" dirty="0"/>
              <a:t>with some community support for </a:t>
            </a:r>
            <a:r>
              <a:rPr lang="en-US" sz="1600" kern="0" dirty="0">
                <a:solidFill>
                  <a:srgbClr val="0A8276"/>
                </a:solidFill>
              </a:rPr>
              <a:t>VS Code</a:t>
            </a:r>
            <a:endParaRPr lang="en-US" sz="1600" kern="0" dirty="0"/>
          </a:p>
          <a:p>
            <a:pPr>
              <a:spcAft>
                <a:spcPts val="600"/>
              </a:spcAft>
            </a:pPr>
            <a:r>
              <a:rPr lang="en-US" sz="1600" kern="0" dirty="0"/>
              <a:t>Default support for GCC compiler using ‘</a:t>
            </a:r>
            <a:r>
              <a:rPr lang="en-US" sz="1600" kern="0" dirty="0">
                <a:solidFill>
                  <a:srgbClr val="0A8276"/>
                </a:solidFill>
              </a:rPr>
              <a:t>west</a:t>
            </a:r>
            <a:r>
              <a:rPr lang="en-US" sz="1600" kern="0" dirty="0"/>
              <a:t>’ based </a:t>
            </a:r>
            <a:r>
              <a:rPr lang="en-US" sz="1600" kern="0" dirty="0">
                <a:solidFill>
                  <a:srgbClr val="0A8276"/>
                </a:solidFill>
              </a:rPr>
              <a:t>Zephyr build environment</a:t>
            </a:r>
            <a:r>
              <a:rPr lang="en-US" sz="1600" kern="0" dirty="0"/>
              <a:t>.  Additional toolchains are now being supported</a:t>
            </a:r>
          </a:p>
          <a:p>
            <a:pPr>
              <a:spcAft>
                <a:spcPts val="600"/>
              </a:spcAft>
            </a:pPr>
            <a:r>
              <a:rPr lang="en-US" sz="1600" kern="0" dirty="0"/>
              <a:t>Text-based configuration via </a:t>
            </a:r>
            <a:r>
              <a:rPr lang="en-US" sz="1600" kern="0" dirty="0" err="1">
                <a:solidFill>
                  <a:srgbClr val="0A8276"/>
                </a:solidFill>
              </a:rPr>
              <a:t>devicetree</a:t>
            </a:r>
            <a:r>
              <a:rPr lang="en-US" sz="1600" kern="0" dirty="0">
                <a:solidFill>
                  <a:srgbClr val="0A8276"/>
                </a:solidFill>
              </a:rPr>
              <a:t> and </a:t>
            </a:r>
            <a:r>
              <a:rPr lang="en-US" sz="1600" kern="0" dirty="0" err="1">
                <a:solidFill>
                  <a:srgbClr val="0A8276"/>
                </a:solidFill>
              </a:rPr>
              <a:t>Kconfig</a:t>
            </a:r>
            <a:endParaRPr lang="en-US" sz="1600" kern="0" dirty="0">
              <a:solidFill>
                <a:schemeClr val="accent6"/>
              </a:solidFill>
            </a:endParaRPr>
          </a:p>
          <a:p>
            <a:pPr>
              <a:spcAft>
                <a:spcPts val="600"/>
              </a:spcAft>
            </a:pPr>
            <a:r>
              <a:rPr lang="en-US" sz="1600" kern="0" dirty="0"/>
              <a:t>Leverages vendor provided device support; Infineon support based on </a:t>
            </a:r>
            <a:r>
              <a:rPr lang="en-US" sz="1600" kern="0" dirty="0">
                <a:solidFill>
                  <a:srgbClr val="0A8276"/>
                </a:solidFill>
              </a:rPr>
              <a:t>low-level drivers</a:t>
            </a:r>
            <a:endParaRPr lang="en-US" sz="1600" kern="0" dirty="0"/>
          </a:p>
          <a:p>
            <a:pPr>
              <a:spcAft>
                <a:spcPts val="600"/>
              </a:spcAft>
            </a:pPr>
            <a:r>
              <a:rPr lang="en-US" sz="1600" kern="0" dirty="0">
                <a:solidFill>
                  <a:srgbClr val="0A8276"/>
                </a:solidFill>
              </a:rPr>
              <a:t>Community contributed </a:t>
            </a:r>
            <a:r>
              <a:rPr lang="en-US" sz="1600" kern="0" dirty="0"/>
              <a:t>middleware, with support for Zephyr defined driver API, stacks, and RTOS</a:t>
            </a:r>
          </a:p>
        </p:txBody>
      </p:sp>
      <p:sp>
        <p:nvSpPr>
          <p:cNvPr id="18" name="TextBox 17">
            <a:extLst>
              <a:ext uri="{FF2B5EF4-FFF2-40B4-BE49-F238E27FC236}">
                <a16:creationId xmlns:a16="http://schemas.microsoft.com/office/drawing/2014/main" id="{3AEF1385-2180-9A4A-79FA-2B8E30DF6134}"/>
              </a:ext>
            </a:extLst>
          </p:cNvPr>
          <p:cNvSpPr txBox="1"/>
          <p:nvPr/>
        </p:nvSpPr>
        <p:spPr bwMode="auto">
          <a:xfrm>
            <a:off x="2103046" y="1196752"/>
            <a:ext cx="2696810" cy="1247008"/>
          </a:xfrm>
          <a:prstGeom prst="rect">
            <a:avLst/>
          </a:prstGeom>
          <a:noFill/>
          <a:ln w="9525">
            <a:noFill/>
            <a:miter lim="800000"/>
            <a:headEnd/>
            <a:tailEnd/>
          </a:ln>
          <a:effectLst/>
        </p:spPr>
        <p:txBody>
          <a:bodyPr wrap="square">
            <a:spAutoFit/>
          </a:bodyPr>
          <a:lstStyle/>
          <a:p>
            <a:pPr marL="252000" marR="0" lvl="0" indent="-252000" algn="l" defTabSz="576000" rtl="0" eaLnBrk="1" fontAlgn="base" latinLnBrk="0" hangingPunct="1">
              <a:lnSpc>
                <a:spcPct val="120000"/>
              </a:lnSpc>
              <a:spcBef>
                <a:spcPts val="0"/>
              </a:spcBef>
              <a:spcAft>
                <a:spcPts val="600"/>
              </a:spcAft>
              <a:buClr>
                <a:srgbClr val="0A8276"/>
              </a:buClr>
              <a:buSzPct val="100000"/>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a:cs typeface="Arial"/>
              </a:rPr>
              <a:t>Provides a </a:t>
            </a:r>
            <a:r>
              <a:rPr kumimoji="0" lang="en-US" sz="1600" b="0" i="0" u="none" strike="noStrike" kern="0" cap="none" spc="0" normalizeH="0" baseline="0" noProof="0" dirty="0">
                <a:ln>
                  <a:noFill/>
                </a:ln>
                <a:solidFill>
                  <a:srgbClr val="0A8276"/>
                </a:solidFill>
                <a:effectLst/>
                <a:uLnTx/>
                <a:uFillTx/>
                <a:latin typeface="Arial"/>
                <a:cs typeface="Arial"/>
              </a:rPr>
              <a:t>targeted ecosystem </a:t>
            </a:r>
            <a:r>
              <a:rPr kumimoji="0" lang="en-US" sz="1600" b="0" i="0" u="none" strike="noStrike" kern="0" cap="none" spc="0" normalizeH="0" baseline="0" noProof="0" dirty="0">
                <a:ln>
                  <a:noFill/>
                </a:ln>
                <a:solidFill>
                  <a:srgbClr val="1D1D1D"/>
                </a:solidFill>
                <a:effectLst/>
                <a:uLnTx/>
                <a:uFillTx/>
                <a:latin typeface="Arial"/>
                <a:cs typeface="Arial"/>
              </a:rPr>
              <a:t>focused on development of </a:t>
            </a:r>
            <a:r>
              <a:rPr kumimoji="0" lang="en-US" sz="1600" b="0" i="0" u="none" strike="noStrike" kern="0" cap="none" spc="0" normalizeH="0" baseline="0" noProof="0" dirty="0">
                <a:ln>
                  <a:noFill/>
                </a:ln>
                <a:solidFill>
                  <a:srgbClr val="0A8276"/>
                </a:solidFill>
                <a:effectLst/>
                <a:uLnTx/>
                <a:uFillTx/>
                <a:latin typeface="Arial"/>
                <a:cs typeface="Arial"/>
              </a:rPr>
              <a:t>Infineon devices</a:t>
            </a:r>
            <a:endParaRPr kumimoji="0" lang="en-US" sz="1600" b="0" i="0" u="none" strike="noStrike" kern="0" cap="none" spc="0" normalizeH="0" baseline="0" noProof="0" dirty="0">
              <a:ln>
                <a:noFill/>
              </a:ln>
              <a:solidFill>
                <a:srgbClr val="1D1D1D"/>
              </a:solidFill>
              <a:effectLst/>
              <a:uLnTx/>
              <a:uFillTx/>
              <a:latin typeface="Arial"/>
              <a:cs typeface="Arial"/>
            </a:endParaRPr>
          </a:p>
        </p:txBody>
      </p:sp>
      <p:sp>
        <p:nvSpPr>
          <p:cNvPr id="22" name="TextBox 21">
            <a:extLst>
              <a:ext uri="{FF2B5EF4-FFF2-40B4-BE49-F238E27FC236}">
                <a16:creationId xmlns:a16="http://schemas.microsoft.com/office/drawing/2014/main" id="{F34EDFDB-1695-28B6-B1C5-6439B33CB782}"/>
              </a:ext>
            </a:extLst>
          </p:cNvPr>
          <p:cNvSpPr txBox="1"/>
          <p:nvPr/>
        </p:nvSpPr>
        <p:spPr bwMode="auto">
          <a:xfrm>
            <a:off x="8031363" y="1196752"/>
            <a:ext cx="3105197" cy="1542474"/>
          </a:xfrm>
          <a:prstGeom prst="rect">
            <a:avLst/>
          </a:prstGeom>
          <a:noFill/>
          <a:ln w="9525">
            <a:noFill/>
            <a:miter lim="800000"/>
            <a:headEnd/>
            <a:tailEnd/>
          </a:ln>
          <a:effectLst/>
        </p:spPr>
        <p:txBody>
          <a:bodyPr wrap="square">
            <a:spAutoFit/>
          </a:bodyPr>
          <a:lstStyle/>
          <a:p>
            <a:pPr marL="285750" marR="0" lvl="0" indent="-285750" algn="l" defTabSz="914400" rtl="0" eaLnBrk="1" fontAlgn="base" latinLnBrk="0" hangingPunct="1">
              <a:lnSpc>
                <a:spcPct val="120000"/>
              </a:lnSpc>
              <a:spcBef>
                <a:spcPct val="0"/>
              </a:spcBef>
              <a:spcAft>
                <a:spcPts val="600"/>
              </a:spcAft>
              <a:buClrTx/>
              <a:buSzTx/>
              <a:buFont typeface="Arial" panose="020B0604020202020204" pitchFamily="34" charset="0"/>
              <a:buChar char="‒"/>
              <a:tabLst/>
              <a:defRPr/>
            </a:pPr>
            <a:r>
              <a:rPr kumimoji="0" lang="en-US" sz="1600" b="0" i="0" u="none" strike="noStrike" kern="0" cap="none" spc="0" normalizeH="0" baseline="0" noProof="0" dirty="0">
                <a:ln>
                  <a:noFill/>
                </a:ln>
                <a:solidFill>
                  <a:srgbClr val="1D1D1D"/>
                </a:solidFill>
                <a:effectLst/>
                <a:uLnTx/>
                <a:uFillTx/>
                <a:latin typeface="Arial" charset="0"/>
                <a:cs typeface="Arial"/>
              </a:rPr>
              <a:t>Provides a </a:t>
            </a:r>
            <a:r>
              <a:rPr kumimoji="0" lang="en-US" sz="1600" b="0" i="0" u="none" strike="noStrike" kern="0" cap="none" spc="0" normalizeH="0" baseline="0" noProof="0" dirty="0">
                <a:ln>
                  <a:noFill/>
                </a:ln>
                <a:solidFill>
                  <a:srgbClr val="0A8276"/>
                </a:solidFill>
                <a:effectLst/>
                <a:uLnTx/>
                <a:uFillTx/>
                <a:latin typeface="Arial" charset="0"/>
                <a:cs typeface="Arial"/>
              </a:rPr>
              <a:t>community driven ecosystem </a:t>
            </a:r>
            <a:r>
              <a:rPr kumimoji="0" lang="en-US" sz="1600" b="0" i="0" u="none" strike="noStrike" kern="0" cap="none" spc="0" normalizeH="0" baseline="0" noProof="0" dirty="0">
                <a:ln>
                  <a:noFill/>
                </a:ln>
                <a:solidFill>
                  <a:srgbClr val="1D1D1D"/>
                </a:solidFill>
                <a:effectLst/>
                <a:uLnTx/>
                <a:uFillTx/>
                <a:latin typeface="Arial" charset="0"/>
                <a:cs typeface="Arial"/>
              </a:rPr>
              <a:t>with support for a targeted set of MCUs from a </a:t>
            </a:r>
            <a:r>
              <a:rPr kumimoji="0" lang="en-US" sz="1600" b="0" i="0" u="none" strike="noStrike" kern="0" cap="none" spc="0" normalizeH="0" baseline="0" noProof="0" dirty="0">
                <a:ln>
                  <a:noFill/>
                </a:ln>
                <a:solidFill>
                  <a:srgbClr val="0A8276"/>
                </a:solidFill>
                <a:effectLst/>
                <a:uLnTx/>
                <a:uFillTx/>
                <a:latin typeface="Arial" charset="0"/>
                <a:cs typeface="Arial"/>
              </a:rPr>
              <a:t>wide range of silicon providers</a:t>
            </a:r>
          </a:p>
        </p:txBody>
      </p:sp>
      <p:sp>
        <p:nvSpPr>
          <p:cNvPr id="3" name="Rectangle 2">
            <a:extLst>
              <a:ext uri="{FF2B5EF4-FFF2-40B4-BE49-F238E27FC236}">
                <a16:creationId xmlns:a16="http://schemas.microsoft.com/office/drawing/2014/main" id="{B1446131-FB83-EBC2-A9AB-57D01AAC33E8}"/>
              </a:ext>
            </a:extLst>
          </p:cNvPr>
          <p:cNvSpPr/>
          <p:nvPr/>
        </p:nvSpPr>
        <p:spPr bwMode="auto">
          <a:xfrm>
            <a:off x="335360" y="1198729"/>
            <a:ext cx="1759768" cy="1743631"/>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
        <p:nvSpPr>
          <p:cNvPr id="4" name="Rectangle 3">
            <a:extLst>
              <a:ext uri="{FF2B5EF4-FFF2-40B4-BE49-F238E27FC236}">
                <a16:creationId xmlns:a16="http://schemas.microsoft.com/office/drawing/2014/main" id="{38D19C02-16F5-054A-4B9E-D72EBFF55188}"/>
              </a:ext>
            </a:extLst>
          </p:cNvPr>
          <p:cNvSpPr/>
          <p:nvPr/>
        </p:nvSpPr>
        <p:spPr bwMode="auto">
          <a:xfrm>
            <a:off x="5455845" y="1200461"/>
            <a:ext cx="2575517" cy="1494308"/>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3742354592"/>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a:extLst>
              <a:ext uri="{FF2B5EF4-FFF2-40B4-BE49-F238E27FC236}">
                <a16:creationId xmlns:a16="http://schemas.microsoft.com/office/drawing/2014/main" id="{E2253AEA-3BBA-38AD-0236-0C3BA893D976}"/>
              </a:ext>
            </a:extLst>
          </p:cNvPr>
          <p:cNvSpPr>
            <a:spLocks noGrp="1"/>
          </p:cNvSpPr>
          <p:nvPr>
            <p:ph sz="quarter" idx="13"/>
          </p:nvPr>
        </p:nvSpPr>
        <p:spPr>
          <a:xfrm>
            <a:off x="335360" y="1272234"/>
            <a:ext cx="7200800" cy="2736650"/>
          </a:xfrm>
        </p:spPr>
        <p:txBody>
          <a:bodyPr/>
          <a:lstStyle/>
          <a:p>
            <a:r>
              <a:rPr sz="1600" dirty="0"/>
              <a:t>Installation of ModusToolbox™ and DEEPCRAFT™ supported within the </a:t>
            </a:r>
            <a:r>
              <a:rPr sz="1600" dirty="0">
                <a:solidFill>
                  <a:schemeClr val="tx2"/>
                </a:solidFill>
              </a:rPr>
              <a:t>ModusToolbox™ Setup</a:t>
            </a:r>
            <a:r>
              <a:rPr sz="1600" dirty="0"/>
              <a:t> program</a:t>
            </a:r>
          </a:p>
          <a:p>
            <a:r>
              <a:rPr sz="1600" dirty="0"/>
              <a:t>Code Examples aligned with DEEPCRAFT™ Studio </a:t>
            </a:r>
            <a:r>
              <a:rPr sz="1600" dirty="0">
                <a:solidFill>
                  <a:schemeClr val="tx2"/>
                </a:solidFill>
              </a:rPr>
              <a:t>Accelerator projects </a:t>
            </a:r>
            <a:r>
              <a:rPr sz="1600" dirty="0"/>
              <a:t>for IMU, Vibration, and Microphone</a:t>
            </a:r>
          </a:p>
          <a:p>
            <a:r>
              <a:rPr sz="1600" dirty="0"/>
              <a:t>Code Examples aligned with DEEPCRAFT™ Studio </a:t>
            </a:r>
            <a:r>
              <a:rPr sz="1600" dirty="0">
                <a:solidFill>
                  <a:schemeClr val="tx2"/>
                </a:solidFill>
              </a:rPr>
              <a:t>Data Collection with Graph UX</a:t>
            </a:r>
          </a:p>
          <a:p>
            <a:r>
              <a:rPr sz="1600" dirty="0"/>
              <a:t>Code Examples aligned with DEEPCRAFT™ </a:t>
            </a:r>
            <a:r>
              <a:rPr lang="en-IN" sz="1600" dirty="0"/>
              <a:t>Model Converter</a:t>
            </a:r>
            <a:r>
              <a:rPr sz="1600" dirty="0"/>
              <a:t> </a:t>
            </a:r>
            <a:r>
              <a:rPr sz="1600" dirty="0">
                <a:solidFill>
                  <a:schemeClr val="tx2"/>
                </a:solidFill>
              </a:rPr>
              <a:t>Profiling</a:t>
            </a:r>
          </a:p>
          <a:p>
            <a:r>
              <a:rPr sz="1600" dirty="0">
                <a:solidFill>
                  <a:schemeClr val="tx2"/>
                </a:solidFill>
              </a:rPr>
              <a:t>Project connector </a:t>
            </a:r>
            <a:r>
              <a:rPr sz="1600" dirty="0"/>
              <a:t>files in ModusToolbox™ applications with Quick Panel shortcuts for linking to DEEPCRAFT™ Studio Projects</a:t>
            </a:r>
          </a:p>
        </p:txBody>
      </p:sp>
      <p:sp>
        <p:nvSpPr>
          <p:cNvPr id="2" name="Titel 1">
            <a:extLst>
              <a:ext uri="{FF2B5EF4-FFF2-40B4-BE49-F238E27FC236}">
                <a16:creationId xmlns:a16="http://schemas.microsoft.com/office/drawing/2014/main" id="{D2A3DB54-EDAA-323A-87B5-63B2513F5053}"/>
              </a:ext>
            </a:extLst>
          </p:cNvPr>
          <p:cNvSpPr>
            <a:spLocks noGrp="1"/>
          </p:cNvSpPr>
          <p:nvPr>
            <p:ph type="title"/>
          </p:nvPr>
        </p:nvSpPr>
        <p:spPr/>
        <p:txBody>
          <a:bodyPr/>
          <a:lstStyle/>
          <a:p>
            <a:r>
              <a:t>Overview of DEEPCRAFT™ Studio and ModusToolbox™ workflow</a:t>
            </a:r>
          </a:p>
        </p:txBody>
      </p:sp>
      <p:grpSp>
        <p:nvGrpSpPr>
          <p:cNvPr id="3" name="Group 2">
            <a:extLst>
              <a:ext uri="{FF2B5EF4-FFF2-40B4-BE49-F238E27FC236}">
                <a16:creationId xmlns:a16="http://schemas.microsoft.com/office/drawing/2014/main" id="{B1F4359D-129C-6CCF-F0F3-A733A74B09A9}"/>
              </a:ext>
            </a:extLst>
          </p:cNvPr>
          <p:cNvGrpSpPr/>
          <p:nvPr/>
        </p:nvGrpSpPr>
        <p:grpSpPr>
          <a:xfrm>
            <a:off x="8199247" y="1556792"/>
            <a:ext cx="2682240" cy="4522560"/>
            <a:chOff x="334963" y="1344840"/>
            <a:chExt cx="2682240" cy="4522560"/>
          </a:xfrm>
        </p:grpSpPr>
        <p:pic>
          <p:nvPicPr>
            <p:cNvPr id="7" name="Picture 6" descr="A diagram of software tools&#10;&#10;AI-generated content may be incorrect.">
              <a:extLst>
                <a:ext uri="{FF2B5EF4-FFF2-40B4-BE49-F238E27FC236}">
                  <a16:creationId xmlns:a16="http://schemas.microsoft.com/office/drawing/2014/main" id="{8FEF708D-0F4F-5E0D-FE10-2F967E6693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40" y="1344840"/>
              <a:ext cx="2103120" cy="2103120"/>
            </a:xfrm>
            <a:prstGeom prst="rect">
              <a:avLst/>
            </a:prstGeom>
          </p:spPr>
        </p:pic>
        <p:pic>
          <p:nvPicPr>
            <p:cNvPr id="9" name="Picture 8">
              <a:extLst>
                <a:ext uri="{FF2B5EF4-FFF2-40B4-BE49-F238E27FC236}">
                  <a16:creationId xmlns:a16="http://schemas.microsoft.com/office/drawing/2014/main" id="{CA66AEBA-F9F5-5A84-110C-012CC8A38C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4963" y="4191000"/>
              <a:ext cx="2682240" cy="1676400"/>
            </a:xfrm>
            <a:prstGeom prst="rect">
              <a:avLst/>
            </a:prstGeom>
          </p:spPr>
        </p:pic>
      </p:grpSp>
      <p:sp>
        <p:nvSpPr>
          <p:cNvPr id="12" name="Content Placeholder 10">
            <a:extLst>
              <a:ext uri="{FF2B5EF4-FFF2-40B4-BE49-F238E27FC236}">
                <a16:creationId xmlns:a16="http://schemas.microsoft.com/office/drawing/2014/main" id="{5B080C64-02F7-4943-1332-E103690D048F}"/>
              </a:ext>
            </a:extLst>
          </p:cNvPr>
          <p:cNvSpPr txBox="1">
            <a:spLocks/>
          </p:cNvSpPr>
          <p:nvPr/>
        </p:nvSpPr>
        <p:spPr>
          <a:xfrm>
            <a:off x="335360" y="4065646"/>
            <a:ext cx="7200800" cy="1676401"/>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1600" kern="0" dirty="0"/>
              <a:t>Integration of ModusToolbox</a:t>
            </a:r>
            <a:r>
              <a:rPr lang="en-US" sz="1600" dirty="0"/>
              <a:t>™</a:t>
            </a:r>
            <a:r>
              <a:rPr lang="en-US" sz="1600" kern="0" dirty="0"/>
              <a:t> Project Creator, supporting coordinated DEEPCRAFT</a:t>
            </a:r>
            <a:r>
              <a:rPr lang="en-US" sz="1600" dirty="0"/>
              <a:t>™</a:t>
            </a:r>
            <a:r>
              <a:rPr lang="en-US" sz="1600" kern="0" dirty="0"/>
              <a:t> Studio and ModusToolbox</a:t>
            </a:r>
            <a:r>
              <a:rPr lang="en-US" sz="1600" dirty="0"/>
              <a:t>™</a:t>
            </a:r>
            <a:r>
              <a:rPr lang="en-US" sz="1600" kern="0" dirty="0"/>
              <a:t> project creation </a:t>
            </a:r>
          </a:p>
          <a:p>
            <a:r>
              <a:rPr lang="en-US" sz="1600" kern="0" dirty="0"/>
              <a:t>Integration ModusToolbox</a:t>
            </a:r>
            <a:r>
              <a:rPr lang="en-US" sz="1600" dirty="0"/>
              <a:t>™</a:t>
            </a:r>
            <a:r>
              <a:rPr lang="en-US" sz="1600" kern="0" dirty="0"/>
              <a:t> Machine Learning Core Tools (</a:t>
            </a:r>
            <a:r>
              <a:rPr lang="en-US" sz="1600" kern="0" dirty="0">
                <a:solidFill>
                  <a:schemeClr val="tx2"/>
                </a:solidFill>
              </a:rPr>
              <a:t>ml-</a:t>
            </a:r>
            <a:r>
              <a:rPr lang="en-US" sz="1600" kern="0" dirty="0" err="1">
                <a:solidFill>
                  <a:schemeClr val="tx2"/>
                </a:solidFill>
              </a:rPr>
              <a:t>coretools</a:t>
            </a:r>
            <a:r>
              <a:rPr lang="en-US" sz="1600" kern="0" dirty="0"/>
              <a:t>), leveraged during  Infineon device-specific code generations and </a:t>
            </a:r>
            <a:r>
              <a:rPr lang="en-US" sz="1600" kern="0" dirty="0" err="1"/>
              <a:t>optimisation</a:t>
            </a:r>
            <a:endParaRPr lang="en-US" sz="1600" kern="0" dirty="0"/>
          </a:p>
          <a:p>
            <a:r>
              <a:rPr lang="en-US" sz="1600" kern="0" dirty="0"/>
              <a:t>ModusToolbox</a:t>
            </a:r>
            <a:r>
              <a:rPr lang="en-US" sz="1600" dirty="0"/>
              <a:t>™</a:t>
            </a:r>
            <a:r>
              <a:rPr lang="en-US" sz="1600" kern="0" dirty="0"/>
              <a:t> project detection and selection during model code generation</a:t>
            </a:r>
          </a:p>
          <a:p>
            <a:pPr marL="0" indent="0">
              <a:buNone/>
            </a:pPr>
            <a:endParaRPr lang="en-US" sz="1600" kern="0" dirty="0"/>
          </a:p>
        </p:txBody>
      </p:sp>
      <p:sp>
        <p:nvSpPr>
          <p:cNvPr id="4" name="Rectangle 3">
            <a:extLst>
              <a:ext uri="{FF2B5EF4-FFF2-40B4-BE49-F238E27FC236}">
                <a16:creationId xmlns:a16="http://schemas.microsoft.com/office/drawing/2014/main" id="{45B49E45-23A0-3B89-35A7-1F450C040EA4}"/>
              </a:ext>
            </a:extLst>
          </p:cNvPr>
          <p:cNvSpPr/>
          <p:nvPr/>
        </p:nvSpPr>
        <p:spPr bwMode="auto">
          <a:xfrm>
            <a:off x="7740167" y="1272234"/>
            <a:ext cx="3600400" cy="2588814"/>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
        <p:nvSpPr>
          <p:cNvPr id="5" name="Rectangle 4">
            <a:extLst>
              <a:ext uri="{FF2B5EF4-FFF2-40B4-BE49-F238E27FC236}">
                <a16:creationId xmlns:a16="http://schemas.microsoft.com/office/drawing/2014/main" id="{842D54D6-ED6F-1CDC-DB1D-F5ED2D5F9410}"/>
              </a:ext>
            </a:extLst>
          </p:cNvPr>
          <p:cNvSpPr/>
          <p:nvPr/>
        </p:nvSpPr>
        <p:spPr bwMode="auto">
          <a:xfrm>
            <a:off x="7745453" y="4161032"/>
            <a:ext cx="3595114" cy="2160240"/>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1389997986"/>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EACB5-5256-7A2D-6000-517A6B2EB4C6}"/>
            </a:ext>
          </a:extLst>
        </p:cNvPr>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E57EBD15-5681-224A-EB5E-3950639292DF}"/>
              </a:ext>
            </a:extLst>
          </p:cNvPr>
          <p:cNvGraphicFramePr>
            <a:graphicFrameLocks noGrp="1"/>
          </p:cNvGraphicFramePr>
          <p:nvPr>
            <p:extLst>
              <p:ext uri="{D42A27DB-BD31-4B8C-83A1-F6EECF244321}">
                <p14:modId xmlns:p14="http://schemas.microsoft.com/office/powerpoint/2010/main" val="3230666813"/>
              </p:ext>
            </p:extLst>
          </p:nvPr>
        </p:nvGraphicFramePr>
        <p:xfrm>
          <a:off x="5339432" y="1268415"/>
          <a:ext cx="6120680" cy="4695760"/>
        </p:xfrm>
        <a:graphic>
          <a:graphicData uri="http://schemas.openxmlformats.org/drawingml/2006/table">
            <a:tbl>
              <a:tblPr firstRow="1" bandRow="1">
                <a:tableStyleId>{5940675A-B579-460E-94D1-54222C63F5DA}</a:tableStyleId>
              </a:tblPr>
              <a:tblGrid>
                <a:gridCol w="6120680">
                  <a:extLst>
                    <a:ext uri="{9D8B030D-6E8A-4147-A177-3AD203B41FA5}">
                      <a16:colId xmlns:a16="http://schemas.microsoft.com/office/drawing/2014/main" val="1034522424"/>
                    </a:ext>
                  </a:extLst>
                </a:gridCol>
              </a:tblGrid>
              <a:tr h="4695760">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A47493A0-ED29-748D-AB27-8D118177C007}"/>
              </a:ext>
            </a:extLst>
          </p:cNvPr>
          <p:cNvSpPr>
            <a:spLocks noGrp="1"/>
          </p:cNvSpPr>
          <p:nvPr>
            <p:ph sz="quarter" idx="13" hasCustomPrompt="1"/>
          </p:nvPr>
        </p:nvSpPr>
        <p:spPr>
          <a:xfrm>
            <a:off x="334800" y="1268415"/>
            <a:ext cx="4825096" cy="4573764"/>
          </a:xfrm>
        </p:spPr>
        <p:txBody>
          <a:bodyPr/>
          <a:lstStyle/>
          <a:p>
            <a:pPr>
              <a:lnSpc>
                <a:spcPct val="150000"/>
              </a:lnSpc>
            </a:pPr>
            <a:r>
              <a:rPr sz="1600" dirty="0"/>
              <a:t>When creating a new DEEPCRAFT™ Studio project, a ModusToolbox™ project can be created at the same time</a:t>
            </a:r>
            <a:endParaRPr lang="en-US" sz="1600" dirty="0"/>
          </a:p>
          <a:p>
            <a:pPr>
              <a:lnSpc>
                <a:spcPct val="150000"/>
              </a:lnSpc>
            </a:pPr>
            <a:r>
              <a:rPr sz="1600" dirty="0"/>
              <a:t>DEEPCRAFT™ Studio includes Studio Accelerator projects that align with ModusToolbox™ code examples, enabling models generated from Studio to be more easily leveraged within a ModusToolbox™ application</a:t>
            </a:r>
            <a:endParaRPr lang="en-US" sz="1600" dirty="0"/>
          </a:p>
          <a:p>
            <a:pPr>
              <a:lnSpc>
                <a:spcPct val="150000"/>
              </a:lnSpc>
            </a:pPr>
            <a:r>
              <a:rPr sz="1600" dirty="0"/>
              <a:t>ModusToolbox™ code examples include DEEPCRAFT™ Deploy Audio and Deploy Motions applications</a:t>
            </a:r>
          </a:p>
        </p:txBody>
      </p:sp>
      <p:sp>
        <p:nvSpPr>
          <p:cNvPr id="3" name="Title 2">
            <a:extLst>
              <a:ext uri="{FF2B5EF4-FFF2-40B4-BE49-F238E27FC236}">
                <a16:creationId xmlns:a16="http://schemas.microsoft.com/office/drawing/2014/main" id="{96704305-5B37-F2A3-6C27-B0B62D8DC96D}"/>
              </a:ext>
            </a:extLst>
          </p:cNvPr>
          <p:cNvSpPr>
            <a:spLocks noGrp="1"/>
          </p:cNvSpPr>
          <p:nvPr>
            <p:ph type="title" hasCustomPrompt="1"/>
          </p:nvPr>
        </p:nvSpPr>
        <p:spPr/>
        <p:txBody>
          <a:bodyPr/>
          <a:lstStyle/>
          <a:p>
            <a:r>
              <a:t>Code Examples with DEEPCRAFT™ and ModusToolbox™ </a:t>
            </a:r>
          </a:p>
        </p:txBody>
      </p:sp>
      <p:pic>
        <p:nvPicPr>
          <p:cNvPr id="7" name="Picture 6">
            <a:extLst>
              <a:ext uri="{FF2B5EF4-FFF2-40B4-BE49-F238E27FC236}">
                <a16:creationId xmlns:a16="http://schemas.microsoft.com/office/drawing/2014/main" id="{4565D862-F997-11D0-8758-48FB57C45868}"/>
              </a:ext>
            </a:extLst>
          </p:cNvPr>
          <p:cNvPicPr>
            <a:picLocks noChangeAspect="1"/>
          </p:cNvPicPr>
          <p:nvPr/>
        </p:nvPicPr>
        <p:blipFill>
          <a:blip r:embed="rId3"/>
          <a:stretch>
            <a:fillRect/>
          </a:stretch>
        </p:blipFill>
        <p:spPr>
          <a:xfrm>
            <a:off x="5471696" y="1397196"/>
            <a:ext cx="5856152" cy="4438198"/>
          </a:xfrm>
          <a:prstGeom prst="rect">
            <a:avLst/>
          </a:prstGeom>
        </p:spPr>
      </p:pic>
    </p:spTree>
    <p:extLst>
      <p:ext uri="{BB962C8B-B14F-4D97-AF65-F5344CB8AC3E}">
        <p14:creationId xmlns:p14="http://schemas.microsoft.com/office/powerpoint/2010/main" val="3959956181"/>
      </p:ext>
    </p:extLst>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A42A6-DF2F-5F0C-AF81-211B7E54CCA5}"/>
            </a:ext>
          </a:extLst>
        </p:cNvPr>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97CC5B52-4D5F-BB8E-7C99-58BA136D3DF7}"/>
              </a:ext>
            </a:extLst>
          </p:cNvPr>
          <p:cNvGraphicFramePr>
            <a:graphicFrameLocks noGrp="1"/>
          </p:cNvGraphicFramePr>
          <p:nvPr>
            <p:extLst>
              <p:ext uri="{D42A27DB-BD31-4B8C-83A1-F6EECF244321}">
                <p14:modId xmlns:p14="http://schemas.microsoft.com/office/powerpoint/2010/main" val="2644365952"/>
              </p:ext>
            </p:extLst>
          </p:nvPr>
        </p:nvGraphicFramePr>
        <p:xfrm>
          <a:off x="6002432" y="1268414"/>
          <a:ext cx="5667072" cy="4824881"/>
        </p:xfrm>
        <a:graphic>
          <a:graphicData uri="http://schemas.openxmlformats.org/drawingml/2006/table">
            <a:tbl>
              <a:tblPr firstRow="1" bandRow="1">
                <a:tableStyleId>{5940675A-B579-460E-94D1-54222C63F5DA}</a:tableStyleId>
              </a:tblPr>
              <a:tblGrid>
                <a:gridCol w="5667072">
                  <a:extLst>
                    <a:ext uri="{9D8B030D-6E8A-4147-A177-3AD203B41FA5}">
                      <a16:colId xmlns:a16="http://schemas.microsoft.com/office/drawing/2014/main" val="1034522424"/>
                    </a:ext>
                  </a:extLst>
                </a:gridCol>
              </a:tblGrid>
              <a:tr h="482488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102F3FDD-3E15-A79D-F997-10E1705821F8}"/>
              </a:ext>
            </a:extLst>
          </p:cNvPr>
          <p:cNvSpPr>
            <a:spLocks noGrp="1"/>
          </p:cNvSpPr>
          <p:nvPr>
            <p:ph sz="quarter" idx="13" hasCustomPrompt="1"/>
          </p:nvPr>
        </p:nvSpPr>
        <p:spPr>
          <a:xfrm>
            <a:off x="335360" y="1268414"/>
            <a:ext cx="5551369" cy="4824881"/>
          </a:xfrm>
        </p:spPr>
        <p:txBody>
          <a:bodyPr>
            <a:normAutofit/>
          </a:bodyPr>
          <a:lstStyle/>
          <a:p>
            <a:pPr>
              <a:lnSpc>
                <a:spcPct val="150000"/>
              </a:lnSpc>
            </a:pPr>
            <a:r>
              <a:rPr sz="1600" dirty="0"/>
              <a:t>DEEPCRAFT™ Studio code generation dialog includes </a:t>
            </a:r>
            <a:br>
              <a:rPr lang="en-IN" sz="1600" dirty="0"/>
            </a:br>
            <a:r>
              <a:rPr sz="1600" dirty="0"/>
              <a:t>pre-defined architecture selections for Infineon devices, including PSOC™ Edge E84</a:t>
            </a:r>
            <a:endParaRPr lang="en-US" sz="1600" dirty="0"/>
          </a:p>
          <a:p>
            <a:pPr>
              <a:lnSpc>
                <a:spcPct val="150000"/>
              </a:lnSpc>
            </a:pPr>
            <a:r>
              <a:rPr sz="1600" dirty="0"/>
              <a:t>DEEPCRAFT™ Studio code generation integrates the ModusToolbox™ Machine Learning Core Tools </a:t>
            </a:r>
            <a:br>
              <a:rPr lang="en-IN" sz="1600" dirty="0"/>
            </a:br>
            <a:r>
              <a:rPr sz="1600" dirty="0"/>
              <a:t>(</a:t>
            </a:r>
            <a:r>
              <a:rPr sz="1600" dirty="0">
                <a:solidFill>
                  <a:schemeClr val="tx2"/>
                </a:solidFill>
              </a:rPr>
              <a:t>ml-</a:t>
            </a:r>
            <a:r>
              <a:rPr sz="1600" dirty="0" err="1">
                <a:solidFill>
                  <a:schemeClr val="tx2"/>
                </a:solidFill>
              </a:rPr>
              <a:t>coretool</a:t>
            </a:r>
            <a:r>
              <a:rPr sz="1600" dirty="0"/>
              <a:t>) with integrated Vela compiler supporting PSOC™ Edge E84</a:t>
            </a:r>
            <a:endParaRPr lang="en-US" sz="1600" dirty="0"/>
          </a:p>
          <a:p>
            <a:pPr>
              <a:lnSpc>
                <a:spcPct val="150000"/>
              </a:lnSpc>
            </a:pPr>
            <a:r>
              <a:rPr sz="1600" dirty="0"/>
              <a:t>Selection of Infineon device enables project selection of the connected ModusToolbox™ project and core</a:t>
            </a:r>
            <a:r>
              <a:rPr lang="en-IN" sz="1600" dirty="0"/>
              <a:t>-</a:t>
            </a:r>
            <a:r>
              <a:rPr sz="1600" dirty="0"/>
              <a:t>specific project path</a:t>
            </a:r>
            <a:endParaRPr lang="en-US" sz="1600" dirty="0"/>
          </a:p>
          <a:p>
            <a:pPr>
              <a:lnSpc>
                <a:spcPct val="150000"/>
              </a:lnSpc>
            </a:pPr>
            <a:r>
              <a:rPr sz="1600" dirty="0"/>
              <a:t>Selected ModusToolbox™ project path will be used during the code generation step to enable iterative model development and updates</a:t>
            </a:r>
          </a:p>
        </p:txBody>
      </p:sp>
      <p:sp>
        <p:nvSpPr>
          <p:cNvPr id="3" name="Title 2">
            <a:extLst>
              <a:ext uri="{FF2B5EF4-FFF2-40B4-BE49-F238E27FC236}">
                <a16:creationId xmlns:a16="http://schemas.microsoft.com/office/drawing/2014/main" id="{D1AFC385-C1F8-74E0-3D17-41140F117131}"/>
              </a:ext>
            </a:extLst>
          </p:cNvPr>
          <p:cNvSpPr>
            <a:spLocks noGrp="1"/>
          </p:cNvSpPr>
          <p:nvPr>
            <p:ph type="title" hasCustomPrompt="1"/>
          </p:nvPr>
        </p:nvSpPr>
        <p:spPr/>
        <p:txBody>
          <a:bodyPr/>
          <a:lstStyle/>
          <a:p>
            <a:r>
              <a:rPr dirty="0"/>
              <a:t>DEEPCRAFT™ </a:t>
            </a:r>
            <a:r>
              <a:rPr lang="en-IN" dirty="0"/>
              <a:t>S</a:t>
            </a:r>
            <a:r>
              <a:rPr dirty="0" err="1"/>
              <a:t>tudio</a:t>
            </a:r>
            <a:r>
              <a:rPr dirty="0"/>
              <a:t> </a:t>
            </a:r>
            <a:r>
              <a:rPr lang="en-IN" dirty="0"/>
              <a:t>m</a:t>
            </a:r>
            <a:r>
              <a:rPr dirty="0" err="1"/>
              <a:t>odel</a:t>
            </a:r>
            <a:r>
              <a:rPr dirty="0"/>
              <a:t> </a:t>
            </a:r>
            <a:r>
              <a:rPr lang="en-IN" dirty="0"/>
              <a:t>c</a:t>
            </a:r>
            <a:r>
              <a:rPr dirty="0"/>
              <a:t>ode </a:t>
            </a:r>
            <a:r>
              <a:rPr lang="en-IN" dirty="0"/>
              <a:t>g</a:t>
            </a:r>
            <a:r>
              <a:rPr dirty="0" err="1"/>
              <a:t>eneration</a:t>
            </a:r>
            <a:endParaRPr dirty="0"/>
          </a:p>
        </p:txBody>
      </p:sp>
      <p:pic>
        <p:nvPicPr>
          <p:cNvPr id="8" name="Picture 7">
            <a:extLst>
              <a:ext uri="{FF2B5EF4-FFF2-40B4-BE49-F238E27FC236}">
                <a16:creationId xmlns:a16="http://schemas.microsoft.com/office/drawing/2014/main" id="{B68F7314-50CC-54DB-DD8B-557E28F46F23}"/>
              </a:ext>
            </a:extLst>
          </p:cNvPr>
          <p:cNvPicPr>
            <a:picLocks noChangeAspect="1"/>
          </p:cNvPicPr>
          <p:nvPr/>
        </p:nvPicPr>
        <p:blipFill>
          <a:blip r:embed="rId3"/>
          <a:stretch>
            <a:fillRect/>
          </a:stretch>
        </p:blipFill>
        <p:spPr>
          <a:xfrm>
            <a:off x="6118134" y="1432954"/>
            <a:ext cx="5435667" cy="4495800"/>
          </a:xfrm>
          <a:prstGeom prst="rect">
            <a:avLst/>
          </a:prstGeom>
        </p:spPr>
      </p:pic>
    </p:spTree>
    <p:extLst>
      <p:ext uri="{BB962C8B-B14F-4D97-AF65-F5344CB8AC3E}">
        <p14:creationId xmlns:p14="http://schemas.microsoft.com/office/powerpoint/2010/main" val="4038175456"/>
      </p:ext>
    </p:extLst>
  </p:cSld>
  <p:clrMapOvr>
    <a:masterClrMapping/>
  </p:clrMapOvr>
  <p:transition spd="slow"/>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Table 13">
            <a:extLst>
              <a:ext uri="{FF2B5EF4-FFF2-40B4-BE49-F238E27FC236}">
                <a16:creationId xmlns:a16="http://schemas.microsoft.com/office/drawing/2014/main" id="{53FCFE0D-8B5A-34AF-0F6D-591857301A60}"/>
              </a:ext>
            </a:extLst>
          </p:cNvPr>
          <p:cNvGraphicFramePr>
            <a:graphicFrameLocks noGrp="1"/>
          </p:cNvGraphicFramePr>
          <p:nvPr>
            <p:extLst>
              <p:ext uri="{D42A27DB-BD31-4B8C-83A1-F6EECF244321}">
                <p14:modId xmlns:p14="http://schemas.microsoft.com/office/powerpoint/2010/main" val="3749626399"/>
              </p:ext>
            </p:extLst>
          </p:nvPr>
        </p:nvGraphicFramePr>
        <p:xfrm>
          <a:off x="335360" y="2003655"/>
          <a:ext cx="11089232" cy="4104881"/>
        </p:xfrm>
        <a:graphic>
          <a:graphicData uri="http://schemas.openxmlformats.org/drawingml/2006/table">
            <a:tbl>
              <a:tblPr firstRow="1" bandRow="1">
                <a:tableStyleId>{5940675A-B579-460E-94D1-54222C63F5DA}</a:tableStyleId>
              </a:tblPr>
              <a:tblGrid>
                <a:gridCol w="11089232">
                  <a:extLst>
                    <a:ext uri="{9D8B030D-6E8A-4147-A177-3AD203B41FA5}">
                      <a16:colId xmlns:a16="http://schemas.microsoft.com/office/drawing/2014/main" val="1034522424"/>
                    </a:ext>
                  </a:extLst>
                </a:gridCol>
              </a:tblGrid>
              <a:tr h="410488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28B8DB45-EFDB-43B9-8CFD-A7DA4978092A}"/>
              </a:ext>
            </a:extLst>
          </p:cNvPr>
          <p:cNvSpPr>
            <a:spLocks noGrp="1"/>
          </p:cNvSpPr>
          <p:nvPr>
            <p:ph sz="quarter" idx="13" hasCustomPrompt="1"/>
          </p:nvPr>
        </p:nvSpPr>
        <p:spPr>
          <a:xfrm>
            <a:off x="334800" y="1268414"/>
            <a:ext cx="11520000" cy="720001"/>
          </a:xfrm>
        </p:spPr>
        <p:txBody>
          <a:bodyPr/>
          <a:lstStyle/>
          <a:p>
            <a:r>
              <a:rPr sz="1600" dirty="0" err="1"/>
              <a:t>ModusToolbox</a:t>
            </a:r>
            <a:r>
              <a:rPr sz="1600" dirty="0"/>
              <a:t>™ </a:t>
            </a:r>
            <a:r>
              <a:rPr lang="en-IN" sz="1600" dirty="0"/>
              <a:t>s</a:t>
            </a:r>
            <a:r>
              <a:rPr sz="1600" dirty="0" err="1"/>
              <a:t>etup</a:t>
            </a:r>
            <a:r>
              <a:rPr sz="1600" dirty="0"/>
              <a:t> program can be used to install and manage DEEPCRAFT™ applications, including Studio, </a:t>
            </a:r>
            <a:r>
              <a:rPr lang="en-IN" sz="1600" dirty="0"/>
              <a:t>Model Converter</a:t>
            </a:r>
            <a:r>
              <a:rPr sz="1600" dirty="0"/>
              <a:t>, and </a:t>
            </a:r>
            <a:r>
              <a:rPr lang="en-IN" sz="1600" dirty="0"/>
              <a:t>Audio Enhancement</a:t>
            </a:r>
            <a:r>
              <a:rPr sz="1600" dirty="0"/>
              <a:t> </a:t>
            </a:r>
            <a:r>
              <a:rPr lang="en-IN" sz="1600" dirty="0"/>
              <a:t>T</a:t>
            </a:r>
            <a:r>
              <a:rPr sz="1600" dirty="0" err="1"/>
              <a:t>ech</a:t>
            </a:r>
            <a:r>
              <a:rPr sz="1600" dirty="0"/>
              <a:t> </a:t>
            </a:r>
            <a:r>
              <a:rPr lang="en-IN" sz="1600" dirty="0"/>
              <a:t>P</a:t>
            </a:r>
            <a:r>
              <a:rPr sz="1600" dirty="0"/>
              <a:t>ack</a:t>
            </a:r>
          </a:p>
        </p:txBody>
      </p:sp>
      <p:sp>
        <p:nvSpPr>
          <p:cNvPr id="3" name="Title 2">
            <a:extLst>
              <a:ext uri="{FF2B5EF4-FFF2-40B4-BE49-F238E27FC236}">
                <a16:creationId xmlns:a16="http://schemas.microsoft.com/office/drawing/2014/main" id="{153AF0C9-9303-4693-B70D-F074E2523C63}"/>
              </a:ext>
            </a:extLst>
          </p:cNvPr>
          <p:cNvSpPr>
            <a:spLocks noGrp="1"/>
          </p:cNvSpPr>
          <p:nvPr>
            <p:ph type="title" hasCustomPrompt="1"/>
          </p:nvPr>
        </p:nvSpPr>
        <p:spPr/>
        <p:txBody>
          <a:bodyPr/>
          <a:lstStyle/>
          <a:p>
            <a:r>
              <a:rPr dirty="0"/>
              <a:t>Installation support within </a:t>
            </a:r>
            <a:r>
              <a:rPr lang="en-US" dirty="0"/>
              <a:t>ModusToolbox™ </a:t>
            </a:r>
            <a:r>
              <a:rPr lang="en-IN" dirty="0"/>
              <a:t>s</a:t>
            </a:r>
            <a:r>
              <a:rPr dirty="0" err="1"/>
              <a:t>etup</a:t>
            </a:r>
            <a:endParaRPr dirty="0"/>
          </a:p>
        </p:txBody>
      </p:sp>
      <p:grpSp>
        <p:nvGrpSpPr>
          <p:cNvPr id="6" name="Group 5">
            <a:extLst>
              <a:ext uri="{FF2B5EF4-FFF2-40B4-BE49-F238E27FC236}">
                <a16:creationId xmlns:a16="http://schemas.microsoft.com/office/drawing/2014/main" id="{194D515D-12DE-F2A0-1DC1-3424450819CE}"/>
              </a:ext>
            </a:extLst>
          </p:cNvPr>
          <p:cNvGrpSpPr/>
          <p:nvPr/>
        </p:nvGrpSpPr>
        <p:grpSpPr>
          <a:xfrm>
            <a:off x="640838" y="2294770"/>
            <a:ext cx="10482819" cy="3492170"/>
            <a:chOff x="533400" y="2288577"/>
            <a:chExt cx="10482819" cy="3492170"/>
          </a:xfrm>
        </p:grpSpPr>
        <p:pic>
          <p:nvPicPr>
            <p:cNvPr id="7" name="Picture 6">
              <a:extLst>
                <a:ext uri="{FF2B5EF4-FFF2-40B4-BE49-F238E27FC236}">
                  <a16:creationId xmlns:a16="http://schemas.microsoft.com/office/drawing/2014/main" id="{AF742F26-7B24-B479-9FF9-1E30F85452D5}"/>
                </a:ext>
              </a:extLst>
            </p:cNvPr>
            <p:cNvPicPr>
              <a:picLocks noChangeAspect="1"/>
            </p:cNvPicPr>
            <p:nvPr/>
          </p:nvPicPr>
          <p:blipFill>
            <a:blip r:embed="rId3"/>
            <a:stretch>
              <a:fillRect/>
            </a:stretch>
          </p:blipFill>
          <p:spPr>
            <a:xfrm>
              <a:off x="533400" y="2312985"/>
              <a:ext cx="4701387" cy="3276600"/>
            </a:xfrm>
            <a:prstGeom prst="rect">
              <a:avLst/>
            </a:prstGeom>
          </p:spPr>
        </p:pic>
        <p:pic>
          <p:nvPicPr>
            <p:cNvPr id="9" name="Picture 8">
              <a:extLst>
                <a:ext uri="{FF2B5EF4-FFF2-40B4-BE49-F238E27FC236}">
                  <a16:creationId xmlns:a16="http://schemas.microsoft.com/office/drawing/2014/main" id="{702C8A72-48ED-B385-0FBB-7678ADC8D109}"/>
                </a:ext>
              </a:extLst>
            </p:cNvPr>
            <p:cNvPicPr>
              <a:picLocks noChangeAspect="1"/>
            </p:cNvPicPr>
            <p:nvPr/>
          </p:nvPicPr>
          <p:blipFill>
            <a:blip r:embed="rId4"/>
            <a:stretch>
              <a:fillRect/>
            </a:stretch>
          </p:blipFill>
          <p:spPr>
            <a:xfrm>
              <a:off x="5882248" y="2288577"/>
              <a:ext cx="5133971" cy="3492170"/>
            </a:xfrm>
            <a:prstGeom prst="rect">
              <a:avLst/>
            </a:prstGeom>
          </p:spPr>
        </p:pic>
        <p:sp>
          <p:nvSpPr>
            <p:cNvPr id="10" name="Arrow: Right 9">
              <a:extLst>
                <a:ext uri="{FF2B5EF4-FFF2-40B4-BE49-F238E27FC236}">
                  <a16:creationId xmlns:a16="http://schemas.microsoft.com/office/drawing/2014/main" id="{885A416D-B26D-364A-2C24-7DD41F7D60E7}"/>
                </a:ext>
              </a:extLst>
            </p:cNvPr>
            <p:cNvSpPr/>
            <p:nvPr/>
          </p:nvSpPr>
          <p:spPr bwMode="auto">
            <a:xfrm>
              <a:off x="4876800" y="4670567"/>
              <a:ext cx="990600" cy="381000"/>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
        <p:nvSpPr>
          <p:cNvPr id="11" name="TextBox 10">
            <a:extLst>
              <a:ext uri="{FF2B5EF4-FFF2-40B4-BE49-F238E27FC236}">
                <a16:creationId xmlns:a16="http://schemas.microsoft.com/office/drawing/2014/main" id="{6D1F271B-16FE-1902-A668-BFC5905CD85E}"/>
              </a:ext>
            </a:extLst>
          </p:cNvPr>
          <p:cNvSpPr txBox="1"/>
          <p:nvPr/>
        </p:nvSpPr>
        <p:spPr bwMode="auto">
          <a:xfrm>
            <a:off x="3053080" y="3285272"/>
            <a:ext cx="6106160" cy="307777"/>
          </a:xfrm>
          <a:prstGeom prst="rect">
            <a:avLst/>
          </a:prstGeom>
          <a:noFill/>
          <a:ln w="9525">
            <a:noFill/>
            <a:miter lim="800000"/>
            <a:headEnd/>
            <a:tailEnd/>
          </a:ln>
          <a:effectLst/>
        </p:spPr>
        <p:txBody>
          <a:bodyPr wrap="square">
            <a:spAutoFit/>
          </a:bodyPr>
          <a:lstStyle/>
          <a:p>
            <a:endParaRPr lang="en-IN" dirty="0"/>
          </a:p>
        </p:txBody>
      </p:sp>
    </p:spTree>
    <p:extLst>
      <p:ext uri="{BB962C8B-B14F-4D97-AF65-F5344CB8AC3E}">
        <p14:creationId xmlns:p14="http://schemas.microsoft.com/office/powerpoint/2010/main" val="1808975831"/>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609B38-A50E-9D3D-4AF8-6B314CC28709}"/>
              </a:ext>
            </a:extLst>
          </p:cNvPr>
          <p:cNvSpPr>
            <a:spLocks noGrp="1"/>
          </p:cNvSpPr>
          <p:nvPr>
            <p:ph sz="quarter" idx="13" hasCustomPrompt="1"/>
          </p:nvPr>
        </p:nvSpPr>
        <p:spPr/>
        <p:txBody>
          <a:bodyPr/>
          <a:lstStyle/>
          <a:p>
            <a:pPr>
              <a:lnSpc>
                <a:spcPct val="150000"/>
              </a:lnSpc>
            </a:pPr>
            <a:r>
              <a:rPr sz="1600" dirty="0" err="1"/>
              <a:t>ModusToolbox</a:t>
            </a:r>
            <a:r>
              <a:rPr sz="1600" dirty="0"/>
              <a:t>™ v3.6 </a:t>
            </a:r>
          </a:p>
          <a:p>
            <a:pPr>
              <a:lnSpc>
                <a:spcPct val="150000"/>
              </a:lnSpc>
            </a:pPr>
            <a:r>
              <a:rPr sz="1600" dirty="0"/>
              <a:t>Eclipse IDE for </a:t>
            </a:r>
            <a:r>
              <a:rPr sz="1600" dirty="0" err="1"/>
              <a:t>ModusToolbox</a:t>
            </a:r>
            <a:r>
              <a:rPr sz="1600" dirty="0"/>
              <a:t>™ v2025.4.0</a:t>
            </a:r>
          </a:p>
          <a:p>
            <a:pPr>
              <a:lnSpc>
                <a:spcPct val="150000"/>
              </a:lnSpc>
            </a:pPr>
            <a:r>
              <a:rPr sz="1600" dirty="0"/>
              <a:t>Edge Protect Security Suite v1.6</a:t>
            </a:r>
          </a:p>
          <a:p>
            <a:pPr>
              <a:lnSpc>
                <a:spcPct val="150000"/>
              </a:lnSpc>
            </a:pPr>
            <a:r>
              <a:rPr sz="1600" dirty="0" err="1"/>
              <a:t>ModusToolbox</a:t>
            </a:r>
            <a:r>
              <a:rPr sz="1600" dirty="0"/>
              <a:t>™ Programming Tools v1.5.0</a:t>
            </a:r>
          </a:p>
          <a:p>
            <a:pPr>
              <a:lnSpc>
                <a:spcPct val="150000"/>
              </a:lnSpc>
            </a:pPr>
            <a:r>
              <a:rPr sz="1600" dirty="0"/>
              <a:t>KIT_PSE84_EVAL_EPC2 BSP v1.0.0</a:t>
            </a:r>
          </a:p>
          <a:p>
            <a:pPr>
              <a:lnSpc>
                <a:spcPct val="150000"/>
              </a:lnSpc>
            </a:pPr>
            <a:r>
              <a:rPr sz="1600" dirty="0"/>
              <a:t>Terminal Emulator</a:t>
            </a:r>
          </a:p>
          <a:p>
            <a:pPr>
              <a:lnSpc>
                <a:spcPct val="150000"/>
              </a:lnSpc>
            </a:pPr>
            <a:r>
              <a:rPr sz="1600" dirty="0"/>
              <a:t>KIT_PSE84_EVAL </a:t>
            </a:r>
            <a:r>
              <a:rPr sz="1600" dirty="0" err="1"/>
              <a:t>revG</a:t>
            </a:r>
            <a:endParaRPr lang="en-IN" sz="1600" dirty="0"/>
          </a:p>
          <a:p>
            <a:pPr lvl="1">
              <a:lnSpc>
                <a:spcPct val="150000"/>
              </a:lnSpc>
            </a:pPr>
            <a:endParaRPr lang="en-IN" sz="1050" dirty="0"/>
          </a:p>
          <a:p>
            <a:pPr marL="0" indent="0">
              <a:lnSpc>
                <a:spcPct val="150000"/>
              </a:lnSpc>
              <a:buNone/>
            </a:pPr>
            <a:r>
              <a:rPr lang="en-US" b="1" dirty="0">
                <a:solidFill>
                  <a:srgbClr val="0A8276"/>
                </a:solidFill>
              </a:rPr>
              <a:t>Key documentation leveraged in this video</a:t>
            </a:r>
          </a:p>
          <a:p>
            <a:pPr marL="0" indent="0">
              <a:lnSpc>
                <a:spcPct val="150000"/>
              </a:lnSpc>
              <a:buNone/>
            </a:pPr>
            <a:endParaRPr lang="en-US" sz="1050" b="1" dirty="0">
              <a:solidFill>
                <a:srgbClr val="0A8276"/>
              </a:solidFill>
            </a:endParaRPr>
          </a:p>
          <a:p>
            <a:pPr>
              <a:lnSpc>
                <a:spcPct val="150000"/>
              </a:lnSpc>
            </a:pPr>
            <a:r>
              <a:rPr lang="en-US" sz="1600" b="1" dirty="0"/>
              <a:t>AN235935</a:t>
            </a:r>
            <a:r>
              <a:rPr lang="en-US" sz="1600" dirty="0"/>
              <a:t> – Getting started with PSOC™ Edge E84 on </a:t>
            </a:r>
            <a:r>
              <a:rPr lang="en-US" sz="1600" dirty="0" err="1"/>
              <a:t>ModusToolbox</a:t>
            </a:r>
            <a:r>
              <a:rPr lang="en-US" sz="1600" dirty="0"/>
              <a:t>™ software</a:t>
            </a:r>
          </a:p>
          <a:p>
            <a:pPr>
              <a:lnSpc>
                <a:spcPct val="150000"/>
              </a:lnSpc>
            </a:pPr>
            <a:r>
              <a:rPr lang="en-US" sz="1600" dirty="0" err="1"/>
              <a:t>ModusToolbox</a:t>
            </a:r>
            <a:r>
              <a:rPr lang="en-US" sz="1600" dirty="0"/>
              <a:t>™ PSE8xxGP Device Support Library (DSL)</a:t>
            </a:r>
          </a:p>
          <a:p>
            <a:pPr marL="0" indent="0">
              <a:lnSpc>
                <a:spcPct val="150000"/>
              </a:lnSpc>
              <a:buNone/>
            </a:pPr>
            <a:endParaRPr lang="en-US" sz="2000" dirty="0"/>
          </a:p>
          <a:p>
            <a:pPr>
              <a:buNone/>
            </a:pPr>
            <a:br>
              <a:rPr dirty="0"/>
            </a:br>
            <a:endParaRPr lang="en-US" sz="1800" dirty="0"/>
          </a:p>
        </p:txBody>
      </p:sp>
      <p:sp>
        <p:nvSpPr>
          <p:cNvPr id="3" name="Title 2">
            <a:extLst>
              <a:ext uri="{FF2B5EF4-FFF2-40B4-BE49-F238E27FC236}">
                <a16:creationId xmlns:a16="http://schemas.microsoft.com/office/drawing/2014/main" id="{BBC89E29-8AC0-23D1-8AEA-1921C097F8DC}"/>
              </a:ext>
            </a:extLst>
          </p:cNvPr>
          <p:cNvSpPr>
            <a:spLocks noGrp="1"/>
          </p:cNvSpPr>
          <p:nvPr>
            <p:ph type="title" hasCustomPrompt="1"/>
          </p:nvPr>
        </p:nvSpPr>
        <p:spPr/>
        <p:txBody>
          <a:bodyPr/>
          <a:lstStyle/>
          <a:p>
            <a:r>
              <a:rPr dirty="0"/>
              <a:t>Tools utilized in this presentation</a:t>
            </a:r>
          </a:p>
        </p:txBody>
      </p:sp>
      <p:sp>
        <p:nvSpPr>
          <p:cNvPr id="4" name="Content Placeholder 1">
            <a:extLst>
              <a:ext uri="{FF2B5EF4-FFF2-40B4-BE49-F238E27FC236}">
                <a16:creationId xmlns:a16="http://schemas.microsoft.com/office/drawing/2014/main" id="{1ED9E4F0-A63F-7121-3C7D-CDBADC4AACE2}"/>
              </a:ext>
            </a:extLst>
          </p:cNvPr>
          <p:cNvSpPr txBox="1">
            <a:spLocks/>
          </p:cNvSpPr>
          <p:nvPr/>
        </p:nvSpPr>
        <p:spPr>
          <a:xfrm>
            <a:off x="334800" y="5121301"/>
            <a:ext cx="11520000" cy="936570"/>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endParaRPr lang="en-US" sz="2000" kern="0" dirty="0"/>
          </a:p>
        </p:txBody>
      </p:sp>
      <p:sp>
        <p:nvSpPr>
          <p:cNvPr id="5" name="Title 2">
            <a:extLst>
              <a:ext uri="{FF2B5EF4-FFF2-40B4-BE49-F238E27FC236}">
                <a16:creationId xmlns:a16="http://schemas.microsoft.com/office/drawing/2014/main" id="{2A6423E0-BAC9-E61B-F566-5BDC7EB6FFA5}"/>
              </a:ext>
            </a:extLst>
          </p:cNvPr>
          <p:cNvSpPr txBox="1">
            <a:spLocks/>
          </p:cNvSpPr>
          <p:nvPr/>
        </p:nvSpPr>
        <p:spPr>
          <a:xfrm>
            <a:off x="317449" y="4293096"/>
            <a:ext cx="9613068" cy="720000"/>
          </a:xfrm>
          <a:prstGeom prst="rect">
            <a:avLst/>
          </a:prstGeom>
        </p:spPr>
        <p:txBody>
          <a:bodyPr vert="horz" lIns="0" tIns="0" rIns="0" bIns="10800" rtlCol="0" anchor="b" anchorCtr="0">
            <a:noAutofit/>
          </a:bodyPr>
          <a:lst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a:lstStyle>
          <a:p>
            <a:endParaRPr lang="en-US" kern="0" dirty="0"/>
          </a:p>
        </p:txBody>
      </p:sp>
    </p:spTree>
    <p:extLst>
      <p:ext uri="{BB962C8B-B14F-4D97-AF65-F5344CB8AC3E}">
        <p14:creationId xmlns:p14="http://schemas.microsoft.com/office/powerpoint/2010/main" val="460465119"/>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8"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anim calcmode="lin" valueType="num">
                                      <p:cBhvr additive="base">
                                        <p:cTn id="17"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8"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8"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 calcmode="lin" valueType="num">
                                      <p:cBhvr additive="base">
                                        <p:cTn id="23"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8" fill="hold"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 calcmode="lin" valueType="num">
                                      <p:cBhvr additive="base">
                                        <p:cTn id="35"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8" fill="hold" nodeType="clickEffect">
                                  <p:stCondLst>
                                    <p:cond delay="0"/>
                                  </p:stCondLst>
                                  <p:childTnLst>
                                    <p:set>
                                      <p:cBhvr>
                                        <p:cTn id="40" dur="1" fill="hold">
                                          <p:stCondLst>
                                            <p:cond delay="0"/>
                                          </p:stCondLst>
                                        </p:cTn>
                                        <p:tgtEl>
                                          <p:spTgt spid="2">
                                            <p:txEl>
                                              <p:pRg st="6" end="6"/>
                                            </p:txEl>
                                          </p:spTgt>
                                        </p:tgtEl>
                                        <p:attrNameLst>
                                          <p:attrName>style.visibility</p:attrName>
                                        </p:attrNameLst>
                                      </p:cBhvr>
                                      <p:to>
                                        <p:strVal val="visible"/>
                                      </p:to>
                                    </p:set>
                                    <p:anim calcmode="lin" valueType="num">
                                      <p:cBhvr additive="base">
                                        <p:cTn id="41"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42"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
                                            <p:txEl>
                                              <p:pRg st="8" end="8"/>
                                            </p:txEl>
                                          </p:spTgt>
                                        </p:tgtEl>
                                        <p:attrNameLst>
                                          <p:attrName>style.visibility</p:attrName>
                                        </p:attrNameLst>
                                      </p:cBhvr>
                                      <p:to>
                                        <p:strVal val="visible"/>
                                      </p:to>
                                    </p:set>
                                    <p:anim calcmode="lin" valueType="num">
                                      <p:cBhvr additive="base">
                                        <p:cTn id="47" dur="500" fill="hold"/>
                                        <p:tgtEl>
                                          <p:spTgt spid="2">
                                            <p:txEl>
                                              <p:pRg st="8" end="8"/>
                                            </p:txEl>
                                          </p:spTgt>
                                        </p:tgtEl>
                                        <p:attrNameLst>
                                          <p:attrName>ppt_x</p:attrName>
                                        </p:attrNameLst>
                                      </p:cBhvr>
                                      <p:tavLst>
                                        <p:tav tm="0">
                                          <p:val>
                                            <p:strVal val="0-#ppt_w/2"/>
                                          </p:val>
                                        </p:tav>
                                        <p:tav tm="100000">
                                          <p:val>
                                            <p:strVal val="#ppt_x"/>
                                          </p:val>
                                        </p:tav>
                                      </p:tavLst>
                                    </p:anim>
                                    <p:anim calcmode="lin" valueType="num">
                                      <p:cBhvr additive="base">
                                        <p:cTn id="48" dur="500" fill="hold"/>
                                        <p:tgtEl>
                                          <p:spTgt spid="2">
                                            <p:txEl>
                                              <p:pRg st="8" end="8"/>
                                            </p:txEl>
                                          </p:spTgt>
                                        </p:tgtEl>
                                        <p:attrNameLst>
                                          <p:attrName>ppt_y</p:attrName>
                                        </p:attrNameLst>
                                      </p:cBhvr>
                                      <p:tavLst>
                                        <p:tav tm="0">
                                          <p:val>
                                            <p:strVal val="#ppt_y"/>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8" fill="hold" nodeType="clickEffect">
                                  <p:stCondLst>
                                    <p:cond delay="0"/>
                                  </p:stCondLst>
                                  <p:childTnLst>
                                    <p:set>
                                      <p:cBhvr>
                                        <p:cTn id="52" dur="1" fill="hold">
                                          <p:stCondLst>
                                            <p:cond delay="0"/>
                                          </p:stCondLst>
                                        </p:cTn>
                                        <p:tgtEl>
                                          <p:spTgt spid="2">
                                            <p:txEl>
                                              <p:pRg st="10" end="10"/>
                                            </p:txEl>
                                          </p:spTgt>
                                        </p:tgtEl>
                                        <p:attrNameLst>
                                          <p:attrName>style.visibility</p:attrName>
                                        </p:attrNameLst>
                                      </p:cBhvr>
                                      <p:to>
                                        <p:strVal val="visible"/>
                                      </p:to>
                                    </p:set>
                                    <p:anim calcmode="lin" valueType="num">
                                      <p:cBhvr additive="base">
                                        <p:cTn id="53" dur="500" fill="hold"/>
                                        <p:tgtEl>
                                          <p:spTgt spid="2">
                                            <p:txEl>
                                              <p:pRg st="10" end="10"/>
                                            </p:txEl>
                                          </p:spTgt>
                                        </p:tgtEl>
                                        <p:attrNameLst>
                                          <p:attrName>ppt_x</p:attrName>
                                        </p:attrNameLst>
                                      </p:cBhvr>
                                      <p:tavLst>
                                        <p:tav tm="0">
                                          <p:val>
                                            <p:strVal val="0-#ppt_w/2"/>
                                          </p:val>
                                        </p:tav>
                                        <p:tav tm="100000">
                                          <p:val>
                                            <p:strVal val="#ppt_x"/>
                                          </p:val>
                                        </p:tav>
                                      </p:tavLst>
                                    </p:anim>
                                    <p:anim calcmode="lin" valueType="num">
                                      <p:cBhvr additive="base">
                                        <p:cTn id="54" dur="500" fill="hold"/>
                                        <p:tgtEl>
                                          <p:spTgt spid="2">
                                            <p:txEl>
                                              <p:pRg st="10" end="10"/>
                                            </p:txEl>
                                          </p:spTgt>
                                        </p:tgtEl>
                                        <p:attrNameLst>
                                          <p:attrName>ppt_y</p:attrName>
                                        </p:attrNameLst>
                                      </p:cBhvr>
                                      <p:tavLst>
                                        <p:tav tm="0">
                                          <p:val>
                                            <p:strVal val="#ppt_y"/>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8" fill="hold" nodeType="clickEffect">
                                  <p:stCondLst>
                                    <p:cond delay="0"/>
                                  </p:stCondLst>
                                  <p:childTnLst>
                                    <p:set>
                                      <p:cBhvr>
                                        <p:cTn id="58" dur="1" fill="hold">
                                          <p:stCondLst>
                                            <p:cond delay="0"/>
                                          </p:stCondLst>
                                        </p:cTn>
                                        <p:tgtEl>
                                          <p:spTgt spid="2">
                                            <p:txEl>
                                              <p:pRg st="11" end="11"/>
                                            </p:txEl>
                                          </p:spTgt>
                                        </p:tgtEl>
                                        <p:attrNameLst>
                                          <p:attrName>style.visibility</p:attrName>
                                        </p:attrNameLst>
                                      </p:cBhvr>
                                      <p:to>
                                        <p:strVal val="visible"/>
                                      </p:to>
                                    </p:set>
                                    <p:anim calcmode="lin" valueType="num">
                                      <p:cBhvr additive="base">
                                        <p:cTn id="59" dur="500" fill="hold"/>
                                        <p:tgtEl>
                                          <p:spTgt spid="2">
                                            <p:txEl>
                                              <p:pRg st="11" end="11"/>
                                            </p:txEl>
                                          </p:spTgt>
                                        </p:tgtEl>
                                        <p:attrNameLst>
                                          <p:attrName>ppt_x</p:attrName>
                                        </p:attrNameLst>
                                      </p:cBhvr>
                                      <p:tavLst>
                                        <p:tav tm="0">
                                          <p:val>
                                            <p:strVal val="0-#ppt_w/2"/>
                                          </p:val>
                                        </p:tav>
                                        <p:tav tm="100000">
                                          <p:val>
                                            <p:strVal val="#ppt_x"/>
                                          </p:val>
                                        </p:tav>
                                      </p:tavLst>
                                    </p:anim>
                                    <p:anim calcmode="lin" valueType="num">
                                      <p:cBhvr additive="base">
                                        <p:cTn id="60" dur="500" fill="hold"/>
                                        <p:tgtEl>
                                          <p:spTgt spid="2">
                                            <p:txEl>
                                              <p:pRg st="11" end="11"/>
                                            </p:txEl>
                                          </p:spTgt>
                                        </p:tgtEl>
                                        <p:attrNameLst>
                                          <p:attrName>ppt_y</p:attrName>
                                        </p:attrNameLst>
                                      </p:cBhvr>
                                      <p:tavLst>
                                        <p:tav tm="0">
                                          <p:val>
                                            <p:strVal val="#ppt_y"/>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nodeType="clickEffect" nodePh="1">
                                  <p:stCondLst>
                                    <p:cond delay="0"/>
                                  </p:stCondLst>
                                  <p:endCondLst>
                                    <p:cond evt="begin" delay="0">
                                      <p:tn val="63"/>
                                    </p:cond>
                                  </p:endCondLst>
                                  <p:childTnLst>
                                    <p:set>
                                      <p:cBhvr>
                                        <p:cTn id="64" dur="1" fill="hold">
                                          <p:stCondLst>
                                            <p:cond delay="0"/>
                                          </p:stCondLst>
                                        </p:cTn>
                                        <p:tgtEl>
                                          <p:spTgt spid="5">
                                            <p:txEl>
                                              <p:pRg st="0" end="0"/>
                                            </p:txEl>
                                          </p:spTgt>
                                        </p:tgtEl>
                                        <p:attrNameLst>
                                          <p:attrName>style.visibility</p:attrName>
                                        </p:attrNameLst>
                                      </p:cBhvr>
                                      <p:to>
                                        <p:strVal val="visible"/>
                                      </p:to>
                                    </p:set>
                                    <p:anim calcmode="lin" valueType="num">
                                      <p:cBhvr additive="base">
                                        <p:cTn id="65"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66" dur="500" fill="hold"/>
                                        <p:tgtEl>
                                          <p:spTgt spid="5">
                                            <p:txEl>
                                              <p:pRg st="0" end="0"/>
                                            </p:txEl>
                                          </p:spTgt>
                                        </p:tgtEl>
                                        <p:attrNameLst>
                                          <p:attrName>ppt_y</p:attrName>
                                        </p:attrNameLst>
                                      </p:cBhvr>
                                      <p:tavLst>
                                        <p:tav tm="0">
                                          <p:val>
                                            <p:strVal val="1+#ppt_h/2"/>
                                          </p:val>
                                        </p:tav>
                                        <p:tav tm="100000">
                                          <p:val>
                                            <p:strVal val="#ppt_y"/>
                                          </p:val>
                                        </p:tav>
                                      </p:tavLst>
                                    </p:anim>
                                  </p:childTnLst>
                                </p:cTn>
                              </p:par>
                              <p:par>
                                <p:cTn id="67" presetID="2" presetClass="entr" presetSubtype="4" fill="hold" nodeType="withEffect" nodePh="1">
                                  <p:stCondLst>
                                    <p:cond delay="0"/>
                                  </p:stCondLst>
                                  <p:endCondLst>
                                    <p:cond evt="begin" delay="0">
                                      <p:tn val="67"/>
                                    </p:cond>
                                  </p:endCondLst>
                                  <p:childTnLst>
                                    <p:set>
                                      <p:cBhvr>
                                        <p:cTn id="68" dur="1" fill="hold">
                                          <p:stCondLst>
                                            <p:cond delay="0"/>
                                          </p:stCondLst>
                                        </p:cTn>
                                        <p:tgtEl>
                                          <p:spTgt spid="4">
                                            <p:txEl>
                                              <p:pRg st="0" end="0"/>
                                            </p:txEl>
                                          </p:spTgt>
                                        </p:tgtEl>
                                        <p:attrNameLst>
                                          <p:attrName>style.visibility</p:attrName>
                                        </p:attrNameLst>
                                      </p:cBhvr>
                                      <p:to>
                                        <p:strVal val="visible"/>
                                      </p:to>
                                    </p:set>
                                    <p:anim calcmode="lin" valueType="num">
                                      <p:cBhvr additive="base">
                                        <p:cTn id="6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7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Table 8">
            <a:extLst>
              <a:ext uri="{FF2B5EF4-FFF2-40B4-BE49-F238E27FC236}">
                <a16:creationId xmlns:a16="http://schemas.microsoft.com/office/drawing/2014/main" id="{985BABFF-2CC7-B907-93EB-E42730AD57E0}"/>
              </a:ext>
            </a:extLst>
          </p:cNvPr>
          <p:cNvGraphicFramePr>
            <a:graphicFrameLocks noGrp="1"/>
          </p:cNvGraphicFramePr>
          <p:nvPr>
            <p:extLst>
              <p:ext uri="{D42A27DB-BD31-4B8C-83A1-F6EECF244321}">
                <p14:modId xmlns:p14="http://schemas.microsoft.com/office/powerpoint/2010/main" val="1917598233"/>
              </p:ext>
            </p:extLst>
          </p:nvPr>
        </p:nvGraphicFramePr>
        <p:xfrm>
          <a:off x="334800" y="1097265"/>
          <a:ext cx="8785536" cy="5113337"/>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511333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E6157E40-1B1E-4A42-945A-FF5D7BC7A682}"/>
              </a:ext>
            </a:extLst>
          </p:cNvPr>
          <p:cNvSpPr>
            <a:spLocks noGrp="1"/>
          </p:cNvSpPr>
          <p:nvPr>
            <p:ph sz="quarter" idx="13" hasCustomPrompt="1"/>
          </p:nvPr>
        </p:nvSpPr>
        <p:spPr/>
        <p:txBody>
          <a:bodyPr/>
          <a:lstStyle/>
          <a:p>
            <a:pPr>
              <a:buNone/>
            </a:pPr>
            <a:endParaRPr lang="en-US" dirty="0"/>
          </a:p>
          <a:p>
            <a:pPr>
              <a:buNone/>
            </a:pPr>
            <a:endParaRPr lang="en-US" dirty="0"/>
          </a:p>
        </p:txBody>
      </p:sp>
      <p:sp>
        <p:nvSpPr>
          <p:cNvPr id="3" name="Title 2">
            <a:extLst>
              <a:ext uri="{FF2B5EF4-FFF2-40B4-BE49-F238E27FC236}">
                <a16:creationId xmlns:a16="http://schemas.microsoft.com/office/drawing/2014/main" id="{3C43D51E-8B5F-4145-8D2C-A4E0D2536C2C}"/>
              </a:ext>
            </a:extLst>
          </p:cNvPr>
          <p:cNvSpPr>
            <a:spLocks noGrp="1"/>
          </p:cNvSpPr>
          <p:nvPr>
            <p:ph type="title" hasCustomPrompt="1"/>
          </p:nvPr>
        </p:nvSpPr>
        <p:spPr/>
        <p:txBody>
          <a:bodyPr/>
          <a:lstStyle/>
          <a:p>
            <a:r>
              <a:rPr lang="en-IN" dirty="0"/>
              <a:t>Project Creator</a:t>
            </a:r>
            <a:r>
              <a:rPr dirty="0"/>
              <a:t> </a:t>
            </a:r>
          </a:p>
        </p:txBody>
      </p:sp>
      <p:grpSp>
        <p:nvGrpSpPr>
          <p:cNvPr id="8" name="Group 7">
            <a:extLst>
              <a:ext uri="{FF2B5EF4-FFF2-40B4-BE49-F238E27FC236}">
                <a16:creationId xmlns:a16="http://schemas.microsoft.com/office/drawing/2014/main" id="{8B0C8551-4FD7-3976-6628-83C5C5BB5D74}"/>
              </a:ext>
            </a:extLst>
          </p:cNvPr>
          <p:cNvGrpSpPr/>
          <p:nvPr/>
        </p:nvGrpSpPr>
        <p:grpSpPr>
          <a:xfrm>
            <a:off x="846912" y="1219315"/>
            <a:ext cx="7560840" cy="4879042"/>
            <a:chOff x="1631504" y="998682"/>
            <a:chExt cx="8267760" cy="5571286"/>
          </a:xfrm>
        </p:grpSpPr>
        <p:pic>
          <p:nvPicPr>
            <p:cNvPr id="4" name="Picture 3">
              <a:extLst>
                <a:ext uri="{FF2B5EF4-FFF2-40B4-BE49-F238E27FC236}">
                  <a16:creationId xmlns:a16="http://schemas.microsoft.com/office/drawing/2014/main" id="{09AE5204-6501-4CC4-9FB6-9101107E7128}"/>
                </a:ext>
              </a:extLst>
            </p:cNvPr>
            <p:cNvPicPr>
              <a:picLocks noChangeAspect="1"/>
            </p:cNvPicPr>
            <p:nvPr/>
          </p:nvPicPr>
          <p:blipFill>
            <a:blip r:embed="rId3"/>
            <a:stretch>
              <a:fillRect/>
            </a:stretch>
          </p:blipFill>
          <p:spPr>
            <a:xfrm>
              <a:off x="1631504" y="998682"/>
              <a:ext cx="8267760" cy="5571286"/>
            </a:xfrm>
            <a:prstGeom prst="rect">
              <a:avLst/>
            </a:prstGeom>
          </p:spPr>
        </p:pic>
        <p:sp>
          <p:nvSpPr>
            <p:cNvPr id="5" name="Rectangle 4">
              <a:extLst>
                <a:ext uri="{FF2B5EF4-FFF2-40B4-BE49-F238E27FC236}">
                  <a16:creationId xmlns:a16="http://schemas.microsoft.com/office/drawing/2014/main" id="{20F826EA-A7FE-434A-95C7-D0F13E02A4E3}"/>
                </a:ext>
              </a:extLst>
            </p:cNvPr>
            <p:cNvSpPr/>
            <p:nvPr/>
          </p:nvSpPr>
          <p:spPr bwMode="auto">
            <a:xfrm>
              <a:off x="1719704" y="1480905"/>
              <a:ext cx="8048704" cy="353227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CDE12B64-103A-491B-AAAC-3A8AF8AABAFB}"/>
                </a:ext>
              </a:extLst>
            </p:cNvPr>
            <p:cNvSpPr/>
            <p:nvPr/>
          </p:nvSpPr>
          <p:spPr bwMode="auto">
            <a:xfrm>
              <a:off x="1864169" y="3102518"/>
              <a:ext cx="4215451" cy="161289"/>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E11A06AF-CF8C-49C4-B4FF-2A664F7C4D29}"/>
                </a:ext>
              </a:extLst>
            </p:cNvPr>
            <p:cNvSpPr/>
            <p:nvPr/>
          </p:nvSpPr>
          <p:spPr bwMode="auto">
            <a:xfrm>
              <a:off x="1631504" y="1004461"/>
              <a:ext cx="2483599" cy="233499"/>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55223172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015AF7C-EB5C-3056-B5B4-FBC9C7D6310A}"/>
              </a:ext>
            </a:extLst>
          </p:cNvPr>
          <p:cNvGrpSpPr/>
          <p:nvPr/>
        </p:nvGrpSpPr>
        <p:grpSpPr>
          <a:xfrm>
            <a:off x="2207568" y="1106075"/>
            <a:ext cx="4248472" cy="5189386"/>
            <a:chOff x="3791744" y="911918"/>
            <a:chExt cx="3960439" cy="5654710"/>
          </a:xfrm>
        </p:grpSpPr>
        <p:pic>
          <p:nvPicPr>
            <p:cNvPr id="4" name="Picture 3">
              <a:extLst>
                <a:ext uri="{FF2B5EF4-FFF2-40B4-BE49-F238E27FC236}">
                  <a16:creationId xmlns:a16="http://schemas.microsoft.com/office/drawing/2014/main" id="{326D6309-6A80-47DB-A4ED-489CA6985046}"/>
                </a:ext>
              </a:extLst>
            </p:cNvPr>
            <p:cNvPicPr>
              <a:picLocks noChangeAspect="1"/>
            </p:cNvPicPr>
            <p:nvPr/>
          </p:nvPicPr>
          <p:blipFill>
            <a:blip r:embed="rId3"/>
            <a:stretch>
              <a:fillRect/>
            </a:stretch>
          </p:blipFill>
          <p:spPr>
            <a:xfrm>
              <a:off x="3791744" y="911918"/>
              <a:ext cx="3882660" cy="5654709"/>
            </a:xfrm>
            <a:prstGeom prst="rect">
              <a:avLst/>
            </a:prstGeom>
          </p:spPr>
        </p:pic>
        <p:sp>
          <p:nvSpPr>
            <p:cNvPr id="25" name="Rectangle 24">
              <a:extLst>
                <a:ext uri="{FF2B5EF4-FFF2-40B4-BE49-F238E27FC236}">
                  <a16:creationId xmlns:a16="http://schemas.microsoft.com/office/drawing/2014/main" id="{FF4F0F84-3C66-4856-B53B-A658C4C8D97C}"/>
                </a:ext>
              </a:extLst>
            </p:cNvPr>
            <p:cNvSpPr/>
            <p:nvPr/>
          </p:nvSpPr>
          <p:spPr bwMode="auto">
            <a:xfrm>
              <a:off x="4414526" y="1056082"/>
              <a:ext cx="3337657" cy="675773"/>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C3EDCEA0-3FAB-471F-AC78-14BA06E403F0}"/>
                </a:ext>
              </a:extLst>
            </p:cNvPr>
            <p:cNvSpPr/>
            <p:nvPr/>
          </p:nvSpPr>
          <p:spPr bwMode="auto">
            <a:xfrm>
              <a:off x="4428577" y="1824264"/>
              <a:ext cx="3313349" cy="432048"/>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7" name="Rectangle 26">
              <a:extLst>
                <a:ext uri="{FF2B5EF4-FFF2-40B4-BE49-F238E27FC236}">
                  <a16:creationId xmlns:a16="http://schemas.microsoft.com/office/drawing/2014/main" id="{34025C79-5752-4FC3-85EB-16B5F30BAF00}"/>
                </a:ext>
              </a:extLst>
            </p:cNvPr>
            <p:cNvSpPr/>
            <p:nvPr/>
          </p:nvSpPr>
          <p:spPr bwMode="auto">
            <a:xfrm>
              <a:off x="4423727" y="2603958"/>
              <a:ext cx="3310706" cy="1812513"/>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8" name="Rectangle 27">
              <a:extLst>
                <a:ext uri="{FF2B5EF4-FFF2-40B4-BE49-F238E27FC236}">
                  <a16:creationId xmlns:a16="http://schemas.microsoft.com/office/drawing/2014/main" id="{C3E439F0-7139-41EE-B9B8-5E0A51C5C493}"/>
                </a:ext>
              </a:extLst>
            </p:cNvPr>
            <p:cNvSpPr/>
            <p:nvPr/>
          </p:nvSpPr>
          <p:spPr bwMode="auto">
            <a:xfrm>
              <a:off x="4427979" y="4580968"/>
              <a:ext cx="3313349" cy="360120"/>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9" name="Rectangle 28">
              <a:extLst>
                <a:ext uri="{FF2B5EF4-FFF2-40B4-BE49-F238E27FC236}">
                  <a16:creationId xmlns:a16="http://schemas.microsoft.com/office/drawing/2014/main" id="{40AD0F67-5E60-4482-A0A3-8024468F1CFF}"/>
                </a:ext>
              </a:extLst>
            </p:cNvPr>
            <p:cNvSpPr/>
            <p:nvPr/>
          </p:nvSpPr>
          <p:spPr bwMode="auto">
            <a:xfrm>
              <a:off x="4426998" y="5012936"/>
              <a:ext cx="3313349" cy="216264"/>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0" name="Rectangle 29">
              <a:extLst>
                <a:ext uri="{FF2B5EF4-FFF2-40B4-BE49-F238E27FC236}">
                  <a16:creationId xmlns:a16="http://schemas.microsoft.com/office/drawing/2014/main" id="{D676CCB3-850E-4B54-B11F-A6F964A5B21F}"/>
                </a:ext>
              </a:extLst>
            </p:cNvPr>
            <p:cNvSpPr/>
            <p:nvPr/>
          </p:nvSpPr>
          <p:spPr bwMode="auto">
            <a:xfrm>
              <a:off x="4422065" y="5321608"/>
              <a:ext cx="3313349" cy="699679"/>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1" name="Rectangle 30">
              <a:extLst>
                <a:ext uri="{FF2B5EF4-FFF2-40B4-BE49-F238E27FC236}">
                  <a16:creationId xmlns:a16="http://schemas.microsoft.com/office/drawing/2014/main" id="{DE47A369-3EC3-437C-8F20-D233EF10CAFB}"/>
                </a:ext>
              </a:extLst>
            </p:cNvPr>
            <p:cNvSpPr/>
            <p:nvPr/>
          </p:nvSpPr>
          <p:spPr bwMode="auto">
            <a:xfrm>
              <a:off x="4421083" y="6101304"/>
              <a:ext cx="3313349" cy="465324"/>
            </a:xfrm>
            <a:prstGeom prst="rect">
              <a:avLst/>
            </a:prstGeom>
            <a:noFill/>
            <a:ln>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
        <p:nvSpPr>
          <p:cNvPr id="3" name="Title 2">
            <a:extLst>
              <a:ext uri="{FF2B5EF4-FFF2-40B4-BE49-F238E27FC236}">
                <a16:creationId xmlns:a16="http://schemas.microsoft.com/office/drawing/2014/main" id="{54FCEE35-B033-43D4-953D-2F25705C2103}"/>
              </a:ext>
            </a:extLst>
          </p:cNvPr>
          <p:cNvSpPr>
            <a:spLocks noGrp="1"/>
          </p:cNvSpPr>
          <p:nvPr>
            <p:ph type="title" hasCustomPrompt="1"/>
          </p:nvPr>
        </p:nvSpPr>
        <p:spPr/>
        <p:txBody>
          <a:bodyPr/>
          <a:lstStyle/>
          <a:p>
            <a:r>
              <a:rPr dirty="0"/>
              <a:t>Understanding the </a:t>
            </a:r>
            <a:r>
              <a:rPr lang="en-IN" dirty="0"/>
              <a:t>a</a:t>
            </a:r>
            <a:r>
              <a:rPr dirty="0" err="1"/>
              <a:t>pplication</a:t>
            </a:r>
            <a:r>
              <a:rPr dirty="0"/>
              <a:t> </a:t>
            </a:r>
            <a:r>
              <a:rPr lang="en-IN" dirty="0"/>
              <a:t>s</a:t>
            </a:r>
            <a:r>
              <a:rPr dirty="0" err="1"/>
              <a:t>tructure</a:t>
            </a:r>
            <a:r>
              <a:rPr dirty="0"/>
              <a:t> </a:t>
            </a:r>
          </a:p>
        </p:txBody>
      </p:sp>
      <p:graphicFrame>
        <p:nvGraphicFramePr>
          <p:cNvPr id="5" name="Table 4">
            <a:extLst>
              <a:ext uri="{FF2B5EF4-FFF2-40B4-BE49-F238E27FC236}">
                <a16:creationId xmlns:a16="http://schemas.microsoft.com/office/drawing/2014/main" id="{4EC4C92B-1BB6-FE88-7087-248396F547E8}"/>
              </a:ext>
            </a:extLst>
          </p:cNvPr>
          <p:cNvGraphicFramePr>
            <a:graphicFrameLocks noGrp="1"/>
          </p:cNvGraphicFramePr>
          <p:nvPr>
            <p:extLst>
              <p:ext uri="{D42A27DB-BD31-4B8C-83A1-F6EECF244321}">
                <p14:modId xmlns:p14="http://schemas.microsoft.com/office/powerpoint/2010/main" val="3924237468"/>
              </p:ext>
            </p:extLst>
          </p:nvPr>
        </p:nvGraphicFramePr>
        <p:xfrm>
          <a:off x="335360" y="1122967"/>
          <a:ext cx="8785536" cy="5263171"/>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5263171">
                <a:tc>
                  <a:txBody>
                    <a:bodyPr/>
                    <a:lstStyle/>
                    <a:p>
                      <a:endParaRPr lang="en-IN" dirty="0"/>
                    </a:p>
                  </a:txBody>
                  <a:tcPr/>
                </a:tc>
                <a:extLst>
                  <a:ext uri="{0D108BD9-81ED-4DB2-BD59-A6C34878D82A}">
                    <a16:rowId xmlns:a16="http://schemas.microsoft.com/office/drawing/2014/main" val="2790378329"/>
                  </a:ext>
                </a:extLst>
              </a:tr>
            </a:tbl>
          </a:graphicData>
        </a:graphic>
      </p:graphicFrame>
    </p:spTree>
    <p:extLst>
      <p:ext uri="{BB962C8B-B14F-4D97-AF65-F5344CB8AC3E}">
        <p14:creationId xmlns:p14="http://schemas.microsoft.com/office/powerpoint/2010/main" val="3276350061"/>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9">
            <a:extLst>
              <a:ext uri="{FF2B5EF4-FFF2-40B4-BE49-F238E27FC236}">
                <a16:creationId xmlns:a16="http://schemas.microsoft.com/office/drawing/2014/main" id="{8FC60D67-D877-D877-255F-D89DC6A459FC}"/>
              </a:ext>
            </a:extLst>
          </p:cNvPr>
          <p:cNvGraphicFramePr>
            <a:graphicFrameLocks noGrp="1"/>
          </p:cNvGraphicFramePr>
          <p:nvPr>
            <p:extLst>
              <p:ext uri="{D42A27DB-BD31-4B8C-83A1-F6EECF244321}">
                <p14:modId xmlns:p14="http://schemas.microsoft.com/office/powerpoint/2010/main" val="2019525789"/>
              </p:ext>
            </p:extLst>
          </p:nvPr>
        </p:nvGraphicFramePr>
        <p:xfrm>
          <a:off x="335360" y="1257360"/>
          <a:ext cx="8785536" cy="4968552"/>
        </p:xfrm>
        <a:graphic>
          <a:graphicData uri="http://schemas.openxmlformats.org/drawingml/2006/table">
            <a:tbl>
              <a:tblPr firstRow="1" bandRow="1">
                <a:tableStyleId>{5940675A-B579-460E-94D1-54222C63F5DA}</a:tableStyleId>
              </a:tblPr>
              <a:tblGrid>
                <a:gridCol w="8785536">
                  <a:extLst>
                    <a:ext uri="{9D8B030D-6E8A-4147-A177-3AD203B41FA5}">
                      <a16:colId xmlns:a16="http://schemas.microsoft.com/office/drawing/2014/main" val="1034522424"/>
                    </a:ext>
                  </a:extLst>
                </a:gridCol>
              </a:tblGrid>
              <a:tr h="4968552">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8BE65457-AAB8-414D-8726-2E0A1A0CEFD4}"/>
              </a:ext>
            </a:extLst>
          </p:cNvPr>
          <p:cNvSpPr>
            <a:spLocks noGrp="1"/>
          </p:cNvSpPr>
          <p:nvPr>
            <p:ph type="title" hasCustomPrompt="1"/>
          </p:nvPr>
        </p:nvSpPr>
        <p:spPr/>
        <p:txBody>
          <a:bodyPr/>
          <a:lstStyle/>
          <a:p>
            <a:r>
              <a:rPr dirty="0"/>
              <a:t>Library </a:t>
            </a:r>
            <a:r>
              <a:rPr lang="en-IN" dirty="0"/>
              <a:t>M</a:t>
            </a:r>
            <a:r>
              <a:rPr dirty="0" err="1"/>
              <a:t>anager</a:t>
            </a:r>
            <a:r>
              <a:rPr dirty="0"/>
              <a:t> </a:t>
            </a:r>
          </a:p>
        </p:txBody>
      </p:sp>
      <p:grpSp>
        <p:nvGrpSpPr>
          <p:cNvPr id="4" name="Group 3">
            <a:extLst>
              <a:ext uri="{FF2B5EF4-FFF2-40B4-BE49-F238E27FC236}">
                <a16:creationId xmlns:a16="http://schemas.microsoft.com/office/drawing/2014/main" id="{E656A1D8-A3C4-6C8D-194F-2C2427391A8C}"/>
              </a:ext>
            </a:extLst>
          </p:cNvPr>
          <p:cNvGrpSpPr/>
          <p:nvPr/>
        </p:nvGrpSpPr>
        <p:grpSpPr>
          <a:xfrm>
            <a:off x="839416" y="1437380"/>
            <a:ext cx="7620655" cy="4608512"/>
            <a:chOff x="1427672" y="969351"/>
            <a:chExt cx="9336657" cy="5441696"/>
          </a:xfrm>
        </p:grpSpPr>
        <p:pic>
          <p:nvPicPr>
            <p:cNvPr id="2" name="Picture 1">
              <a:extLst>
                <a:ext uri="{FF2B5EF4-FFF2-40B4-BE49-F238E27FC236}">
                  <a16:creationId xmlns:a16="http://schemas.microsoft.com/office/drawing/2014/main" id="{67C50BDE-5FED-4830-959C-8DD9AE82DF6C}"/>
                </a:ext>
              </a:extLst>
            </p:cNvPr>
            <p:cNvPicPr>
              <a:picLocks noChangeAspect="1"/>
            </p:cNvPicPr>
            <p:nvPr/>
          </p:nvPicPr>
          <p:blipFill>
            <a:blip r:embed="rId3"/>
            <a:stretch>
              <a:fillRect/>
            </a:stretch>
          </p:blipFill>
          <p:spPr>
            <a:xfrm>
              <a:off x="1427672" y="969351"/>
              <a:ext cx="9336657" cy="5441696"/>
            </a:xfrm>
            <a:prstGeom prst="rect">
              <a:avLst/>
            </a:prstGeom>
          </p:spPr>
        </p:pic>
        <p:sp>
          <p:nvSpPr>
            <p:cNvPr id="5" name="Rectangle 4">
              <a:extLst>
                <a:ext uri="{FF2B5EF4-FFF2-40B4-BE49-F238E27FC236}">
                  <a16:creationId xmlns:a16="http://schemas.microsoft.com/office/drawing/2014/main" id="{1EDFFA47-8BF0-43CC-81E1-CCFA571469AC}"/>
                </a:ext>
              </a:extLst>
            </p:cNvPr>
            <p:cNvSpPr/>
            <p:nvPr/>
          </p:nvSpPr>
          <p:spPr bwMode="auto">
            <a:xfrm>
              <a:off x="1559496" y="1796430"/>
              <a:ext cx="4536504" cy="280831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52811FA9-7BB5-463A-8D06-A3E5D1DAB53B}"/>
                </a:ext>
              </a:extLst>
            </p:cNvPr>
            <p:cNvSpPr/>
            <p:nvPr/>
          </p:nvSpPr>
          <p:spPr bwMode="auto">
            <a:xfrm>
              <a:off x="6096000" y="1796430"/>
              <a:ext cx="4464496" cy="280831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9923EBD0-356B-4ABD-A556-2770270FF7C2}"/>
                </a:ext>
              </a:extLst>
            </p:cNvPr>
            <p:cNvSpPr/>
            <p:nvPr/>
          </p:nvSpPr>
          <p:spPr bwMode="auto">
            <a:xfrm>
              <a:off x="1595500" y="4677784"/>
              <a:ext cx="468052" cy="209423"/>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C4E2AB70-C9AD-4842-969C-B6E20CB92C85}"/>
                </a:ext>
              </a:extLst>
            </p:cNvPr>
            <p:cNvSpPr/>
            <p:nvPr/>
          </p:nvSpPr>
          <p:spPr bwMode="auto">
            <a:xfrm>
              <a:off x="2135560" y="4677783"/>
              <a:ext cx="576064" cy="209423"/>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37E60BE8-14E1-427F-ABAD-085F11885FB9}"/>
                </a:ext>
              </a:extLst>
            </p:cNvPr>
            <p:cNvSpPr/>
            <p:nvPr/>
          </p:nvSpPr>
          <p:spPr bwMode="auto">
            <a:xfrm>
              <a:off x="9624392" y="6021289"/>
              <a:ext cx="504056" cy="21602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1935632763"/>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302F5DB7-C483-3532-C762-5E961394F9C3}"/>
              </a:ext>
            </a:extLst>
          </p:cNvPr>
          <p:cNvGraphicFramePr>
            <a:graphicFrameLocks noGrp="1"/>
          </p:cNvGraphicFramePr>
          <p:nvPr>
            <p:extLst>
              <p:ext uri="{D42A27DB-BD31-4B8C-83A1-F6EECF244321}">
                <p14:modId xmlns:p14="http://schemas.microsoft.com/office/powerpoint/2010/main" val="1893585972"/>
              </p:ext>
            </p:extLst>
          </p:nvPr>
        </p:nvGraphicFramePr>
        <p:xfrm>
          <a:off x="5978298" y="1268412"/>
          <a:ext cx="4654205" cy="4968899"/>
        </p:xfrm>
        <a:graphic>
          <a:graphicData uri="http://schemas.openxmlformats.org/drawingml/2006/table">
            <a:tbl>
              <a:tblPr firstRow="1" bandRow="1">
                <a:tableStyleId>{5940675A-B579-460E-94D1-54222C63F5DA}</a:tableStyleId>
              </a:tblPr>
              <a:tblGrid>
                <a:gridCol w="4654205">
                  <a:extLst>
                    <a:ext uri="{9D8B030D-6E8A-4147-A177-3AD203B41FA5}">
                      <a16:colId xmlns:a16="http://schemas.microsoft.com/office/drawing/2014/main" val="1034522424"/>
                    </a:ext>
                  </a:extLst>
                </a:gridCol>
              </a:tblGrid>
              <a:tr h="4968899">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8C6CE2CC-C1D8-4748-AC3D-8025B5102B2F}"/>
              </a:ext>
            </a:extLst>
          </p:cNvPr>
          <p:cNvSpPr>
            <a:spLocks noGrp="1"/>
          </p:cNvSpPr>
          <p:nvPr>
            <p:ph sz="quarter" idx="13" hasCustomPrompt="1"/>
          </p:nvPr>
        </p:nvSpPr>
        <p:spPr/>
        <p:txBody>
          <a:bodyPr/>
          <a:lstStyle/>
          <a:p>
            <a:pPr>
              <a:lnSpc>
                <a:spcPct val="150000"/>
              </a:lnSpc>
              <a:buFont typeface="Arial" panose="020B0604020202020204" pitchFamily="34" charset="0"/>
              <a:buChar char="‒"/>
            </a:pPr>
            <a:r>
              <a:rPr lang="en-IN" sz="1600" dirty="0"/>
              <a:t>Device Configurator</a:t>
            </a:r>
            <a:endParaRPr sz="1600" dirty="0"/>
          </a:p>
          <a:p>
            <a:pPr>
              <a:lnSpc>
                <a:spcPct val="150000"/>
              </a:lnSpc>
              <a:buFont typeface="Arial" panose="020B0604020202020204" pitchFamily="34" charset="0"/>
              <a:buChar char="‒"/>
            </a:pPr>
            <a:r>
              <a:rPr sz="1600" dirty="0"/>
              <a:t>QSPI </a:t>
            </a:r>
            <a:r>
              <a:rPr lang="en-IN" sz="1600" dirty="0"/>
              <a:t>c</a:t>
            </a:r>
            <a:r>
              <a:rPr sz="1600" dirty="0" err="1"/>
              <a:t>onfigurator</a:t>
            </a:r>
            <a:endParaRPr sz="1600" dirty="0"/>
          </a:p>
          <a:p>
            <a:pPr>
              <a:lnSpc>
                <a:spcPct val="150000"/>
              </a:lnSpc>
              <a:buFont typeface="Arial" panose="020B0604020202020204" pitchFamily="34" charset="0"/>
              <a:buChar char="‒"/>
            </a:pPr>
            <a:r>
              <a:rPr sz="1600" dirty="0"/>
              <a:t>Smart I/O </a:t>
            </a:r>
            <a:r>
              <a:rPr lang="en-IN" sz="1600" dirty="0"/>
              <a:t>c</a:t>
            </a:r>
            <a:r>
              <a:rPr sz="1600" dirty="0" err="1"/>
              <a:t>onfigurator</a:t>
            </a:r>
            <a:r>
              <a:rPr sz="1600" dirty="0"/>
              <a:t> </a:t>
            </a:r>
          </a:p>
          <a:p>
            <a:pPr>
              <a:lnSpc>
                <a:spcPct val="150000"/>
              </a:lnSpc>
              <a:buFont typeface="Arial" panose="020B0604020202020204" pitchFamily="34" charset="0"/>
              <a:buChar char="‒"/>
            </a:pPr>
            <a:r>
              <a:rPr sz="1600" dirty="0"/>
              <a:t>Edge </a:t>
            </a:r>
            <a:r>
              <a:rPr lang="en-IN" sz="1600" dirty="0"/>
              <a:t>p</a:t>
            </a:r>
            <a:r>
              <a:rPr sz="1600" dirty="0" err="1"/>
              <a:t>rotect</a:t>
            </a:r>
            <a:r>
              <a:rPr sz="1600" dirty="0"/>
              <a:t> </a:t>
            </a:r>
            <a:r>
              <a:rPr lang="en-IN" sz="1600" dirty="0"/>
              <a:t>c</a:t>
            </a:r>
            <a:r>
              <a:rPr sz="1600" dirty="0" err="1"/>
              <a:t>onfigurator</a:t>
            </a:r>
            <a:endParaRPr lang="en-US" sz="1600" b="1" dirty="0"/>
          </a:p>
          <a:p>
            <a:pPr>
              <a:lnSpc>
                <a:spcPct val="150000"/>
              </a:lnSpc>
              <a:buFont typeface="Arial" panose="020B0604020202020204" pitchFamily="34" charset="0"/>
              <a:buChar char="‒"/>
            </a:pPr>
            <a:r>
              <a:rPr sz="1600" dirty="0"/>
              <a:t>Configurators</a:t>
            </a:r>
            <a:endParaRPr lang="en-IN" sz="1600" dirty="0"/>
          </a:p>
          <a:p>
            <a:pPr lvl="1">
              <a:lnSpc>
                <a:spcPct val="150000"/>
              </a:lnSpc>
            </a:pPr>
            <a:r>
              <a:rPr sz="1400" dirty="0"/>
              <a:t>Creates structures needed for peripheral</a:t>
            </a:r>
            <a:r>
              <a:rPr lang="en-IN" sz="1400" dirty="0"/>
              <a:t>s </a:t>
            </a:r>
            <a:r>
              <a:rPr sz="1400" dirty="0"/>
              <a:t>used by PDL</a:t>
            </a:r>
          </a:p>
          <a:p>
            <a:pPr>
              <a:buFont typeface="Wingdings" panose="05000000000000000000" pitchFamily="2" charset="2"/>
              <a:buChar char="q"/>
            </a:pPr>
            <a:endParaRPr lang="en-US" dirty="0"/>
          </a:p>
        </p:txBody>
      </p:sp>
      <p:sp>
        <p:nvSpPr>
          <p:cNvPr id="3" name="Title 2">
            <a:extLst>
              <a:ext uri="{FF2B5EF4-FFF2-40B4-BE49-F238E27FC236}">
                <a16:creationId xmlns:a16="http://schemas.microsoft.com/office/drawing/2014/main" id="{CC46CB3A-7583-4CA8-A178-614E82CCCE1A}"/>
              </a:ext>
            </a:extLst>
          </p:cNvPr>
          <p:cNvSpPr>
            <a:spLocks noGrp="1"/>
          </p:cNvSpPr>
          <p:nvPr>
            <p:ph type="title" hasCustomPrompt="1"/>
          </p:nvPr>
        </p:nvSpPr>
        <p:spPr/>
        <p:txBody>
          <a:bodyPr/>
          <a:lstStyle/>
          <a:p>
            <a:r>
              <a:rPr dirty="0"/>
              <a:t>BSP </a:t>
            </a:r>
            <a:r>
              <a:rPr lang="en-IN" dirty="0"/>
              <a:t>c</a:t>
            </a:r>
            <a:r>
              <a:rPr dirty="0" err="1"/>
              <a:t>onfigurators</a:t>
            </a:r>
            <a:r>
              <a:rPr dirty="0"/>
              <a:t> </a:t>
            </a:r>
          </a:p>
        </p:txBody>
      </p:sp>
      <p:grpSp>
        <p:nvGrpSpPr>
          <p:cNvPr id="4" name="Group 3">
            <a:extLst>
              <a:ext uri="{FF2B5EF4-FFF2-40B4-BE49-F238E27FC236}">
                <a16:creationId xmlns:a16="http://schemas.microsoft.com/office/drawing/2014/main" id="{3F80B389-AC7C-B0EA-55A5-251805A2FEB8}"/>
              </a:ext>
            </a:extLst>
          </p:cNvPr>
          <p:cNvGrpSpPr/>
          <p:nvPr/>
        </p:nvGrpSpPr>
        <p:grpSpPr>
          <a:xfrm>
            <a:off x="6564052" y="1412601"/>
            <a:ext cx="3384376" cy="4680520"/>
            <a:chOff x="6312024" y="620688"/>
            <a:chExt cx="3450357" cy="5537728"/>
          </a:xfrm>
        </p:grpSpPr>
        <p:pic>
          <p:nvPicPr>
            <p:cNvPr id="6" name="Picture 5">
              <a:extLst>
                <a:ext uri="{FF2B5EF4-FFF2-40B4-BE49-F238E27FC236}">
                  <a16:creationId xmlns:a16="http://schemas.microsoft.com/office/drawing/2014/main" id="{F49EB6F3-B695-4110-BE43-71789DCB2761}"/>
                </a:ext>
              </a:extLst>
            </p:cNvPr>
            <p:cNvPicPr>
              <a:picLocks noChangeAspect="1"/>
            </p:cNvPicPr>
            <p:nvPr/>
          </p:nvPicPr>
          <p:blipFill>
            <a:blip r:embed="rId3"/>
            <a:stretch>
              <a:fillRect/>
            </a:stretch>
          </p:blipFill>
          <p:spPr>
            <a:xfrm>
              <a:off x="6312024" y="620688"/>
              <a:ext cx="3450357" cy="5537728"/>
            </a:xfrm>
            <a:prstGeom prst="rect">
              <a:avLst/>
            </a:prstGeom>
          </p:spPr>
        </p:pic>
        <p:sp>
          <p:nvSpPr>
            <p:cNvPr id="5" name="Rectangle 4">
              <a:extLst>
                <a:ext uri="{FF2B5EF4-FFF2-40B4-BE49-F238E27FC236}">
                  <a16:creationId xmlns:a16="http://schemas.microsoft.com/office/drawing/2014/main" id="{86D00297-34C0-41F8-844D-D4CB615CEC3A}"/>
                </a:ext>
              </a:extLst>
            </p:cNvPr>
            <p:cNvSpPr/>
            <p:nvPr/>
          </p:nvSpPr>
          <p:spPr bwMode="auto">
            <a:xfrm>
              <a:off x="6384032" y="4797152"/>
              <a:ext cx="3218719" cy="93610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542631726"/>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ACC2CED-D7FB-29D3-B6D2-30C370D7D5C6}"/>
              </a:ext>
            </a:extLst>
          </p:cNvPr>
          <p:cNvGraphicFramePr>
            <a:graphicFrameLocks noGrp="1"/>
          </p:cNvGraphicFramePr>
          <p:nvPr>
            <p:extLst>
              <p:ext uri="{D42A27DB-BD31-4B8C-83A1-F6EECF244321}">
                <p14:modId xmlns:p14="http://schemas.microsoft.com/office/powerpoint/2010/main" val="1158883342"/>
              </p:ext>
            </p:extLst>
          </p:nvPr>
        </p:nvGraphicFramePr>
        <p:xfrm>
          <a:off x="332384" y="1268412"/>
          <a:ext cx="10441159" cy="4968899"/>
        </p:xfrm>
        <a:graphic>
          <a:graphicData uri="http://schemas.openxmlformats.org/drawingml/2006/table">
            <a:tbl>
              <a:tblPr firstRow="1" bandRow="1">
                <a:tableStyleId>{5940675A-B579-460E-94D1-54222C63F5DA}</a:tableStyleId>
              </a:tblPr>
              <a:tblGrid>
                <a:gridCol w="10441159">
                  <a:extLst>
                    <a:ext uri="{9D8B030D-6E8A-4147-A177-3AD203B41FA5}">
                      <a16:colId xmlns:a16="http://schemas.microsoft.com/office/drawing/2014/main" val="1034522424"/>
                    </a:ext>
                  </a:extLst>
                </a:gridCol>
              </a:tblGrid>
              <a:tr h="4968899">
                <a:tc>
                  <a:txBody>
                    <a:bodyPr/>
                    <a:lstStyle/>
                    <a:p>
                      <a:endParaRPr lang="en-IN" dirty="0"/>
                    </a:p>
                  </a:txBody>
                  <a:tcPr/>
                </a:tc>
                <a:extLst>
                  <a:ext uri="{0D108BD9-81ED-4DB2-BD59-A6C34878D82A}">
                    <a16:rowId xmlns:a16="http://schemas.microsoft.com/office/drawing/2014/main" val="2790378329"/>
                  </a:ext>
                </a:extLst>
              </a:tr>
            </a:tbl>
          </a:graphicData>
        </a:graphic>
      </p:graphicFrame>
      <p:pic>
        <p:nvPicPr>
          <p:cNvPr id="4" name="Content Placeholder 3">
            <a:extLst>
              <a:ext uri="{FF2B5EF4-FFF2-40B4-BE49-F238E27FC236}">
                <a16:creationId xmlns:a16="http://schemas.microsoft.com/office/drawing/2014/main" id="{D378FF07-A872-4E0D-AAA7-5B25BE05F461}"/>
              </a:ext>
            </a:extLst>
          </p:cNvPr>
          <p:cNvPicPr>
            <a:picLocks noGrp="1" noChangeAspect="1"/>
          </p:cNvPicPr>
          <p:nvPr>
            <p:ph sz="quarter" idx="13" hasCustomPrompt="1"/>
          </p:nvPr>
        </p:nvPicPr>
        <p:blipFill>
          <a:blip r:embed="rId3"/>
          <a:stretch>
            <a:fillRect/>
          </a:stretch>
        </p:blipFill>
        <p:spPr>
          <a:xfrm>
            <a:off x="443372" y="1483565"/>
            <a:ext cx="10225136" cy="4538591"/>
          </a:xfrm>
        </p:spPr>
      </p:pic>
      <p:sp>
        <p:nvSpPr>
          <p:cNvPr id="3" name="Title 2">
            <a:extLst>
              <a:ext uri="{FF2B5EF4-FFF2-40B4-BE49-F238E27FC236}">
                <a16:creationId xmlns:a16="http://schemas.microsoft.com/office/drawing/2014/main" id="{4AD92298-3855-4668-AAC0-EB046C447175}"/>
              </a:ext>
            </a:extLst>
          </p:cNvPr>
          <p:cNvSpPr>
            <a:spLocks noGrp="1"/>
          </p:cNvSpPr>
          <p:nvPr>
            <p:ph type="title" hasCustomPrompt="1"/>
          </p:nvPr>
        </p:nvSpPr>
        <p:spPr/>
        <p:txBody>
          <a:bodyPr/>
          <a:lstStyle/>
          <a:p>
            <a:r>
              <a:rPr dirty="0"/>
              <a:t>QSPI </a:t>
            </a:r>
            <a:r>
              <a:rPr lang="en-IN" dirty="0"/>
              <a:t>c</a:t>
            </a:r>
            <a:r>
              <a:rPr dirty="0" err="1"/>
              <a:t>onfigurator</a:t>
            </a:r>
            <a:endParaRPr dirty="0"/>
          </a:p>
        </p:txBody>
      </p:sp>
    </p:spTree>
    <p:extLst>
      <p:ext uri="{BB962C8B-B14F-4D97-AF65-F5344CB8AC3E}">
        <p14:creationId xmlns:p14="http://schemas.microsoft.com/office/powerpoint/2010/main" val="3869060975"/>
      </p:ext>
    </p:extLst>
  </p:cSld>
  <p:clrMapOvr>
    <a:masterClrMapping/>
  </p:clrMapOvr>
  <p:transition spd="slow"/>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8D217835-5479-B630-4939-3A927F190868}"/>
              </a:ext>
            </a:extLst>
          </p:cNvPr>
          <p:cNvGraphicFramePr>
            <a:graphicFrameLocks noGrp="1"/>
          </p:cNvGraphicFramePr>
          <p:nvPr>
            <p:extLst>
              <p:ext uri="{D42A27DB-BD31-4B8C-83A1-F6EECF244321}">
                <p14:modId xmlns:p14="http://schemas.microsoft.com/office/powerpoint/2010/main" val="1821364544"/>
              </p:ext>
            </p:extLst>
          </p:nvPr>
        </p:nvGraphicFramePr>
        <p:xfrm>
          <a:off x="8544272" y="2416572"/>
          <a:ext cx="3096343" cy="2164556"/>
        </p:xfrm>
        <a:graphic>
          <a:graphicData uri="http://schemas.openxmlformats.org/drawingml/2006/table">
            <a:tbl>
              <a:tblPr firstRow="1" bandRow="1">
                <a:tableStyleId>{5940675A-B579-460E-94D1-54222C63F5DA}</a:tableStyleId>
              </a:tblPr>
              <a:tblGrid>
                <a:gridCol w="3096343">
                  <a:extLst>
                    <a:ext uri="{9D8B030D-6E8A-4147-A177-3AD203B41FA5}">
                      <a16:colId xmlns:a16="http://schemas.microsoft.com/office/drawing/2014/main" val="1034522424"/>
                    </a:ext>
                  </a:extLst>
                </a:gridCol>
              </a:tblGrid>
              <a:tr h="2164556">
                <a:tc>
                  <a:txBody>
                    <a:bodyPr/>
                    <a:lstStyle/>
                    <a:p>
                      <a:endParaRPr lang="en-IN" dirty="0"/>
                    </a:p>
                  </a:txBody>
                  <a:tcPr/>
                </a:tc>
                <a:extLst>
                  <a:ext uri="{0D108BD9-81ED-4DB2-BD59-A6C34878D82A}">
                    <a16:rowId xmlns:a16="http://schemas.microsoft.com/office/drawing/2014/main" val="2790378329"/>
                  </a:ext>
                </a:extLst>
              </a:tr>
            </a:tbl>
          </a:graphicData>
        </a:graphic>
      </p:graphicFrame>
      <p:graphicFrame>
        <p:nvGraphicFramePr>
          <p:cNvPr id="4" name="Table 3">
            <a:extLst>
              <a:ext uri="{FF2B5EF4-FFF2-40B4-BE49-F238E27FC236}">
                <a16:creationId xmlns:a16="http://schemas.microsoft.com/office/drawing/2014/main" id="{E085297F-F695-A688-3D7D-E86B3EC00EAE}"/>
              </a:ext>
            </a:extLst>
          </p:cNvPr>
          <p:cNvGraphicFramePr>
            <a:graphicFrameLocks noGrp="1"/>
          </p:cNvGraphicFramePr>
          <p:nvPr>
            <p:extLst>
              <p:ext uri="{D42A27DB-BD31-4B8C-83A1-F6EECF244321}">
                <p14:modId xmlns:p14="http://schemas.microsoft.com/office/powerpoint/2010/main" val="1956097721"/>
              </p:ext>
            </p:extLst>
          </p:nvPr>
        </p:nvGraphicFramePr>
        <p:xfrm>
          <a:off x="335361" y="1260475"/>
          <a:ext cx="8064895" cy="4472782"/>
        </p:xfrm>
        <a:graphic>
          <a:graphicData uri="http://schemas.openxmlformats.org/drawingml/2006/table">
            <a:tbl>
              <a:tblPr firstRow="1" bandRow="1">
                <a:tableStyleId>{5940675A-B579-460E-94D1-54222C63F5DA}</a:tableStyleId>
              </a:tblPr>
              <a:tblGrid>
                <a:gridCol w="8064895">
                  <a:extLst>
                    <a:ext uri="{9D8B030D-6E8A-4147-A177-3AD203B41FA5}">
                      <a16:colId xmlns:a16="http://schemas.microsoft.com/office/drawing/2014/main" val="1034522424"/>
                    </a:ext>
                  </a:extLst>
                </a:gridCol>
              </a:tblGrid>
              <a:tr h="4472782">
                <a:tc>
                  <a:txBody>
                    <a:bodyPr/>
                    <a:lstStyle/>
                    <a:p>
                      <a:endParaRPr lang="en-IN" dirty="0"/>
                    </a:p>
                  </a:txBody>
                  <a:tcPr/>
                </a:tc>
                <a:extLst>
                  <a:ext uri="{0D108BD9-81ED-4DB2-BD59-A6C34878D82A}">
                    <a16:rowId xmlns:a16="http://schemas.microsoft.com/office/drawing/2014/main" val="2790378329"/>
                  </a:ext>
                </a:extLst>
              </a:tr>
            </a:tbl>
          </a:graphicData>
        </a:graphic>
      </p:graphicFrame>
      <p:pic>
        <p:nvPicPr>
          <p:cNvPr id="2" name="Picture 1">
            <a:extLst>
              <a:ext uri="{FF2B5EF4-FFF2-40B4-BE49-F238E27FC236}">
                <a16:creationId xmlns:a16="http://schemas.microsoft.com/office/drawing/2014/main" id="{AB885D54-4E3A-4908-832F-12121199F782}"/>
              </a:ext>
            </a:extLst>
          </p:cNvPr>
          <p:cNvPicPr>
            <a:picLocks noChangeAspect="1"/>
          </p:cNvPicPr>
          <p:nvPr/>
        </p:nvPicPr>
        <p:blipFill>
          <a:blip r:embed="rId3"/>
          <a:stretch>
            <a:fillRect/>
          </a:stretch>
        </p:blipFill>
        <p:spPr>
          <a:xfrm>
            <a:off x="479376" y="1444638"/>
            <a:ext cx="7765067" cy="4104456"/>
          </a:xfrm>
          <a:prstGeom prst="rect">
            <a:avLst/>
          </a:prstGeom>
        </p:spPr>
      </p:pic>
      <p:sp>
        <p:nvSpPr>
          <p:cNvPr id="3" name="Title 2">
            <a:extLst>
              <a:ext uri="{FF2B5EF4-FFF2-40B4-BE49-F238E27FC236}">
                <a16:creationId xmlns:a16="http://schemas.microsoft.com/office/drawing/2014/main" id="{89F75015-F1C3-4228-97DF-CC1FBFA53461}"/>
              </a:ext>
            </a:extLst>
          </p:cNvPr>
          <p:cNvSpPr>
            <a:spLocks noGrp="1"/>
          </p:cNvSpPr>
          <p:nvPr>
            <p:ph type="title" hasCustomPrompt="1"/>
          </p:nvPr>
        </p:nvSpPr>
        <p:spPr/>
        <p:txBody>
          <a:bodyPr/>
          <a:lstStyle/>
          <a:p>
            <a:r>
              <a:rPr dirty="0"/>
              <a:t>SMART I/O </a:t>
            </a:r>
            <a:r>
              <a:rPr lang="en-IN" dirty="0"/>
              <a:t>c</a:t>
            </a:r>
            <a:r>
              <a:rPr dirty="0" err="1"/>
              <a:t>onfigurator</a:t>
            </a:r>
            <a:endParaRPr dirty="0"/>
          </a:p>
        </p:txBody>
      </p:sp>
      <p:pic>
        <p:nvPicPr>
          <p:cNvPr id="5" name="Picture 4">
            <a:extLst>
              <a:ext uri="{FF2B5EF4-FFF2-40B4-BE49-F238E27FC236}">
                <a16:creationId xmlns:a16="http://schemas.microsoft.com/office/drawing/2014/main" id="{2AD73C31-CD0B-429E-9C5F-C808679E5B30}"/>
              </a:ext>
            </a:extLst>
          </p:cNvPr>
          <p:cNvPicPr>
            <a:picLocks noChangeAspect="1"/>
          </p:cNvPicPr>
          <p:nvPr/>
        </p:nvPicPr>
        <p:blipFill>
          <a:blip r:embed="rId4"/>
          <a:stretch>
            <a:fillRect/>
          </a:stretch>
        </p:blipFill>
        <p:spPr>
          <a:xfrm>
            <a:off x="8678069" y="2623078"/>
            <a:ext cx="2808312" cy="1751545"/>
          </a:xfrm>
          <a:prstGeom prst="rect">
            <a:avLst/>
          </a:prstGeom>
        </p:spPr>
      </p:pic>
    </p:spTree>
    <p:extLst>
      <p:ext uri="{BB962C8B-B14F-4D97-AF65-F5344CB8AC3E}">
        <p14:creationId xmlns:p14="http://schemas.microsoft.com/office/powerpoint/2010/main" val="2839474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CC9171D-51BD-2C29-494A-C8B855E4E715}"/>
              </a:ext>
            </a:extLst>
          </p:cNvPr>
          <p:cNvGraphicFramePr>
            <a:graphicFrameLocks noGrp="1"/>
          </p:cNvGraphicFramePr>
          <p:nvPr>
            <p:extLst>
              <p:ext uri="{D42A27DB-BD31-4B8C-83A1-F6EECF244321}">
                <p14:modId xmlns:p14="http://schemas.microsoft.com/office/powerpoint/2010/main" val="431822787"/>
              </p:ext>
            </p:extLst>
          </p:nvPr>
        </p:nvGraphicFramePr>
        <p:xfrm>
          <a:off x="335361" y="4149081"/>
          <a:ext cx="11233247" cy="1944215"/>
        </p:xfrm>
        <a:graphic>
          <a:graphicData uri="http://schemas.openxmlformats.org/drawingml/2006/table">
            <a:tbl>
              <a:tblPr firstRow="1" bandRow="1">
                <a:tableStyleId>{5940675A-B579-460E-94D1-54222C63F5DA}</a:tableStyleId>
              </a:tblPr>
              <a:tblGrid>
                <a:gridCol w="11233247">
                  <a:extLst>
                    <a:ext uri="{9D8B030D-6E8A-4147-A177-3AD203B41FA5}">
                      <a16:colId xmlns:a16="http://schemas.microsoft.com/office/drawing/2014/main" val="1034522424"/>
                    </a:ext>
                  </a:extLst>
                </a:gridCol>
              </a:tblGrid>
              <a:tr h="194421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A25A57DD-7ECF-4B93-A8F8-A5076B2DA22C}"/>
              </a:ext>
            </a:extLst>
          </p:cNvPr>
          <p:cNvSpPr>
            <a:spLocks noGrp="1"/>
          </p:cNvSpPr>
          <p:nvPr>
            <p:ph type="title" hasCustomPrompt="1"/>
          </p:nvPr>
        </p:nvSpPr>
        <p:spPr/>
        <p:txBody>
          <a:bodyPr/>
          <a:lstStyle/>
          <a:p>
            <a:r>
              <a:rPr dirty="0"/>
              <a:t>Application </a:t>
            </a:r>
            <a:r>
              <a:rPr lang="en-IN" dirty="0"/>
              <a:t>b</a:t>
            </a:r>
            <a:r>
              <a:rPr dirty="0" err="1"/>
              <a:t>ooting</a:t>
            </a:r>
            <a:r>
              <a:rPr dirty="0"/>
              <a:t> sequence</a:t>
            </a:r>
          </a:p>
        </p:txBody>
      </p:sp>
      <p:sp>
        <p:nvSpPr>
          <p:cNvPr id="7" name="Content Placeholder 2">
            <a:extLst>
              <a:ext uri="{FF2B5EF4-FFF2-40B4-BE49-F238E27FC236}">
                <a16:creationId xmlns:a16="http://schemas.microsoft.com/office/drawing/2014/main" id="{4C49C87D-A9B7-48DE-A6A6-16AE0D9C7218}"/>
              </a:ext>
            </a:extLst>
          </p:cNvPr>
          <p:cNvSpPr>
            <a:spLocks noGrp="1"/>
          </p:cNvSpPr>
          <p:nvPr>
            <p:ph sz="quarter" idx="13" hasCustomPrompt="1"/>
          </p:nvPr>
        </p:nvSpPr>
        <p:spPr>
          <a:xfrm>
            <a:off x="334800" y="1268415"/>
            <a:ext cx="11520000" cy="2880666"/>
          </a:xfrm>
        </p:spPr>
        <p:txBody>
          <a:bodyPr/>
          <a:lstStyle/>
          <a:p>
            <a:pPr>
              <a:lnSpc>
                <a:spcPct val="150000"/>
              </a:lnSpc>
              <a:buClr>
                <a:srgbClr val="0A8276"/>
              </a:buClr>
              <a:buFont typeface="Arial" panose="020B0604020202020204" pitchFamily="34" charset="0"/>
              <a:buChar char="‒"/>
            </a:pPr>
            <a:r>
              <a:rPr sz="1600" dirty="0"/>
              <a:t> Boot starts from Secured Enclave as the Root of Trust </a:t>
            </a:r>
            <a:endParaRPr lang="en-US" sz="1600" dirty="0"/>
          </a:p>
          <a:p>
            <a:pPr>
              <a:lnSpc>
                <a:spcPct val="150000"/>
              </a:lnSpc>
              <a:buClr>
                <a:srgbClr val="0A8276"/>
              </a:buClr>
              <a:buFont typeface="Arial" panose="020B0604020202020204" pitchFamily="34" charset="0"/>
              <a:buChar char="‒"/>
            </a:pPr>
            <a:r>
              <a:rPr sz="1600" dirty="0"/>
              <a:t> Off-the-shelf extended boot software</a:t>
            </a:r>
          </a:p>
          <a:p>
            <a:pPr lvl="1">
              <a:lnSpc>
                <a:spcPct val="150000"/>
              </a:lnSpc>
              <a:buClr>
                <a:srgbClr val="0A8276"/>
              </a:buClr>
              <a:buFont typeface="Arial" panose="020B0604020202020204" pitchFamily="34" charset="0"/>
              <a:buChar char="‒"/>
            </a:pPr>
            <a:r>
              <a:rPr sz="1400" dirty="0"/>
              <a:t>Boot from RRAM or external flash</a:t>
            </a:r>
          </a:p>
          <a:p>
            <a:pPr lvl="1">
              <a:lnSpc>
                <a:spcPct val="150000"/>
              </a:lnSpc>
              <a:buClr>
                <a:srgbClr val="0A8276"/>
              </a:buClr>
              <a:buFont typeface="Arial" panose="020B0604020202020204" pitchFamily="34" charset="0"/>
              <a:buChar char="‒"/>
            </a:pPr>
            <a:r>
              <a:rPr sz="1400" dirty="0"/>
              <a:t>Alternate serial interface for recovery boot</a:t>
            </a:r>
          </a:p>
          <a:p>
            <a:pPr lvl="1">
              <a:lnSpc>
                <a:spcPct val="150000"/>
              </a:lnSpc>
              <a:buClr>
                <a:srgbClr val="0A8276"/>
              </a:buClr>
              <a:buFont typeface="Arial" panose="020B0604020202020204" pitchFamily="34" charset="0"/>
              <a:buChar char="‒"/>
            </a:pPr>
            <a:r>
              <a:rPr sz="1400" dirty="0"/>
              <a:t>SRAM loading for enhanced security </a:t>
            </a:r>
          </a:p>
          <a:p>
            <a:pPr>
              <a:lnSpc>
                <a:spcPct val="150000"/>
              </a:lnSpc>
              <a:buClr>
                <a:srgbClr val="0A8276"/>
              </a:buClr>
              <a:buNone/>
            </a:pPr>
            <a:endParaRPr lang="en-US" sz="1050" dirty="0"/>
          </a:p>
          <a:p>
            <a:pPr>
              <a:lnSpc>
                <a:spcPct val="150000"/>
              </a:lnSpc>
              <a:buClr>
                <a:srgbClr val="0A8276"/>
              </a:buClr>
              <a:buFont typeface="Arial" panose="020B0604020202020204" pitchFamily="34" charset="0"/>
              <a:buChar char="‒"/>
            </a:pPr>
            <a:r>
              <a:rPr sz="1600" dirty="0"/>
              <a:t> Optional MCUboot based Edge Protect Bootloader</a:t>
            </a:r>
            <a:endParaRPr lang="en-US" sz="1600" dirty="0"/>
          </a:p>
          <a:p>
            <a:pPr>
              <a:lnSpc>
                <a:spcPct val="150000"/>
              </a:lnSpc>
              <a:buClr>
                <a:srgbClr val="0A8276"/>
              </a:buClr>
              <a:buFont typeface="Arial" panose="020B0604020202020204" pitchFamily="34" charset="0"/>
              <a:buChar char="‒"/>
            </a:pPr>
            <a:r>
              <a:rPr sz="1600" dirty="0"/>
              <a:t> One</a:t>
            </a:r>
            <a:r>
              <a:rPr lang="en-US" sz="1600" dirty="0"/>
              <a:t>-</a:t>
            </a:r>
            <a:r>
              <a:rPr sz="1600" dirty="0"/>
              <a:t>time revocable OEM RoT Key</a:t>
            </a:r>
          </a:p>
          <a:p>
            <a:pPr>
              <a:buClr>
                <a:srgbClr val="0A8276"/>
              </a:buClr>
              <a:buNone/>
            </a:pPr>
            <a:endParaRPr lang="en-US" sz="1800" dirty="0"/>
          </a:p>
        </p:txBody>
      </p:sp>
      <p:pic>
        <p:nvPicPr>
          <p:cNvPr id="8" name="Picture 7">
            <a:extLst>
              <a:ext uri="{FF2B5EF4-FFF2-40B4-BE49-F238E27FC236}">
                <a16:creationId xmlns:a16="http://schemas.microsoft.com/office/drawing/2014/main" id="{BAE40279-7FB2-4A58-8157-9F3AF9253581}"/>
              </a:ext>
            </a:extLst>
          </p:cNvPr>
          <p:cNvPicPr>
            <a:picLocks noChangeAspect="1"/>
          </p:cNvPicPr>
          <p:nvPr/>
        </p:nvPicPr>
        <p:blipFill>
          <a:blip r:embed="rId3"/>
          <a:stretch>
            <a:fillRect/>
          </a:stretch>
        </p:blipFill>
        <p:spPr>
          <a:xfrm>
            <a:off x="1631504" y="4534280"/>
            <a:ext cx="8064896" cy="1656315"/>
          </a:xfrm>
          <a:prstGeom prst="rect">
            <a:avLst/>
          </a:prstGeom>
        </p:spPr>
      </p:pic>
    </p:spTree>
    <p:extLst>
      <p:ext uri="{BB962C8B-B14F-4D97-AF65-F5344CB8AC3E}">
        <p14:creationId xmlns:p14="http://schemas.microsoft.com/office/powerpoint/2010/main" val="3615014701"/>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90FB4-9A18-4E7E-A2CB-08F5FC5421A1}"/>
              </a:ext>
            </a:extLst>
          </p:cNvPr>
          <p:cNvSpPr>
            <a:spLocks noGrp="1"/>
          </p:cNvSpPr>
          <p:nvPr/>
        </p:nvSpPr>
        <p:spPr>
          <a:xfrm>
            <a:off x="334800" y="1376004"/>
            <a:ext cx="6985336" cy="5113337"/>
          </a:xfrm>
          <a:prstGeom prst="rect">
            <a:avLst/>
          </a:prstGeom>
        </p:spPr>
        <p:txBody>
          <a:bodyPr/>
          <a:lstStyle>
            <a:lvl1pPr marL="18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2000" baseline="0">
                <a:solidFill>
                  <a:schemeClr val="tx1"/>
                </a:solidFill>
                <a:latin typeface="+mn-lt"/>
                <a:ea typeface="+mn-ea"/>
                <a:cs typeface="+mn-cs"/>
              </a:defRPr>
            </a:lvl1pPr>
            <a:lvl2pPr marL="450000" indent="-270000" algn="l" defTabSz="576000" rtl="0" eaLnBrk="1" fontAlgn="base" hangingPunct="1">
              <a:spcBef>
                <a:spcPts val="0"/>
              </a:spcBef>
              <a:spcAft>
                <a:spcPts val="0"/>
              </a:spcAft>
              <a:buClr>
                <a:schemeClr val="accent1"/>
              </a:buClr>
              <a:buSzPct val="100000"/>
              <a:buFont typeface="Verdana" panose="020B0604030504040204" pitchFamily="34" charset="0"/>
              <a:buChar char="–"/>
              <a:defRPr sz="2000">
                <a:solidFill>
                  <a:schemeClr val="tx1"/>
                </a:solidFill>
                <a:latin typeface="+mn-lt"/>
                <a:ea typeface="+mn-ea"/>
                <a:cs typeface="+mn-cs"/>
              </a:defRPr>
            </a:lvl2pPr>
            <a:lvl3pPr marL="63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800" baseline="0">
                <a:solidFill>
                  <a:schemeClr val="tx1"/>
                </a:solidFill>
                <a:latin typeface="+mn-lt"/>
                <a:ea typeface="+mn-ea"/>
                <a:cs typeface="+mn-cs"/>
              </a:defRPr>
            </a:lvl3pPr>
            <a:lvl4pPr marL="802800" indent="-172800" algn="l" defTabSz="576000" rtl="0" eaLnBrk="1" fontAlgn="base" hangingPunct="1">
              <a:spcBef>
                <a:spcPts val="0"/>
              </a:spcBef>
              <a:spcAft>
                <a:spcPts val="0"/>
              </a:spcAft>
              <a:buClr>
                <a:schemeClr val="accent1"/>
              </a:buClr>
              <a:buSzPct val="100000"/>
              <a:buFont typeface="Arial" panose="020B0604020202020204" pitchFamily="34" charset="0"/>
              <a:buChar char="–"/>
              <a:defRPr sz="1600" baseline="0">
                <a:solidFill>
                  <a:schemeClr val="tx1"/>
                </a:solidFill>
                <a:latin typeface="+mn-lt"/>
                <a:ea typeface="+mn-ea"/>
                <a:cs typeface="+mn-cs"/>
              </a:defRPr>
            </a:lvl4pPr>
            <a:lvl5pPr marL="9828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400" baseline="0">
                <a:solidFill>
                  <a:schemeClr val="tx1"/>
                </a:solidFill>
                <a:latin typeface="+mn-lt"/>
                <a:ea typeface="+mn-ea"/>
                <a:cs typeface="+mn-cs"/>
              </a:defRPr>
            </a:lvl5pPr>
            <a:lvl6pPr marL="982800" indent="-180000" algn="l" defTabSz="576000" rtl="0" eaLnBrk="1" fontAlgn="base" hangingPunct="1">
              <a:spcBef>
                <a:spcPts val="0"/>
              </a:spcBef>
              <a:spcAft>
                <a:spcPts val="0"/>
              </a:spcAft>
              <a:buClr>
                <a:schemeClr val="accent1"/>
              </a:buClr>
              <a:buFont typeface="Arial" panose="020B0604020202020204" pitchFamily="34" charset="0"/>
              <a:buChar char="–"/>
              <a:defRPr sz="1400" baseline="0">
                <a:solidFill>
                  <a:schemeClr val="tx1"/>
                </a:solidFill>
                <a:latin typeface="+mn-lt"/>
                <a:cs typeface="+mn-cs"/>
              </a:defRPr>
            </a:lvl6pPr>
            <a:lvl7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7pPr>
            <a:lvl8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8pPr>
            <a:lvl9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9pPr>
          </a:lstStyle>
          <a:p>
            <a:pPr marL="0" indent="0">
              <a:lnSpc>
                <a:spcPct val="150000"/>
              </a:lnSpc>
              <a:buClr>
                <a:srgbClr val="0A8276"/>
              </a:buClr>
              <a:buNone/>
            </a:pPr>
            <a:r>
              <a:rPr lang="en-US" sz="1600" dirty="0">
                <a:solidFill>
                  <a:srgbClr val="0A8276"/>
                </a:solidFill>
              </a:rPr>
              <a:t>Development</a:t>
            </a:r>
          </a:p>
          <a:p>
            <a:pPr>
              <a:lnSpc>
                <a:spcPct val="150000"/>
              </a:lnSpc>
              <a:buClr>
                <a:srgbClr val="0A8276"/>
              </a:buClr>
              <a:buFont typeface="Arial" panose="020B0604020202020204" pitchFamily="34" charset="0"/>
              <a:buChar char="‒"/>
            </a:pPr>
            <a:r>
              <a:rPr lang="en-US" sz="1600" dirty="0"/>
              <a:t>Shipped from Infineon</a:t>
            </a:r>
          </a:p>
          <a:p>
            <a:pPr>
              <a:lnSpc>
                <a:spcPct val="150000"/>
              </a:lnSpc>
              <a:buClr>
                <a:srgbClr val="0A8276"/>
              </a:buClr>
              <a:buFont typeface="Arial" panose="020B0604020202020204" pitchFamily="34" charset="0"/>
              <a:buChar char="‒"/>
            </a:pPr>
            <a:r>
              <a:rPr lang="en-US" sz="1600" dirty="0"/>
              <a:t>Provision with OEM certificate and policy </a:t>
            </a:r>
          </a:p>
          <a:p>
            <a:pPr>
              <a:lnSpc>
                <a:spcPct val="150000"/>
              </a:lnSpc>
              <a:buClr>
                <a:srgbClr val="0A8276"/>
              </a:buClr>
              <a:buFont typeface="Arial" panose="020B0604020202020204" pitchFamily="34" charset="0"/>
              <a:buChar char="‒"/>
            </a:pPr>
            <a:r>
              <a:rPr lang="en-US" sz="1600" dirty="0"/>
              <a:t>For OEM development; until production</a:t>
            </a:r>
          </a:p>
          <a:p>
            <a:pPr marL="0" indent="0">
              <a:lnSpc>
                <a:spcPct val="150000"/>
              </a:lnSpc>
              <a:buClr>
                <a:srgbClr val="0A8276"/>
              </a:buClr>
              <a:buNone/>
            </a:pPr>
            <a:r>
              <a:rPr lang="en-US" sz="1600" dirty="0"/>
              <a:t> </a:t>
            </a:r>
            <a:r>
              <a:rPr lang="en-US" sz="1600" dirty="0">
                <a:solidFill>
                  <a:srgbClr val="0A8276"/>
                </a:solidFill>
              </a:rPr>
              <a:t>Production</a:t>
            </a:r>
          </a:p>
          <a:p>
            <a:pPr>
              <a:lnSpc>
                <a:spcPct val="150000"/>
              </a:lnSpc>
              <a:buClr>
                <a:srgbClr val="0A8276"/>
              </a:buClr>
              <a:buFont typeface="Arial" panose="020B0604020202020204" pitchFamily="34" charset="0"/>
              <a:buChar char="‒"/>
            </a:pPr>
            <a:r>
              <a:rPr lang="en-US" sz="1600" dirty="0"/>
              <a:t>One-time provisioning with “Production” certificate</a:t>
            </a:r>
          </a:p>
          <a:p>
            <a:pPr>
              <a:lnSpc>
                <a:spcPct val="150000"/>
              </a:lnSpc>
              <a:buClr>
                <a:srgbClr val="0A8276"/>
              </a:buClr>
              <a:buFont typeface="Arial" panose="020B0604020202020204" pitchFamily="34" charset="0"/>
              <a:buChar char="‒"/>
            </a:pPr>
            <a:r>
              <a:rPr lang="en-US" sz="1600" dirty="0"/>
              <a:t>Re-provisioning if allowed by policy</a:t>
            </a:r>
          </a:p>
          <a:p>
            <a:pPr marL="0" indent="0">
              <a:lnSpc>
                <a:spcPct val="150000"/>
              </a:lnSpc>
              <a:buClr>
                <a:srgbClr val="0A8276"/>
              </a:buClr>
              <a:buNone/>
            </a:pPr>
            <a:r>
              <a:rPr lang="en-US" sz="1600" dirty="0">
                <a:solidFill>
                  <a:srgbClr val="0A8276"/>
                </a:solidFill>
              </a:rPr>
              <a:t>RMA</a:t>
            </a:r>
          </a:p>
          <a:p>
            <a:pPr>
              <a:lnSpc>
                <a:spcPct val="150000"/>
              </a:lnSpc>
              <a:buClr>
                <a:srgbClr val="0A8276"/>
              </a:buClr>
              <a:buFont typeface="Arial" panose="020B0604020202020204" pitchFamily="34" charset="0"/>
              <a:buChar char="‒"/>
            </a:pPr>
            <a:r>
              <a:rPr lang="en-US" sz="1600" dirty="0"/>
              <a:t>Transition from Development or Production</a:t>
            </a:r>
          </a:p>
          <a:p>
            <a:pPr>
              <a:lnSpc>
                <a:spcPct val="150000"/>
              </a:lnSpc>
              <a:buClr>
                <a:srgbClr val="0A8276"/>
              </a:buClr>
              <a:buFont typeface="Arial" panose="020B0604020202020204" pitchFamily="34" charset="0"/>
              <a:buChar char="‒"/>
            </a:pPr>
            <a:r>
              <a:rPr lang="en-US" sz="1600" dirty="0"/>
              <a:t>Performed by Infineon signed SE Service Application</a:t>
            </a:r>
          </a:p>
          <a:p>
            <a:pPr>
              <a:lnSpc>
                <a:spcPct val="150000"/>
              </a:lnSpc>
              <a:buClr>
                <a:srgbClr val="0A8276"/>
              </a:buClr>
              <a:buFont typeface="Arial" panose="020B0604020202020204" pitchFamily="34" charset="0"/>
              <a:buChar char="‒"/>
            </a:pPr>
            <a:r>
              <a:rPr lang="en-US" sz="1600" dirty="0"/>
              <a:t>Devices in RMA mode can be shipped to Infineon for field failure analysis</a:t>
            </a:r>
          </a:p>
        </p:txBody>
      </p:sp>
      <p:sp>
        <p:nvSpPr>
          <p:cNvPr id="5" name="Title 4">
            <a:extLst>
              <a:ext uri="{FF2B5EF4-FFF2-40B4-BE49-F238E27FC236}">
                <a16:creationId xmlns:a16="http://schemas.microsoft.com/office/drawing/2014/main" id="{7871215B-44F0-4111-A15A-72E6570D37F5}"/>
              </a:ext>
            </a:extLst>
          </p:cNvPr>
          <p:cNvSpPr>
            <a:spLocks noGrp="1"/>
          </p:cNvSpPr>
          <p:nvPr>
            <p:ph type="title" hasCustomPrompt="1"/>
          </p:nvPr>
        </p:nvSpPr>
        <p:spPr/>
        <p:txBody>
          <a:bodyPr/>
          <a:lstStyle/>
          <a:p>
            <a:r>
              <a:rPr>
                <a:solidFill>
                  <a:srgbClr val="0A8276"/>
                </a:solidFill>
              </a:rPr>
              <a:t>Device lifecycle and provisioning</a:t>
            </a:r>
          </a:p>
        </p:txBody>
      </p:sp>
      <p:pic>
        <p:nvPicPr>
          <p:cNvPr id="6" name="Picture 5">
            <a:extLst>
              <a:ext uri="{FF2B5EF4-FFF2-40B4-BE49-F238E27FC236}">
                <a16:creationId xmlns:a16="http://schemas.microsoft.com/office/drawing/2014/main" id="{609E2397-A822-417C-AA0D-1FAFF75BEF48}"/>
              </a:ext>
            </a:extLst>
          </p:cNvPr>
          <p:cNvPicPr>
            <a:picLocks noChangeAspect="1"/>
          </p:cNvPicPr>
          <p:nvPr/>
        </p:nvPicPr>
        <p:blipFill>
          <a:blip r:embed="rId3"/>
          <a:stretch>
            <a:fillRect/>
          </a:stretch>
        </p:blipFill>
        <p:spPr>
          <a:xfrm>
            <a:off x="7320136" y="1376004"/>
            <a:ext cx="4221480" cy="3444240"/>
          </a:xfrm>
          <a:prstGeom prst="rect">
            <a:avLst/>
          </a:prstGeom>
        </p:spPr>
      </p:pic>
    </p:spTree>
    <p:extLst>
      <p:ext uri="{BB962C8B-B14F-4D97-AF65-F5344CB8AC3E}">
        <p14:creationId xmlns:p14="http://schemas.microsoft.com/office/powerpoint/2010/main" val="528555902"/>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83D1EF7-D967-412C-87C3-2CD4DC06D178}"/>
              </a:ext>
            </a:extLst>
          </p:cNvPr>
          <p:cNvPicPr>
            <a:picLocks noChangeAspect="1"/>
          </p:cNvPicPr>
          <p:nvPr/>
        </p:nvPicPr>
        <p:blipFill>
          <a:blip r:embed="rId3"/>
          <a:stretch>
            <a:fillRect/>
          </a:stretch>
        </p:blipFill>
        <p:spPr>
          <a:xfrm>
            <a:off x="6888088" y="1196752"/>
            <a:ext cx="3921940" cy="4637960"/>
          </a:xfrm>
          <a:prstGeom prst="rect">
            <a:avLst/>
          </a:prstGeom>
        </p:spPr>
      </p:pic>
      <p:graphicFrame>
        <p:nvGraphicFramePr>
          <p:cNvPr id="7" name="Table 6">
            <a:extLst>
              <a:ext uri="{FF2B5EF4-FFF2-40B4-BE49-F238E27FC236}">
                <a16:creationId xmlns:a16="http://schemas.microsoft.com/office/drawing/2014/main" id="{89F57A52-A922-0BCA-1C85-8B09D659F354}"/>
              </a:ext>
            </a:extLst>
          </p:cNvPr>
          <p:cNvGraphicFramePr>
            <a:graphicFrameLocks noGrp="1"/>
          </p:cNvGraphicFramePr>
          <p:nvPr>
            <p:extLst>
              <p:ext uri="{D42A27DB-BD31-4B8C-83A1-F6EECF244321}">
                <p14:modId xmlns:p14="http://schemas.microsoft.com/office/powerpoint/2010/main" val="4090893202"/>
              </p:ext>
            </p:extLst>
          </p:nvPr>
        </p:nvGraphicFramePr>
        <p:xfrm>
          <a:off x="6600057" y="1213869"/>
          <a:ext cx="4464496" cy="4607526"/>
        </p:xfrm>
        <a:graphic>
          <a:graphicData uri="http://schemas.openxmlformats.org/drawingml/2006/table">
            <a:tbl>
              <a:tblPr firstRow="1" bandRow="1">
                <a:tableStyleId>{5940675A-B579-460E-94D1-54222C63F5DA}</a:tableStyleId>
              </a:tblPr>
              <a:tblGrid>
                <a:gridCol w="4464496">
                  <a:extLst>
                    <a:ext uri="{9D8B030D-6E8A-4147-A177-3AD203B41FA5}">
                      <a16:colId xmlns:a16="http://schemas.microsoft.com/office/drawing/2014/main" val="1034522424"/>
                    </a:ext>
                  </a:extLst>
                </a:gridCol>
              </a:tblGrid>
              <a:tr h="460752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435961A2-3561-413D-8657-C19CFDF581CC}"/>
              </a:ext>
            </a:extLst>
          </p:cNvPr>
          <p:cNvSpPr>
            <a:spLocks noGrp="1"/>
          </p:cNvSpPr>
          <p:nvPr>
            <p:ph type="title" hasCustomPrompt="1"/>
          </p:nvPr>
        </p:nvSpPr>
        <p:spPr/>
        <p:txBody>
          <a:bodyPr/>
          <a:lstStyle/>
          <a:p>
            <a:r>
              <a:rPr dirty="0"/>
              <a:t>Secure and </a:t>
            </a:r>
            <a:r>
              <a:rPr lang="en-IN" dirty="0"/>
              <a:t>n</a:t>
            </a:r>
            <a:r>
              <a:rPr dirty="0"/>
              <a:t>on-</a:t>
            </a:r>
            <a:r>
              <a:rPr lang="en-IN" dirty="0"/>
              <a:t>s</a:t>
            </a:r>
            <a:r>
              <a:rPr dirty="0" err="1"/>
              <a:t>ecure</a:t>
            </a:r>
            <a:r>
              <a:rPr dirty="0"/>
              <a:t> </a:t>
            </a:r>
            <a:r>
              <a:rPr lang="en-IN" dirty="0"/>
              <a:t>o</a:t>
            </a:r>
            <a:r>
              <a:rPr dirty="0" err="1"/>
              <a:t>perating</a:t>
            </a:r>
            <a:r>
              <a:rPr dirty="0"/>
              <a:t> </a:t>
            </a:r>
            <a:r>
              <a:rPr lang="en-IN" dirty="0"/>
              <a:t>m</a:t>
            </a:r>
            <a:r>
              <a:rPr dirty="0"/>
              <a:t>odes</a:t>
            </a:r>
          </a:p>
        </p:txBody>
      </p:sp>
      <p:sp>
        <p:nvSpPr>
          <p:cNvPr id="5" name="Rectangle 4">
            <a:extLst>
              <a:ext uri="{FF2B5EF4-FFF2-40B4-BE49-F238E27FC236}">
                <a16:creationId xmlns:a16="http://schemas.microsoft.com/office/drawing/2014/main" id="{1719BB07-7F59-4F32-A865-0B6BE540A0AE}"/>
              </a:ext>
            </a:extLst>
          </p:cNvPr>
          <p:cNvSpPr/>
          <p:nvPr/>
        </p:nvSpPr>
        <p:spPr>
          <a:xfrm>
            <a:off x="335360" y="1210068"/>
            <a:ext cx="5832648" cy="4611327"/>
          </a:xfrm>
          <a:prstGeom prst="rect">
            <a:avLst/>
          </a:prstGeom>
        </p:spPr>
        <p:txBody>
          <a:bodyPr wrap="square">
            <a:spAutoFit/>
          </a:bodyPr>
          <a:lstStyle/>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Arm</a:t>
            </a:r>
            <a:r>
              <a:rPr lang="en-US" sz="1600" baseline="30000" dirty="0">
                <a:latin typeface="Arial" panose="020B0604020202020204" pitchFamily="34" charset="0"/>
              </a:rPr>
              <a:t>®</a:t>
            </a:r>
            <a:r>
              <a:rPr lang="en-US" sz="1600" dirty="0">
                <a:latin typeface="Arial" panose="020B0604020202020204" pitchFamily="34" charset="0"/>
              </a:rPr>
              <a:t> </a:t>
            </a:r>
            <a:r>
              <a:rPr lang="en-US" sz="1600" dirty="0" err="1">
                <a:latin typeface="Arial" panose="020B0604020202020204" pitchFamily="34" charset="0"/>
              </a:rPr>
              <a:t>TrustZone</a:t>
            </a:r>
            <a:r>
              <a:rPr lang="en-US" sz="1600" dirty="0">
                <a:latin typeface="Arial" panose="020B0604020202020204" pitchFamily="34" charset="0"/>
              </a:rPr>
              <a:t> - enabled Cortex</a:t>
            </a:r>
            <a:r>
              <a:rPr lang="en-US" sz="1600" baseline="30000" dirty="0">
                <a:latin typeface="Arial" panose="020B0604020202020204" pitchFamily="34" charset="0"/>
              </a:rPr>
              <a:t>®</a:t>
            </a:r>
            <a:r>
              <a:rPr lang="en-US" sz="1600" dirty="0">
                <a:latin typeface="Arial" panose="020B0604020202020204" pitchFamily="34" charset="0"/>
              </a:rPr>
              <a:t>-M33 CPU</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Secure and non-secure CPU states</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Attribution units - Secure attribution unit (SAU) and Implementation defined attribution unit (IDAU)</a:t>
            </a:r>
          </a:p>
          <a:p>
            <a:pPr marL="285750" indent="-28575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Banked resources between secure and non-secure states </a:t>
            </a:r>
          </a:p>
          <a:p>
            <a:pPr marL="342900" indent="-342900">
              <a:lnSpc>
                <a:spcPct val="150000"/>
              </a:lnSpc>
              <a:buClr>
                <a:srgbClr val="0A8276"/>
              </a:buClr>
              <a:buFont typeface="Arial" panose="020B0604020202020204" pitchFamily="34" charset="0"/>
              <a:buChar char="–"/>
            </a:pPr>
            <a:endParaRPr lang="en-US" sz="1050" dirty="0">
              <a:latin typeface="Arial" panose="020B0604020202020204" pitchFamily="34" charset="0"/>
            </a:endParaRPr>
          </a:p>
          <a:p>
            <a:pPr marL="342900" indent="-342900">
              <a:lnSpc>
                <a:spcPct val="150000"/>
              </a:lnSpc>
              <a:buClr>
                <a:srgbClr val="0A8276"/>
              </a:buClr>
              <a:buFont typeface="Arial" panose="020B0604020202020204" pitchFamily="34" charset="0"/>
              <a:buChar char="–"/>
            </a:pPr>
            <a:r>
              <a:rPr lang="en-US" sz="1600" dirty="0">
                <a:latin typeface="Arial" panose="020B0604020202020204" pitchFamily="34" charset="0"/>
              </a:rPr>
              <a:t>Secure and non-secure </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aliasing of the memory map</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interrupts</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peripherals</a:t>
            </a:r>
          </a:p>
          <a:p>
            <a:pPr marL="952485" lvl="1" indent="-342900">
              <a:lnSpc>
                <a:spcPct val="150000"/>
              </a:lnSpc>
              <a:buClr>
                <a:srgbClr val="0A8276"/>
              </a:buClr>
              <a:buFont typeface="Arial" panose="020B0604020202020204" pitchFamily="34" charset="0"/>
              <a:buChar char="–"/>
            </a:pPr>
            <a:r>
              <a:rPr lang="en-US" dirty="0">
                <a:latin typeface="Arial" panose="020B0604020202020204" pitchFamily="34" charset="0"/>
              </a:rPr>
              <a:t>debug</a:t>
            </a:r>
          </a:p>
        </p:txBody>
      </p:sp>
    </p:spTree>
    <p:extLst>
      <p:ext uri="{BB962C8B-B14F-4D97-AF65-F5344CB8AC3E}">
        <p14:creationId xmlns:p14="http://schemas.microsoft.com/office/powerpoint/2010/main" val="2491241174"/>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F078B7-4F14-64FB-A9B4-CD8758B230A0}"/>
              </a:ext>
            </a:extLst>
          </p:cNvPr>
          <p:cNvGraphicFramePr>
            <a:graphicFrameLocks noGrp="1"/>
          </p:cNvGraphicFramePr>
          <p:nvPr>
            <p:extLst>
              <p:ext uri="{D42A27DB-BD31-4B8C-83A1-F6EECF244321}">
                <p14:modId xmlns:p14="http://schemas.microsoft.com/office/powerpoint/2010/main" val="2324981607"/>
              </p:ext>
            </p:extLst>
          </p:nvPr>
        </p:nvGraphicFramePr>
        <p:xfrm>
          <a:off x="335360" y="1301958"/>
          <a:ext cx="9613068" cy="4863345"/>
        </p:xfrm>
        <a:graphic>
          <a:graphicData uri="http://schemas.openxmlformats.org/drawingml/2006/table">
            <a:tbl>
              <a:tblPr firstRow="1" bandRow="1">
                <a:tableStyleId>{5940675A-B579-460E-94D1-54222C63F5DA}</a:tableStyleId>
              </a:tblPr>
              <a:tblGrid>
                <a:gridCol w="9613068">
                  <a:extLst>
                    <a:ext uri="{9D8B030D-6E8A-4147-A177-3AD203B41FA5}">
                      <a16:colId xmlns:a16="http://schemas.microsoft.com/office/drawing/2014/main" val="1034522424"/>
                    </a:ext>
                  </a:extLst>
                </a:gridCol>
              </a:tblGrid>
              <a:tr h="486334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6380A46-DA11-4B0D-B3D6-1E18F8172879}"/>
              </a:ext>
            </a:extLst>
          </p:cNvPr>
          <p:cNvSpPr>
            <a:spLocks noGrp="1"/>
          </p:cNvSpPr>
          <p:nvPr>
            <p:ph type="title" hasCustomPrompt="1"/>
          </p:nvPr>
        </p:nvSpPr>
        <p:spPr/>
        <p:txBody>
          <a:bodyPr/>
          <a:lstStyle/>
          <a:p>
            <a:r>
              <a:rPr dirty="0"/>
              <a:t>Security </a:t>
            </a:r>
            <a:r>
              <a:rPr lang="en-IN" dirty="0"/>
              <a:t>d</a:t>
            </a:r>
            <a:r>
              <a:rPr dirty="0" err="1"/>
              <a:t>omain</a:t>
            </a:r>
            <a:r>
              <a:rPr dirty="0"/>
              <a:t> </a:t>
            </a:r>
            <a:r>
              <a:rPr lang="en-IN" dirty="0"/>
              <a:t>a</a:t>
            </a:r>
            <a:r>
              <a:rPr dirty="0" err="1"/>
              <a:t>ssignment</a:t>
            </a:r>
            <a:endParaRPr dirty="0"/>
          </a:p>
        </p:txBody>
      </p:sp>
      <p:grpSp>
        <p:nvGrpSpPr>
          <p:cNvPr id="2" name="Group 1">
            <a:extLst>
              <a:ext uri="{FF2B5EF4-FFF2-40B4-BE49-F238E27FC236}">
                <a16:creationId xmlns:a16="http://schemas.microsoft.com/office/drawing/2014/main" id="{DAC10260-71D1-1EC1-A506-F0F3D9E9B6FA}"/>
              </a:ext>
            </a:extLst>
          </p:cNvPr>
          <p:cNvGrpSpPr/>
          <p:nvPr/>
        </p:nvGrpSpPr>
        <p:grpSpPr>
          <a:xfrm>
            <a:off x="682778" y="1456175"/>
            <a:ext cx="8918232" cy="4562547"/>
            <a:chOff x="727956" y="1016757"/>
            <a:chExt cx="10729192" cy="5699884"/>
          </a:xfrm>
        </p:grpSpPr>
        <p:pic>
          <p:nvPicPr>
            <p:cNvPr id="33" name="Picture 32">
              <a:extLst>
                <a:ext uri="{FF2B5EF4-FFF2-40B4-BE49-F238E27FC236}">
                  <a16:creationId xmlns:a16="http://schemas.microsoft.com/office/drawing/2014/main" id="{02478429-D9F8-7EEF-611A-2568BCF0E253}"/>
                </a:ext>
              </a:extLst>
            </p:cNvPr>
            <p:cNvPicPr>
              <a:picLocks noChangeAspect="1"/>
            </p:cNvPicPr>
            <p:nvPr/>
          </p:nvPicPr>
          <p:blipFill>
            <a:blip r:embed="rId3"/>
            <a:stretch>
              <a:fillRect/>
            </a:stretch>
          </p:blipFill>
          <p:spPr>
            <a:xfrm>
              <a:off x="727956" y="1016757"/>
              <a:ext cx="10729192" cy="5699884"/>
            </a:xfrm>
            <a:prstGeom prst="rect">
              <a:avLst/>
            </a:prstGeom>
            <a:ln>
              <a:solidFill>
                <a:schemeClr val="tx1"/>
              </a:solidFill>
            </a:ln>
          </p:spPr>
        </p:pic>
        <p:grpSp>
          <p:nvGrpSpPr>
            <p:cNvPr id="36" name="Group 35">
              <a:extLst>
                <a:ext uri="{FF2B5EF4-FFF2-40B4-BE49-F238E27FC236}">
                  <a16:creationId xmlns:a16="http://schemas.microsoft.com/office/drawing/2014/main" id="{30F30B0A-A575-4EE7-5600-D18A8C9AE82C}"/>
                </a:ext>
              </a:extLst>
            </p:cNvPr>
            <p:cNvGrpSpPr/>
            <p:nvPr/>
          </p:nvGrpSpPr>
          <p:grpSpPr>
            <a:xfrm>
              <a:off x="4204469" y="1778209"/>
              <a:ext cx="1581642" cy="4145811"/>
              <a:chOff x="7464152" y="1947485"/>
              <a:chExt cx="1581642" cy="4145811"/>
            </a:xfrm>
          </p:grpSpPr>
          <p:sp>
            <p:nvSpPr>
              <p:cNvPr id="5" name="Rectangle 4">
                <a:extLst>
                  <a:ext uri="{FF2B5EF4-FFF2-40B4-BE49-F238E27FC236}">
                    <a16:creationId xmlns:a16="http://schemas.microsoft.com/office/drawing/2014/main" id="{4F82028A-8AB5-4B83-8EA9-F4E48DA2FB7E}"/>
                  </a:ext>
                </a:extLst>
              </p:cNvPr>
              <p:cNvSpPr/>
              <p:nvPr/>
            </p:nvSpPr>
            <p:spPr bwMode="auto">
              <a:xfrm>
                <a:off x="7473483" y="1963488"/>
                <a:ext cx="1530830" cy="186072"/>
              </a:xfrm>
              <a:prstGeom prst="rect">
                <a:avLst/>
              </a:prstGeom>
              <a:noFill/>
              <a:ln w="9525" cap="flat" cmpd="sng" algn="ctr">
                <a:solidFill>
                  <a:srgbClr val="DCD5D7"/>
                </a:solidFill>
                <a:prstDash val="solid"/>
                <a:miter lim="800000"/>
                <a:headEnd type="none" w="med" len="med"/>
                <a:tailEnd type="none" w="med" len="med"/>
              </a:ln>
            </p:spPr>
            <p:txBody>
              <a:bodyPr wrap="square" lIns="72000" tIns="72000" rIns="72000" bIns="72000" rtlCol="0" anchor="ctr"/>
              <a:lstStyle/>
              <a:p>
                <a:pPr algn="ctr" eaLnBrk="0" hangingPunct="0"/>
                <a:r>
                  <a:rPr lang="en-US" sz="800" baseline="0" dirty="0">
                    <a:latin typeface="+mn-lt"/>
                    <a:ea typeface="+mn-ea"/>
                    <a:cs typeface="+mn-cs"/>
                  </a:rPr>
                  <a:t>Security Domain</a:t>
                </a:r>
              </a:p>
            </p:txBody>
          </p:sp>
          <p:cxnSp>
            <p:nvCxnSpPr>
              <p:cNvPr id="6" name="Straight Connector 5">
                <a:extLst>
                  <a:ext uri="{FF2B5EF4-FFF2-40B4-BE49-F238E27FC236}">
                    <a16:creationId xmlns:a16="http://schemas.microsoft.com/office/drawing/2014/main" id="{D00C9716-6B61-4802-A986-EBF12AAA79B5}"/>
                  </a:ext>
                </a:extLst>
              </p:cNvPr>
              <p:cNvCxnSpPr>
                <a:cxnSpLocks/>
              </p:cNvCxnSpPr>
              <p:nvPr/>
            </p:nvCxnSpPr>
            <p:spPr>
              <a:xfrm>
                <a:off x="7464152" y="1961696"/>
                <a:ext cx="0" cy="4131600"/>
              </a:xfrm>
              <a:prstGeom prst="line">
                <a:avLst/>
              </a:prstGeom>
              <a:ln w="19050" cap="flat" cmpd="sng" algn="ctr">
                <a:solidFill>
                  <a:srgbClr val="DCD5D7"/>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3B880C-6372-4AC0-801D-125CA2759180}"/>
                  </a:ext>
                </a:extLst>
              </p:cNvPr>
              <p:cNvSpPr txBox="1"/>
              <p:nvPr/>
            </p:nvSpPr>
            <p:spPr bwMode="auto">
              <a:xfrm>
                <a:off x="7982710" y="430063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8" name="TextBox 7">
                <a:extLst>
                  <a:ext uri="{FF2B5EF4-FFF2-40B4-BE49-F238E27FC236}">
                    <a16:creationId xmlns:a16="http://schemas.microsoft.com/office/drawing/2014/main" id="{D98B4EFF-8A53-4EF0-8E39-3714AD9CB5E2}"/>
                  </a:ext>
                </a:extLst>
              </p:cNvPr>
              <p:cNvSpPr txBox="1"/>
              <p:nvPr/>
            </p:nvSpPr>
            <p:spPr bwMode="auto">
              <a:xfrm>
                <a:off x="7982710" y="448670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9" name="TextBox 8">
                <a:extLst>
                  <a:ext uri="{FF2B5EF4-FFF2-40B4-BE49-F238E27FC236}">
                    <a16:creationId xmlns:a16="http://schemas.microsoft.com/office/drawing/2014/main" id="{3CD0D449-5F99-4352-B820-2544798F9BFA}"/>
                  </a:ext>
                </a:extLst>
              </p:cNvPr>
              <p:cNvSpPr txBox="1"/>
              <p:nvPr/>
            </p:nvSpPr>
            <p:spPr bwMode="auto">
              <a:xfrm>
                <a:off x="7985618" y="466033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0" name="TextBox 9">
                <a:extLst>
                  <a:ext uri="{FF2B5EF4-FFF2-40B4-BE49-F238E27FC236}">
                    <a16:creationId xmlns:a16="http://schemas.microsoft.com/office/drawing/2014/main" id="{501AF9D6-6EF1-4B4C-800E-853865142D33}"/>
                  </a:ext>
                </a:extLst>
              </p:cNvPr>
              <p:cNvSpPr txBox="1"/>
              <p:nvPr/>
            </p:nvSpPr>
            <p:spPr bwMode="auto">
              <a:xfrm>
                <a:off x="7979805" y="483937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1" name="TextBox 10">
                <a:extLst>
                  <a:ext uri="{FF2B5EF4-FFF2-40B4-BE49-F238E27FC236}">
                    <a16:creationId xmlns:a16="http://schemas.microsoft.com/office/drawing/2014/main" id="{157E7271-6AA2-4884-8141-7B336E1A1837}"/>
                  </a:ext>
                </a:extLst>
              </p:cNvPr>
              <p:cNvSpPr txBox="1"/>
              <p:nvPr/>
            </p:nvSpPr>
            <p:spPr bwMode="auto">
              <a:xfrm>
                <a:off x="7982713" y="501299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2" name="TextBox 11">
                <a:extLst>
                  <a:ext uri="{FF2B5EF4-FFF2-40B4-BE49-F238E27FC236}">
                    <a16:creationId xmlns:a16="http://schemas.microsoft.com/office/drawing/2014/main" id="{606420DB-B5D5-4FA8-85E7-2178B427EDAE}"/>
                  </a:ext>
                </a:extLst>
              </p:cNvPr>
              <p:cNvSpPr txBox="1"/>
              <p:nvPr/>
            </p:nvSpPr>
            <p:spPr bwMode="auto">
              <a:xfrm>
                <a:off x="7988728" y="2315157"/>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3" name="TextBox 12">
                <a:extLst>
                  <a:ext uri="{FF2B5EF4-FFF2-40B4-BE49-F238E27FC236}">
                    <a16:creationId xmlns:a16="http://schemas.microsoft.com/office/drawing/2014/main" id="{2F35C28B-AEF1-40A7-9404-0D02ABCB54E1}"/>
                  </a:ext>
                </a:extLst>
              </p:cNvPr>
              <p:cNvSpPr txBox="1"/>
              <p:nvPr/>
            </p:nvSpPr>
            <p:spPr bwMode="auto">
              <a:xfrm>
                <a:off x="7982915" y="249420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4" name="TextBox 13">
                <a:extLst>
                  <a:ext uri="{FF2B5EF4-FFF2-40B4-BE49-F238E27FC236}">
                    <a16:creationId xmlns:a16="http://schemas.microsoft.com/office/drawing/2014/main" id="{B48FBF42-2FED-49A3-8165-CCE854A891C1}"/>
                  </a:ext>
                </a:extLst>
              </p:cNvPr>
              <p:cNvSpPr txBox="1"/>
              <p:nvPr/>
            </p:nvSpPr>
            <p:spPr bwMode="auto">
              <a:xfrm>
                <a:off x="7992044" y="28344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5" name="TextBox 14">
                <a:extLst>
                  <a:ext uri="{FF2B5EF4-FFF2-40B4-BE49-F238E27FC236}">
                    <a16:creationId xmlns:a16="http://schemas.microsoft.com/office/drawing/2014/main" id="{F528D512-49BA-465A-ACE3-E6BB3AC6C9A9}"/>
                  </a:ext>
                </a:extLst>
              </p:cNvPr>
              <p:cNvSpPr txBox="1"/>
              <p:nvPr/>
            </p:nvSpPr>
            <p:spPr bwMode="auto">
              <a:xfrm>
                <a:off x="7996201" y="29868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6" name="TextBox 15">
                <a:extLst>
                  <a:ext uri="{FF2B5EF4-FFF2-40B4-BE49-F238E27FC236}">
                    <a16:creationId xmlns:a16="http://schemas.microsoft.com/office/drawing/2014/main" id="{13CBEA45-4837-4DCB-82B7-49E7F72BC531}"/>
                  </a:ext>
                </a:extLst>
              </p:cNvPr>
              <p:cNvSpPr txBox="1"/>
              <p:nvPr/>
            </p:nvSpPr>
            <p:spPr bwMode="auto">
              <a:xfrm>
                <a:off x="7996201" y="33725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7" name="TextBox 16">
                <a:extLst>
                  <a:ext uri="{FF2B5EF4-FFF2-40B4-BE49-F238E27FC236}">
                    <a16:creationId xmlns:a16="http://schemas.microsoft.com/office/drawing/2014/main" id="{C9F6009E-EC39-4CE0-834C-5FA1DD810F39}"/>
                  </a:ext>
                </a:extLst>
              </p:cNvPr>
              <p:cNvSpPr txBox="1"/>
              <p:nvPr/>
            </p:nvSpPr>
            <p:spPr bwMode="auto">
              <a:xfrm>
                <a:off x="8005532" y="35249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8" name="TextBox 17">
                <a:extLst>
                  <a:ext uri="{FF2B5EF4-FFF2-40B4-BE49-F238E27FC236}">
                    <a16:creationId xmlns:a16="http://schemas.microsoft.com/office/drawing/2014/main" id="{437F09E0-8BB8-47EE-B837-7C50CC1C0128}"/>
                  </a:ext>
                </a:extLst>
              </p:cNvPr>
              <p:cNvSpPr txBox="1"/>
              <p:nvPr/>
            </p:nvSpPr>
            <p:spPr bwMode="auto">
              <a:xfrm>
                <a:off x="8014863" y="3733345"/>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19" name="TextBox 18">
                <a:extLst>
                  <a:ext uri="{FF2B5EF4-FFF2-40B4-BE49-F238E27FC236}">
                    <a16:creationId xmlns:a16="http://schemas.microsoft.com/office/drawing/2014/main" id="{8ED6E749-4A6C-4C47-9B3D-72BFD6E1AD4C}"/>
                  </a:ext>
                </a:extLst>
              </p:cNvPr>
              <p:cNvSpPr txBox="1"/>
              <p:nvPr/>
            </p:nvSpPr>
            <p:spPr bwMode="auto">
              <a:xfrm>
                <a:off x="8024194" y="39238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0" name="TextBox 19">
                <a:extLst>
                  <a:ext uri="{FF2B5EF4-FFF2-40B4-BE49-F238E27FC236}">
                    <a16:creationId xmlns:a16="http://schemas.microsoft.com/office/drawing/2014/main" id="{5AB52A45-C522-4700-BE67-0CFB2A71E6D0}"/>
                  </a:ext>
                </a:extLst>
              </p:cNvPr>
              <p:cNvSpPr txBox="1"/>
              <p:nvPr/>
            </p:nvSpPr>
            <p:spPr bwMode="auto">
              <a:xfrm>
                <a:off x="8024194" y="40762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1" name="TextBox 20">
                <a:extLst>
                  <a:ext uri="{FF2B5EF4-FFF2-40B4-BE49-F238E27FC236}">
                    <a16:creationId xmlns:a16="http://schemas.microsoft.com/office/drawing/2014/main" id="{B8D25842-3827-4D12-8977-4DDFCECF3E27}"/>
                  </a:ext>
                </a:extLst>
              </p:cNvPr>
              <p:cNvSpPr txBox="1"/>
              <p:nvPr/>
            </p:nvSpPr>
            <p:spPr bwMode="auto">
              <a:xfrm>
                <a:off x="8014863" y="519907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2" name="TextBox 21">
                <a:extLst>
                  <a:ext uri="{FF2B5EF4-FFF2-40B4-BE49-F238E27FC236}">
                    <a16:creationId xmlns:a16="http://schemas.microsoft.com/office/drawing/2014/main" id="{83A56D38-C2A7-43CA-AB96-D44D31DFE9B0}"/>
                  </a:ext>
                </a:extLst>
              </p:cNvPr>
              <p:cNvSpPr txBox="1"/>
              <p:nvPr/>
            </p:nvSpPr>
            <p:spPr bwMode="auto">
              <a:xfrm>
                <a:off x="7991049" y="557068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5" name="Rectangle: Rounded Corners 24">
                <a:extLst>
                  <a:ext uri="{FF2B5EF4-FFF2-40B4-BE49-F238E27FC236}">
                    <a16:creationId xmlns:a16="http://schemas.microsoft.com/office/drawing/2014/main" id="{93BC3870-3F4F-490C-9706-B6F050ED24E0}"/>
                  </a:ext>
                </a:extLst>
              </p:cNvPr>
              <p:cNvSpPr/>
              <p:nvPr/>
            </p:nvSpPr>
            <p:spPr bwMode="auto">
              <a:xfrm>
                <a:off x="7597241" y="1947485"/>
                <a:ext cx="1404162" cy="3809267"/>
              </a:xfrm>
              <a:prstGeom prst="roundRect">
                <a:avLst>
                  <a:gd name="adj" fmla="val 9205"/>
                </a:avLst>
              </a:prstGeom>
              <a:noFill/>
              <a:ln w="57150">
                <a:solidFill>
                  <a:schemeClr val="accent1"/>
                </a:solidFill>
                <a:miter lim="800000"/>
                <a:headEnd/>
                <a:tailEnd/>
              </a:ln>
            </p:spPr>
            <p:txBody>
              <a:bodyPr wrap="square" lIns="96000" tIns="96000" rIns="96000" bIns="96000" rtlCol="0" anchor="ctr"/>
              <a:lstStyle/>
              <a:p>
                <a:pPr algn="ctr" eaLnBrk="0" hangingPunct="0"/>
                <a:endParaRPr lang="en-US" sz="2400" dirty="0">
                  <a:latin typeface="+mn-lt"/>
                </a:endParaRPr>
              </a:p>
            </p:txBody>
          </p:sp>
        </p:grpSp>
      </p:grpSp>
    </p:spTree>
    <p:extLst>
      <p:ext uri="{BB962C8B-B14F-4D97-AF65-F5344CB8AC3E}">
        <p14:creationId xmlns:p14="http://schemas.microsoft.com/office/powerpoint/2010/main" val="981536797"/>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hasCustomPrompt="1"/>
          </p:nvPr>
        </p:nvSpPr>
        <p:spPr/>
        <p:txBody>
          <a:bodyPr/>
          <a:lstStyle/>
          <a:p>
            <a:r>
              <a:rPr dirty="0"/>
              <a:t>Edge </a:t>
            </a:r>
            <a:r>
              <a:rPr lang="en-IN" dirty="0"/>
              <a:t>p</a:t>
            </a:r>
            <a:r>
              <a:rPr dirty="0" err="1"/>
              <a:t>rotect</a:t>
            </a:r>
            <a:r>
              <a:rPr dirty="0"/>
              <a:t> </a:t>
            </a:r>
            <a:r>
              <a:rPr lang="en-IN" dirty="0"/>
              <a:t>c</a:t>
            </a:r>
            <a:r>
              <a:rPr dirty="0" err="1"/>
              <a:t>onfigurator</a:t>
            </a:r>
            <a:r>
              <a:rPr dirty="0"/>
              <a:t> </a:t>
            </a:r>
          </a:p>
        </p:txBody>
      </p:sp>
      <p:pic>
        <p:nvPicPr>
          <p:cNvPr id="4" name="Picture 3">
            <a:extLst>
              <a:ext uri="{FF2B5EF4-FFF2-40B4-BE49-F238E27FC236}">
                <a16:creationId xmlns:a16="http://schemas.microsoft.com/office/drawing/2014/main" id="{F182BFA5-2FE3-496C-A86B-200668E52716}"/>
              </a:ext>
            </a:extLst>
          </p:cNvPr>
          <p:cNvPicPr>
            <a:picLocks noChangeAspect="1"/>
          </p:cNvPicPr>
          <p:nvPr/>
        </p:nvPicPr>
        <p:blipFill>
          <a:blip r:embed="rId3"/>
          <a:stretch>
            <a:fillRect/>
          </a:stretch>
        </p:blipFill>
        <p:spPr>
          <a:xfrm>
            <a:off x="335360" y="1628800"/>
            <a:ext cx="4924852" cy="4464496"/>
          </a:xfrm>
          <a:prstGeom prst="rect">
            <a:avLst/>
          </a:prstGeom>
        </p:spPr>
      </p:pic>
      <p:pic>
        <p:nvPicPr>
          <p:cNvPr id="5" name="Picture 4">
            <a:extLst>
              <a:ext uri="{FF2B5EF4-FFF2-40B4-BE49-F238E27FC236}">
                <a16:creationId xmlns:a16="http://schemas.microsoft.com/office/drawing/2014/main" id="{9C6D7B44-AEDC-40A8-9850-7B1F1E320401}"/>
              </a:ext>
            </a:extLst>
          </p:cNvPr>
          <p:cNvPicPr>
            <a:picLocks noChangeAspect="1"/>
          </p:cNvPicPr>
          <p:nvPr/>
        </p:nvPicPr>
        <p:blipFill>
          <a:blip r:embed="rId4"/>
          <a:stretch>
            <a:fillRect/>
          </a:stretch>
        </p:blipFill>
        <p:spPr>
          <a:xfrm>
            <a:off x="5807968" y="1628800"/>
            <a:ext cx="5464258" cy="3168352"/>
          </a:xfrm>
          <a:prstGeom prst="rect">
            <a:avLst/>
          </a:prstGeom>
        </p:spPr>
      </p:pic>
      <p:sp>
        <p:nvSpPr>
          <p:cNvPr id="6" name="TextBox 5">
            <a:extLst>
              <a:ext uri="{FF2B5EF4-FFF2-40B4-BE49-F238E27FC236}">
                <a16:creationId xmlns:a16="http://schemas.microsoft.com/office/drawing/2014/main" id="{05F05AC3-B036-49A1-8CF7-F55B14F62B16}"/>
              </a:ext>
            </a:extLst>
          </p:cNvPr>
          <p:cNvSpPr txBox="1"/>
          <p:nvPr/>
        </p:nvSpPr>
        <p:spPr bwMode="auto">
          <a:xfrm>
            <a:off x="5807968" y="1117821"/>
            <a:ext cx="345638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TF-M services and domains tab</a:t>
            </a:r>
            <a:endParaRPr lang="en-US" sz="1800" b="1" kern="0" baseline="0" dirty="0">
              <a:latin typeface="+mn-lt"/>
              <a:ea typeface="+mn-ea"/>
              <a:cs typeface="+mn-cs"/>
            </a:endParaRPr>
          </a:p>
        </p:txBody>
      </p:sp>
      <p:sp>
        <p:nvSpPr>
          <p:cNvPr id="7" name="TextBox 6">
            <a:extLst>
              <a:ext uri="{FF2B5EF4-FFF2-40B4-BE49-F238E27FC236}">
                <a16:creationId xmlns:a16="http://schemas.microsoft.com/office/drawing/2014/main" id="{E28B3EC9-1109-4DFD-9E28-C4851D6ECD69}"/>
              </a:ext>
            </a:extLst>
          </p:cNvPr>
          <p:cNvSpPr txBox="1"/>
          <p:nvPr/>
        </p:nvSpPr>
        <p:spPr bwMode="auto">
          <a:xfrm>
            <a:off x="335360" y="1117821"/>
            <a:ext cx="1404919"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dirty="0">
                <a:latin typeface="+mn-lt"/>
              </a:rPr>
              <a:t>General tab</a:t>
            </a:r>
            <a:endParaRPr lang="en-US" sz="1800" b="1" kern="0" baseline="0" dirty="0">
              <a:latin typeface="+mn-lt"/>
              <a:ea typeface="+mn-ea"/>
              <a:cs typeface="+mn-cs"/>
            </a:endParaRPr>
          </a:p>
        </p:txBody>
      </p:sp>
    </p:spTree>
    <p:extLst>
      <p:ext uri="{BB962C8B-B14F-4D97-AF65-F5344CB8AC3E}">
        <p14:creationId xmlns:p14="http://schemas.microsoft.com/office/powerpoint/2010/main" val="1917891506"/>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2">
            <a:extLst>
              <a:ext uri="{FF2B5EF4-FFF2-40B4-BE49-F238E27FC236}">
                <a16:creationId xmlns:a16="http://schemas.microsoft.com/office/drawing/2014/main" id="{3E7FFCD7-743F-45C9-A770-EEFDFE888907}"/>
              </a:ext>
            </a:extLst>
          </p:cNvPr>
          <p:cNvSpPr>
            <a:spLocks noGrp="1"/>
          </p:cNvSpPr>
          <p:nvPr>
            <p:ph type="title" hasCustomPrompt="1"/>
          </p:nvPr>
        </p:nvSpPr>
        <p:spPr>
          <a:xfrm>
            <a:off x="335360" y="188720"/>
            <a:ext cx="9613068" cy="720000"/>
          </a:xfrm>
        </p:spPr>
        <p:txBody>
          <a:bodyPr/>
          <a:lstStyle/>
          <a:p>
            <a:r>
              <a:rPr dirty="0"/>
              <a:t>PSOC™ Edge memory architecture</a:t>
            </a:r>
            <a:endParaRPr lang="en-IN" dirty="0"/>
          </a:p>
        </p:txBody>
      </p:sp>
      <p:sp>
        <p:nvSpPr>
          <p:cNvPr id="11" name="TextBox 10">
            <a:extLst>
              <a:ext uri="{FF2B5EF4-FFF2-40B4-BE49-F238E27FC236}">
                <a16:creationId xmlns:a16="http://schemas.microsoft.com/office/drawing/2014/main" id="{60679A0E-0963-4CD4-9500-FFD2684B7A56}"/>
              </a:ext>
            </a:extLst>
          </p:cNvPr>
          <p:cNvSpPr txBox="1"/>
          <p:nvPr/>
        </p:nvSpPr>
        <p:spPr bwMode="auto">
          <a:xfrm>
            <a:off x="335360" y="1124744"/>
            <a:ext cx="5616624" cy="3906198"/>
          </a:xfrm>
          <a:prstGeom prst="rect">
            <a:avLst/>
          </a:prstGeom>
          <a:noFill/>
          <a:ln w="9525">
            <a:noFill/>
            <a:miter lim="800000"/>
            <a:headEnd/>
            <a:tailEnd/>
          </a:ln>
          <a:effectLst/>
        </p:spPr>
        <p:txBody>
          <a:bodyPr wrap="square">
            <a:spAutoFit/>
          </a:bodyPr>
          <a:lstStyle/>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The PSOC™ Edge features two power domains:</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PD0: Always-on low-power domain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High-performance domain</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Power source and operating voltage: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Both PD0 and PD1 are powered by the internal buck output and operate at same voltage level</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Independent control and flexibility: </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can be independently switched off without affecting PD0</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PD1 can be reactivated as necessary for performance needs</a:t>
            </a:r>
          </a:p>
          <a:p>
            <a:pPr marL="252000"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sz="1600" kern="0" dirty="0">
                <a:latin typeface="Arial" panose="020B0604020202020204" pitchFamily="34" charset="0"/>
              </a:rPr>
              <a:t>Power conservation:</a:t>
            </a:r>
          </a:p>
          <a:p>
            <a:pPr marL="861585" lvl="1" indent="-252000" defTabSz="576000" eaLnBrk="0" fontAlgn="auto" hangingPunct="0">
              <a:lnSpc>
                <a:spcPct val="120000"/>
              </a:lnSpc>
              <a:spcBef>
                <a:spcPts val="0"/>
              </a:spcBef>
              <a:spcAft>
                <a:spcPts val="0"/>
              </a:spcAft>
              <a:buClr>
                <a:schemeClr val="tx2"/>
              </a:buClr>
              <a:buFont typeface="Arial" panose="020B0604020202020204" pitchFamily="34" charset="0"/>
              <a:buChar char="‒"/>
            </a:pPr>
            <a:r>
              <a:rPr lang="en-US" kern="0" dirty="0">
                <a:latin typeface="Arial" panose="020B0604020202020204" pitchFamily="34" charset="0"/>
              </a:rPr>
              <a:t> When high-performance peripherals are not needed, PD1 can be turned off to save power</a:t>
            </a:r>
          </a:p>
        </p:txBody>
      </p:sp>
      <p:pic>
        <p:nvPicPr>
          <p:cNvPr id="12" name="Picture 11">
            <a:extLst>
              <a:ext uri="{FF2B5EF4-FFF2-40B4-BE49-F238E27FC236}">
                <a16:creationId xmlns:a16="http://schemas.microsoft.com/office/drawing/2014/main" id="{15CDAA69-CDCE-4AF3-9038-F7A934319B0E}"/>
              </a:ext>
            </a:extLst>
          </p:cNvPr>
          <p:cNvPicPr>
            <a:picLocks noChangeAspect="1"/>
          </p:cNvPicPr>
          <p:nvPr/>
        </p:nvPicPr>
        <p:blipFill>
          <a:blip r:embed="rId3"/>
          <a:stretch>
            <a:fillRect/>
          </a:stretch>
        </p:blipFill>
        <p:spPr>
          <a:xfrm>
            <a:off x="5951984" y="1216009"/>
            <a:ext cx="5784526" cy="3723668"/>
          </a:xfrm>
          <a:prstGeom prst="rect">
            <a:avLst/>
          </a:prstGeom>
          <a:ln w="9525" cap="flat" cmpd="sng" algn="ctr">
            <a:solidFill>
              <a:schemeClr val="tx1"/>
            </a:solidFill>
            <a:prstDash val="solid"/>
            <a:round/>
            <a:headEnd type="none" w="med" len="med"/>
            <a:tailEnd type="none" w="med" len="med"/>
          </a:ln>
        </p:spPr>
      </p:pic>
    </p:spTree>
    <p:extLst>
      <p:ext uri="{BB962C8B-B14F-4D97-AF65-F5344CB8AC3E}">
        <p14:creationId xmlns:p14="http://schemas.microsoft.com/office/powerpoint/2010/main" val="3355971258"/>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9C566849-BA5B-09C6-BD9C-5A07F67631B2}"/>
              </a:ext>
            </a:extLst>
          </p:cNvPr>
          <p:cNvGraphicFramePr>
            <a:graphicFrameLocks noGrp="1"/>
          </p:cNvGraphicFramePr>
          <p:nvPr>
            <p:extLst>
              <p:ext uri="{D42A27DB-BD31-4B8C-83A1-F6EECF244321}">
                <p14:modId xmlns:p14="http://schemas.microsoft.com/office/powerpoint/2010/main" val="265831043"/>
              </p:ext>
            </p:extLst>
          </p:nvPr>
        </p:nvGraphicFramePr>
        <p:xfrm>
          <a:off x="6888088" y="1252922"/>
          <a:ext cx="4464496" cy="4768365"/>
        </p:xfrm>
        <a:graphic>
          <a:graphicData uri="http://schemas.openxmlformats.org/drawingml/2006/table">
            <a:tbl>
              <a:tblPr firstRow="1" bandRow="1">
                <a:tableStyleId>{5940675A-B579-460E-94D1-54222C63F5DA}</a:tableStyleId>
              </a:tblPr>
              <a:tblGrid>
                <a:gridCol w="4464496">
                  <a:extLst>
                    <a:ext uri="{9D8B030D-6E8A-4147-A177-3AD203B41FA5}">
                      <a16:colId xmlns:a16="http://schemas.microsoft.com/office/drawing/2014/main" val="1034522424"/>
                    </a:ext>
                  </a:extLst>
                </a:gridCol>
              </a:tblGrid>
              <a:tr h="4768365">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EBD40D1A-FCDC-42B1-AF28-F5A914D82268}"/>
              </a:ext>
            </a:extLst>
          </p:cNvPr>
          <p:cNvSpPr>
            <a:spLocks noGrp="1"/>
          </p:cNvSpPr>
          <p:nvPr>
            <p:ph sz="quarter" idx="13" hasCustomPrompt="1"/>
          </p:nvPr>
        </p:nvSpPr>
        <p:spPr>
          <a:xfrm>
            <a:off x="334800" y="1268414"/>
            <a:ext cx="6078702" cy="5113337"/>
          </a:xfrm>
        </p:spPr>
        <p:txBody>
          <a:bodyPr/>
          <a:lstStyle/>
          <a:p>
            <a:pPr>
              <a:lnSpc>
                <a:spcPct val="150000"/>
              </a:lnSpc>
            </a:pPr>
            <a:r>
              <a:rPr sz="1400" dirty="0"/>
              <a:t>Four top-level linker files</a:t>
            </a:r>
          </a:p>
          <a:p>
            <a:pPr lvl="1">
              <a:lnSpc>
                <a:spcPct val="150000"/>
              </a:lnSpc>
            </a:pPr>
            <a:r>
              <a:rPr sz="1400" dirty="0"/>
              <a:t>Bootloader</a:t>
            </a:r>
          </a:p>
          <a:p>
            <a:pPr lvl="1">
              <a:lnSpc>
                <a:spcPct val="150000"/>
              </a:lnSpc>
            </a:pPr>
            <a:r>
              <a:rPr sz="1400" dirty="0"/>
              <a:t>CM33 Secure</a:t>
            </a:r>
          </a:p>
          <a:p>
            <a:pPr lvl="1">
              <a:lnSpc>
                <a:spcPct val="150000"/>
              </a:lnSpc>
            </a:pPr>
            <a:r>
              <a:rPr sz="1400" dirty="0"/>
              <a:t>CM33 Non</a:t>
            </a:r>
            <a:r>
              <a:rPr lang="en-US" sz="1400" dirty="0"/>
              <a:t>-</a:t>
            </a:r>
            <a:r>
              <a:rPr sz="1400" dirty="0"/>
              <a:t>secure</a:t>
            </a:r>
          </a:p>
          <a:p>
            <a:pPr lvl="1">
              <a:lnSpc>
                <a:spcPct val="150000"/>
              </a:lnSpc>
            </a:pPr>
            <a:r>
              <a:rPr sz="1400" dirty="0"/>
              <a:t>CM55</a:t>
            </a:r>
          </a:p>
          <a:p>
            <a:pPr lvl="1">
              <a:lnSpc>
                <a:spcPct val="150000"/>
              </a:lnSpc>
            </a:pPr>
            <a:endParaRPr lang="en-US" sz="1050" dirty="0"/>
          </a:p>
          <a:p>
            <a:pPr>
              <a:lnSpc>
                <a:spcPct val="150000"/>
              </a:lnSpc>
            </a:pPr>
            <a:r>
              <a:rPr sz="1400" dirty="0"/>
              <a:t>Three generated memory </a:t>
            </a:r>
            <a:r>
              <a:rPr sz="1400" i="1" dirty="0"/>
              <a:t>include</a:t>
            </a:r>
            <a:r>
              <a:rPr sz="1400" dirty="0"/>
              <a:t> files</a:t>
            </a:r>
          </a:p>
          <a:p>
            <a:pPr lvl="1">
              <a:lnSpc>
                <a:spcPct val="150000"/>
              </a:lnSpc>
            </a:pPr>
            <a:r>
              <a:rPr sz="1400" dirty="0"/>
              <a:t>CM33 Secure</a:t>
            </a:r>
          </a:p>
          <a:p>
            <a:pPr lvl="1">
              <a:lnSpc>
                <a:spcPct val="150000"/>
              </a:lnSpc>
            </a:pPr>
            <a:r>
              <a:rPr sz="1400" dirty="0"/>
              <a:t>CM33 Non</a:t>
            </a:r>
            <a:r>
              <a:rPr lang="en-US" sz="1400" dirty="0"/>
              <a:t>-</a:t>
            </a:r>
            <a:r>
              <a:rPr sz="1400" dirty="0"/>
              <a:t>secure</a:t>
            </a:r>
          </a:p>
          <a:p>
            <a:pPr lvl="1">
              <a:lnSpc>
                <a:spcPct val="150000"/>
              </a:lnSpc>
            </a:pPr>
            <a:r>
              <a:rPr sz="1400" dirty="0"/>
              <a:t>CM55</a:t>
            </a:r>
          </a:p>
          <a:p>
            <a:pPr lvl="1">
              <a:lnSpc>
                <a:spcPct val="150000"/>
              </a:lnSpc>
            </a:pPr>
            <a:endParaRPr lang="en-US" sz="1050" dirty="0"/>
          </a:p>
          <a:p>
            <a:pPr>
              <a:lnSpc>
                <a:spcPct val="150000"/>
              </a:lnSpc>
            </a:pPr>
            <a:r>
              <a:rPr sz="1600" dirty="0"/>
              <a:t>Generated memory </a:t>
            </a:r>
            <a:r>
              <a:rPr sz="1600" i="1" dirty="0"/>
              <a:t>include</a:t>
            </a:r>
            <a:r>
              <a:rPr sz="1600" dirty="0"/>
              <a:t> files come from </a:t>
            </a:r>
            <a:r>
              <a:rPr lang="en-US" sz="1600" dirty="0"/>
              <a:t>the </a:t>
            </a:r>
            <a:r>
              <a:rPr lang="en-IN" sz="1600" dirty="0"/>
              <a:t>Device Configurator</a:t>
            </a:r>
            <a:endParaRPr sz="1050" dirty="0"/>
          </a:p>
          <a:p>
            <a:pPr>
              <a:lnSpc>
                <a:spcPct val="150000"/>
              </a:lnSpc>
            </a:pPr>
            <a:r>
              <a:rPr sz="1600" dirty="0"/>
              <a:t>New user defined memory regions require direct modification to top-level linker file</a:t>
            </a:r>
            <a:r>
              <a:rPr lang="en-US" sz="1600" dirty="0"/>
              <a:t>s</a:t>
            </a:r>
            <a:r>
              <a:rPr sz="1600" dirty="0"/>
              <a:t> to leverage generated content</a:t>
            </a:r>
          </a:p>
          <a:p>
            <a:pPr lvl="1"/>
            <a:endParaRPr lang="en-US" dirty="0"/>
          </a:p>
          <a:p>
            <a:endParaRPr lang="en-US" dirty="0"/>
          </a:p>
        </p:txBody>
      </p:sp>
      <p:sp>
        <p:nvSpPr>
          <p:cNvPr id="3" name="Title 2">
            <a:extLst>
              <a:ext uri="{FF2B5EF4-FFF2-40B4-BE49-F238E27FC236}">
                <a16:creationId xmlns:a16="http://schemas.microsoft.com/office/drawing/2014/main" id="{73544046-80E2-481F-8FE2-6EBC4FD6034E}"/>
              </a:ext>
            </a:extLst>
          </p:cNvPr>
          <p:cNvSpPr>
            <a:spLocks noGrp="1"/>
          </p:cNvSpPr>
          <p:nvPr>
            <p:ph type="title" hasCustomPrompt="1"/>
          </p:nvPr>
        </p:nvSpPr>
        <p:spPr/>
        <p:txBody>
          <a:bodyPr/>
          <a:lstStyle/>
          <a:p>
            <a:r>
              <a:rPr dirty="0"/>
              <a:t>Linker </a:t>
            </a:r>
            <a:r>
              <a:rPr lang="en-IN" dirty="0"/>
              <a:t>s</a:t>
            </a:r>
            <a:r>
              <a:rPr dirty="0" err="1"/>
              <a:t>cripts</a:t>
            </a:r>
            <a:r>
              <a:rPr dirty="0"/>
              <a:t> </a:t>
            </a:r>
          </a:p>
        </p:txBody>
      </p:sp>
      <p:grpSp>
        <p:nvGrpSpPr>
          <p:cNvPr id="4" name="Group 3">
            <a:extLst>
              <a:ext uri="{FF2B5EF4-FFF2-40B4-BE49-F238E27FC236}">
                <a16:creationId xmlns:a16="http://schemas.microsoft.com/office/drawing/2014/main" id="{BF485937-E903-B857-8DCB-D285F91F245E}"/>
              </a:ext>
            </a:extLst>
          </p:cNvPr>
          <p:cNvGrpSpPr/>
          <p:nvPr/>
        </p:nvGrpSpPr>
        <p:grpSpPr>
          <a:xfrm>
            <a:off x="6987982" y="1628800"/>
            <a:ext cx="4264707" cy="4096024"/>
            <a:chOff x="6386226" y="573713"/>
            <a:chExt cx="5042129" cy="5824842"/>
          </a:xfrm>
        </p:grpSpPr>
        <p:grpSp>
          <p:nvGrpSpPr>
            <p:cNvPr id="24" name="Group 23">
              <a:extLst>
                <a:ext uri="{FF2B5EF4-FFF2-40B4-BE49-F238E27FC236}">
                  <a16:creationId xmlns:a16="http://schemas.microsoft.com/office/drawing/2014/main" id="{16CD8503-BC22-E22D-3D22-C174776ABA0D}"/>
                </a:ext>
              </a:extLst>
            </p:cNvPr>
            <p:cNvGrpSpPr/>
            <p:nvPr/>
          </p:nvGrpSpPr>
          <p:grpSpPr>
            <a:xfrm>
              <a:off x="6386226" y="573713"/>
              <a:ext cx="2806691" cy="3245999"/>
              <a:chOff x="8374552" y="1261587"/>
              <a:chExt cx="3287454" cy="3802012"/>
            </a:xfrm>
          </p:grpSpPr>
          <p:pic>
            <p:nvPicPr>
              <p:cNvPr id="9" name="Picture 8">
                <a:extLst>
                  <a:ext uri="{FF2B5EF4-FFF2-40B4-BE49-F238E27FC236}">
                    <a16:creationId xmlns:a16="http://schemas.microsoft.com/office/drawing/2014/main" id="{A1D1768A-9E8D-0A7E-E903-3D61277C4588}"/>
                  </a:ext>
                </a:extLst>
              </p:cNvPr>
              <p:cNvPicPr>
                <a:picLocks noChangeAspect="1"/>
              </p:cNvPicPr>
              <p:nvPr/>
            </p:nvPicPr>
            <p:blipFill>
              <a:blip r:embed="rId3"/>
              <a:stretch>
                <a:fillRect/>
              </a:stretch>
            </p:blipFill>
            <p:spPr>
              <a:xfrm>
                <a:off x="8374552" y="1261587"/>
                <a:ext cx="3287454" cy="3802012"/>
              </a:xfrm>
              <a:prstGeom prst="rect">
                <a:avLst/>
              </a:prstGeom>
              <a:ln w="28575">
                <a:solidFill>
                  <a:schemeClr val="accent1"/>
                </a:solidFill>
              </a:ln>
            </p:spPr>
          </p:pic>
          <p:sp>
            <p:nvSpPr>
              <p:cNvPr id="10" name="Rectangle 9">
                <a:extLst>
                  <a:ext uri="{FF2B5EF4-FFF2-40B4-BE49-F238E27FC236}">
                    <a16:creationId xmlns:a16="http://schemas.microsoft.com/office/drawing/2014/main" id="{3FF63785-74F1-F7DB-3E93-34DDC8D40938}"/>
                  </a:ext>
                </a:extLst>
              </p:cNvPr>
              <p:cNvSpPr/>
              <p:nvPr/>
            </p:nvSpPr>
            <p:spPr bwMode="auto">
              <a:xfrm>
                <a:off x="9133082" y="2781300"/>
                <a:ext cx="1387281"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8BD61082-0AB0-2682-9191-BCCEAB80E39C}"/>
                  </a:ext>
                </a:extLst>
              </p:cNvPr>
              <p:cNvSpPr/>
              <p:nvPr/>
            </p:nvSpPr>
            <p:spPr bwMode="auto">
              <a:xfrm>
                <a:off x="9133082" y="4324350"/>
                <a:ext cx="1387281" cy="21691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nvGrpSpPr>
            <p:cNvPr id="22" name="Group 21">
              <a:extLst>
                <a:ext uri="{FF2B5EF4-FFF2-40B4-BE49-F238E27FC236}">
                  <a16:creationId xmlns:a16="http://schemas.microsoft.com/office/drawing/2014/main" id="{44FBD9AE-099B-BBA1-8D70-10913E607669}"/>
                </a:ext>
              </a:extLst>
            </p:cNvPr>
            <p:cNvGrpSpPr/>
            <p:nvPr/>
          </p:nvGrpSpPr>
          <p:grpSpPr>
            <a:xfrm>
              <a:off x="8688288" y="2031654"/>
              <a:ext cx="2740067" cy="4366901"/>
              <a:chOff x="4713817" y="1388385"/>
              <a:chExt cx="3209419" cy="5114916"/>
            </a:xfrm>
          </p:grpSpPr>
          <p:pic>
            <p:nvPicPr>
              <p:cNvPr id="15" name="Picture 14">
                <a:extLst>
                  <a:ext uri="{FF2B5EF4-FFF2-40B4-BE49-F238E27FC236}">
                    <a16:creationId xmlns:a16="http://schemas.microsoft.com/office/drawing/2014/main" id="{3C95EF11-6CEE-D859-E252-C90CAD043BF9}"/>
                  </a:ext>
                </a:extLst>
              </p:cNvPr>
              <p:cNvPicPr>
                <a:picLocks noChangeAspect="1"/>
              </p:cNvPicPr>
              <p:nvPr/>
            </p:nvPicPr>
            <p:blipFill>
              <a:blip r:embed="rId4"/>
              <a:srcRect l="1884" r="4556"/>
              <a:stretch>
                <a:fillRect/>
              </a:stretch>
            </p:blipFill>
            <p:spPr>
              <a:xfrm>
                <a:off x="4713818" y="2043798"/>
                <a:ext cx="3209418" cy="4459503"/>
              </a:xfrm>
              <a:prstGeom prst="rect">
                <a:avLst/>
              </a:prstGeom>
              <a:ln w="28575">
                <a:solidFill>
                  <a:schemeClr val="accent1"/>
                </a:solidFill>
              </a:ln>
            </p:spPr>
          </p:pic>
          <p:pic>
            <p:nvPicPr>
              <p:cNvPr id="13" name="Picture 12">
                <a:extLst>
                  <a:ext uri="{FF2B5EF4-FFF2-40B4-BE49-F238E27FC236}">
                    <a16:creationId xmlns:a16="http://schemas.microsoft.com/office/drawing/2014/main" id="{7236523D-5087-EA85-A56E-40724F127199}"/>
                  </a:ext>
                </a:extLst>
              </p:cNvPr>
              <p:cNvPicPr>
                <a:picLocks noChangeAspect="1"/>
              </p:cNvPicPr>
              <p:nvPr/>
            </p:nvPicPr>
            <p:blipFill>
              <a:blip r:embed="rId5"/>
              <a:srcRect l="938" b="36132"/>
              <a:stretch>
                <a:fillRect/>
              </a:stretch>
            </p:blipFill>
            <p:spPr>
              <a:xfrm>
                <a:off x="4713817" y="1388385"/>
                <a:ext cx="3209419" cy="1004182"/>
              </a:xfrm>
              <a:prstGeom prst="flowChartDocument">
                <a:avLst/>
              </a:prstGeom>
              <a:ln w="28575">
                <a:solidFill>
                  <a:schemeClr val="accent1"/>
                </a:solidFill>
              </a:ln>
            </p:spPr>
          </p:pic>
          <p:sp>
            <p:nvSpPr>
              <p:cNvPr id="19" name="Rectangle 18">
                <a:extLst>
                  <a:ext uri="{FF2B5EF4-FFF2-40B4-BE49-F238E27FC236}">
                    <a16:creationId xmlns:a16="http://schemas.microsoft.com/office/drawing/2014/main" id="{0FC260AB-031A-4580-9210-0C2CC6FDC910}"/>
                  </a:ext>
                </a:extLst>
              </p:cNvPr>
              <p:cNvSpPr/>
              <p:nvPr/>
            </p:nvSpPr>
            <p:spPr bwMode="auto">
              <a:xfrm>
                <a:off x="5132855" y="4076508"/>
                <a:ext cx="1747205" cy="56197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grpSp>
    </p:spTree>
    <p:extLst>
      <p:ext uri="{BB962C8B-B14F-4D97-AF65-F5344CB8AC3E}">
        <p14:creationId xmlns:p14="http://schemas.microsoft.com/office/powerpoint/2010/main" val="3009268047"/>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FCC76ABC-16D5-157B-8375-327FD7389EC8}"/>
              </a:ext>
            </a:extLst>
          </p:cNvPr>
          <p:cNvGraphicFramePr>
            <a:graphicFrameLocks noGrp="1"/>
          </p:cNvGraphicFramePr>
          <p:nvPr>
            <p:extLst>
              <p:ext uri="{D42A27DB-BD31-4B8C-83A1-F6EECF244321}">
                <p14:modId xmlns:p14="http://schemas.microsoft.com/office/powerpoint/2010/main" val="3300197487"/>
              </p:ext>
            </p:extLst>
          </p:nvPr>
        </p:nvGraphicFramePr>
        <p:xfrm>
          <a:off x="4523760" y="1273243"/>
          <a:ext cx="6840760" cy="4243987"/>
        </p:xfrm>
        <a:graphic>
          <a:graphicData uri="http://schemas.openxmlformats.org/drawingml/2006/table">
            <a:tbl>
              <a:tblPr firstRow="1" bandRow="1">
                <a:tableStyleId>{5940675A-B579-460E-94D1-54222C63F5DA}</a:tableStyleId>
              </a:tblPr>
              <a:tblGrid>
                <a:gridCol w="6840760">
                  <a:extLst>
                    <a:ext uri="{9D8B030D-6E8A-4147-A177-3AD203B41FA5}">
                      <a16:colId xmlns:a16="http://schemas.microsoft.com/office/drawing/2014/main" val="1034522424"/>
                    </a:ext>
                  </a:extLst>
                </a:gridCol>
              </a:tblGrid>
              <a:tr h="424398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p:txBody>
          <a:bodyPr/>
          <a:lstStyle/>
          <a:p>
            <a:pPr>
              <a:lnSpc>
                <a:spcPct val="100000"/>
              </a:lnSpc>
            </a:pPr>
            <a:r>
              <a:rPr dirty="0"/>
              <a:t>Applications </a:t>
            </a:r>
          </a:p>
          <a:p>
            <a:pPr lvl="1">
              <a:lnSpc>
                <a:spcPct val="100000"/>
              </a:lnSpc>
              <a:buFont typeface="Arial" panose="020B0604020202020204" pitchFamily="34" charset="0"/>
              <a:buChar char="‒"/>
            </a:pPr>
            <a:r>
              <a:rPr dirty="0"/>
              <a:t>Code examples </a:t>
            </a:r>
          </a:p>
          <a:p>
            <a:pPr lvl="1">
              <a:lnSpc>
                <a:spcPct val="100000"/>
              </a:lnSpc>
              <a:spcAft>
                <a:spcPts val="1200"/>
              </a:spcAft>
              <a:buFont typeface="Arial" panose="020B0604020202020204" pitchFamily="34" charset="0"/>
              <a:buChar char="‒"/>
            </a:pPr>
            <a:r>
              <a:rPr dirty="0"/>
              <a:t>Reference Designs</a:t>
            </a:r>
          </a:p>
          <a:p>
            <a:pPr marL="252000" lvl="1" indent="0">
              <a:lnSpc>
                <a:spcPct val="100000"/>
              </a:lnSpc>
              <a:spcAft>
                <a:spcPts val="1200"/>
              </a:spcAft>
              <a:buNone/>
            </a:pPr>
            <a:endParaRPr lang="en-US" dirty="0"/>
          </a:p>
          <a:p>
            <a:pPr>
              <a:lnSpc>
                <a:spcPct val="100000"/>
              </a:lnSpc>
              <a:spcAft>
                <a:spcPts val="1200"/>
              </a:spcAft>
              <a:buFont typeface="Arial" panose="020B0604020202020204" pitchFamily="34" charset="0"/>
              <a:buChar char="‒"/>
            </a:pPr>
            <a:r>
              <a:rPr dirty="0"/>
              <a:t>Middleware Libraries</a:t>
            </a:r>
          </a:p>
          <a:p>
            <a:pPr lvl="1">
              <a:lnSpc>
                <a:spcPct val="100000"/>
              </a:lnSpc>
              <a:spcAft>
                <a:spcPts val="1200"/>
              </a:spcAft>
              <a:buFont typeface="Wingdings" panose="05000000000000000000" pitchFamily="2" charset="2"/>
              <a:buChar char="Ø"/>
            </a:pP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p:txBody>
          <a:bodyPr/>
          <a:lstStyle/>
          <a:p>
            <a:r>
              <a:rPr dirty="0"/>
              <a:t>Firmware/application development :Software </a:t>
            </a:r>
            <a:r>
              <a:rPr lang="en-IN" dirty="0"/>
              <a:t>r</a:t>
            </a:r>
            <a:r>
              <a:rPr dirty="0" err="1"/>
              <a:t>esources</a:t>
            </a:r>
            <a:r>
              <a:rPr lang="en-IN" dirty="0"/>
              <a:t> (1/4)</a:t>
            </a:r>
            <a:endParaRPr dirty="0"/>
          </a:p>
        </p:txBody>
      </p:sp>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2783632" y="2708920"/>
            <a:ext cx="1728192"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4D054A2F-3801-4AC0-92C0-524084E8EDAE}"/>
              </a:ext>
            </a:extLst>
          </p:cNvPr>
          <p:cNvCxnSpPr>
            <a:cxnSpLocks/>
          </p:cNvCxnSpPr>
          <p:nvPr/>
        </p:nvCxnSpPr>
        <p:spPr>
          <a:xfrm>
            <a:off x="2241900" y="1604648"/>
            <a:ext cx="2269924" cy="289157"/>
          </a:xfrm>
          <a:prstGeom prst="bentConnector3">
            <a:avLst>
              <a:gd name="adj1" fmla="val 50000"/>
            </a:avLst>
          </a:prstGeom>
          <a:ln>
            <a:tailEnd type="triangle"/>
          </a:ln>
        </p:spPr>
        <p:style>
          <a:lnRef idx="3">
            <a:schemeClr val="accent6"/>
          </a:lnRef>
          <a:fillRef idx="0">
            <a:schemeClr val="accent6"/>
          </a:fillRef>
          <a:effectRef idx="2">
            <a:schemeClr val="accent6"/>
          </a:effectRef>
          <a:fontRef idx="minor">
            <a:schemeClr val="tx1"/>
          </a:fontRef>
        </p:style>
      </p:cxnSp>
      <p:grpSp>
        <p:nvGrpSpPr>
          <p:cNvPr id="6" name="Group 5">
            <a:extLst>
              <a:ext uri="{FF2B5EF4-FFF2-40B4-BE49-F238E27FC236}">
                <a16:creationId xmlns:a16="http://schemas.microsoft.com/office/drawing/2014/main" id="{91F89D05-3E55-95A7-F6C7-F39923BDBF82}"/>
              </a:ext>
            </a:extLst>
          </p:cNvPr>
          <p:cNvGrpSpPr/>
          <p:nvPr/>
        </p:nvGrpSpPr>
        <p:grpSpPr>
          <a:xfrm>
            <a:off x="4667776" y="1476896"/>
            <a:ext cx="6552728" cy="3888432"/>
            <a:chOff x="4558927" y="1510272"/>
            <a:chExt cx="7106597" cy="3952781"/>
          </a:xfrm>
        </p:grpSpPr>
        <p:pic>
          <p:nvPicPr>
            <p:cNvPr id="4" name="Picture 3">
              <a:extLst>
                <a:ext uri="{FF2B5EF4-FFF2-40B4-BE49-F238E27FC236}">
                  <a16:creationId xmlns:a16="http://schemas.microsoft.com/office/drawing/2014/main" id="{ED753DBA-032B-B1B2-CB54-53CC577B92CC}"/>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509C4317-A142-1A0A-67BC-6CA9848095E5}"/>
                </a:ext>
              </a:extLst>
            </p:cNvPr>
            <p:cNvSpPr/>
            <p:nvPr/>
          </p:nvSpPr>
          <p:spPr bwMode="auto">
            <a:xfrm>
              <a:off x="4558927" y="2309813"/>
              <a:ext cx="5332419" cy="1176337"/>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7421F199-E38E-2E14-1A41-A351EA31F4FF}"/>
                </a:ext>
              </a:extLst>
            </p:cNvPr>
            <p:cNvSpPr/>
            <p:nvPr/>
          </p:nvSpPr>
          <p:spPr bwMode="auto">
            <a:xfrm>
              <a:off x="4558927" y="1510272"/>
              <a:ext cx="5332419" cy="720959"/>
            </a:xfrm>
            <a:prstGeom prst="rect">
              <a:avLst/>
            </a:prstGeom>
            <a:noFill/>
            <a:ln w="5715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4009800723"/>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0-#ppt_w/2"/>
                                          </p:val>
                                        </p:tav>
                                        <p:tav tm="100000">
                                          <p:val>
                                            <p:strVal val="#ppt_x"/>
                                          </p:val>
                                        </p:tav>
                                      </p:tavLst>
                                    </p:anim>
                                    <p:anim calcmode="lin" valueType="num">
                                      <p:cBhvr additive="base">
                                        <p:cTn id="2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anim calcmode="lin" valueType="num">
                                      <p:cBhvr additive="base">
                                        <p:cTn id="29"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4" end="4"/>
                                            </p:txEl>
                                          </p:spTgt>
                                        </p:tgtEl>
                                        <p:attrNameLst>
                                          <p:attrName>ppt_y</p:attrName>
                                        </p:attrNameLst>
                                      </p:cBhvr>
                                      <p:tavLst>
                                        <p:tav tm="0">
                                          <p:val>
                                            <p:strVal val="#ppt_y"/>
                                          </p:val>
                                        </p:tav>
                                        <p:tav tm="100000">
                                          <p:val>
                                            <p:strVal val="#ppt_y"/>
                                          </p:val>
                                        </p:tav>
                                      </p:tavLst>
                                    </p:anim>
                                  </p:childTnLst>
                                </p:cTn>
                              </p:par>
                              <p:par>
                                <p:cTn id="31" presetID="2" presetClass="entr" presetSubtype="8"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0-#ppt_w/2"/>
                                          </p:val>
                                        </p:tav>
                                        <p:tav tm="100000">
                                          <p:val>
                                            <p:strVal val="#ppt_x"/>
                                          </p:val>
                                        </p:tav>
                                      </p:tavLst>
                                    </p:anim>
                                    <p:anim calcmode="lin" valueType="num">
                                      <p:cBhvr additive="base">
                                        <p:cTn id="34"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908AC17C-FF6E-80D3-48C0-5BAC512090E6}"/>
              </a:ext>
            </a:extLst>
          </p:cNvPr>
          <p:cNvGraphicFramePr>
            <a:graphicFrameLocks noGrp="1"/>
          </p:cNvGraphicFramePr>
          <p:nvPr>
            <p:extLst>
              <p:ext uri="{D42A27DB-BD31-4B8C-83A1-F6EECF244321}">
                <p14:modId xmlns:p14="http://schemas.microsoft.com/office/powerpoint/2010/main" val="3922397484"/>
              </p:ext>
            </p:extLst>
          </p:nvPr>
        </p:nvGraphicFramePr>
        <p:xfrm>
          <a:off x="4512816" y="1268414"/>
          <a:ext cx="7200800" cy="3960786"/>
        </p:xfrm>
        <a:graphic>
          <a:graphicData uri="http://schemas.openxmlformats.org/drawingml/2006/table">
            <a:tbl>
              <a:tblPr firstRow="1" bandRow="1">
                <a:tableStyleId>{5940675A-B579-460E-94D1-54222C63F5DA}</a:tableStyleId>
              </a:tblPr>
              <a:tblGrid>
                <a:gridCol w="7200800">
                  <a:extLst>
                    <a:ext uri="{9D8B030D-6E8A-4147-A177-3AD203B41FA5}">
                      <a16:colId xmlns:a16="http://schemas.microsoft.com/office/drawing/2014/main" val="1034522424"/>
                    </a:ext>
                  </a:extLst>
                </a:gridCol>
              </a:tblGrid>
              <a:tr h="396078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a:xfrm>
            <a:off x="334800" y="1268414"/>
            <a:ext cx="4033008" cy="5113337"/>
          </a:xfrm>
        </p:spPr>
        <p:txBody>
          <a:bodyPr/>
          <a:lstStyle/>
          <a:p>
            <a:pPr marL="0" indent="0">
              <a:lnSpc>
                <a:spcPct val="150000"/>
              </a:lnSpc>
              <a:spcAft>
                <a:spcPts val="600"/>
              </a:spcAft>
              <a:buNone/>
            </a:pPr>
            <a:r>
              <a:rPr sz="1600" dirty="0">
                <a:solidFill>
                  <a:srgbClr val="0A8276"/>
                </a:solidFill>
              </a:rPr>
              <a:t>Middleware </a:t>
            </a:r>
            <a:r>
              <a:rPr lang="en-IN" sz="1600" dirty="0">
                <a:solidFill>
                  <a:srgbClr val="0A8276"/>
                </a:solidFill>
              </a:rPr>
              <a:t>p</a:t>
            </a:r>
            <a:r>
              <a:rPr sz="1600" dirty="0" err="1">
                <a:solidFill>
                  <a:srgbClr val="0A8276"/>
                </a:solidFill>
              </a:rPr>
              <a:t>ortability</a:t>
            </a:r>
            <a:r>
              <a:rPr sz="1600" dirty="0">
                <a:solidFill>
                  <a:srgbClr val="0A8276"/>
                </a:solidFill>
              </a:rPr>
              <a:t> APIs </a:t>
            </a:r>
          </a:p>
          <a:p>
            <a:pPr>
              <a:lnSpc>
                <a:spcPct val="150000"/>
              </a:lnSpc>
              <a:spcAft>
                <a:spcPts val="600"/>
              </a:spcAft>
              <a:buFontTx/>
              <a:buChar char="‒"/>
            </a:pPr>
            <a:r>
              <a:rPr sz="1600" dirty="0"/>
              <a:t>High-level APIs built on top of PDL</a:t>
            </a:r>
          </a:p>
          <a:p>
            <a:pPr>
              <a:lnSpc>
                <a:spcPct val="150000"/>
              </a:lnSpc>
              <a:spcAft>
                <a:spcPts val="600"/>
              </a:spcAft>
              <a:buFontTx/>
              <a:buChar char="‒"/>
            </a:pPr>
            <a:r>
              <a:rPr sz="1600" dirty="0"/>
              <a:t>Hardware generic, so more portable</a:t>
            </a:r>
          </a:p>
          <a:p>
            <a:pPr>
              <a:lnSpc>
                <a:spcPct val="150000"/>
              </a:lnSpc>
              <a:spcAft>
                <a:spcPts val="400"/>
              </a:spcAft>
              <a:buFontTx/>
              <a:buChar char="‒"/>
            </a:pPr>
            <a:r>
              <a:rPr sz="1600" dirty="0"/>
              <a:t>Architected to enable</a:t>
            </a:r>
            <a:r>
              <a:rPr sz="1600" dirty="0">
                <a:effectLst/>
                <a:latin typeface="+mj-lt"/>
              </a:rPr>
              <a:t> Infineon maintained middleware to work across a wider range of devices</a:t>
            </a:r>
          </a:p>
          <a:p>
            <a:pPr>
              <a:lnSpc>
                <a:spcPct val="150000"/>
              </a:lnSpc>
              <a:spcAft>
                <a:spcPts val="400"/>
              </a:spcAft>
              <a:buFontTx/>
              <a:buChar char="‒"/>
            </a:pPr>
            <a:r>
              <a:rPr sz="1600" dirty="0">
                <a:latin typeface="+mj-lt"/>
              </a:rPr>
              <a:t>Replacement of the former </a:t>
            </a:r>
            <a:r>
              <a:rPr lang="en-US" sz="1600" dirty="0">
                <a:latin typeface="+mj-lt"/>
              </a:rPr>
              <a:t>ModusToolbox™ </a:t>
            </a:r>
            <a:r>
              <a:rPr sz="1600" dirty="0">
                <a:latin typeface="+mj-lt"/>
              </a:rPr>
              <a:t>HAL layer</a:t>
            </a:r>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a:xfrm>
            <a:off x="335360" y="116249"/>
            <a:ext cx="9613068" cy="720000"/>
          </a:xfrm>
        </p:spPr>
        <p:txBody>
          <a:bodyPr/>
          <a:lstStyle/>
          <a:p>
            <a:r>
              <a:rPr dirty="0"/>
              <a:t>Firmware</a:t>
            </a:r>
            <a:r>
              <a:rPr lang="en-IN" dirty="0"/>
              <a:t> </a:t>
            </a:r>
            <a:r>
              <a:rPr dirty="0"/>
              <a:t>/</a:t>
            </a:r>
            <a:r>
              <a:rPr lang="en-IN" dirty="0"/>
              <a:t> </a:t>
            </a:r>
            <a:r>
              <a:rPr dirty="0"/>
              <a:t>application development: Software </a:t>
            </a:r>
            <a:r>
              <a:rPr lang="en-IN" dirty="0"/>
              <a:t>r</a:t>
            </a:r>
            <a:r>
              <a:rPr dirty="0" err="1"/>
              <a:t>esources</a:t>
            </a:r>
            <a:r>
              <a:rPr lang="en-IN" dirty="0"/>
              <a:t> (2/4)</a:t>
            </a:r>
            <a:endParaRPr dirty="0"/>
          </a:p>
        </p:txBody>
      </p:sp>
      <p:grpSp>
        <p:nvGrpSpPr>
          <p:cNvPr id="6" name="Group 5">
            <a:extLst>
              <a:ext uri="{FF2B5EF4-FFF2-40B4-BE49-F238E27FC236}">
                <a16:creationId xmlns:a16="http://schemas.microsoft.com/office/drawing/2014/main" id="{C42F8DF8-4BC1-9D9B-591A-0A119556714A}"/>
              </a:ext>
            </a:extLst>
          </p:cNvPr>
          <p:cNvGrpSpPr/>
          <p:nvPr/>
        </p:nvGrpSpPr>
        <p:grpSpPr>
          <a:xfrm>
            <a:off x="4716325" y="1443149"/>
            <a:ext cx="6811997" cy="3615951"/>
            <a:chOff x="4558927" y="1510272"/>
            <a:chExt cx="7106597" cy="3952781"/>
          </a:xfrm>
        </p:grpSpPr>
        <p:pic>
          <p:nvPicPr>
            <p:cNvPr id="4" name="Picture 3">
              <a:extLst>
                <a:ext uri="{FF2B5EF4-FFF2-40B4-BE49-F238E27FC236}">
                  <a16:creationId xmlns:a16="http://schemas.microsoft.com/office/drawing/2014/main" id="{ED7FF77E-2017-8129-DCF5-6B27747FB2FA}"/>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5" name="Rectangle 4">
              <a:extLst>
                <a:ext uri="{FF2B5EF4-FFF2-40B4-BE49-F238E27FC236}">
                  <a16:creationId xmlns:a16="http://schemas.microsoft.com/office/drawing/2014/main" id="{2E6F21D2-23ED-BEC3-BF67-971C25C16EB7}"/>
                </a:ext>
              </a:extLst>
            </p:cNvPr>
            <p:cNvSpPr/>
            <p:nvPr/>
          </p:nvSpPr>
          <p:spPr bwMode="auto">
            <a:xfrm>
              <a:off x="4631531"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473292722"/>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anim calcmode="lin" valueType="num">
                                      <p:cBhvr additive="base">
                                        <p:cTn id="19"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 calcmode="lin" valueType="num">
                                      <p:cBhvr additive="base">
                                        <p:cTn id="23"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892C07E8-AD44-C549-697D-B63C6BCDC8A4}"/>
              </a:ext>
            </a:extLst>
          </p:cNvPr>
          <p:cNvGraphicFramePr>
            <a:graphicFrameLocks noGrp="1"/>
          </p:cNvGraphicFramePr>
          <p:nvPr>
            <p:extLst>
              <p:ext uri="{D42A27DB-BD31-4B8C-83A1-F6EECF244321}">
                <p14:modId xmlns:p14="http://schemas.microsoft.com/office/powerpoint/2010/main" val="3027159452"/>
              </p:ext>
            </p:extLst>
          </p:nvPr>
        </p:nvGraphicFramePr>
        <p:xfrm>
          <a:off x="4223792" y="1268414"/>
          <a:ext cx="7200800" cy="3960786"/>
        </p:xfrm>
        <a:graphic>
          <a:graphicData uri="http://schemas.openxmlformats.org/drawingml/2006/table">
            <a:tbl>
              <a:tblPr firstRow="1" bandRow="1">
                <a:tableStyleId>{5940675A-B579-460E-94D1-54222C63F5DA}</a:tableStyleId>
              </a:tblPr>
              <a:tblGrid>
                <a:gridCol w="7200800">
                  <a:extLst>
                    <a:ext uri="{9D8B030D-6E8A-4147-A177-3AD203B41FA5}">
                      <a16:colId xmlns:a16="http://schemas.microsoft.com/office/drawing/2014/main" val="1034522424"/>
                    </a:ext>
                  </a:extLst>
                </a:gridCol>
              </a:tblGrid>
              <a:tr h="396078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hasCustomPrompt="1"/>
          </p:nvPr>
        </p:nvSpPr>
        <p:spPr>
          <a:xfrm>
            <a:off x="334800" y="1268415"/>
            <a:ext cx="3888992" cy="3960786"/>
          </a:xfrm>
        </p:spPr>
        <p:txBody>
          <a:bodyPr/>
          <a:lstStyle/>
          <a:p>
            <a:pPr marL="0" indent="0">
              <a:lnSpc>
                <a:spcPct val="150000"/>
              </a:lnSpc>
              <a:spcAft>
                <a:spcPts val="600"/>
              </a:spcAft>
              <a:buNone/>
            </a:pPr>
            <a:r>
              <a:rPr sz="1600" dirty="0" err="1">
                <a:solidFill>
                  <a:srgbClr val="0A8276"/>
                </a:solidFill>
              </a:rPr>
              <a:t>Periphera</a:t>
            </a:r>
            <a:r>
              <a:rPr lang="en-IN" sz="1600" dirty="0">
                <a:solidFill>
                  <a:srgbClr val="0A8276"/>
                </a:solidFill>
              </a:rPr>
              <a:t>l driver library </a:t>
            </a:r>
            <a:r>
              <a:rPr sz="1600" dirty="0">
                <a:solidFill>
                  <a:srgbClr val="0A8276"/>
                </a:solidFill>
              </a:rPr>
              <a:t>(PDL)</a:t>
            </a:r>
          </a:p>
          <a:p>
            <a:pPr>
              <a:lnSpc>
                <a:spcPct val="150000"/>
              </a:lnSpc>
              <a:spcAft>
                <a:spcPts val="600"/>
              </a:spcAft>
            </a:pPr>
            <a:r>
              <a:rPr sz="1600" dirty="0"/>
              <a:t>Set of low-level APIs</a:t>
            </a:r>
          </a:p>
          <a:p>
            <a:pPr>
              <a:lnSpc>
                <a:spcPct val="150000"/>
              </a:lnSpc>
              <a:spcAft>
                <a:spcPts val="1200"/>
              </a:spcAft>
            </a:pPr>
            <a:r>
              <a:rPr sz="1600" dirty="0"/>
              <a:t>Hardware specific so less portable</a:t>
            </a:r>
            <a:br>
              <a:rPr dirty="0"/>
            </a:b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p:txBody>
          <a:bodyPr/>
          <a:lstStyle/>
          <a:p>
            <a:r>
              <a:rPr dirty="0"/>
              <a:t>Firmware</a:t>
            </a:r>
            <a:r>
              <a:rPr lang="en-IN" dirty="0"/>
              <a:t> </a:t>
            </a:r>
            <a:r>
              <a:rPr dirty="0"/>
              <a:t>/</a:t>
            </a:r>
            <a:r>
              <a:rPr lang="en-IN" dirty="0"/>
              <a:t> </a:t>
            </a:r>
            <a:r>
              <a:rPr dirty="0"/>
              <a:t>application development : Software </a:t>
            </a:r>
            <a:r>
              <a:rPr lang="en-IN" dirty="0"/>
              <a:t>r</a:t>
            </a:r>
            <a:r>
              <a:rPr dirty="0" err="1"/>
              <a:t>esources</a:t>
            </a:r>
            <a:r>
              <a:rPr lang="en-IN" dirty="0"/>
              <a:t> (3/4)</a:t>
            </a:r>
            <a:endParaRPr dirty="0"/>
          </a:p>
        </p:txBody>
      </p:sp>
      <p:grpSp>
        <p:nvGrpSpPr>
          <p:cNvPr id="4" name="Group 3">
            <a:extLst>
              <a:ext uri="{FF2B5EF4-FFF2-40B4-BE49-F238E27FC236}">
                <a16:creationId xmlns:a16="http://schemas.microsoft.com/office/drawing/2014/main" id="{3BD09DB7-07AA-B007-F5EB-4ED87BDFA9BC}"/>
              </a:ext>
            </a:extLst>
          </p:cNvPr>
          <p:cNvGrpSpPr/>
          <p:nvPr/>
        </p:nvGrpSpPr>
        <p:grpSpPr>
          <a:xfrm>
            <a:off x="4510832" y="1412776"/>
            <a:ext cx="6696744" cy="3672408"/>
            <a:chOff x="4558927" y="1510272"/>
            <a:chExt cx="7106597" cy="3952781"/>
          </a:xfrm>
        </p:grpSpPr>
        <p:pic>
          <p:nvPicPr>
            <p:cNvPr id="7" name="Picture 6">
              <a:extLst>
                <a:ext uri="{FF2B5EF4-FFF2-40B4-BE49-F238E27FC236}">
                  <a16:creationId xmlns:a16="http://schemas.microsoft.com/office/drawing/2014/main" id="{5566D73E-723A-833F-C9AE-6A4507930AF6}"/>
                </a:ext>
              </a:extLst>
            </p:cNvPr>
            <p:cNvPicPr>
              <a:picLocks noChangeAspect="1"/>
            </p:cNvPicPr>
            <p:nvPr/>
          </p:nvPicPr>
          <p:blipFill>
            <a:blip r:embed="rId3"/>
            <a:stretch>
              <a:fillRect/>
            </a:stretch>
          </p:blipFill>
          <p:spPr>
            <a:xfrm>
              <a:off x="4558927" y="1510272"/>
              <a:ext cx="7106597" cy="3952781"/>
            </a:xfrm>
            <a:prstGeom prst="rect">
              <a:avLst/>
            </a:prstGeom>
          </p:spPr>
        </p:pic>
        <p:sp>
          <p:nvSpPr>
            <p:cNvPr id="10" name="Rectangle 9">
              <a:extLst>
                <a:ext uri="{FF2B5EF4-FFF2-40B4-BE49-F238E27FC236}">
                  <a16:creationId xmlns:a16="http://schemas.microsoft.com/office/drawing/2014/main" id="{4D3995CD-05AF-94E7-18E6-E46F48AB94BD}"/>
                </a:ext>
              </a:extLst>
            </p:cNvPr>
            <p:cNvSpPr/>
            <p:nvPr/>
          </p:nvSpPr>
          <p:spPr bwMode="auto">
            <a:xfrm>
              <a:off x="5952580" y="4797152"/>
              <a:ext cx="1248445" cy="58923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27857134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anim calcmode="lin" valueType="num">
                                      <p:cBhvr additive="base">
                                        <p:cTn id="11"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 calcmode="lin" valueType="num">
                                      <p:cBhvr additive="base">
                                        <p:cTn id="15"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2D9DBA1B-3C86-0545-8434-C4AD13D8947E}"/>
              </a:ext>
            </a:extLst>
          </p:cNvPr>
          <p:cNvGraphicFramePr>
            <a:graphicFrameLocks noGrp="1"/>
          </p:cNvGraphicFramePr>
          <p:nvPr>
            <p:extLst>
              <p:ext uri="{D42A27DB-BD31-4B8C-83A1-F6EECF244321}">
                <p14:modId xmlns:p14="http://schemas.microsoft.com/office/powerpoint/2010/main" val="1804488531"/>
              </p:ext>
            </p:extLst>
          </p:nvPr>
        </p:nvGraphicFramePr>
        <p:xfrm>
          <a:off x="329144" y="1817176"/>
          <a:ext cx="8647176" cy="4564151"/>
        </p:xfrm>
        <a:graphic>
          <a:graphicData uri="http://schemas.openxmlformats.org/drawingml/2006/table">
            <a:tbl>
              <a:tblPr firstRow="1" bandRow="1">
                <a:tableStyleId>{5940675A-B579-460E-94D1-54222C63F5DA}</a:tableStyleId>
              </a:tblPr>
              <a:tblGrid>
                <a:gridCol w="8647176">
                  <a:extLst>
                    <a:ext uri="{9D8B030D-6E8A-4147-A177-3AD203B41FA5}">
                      <a16:colId xmlns:a16="http://schemas.microsoft.com/office/drawing/2014/main" val="1034522424"/>
                    </a:ext>
                  </a:extLst>
                </a:gridCol>
              </a:tblGrid>
              <a:tr h="4564151">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002FB76F-CB34-AE22-1595-2F4C0C63153B}"/>
              </a:ext>
            </a:extLst>
          </p:cNvPr>
          <p:cNvSpPr>
            <a:spLocks noGrp="1"/>
          </p:cNvSpPr>
          <p:nvPr>
            <p:ph type="title" hasCustomPrompt="1"/>
          </p:nvPr>
        </p:nvSpPr>
        <p:spPr>
          <a:xfrm>
            <a:off x="323504" y="116673"/>
            <a:ext cx="9613068" cy="720000"/>
          </a:xfrm>
        </p:spPr>
        <p:txBody>
          <a:bodyPr/>
          <a:lstStyle/>
          <a:p>
            <a:r>
              <a:rPr dirty="0"/>
              <a:t>Firmware/application development : Software </a:t>
            </a:r>
            <a:r>
              <a:rPr lang="en-IN" dirty="0"/>
              <a:t>r</a:t>
            </a:r>
            <a:r>
              <a:rPr dirty="0" err="1"/>
              <a:t>esources</a:t>
            </a:r>
            <a:r>
              <a:rPr lang="en-IN" dirty="0"/>
              <a:t> (4/4)</a:t>
            </a:r>
            <a:endParaRPr dirty="0"/>
          </a:p>
        </p:txBody>
      </p:sp>
      <p:sp>
        <p:nvSpPr>
          <p:cNvPr id="7" name="Rectangle 6">
            <a:extLst>
              <a:ext uri="{FF2B5EF4-FFF2-40B4-BE49-F238E27FC236}">
                <a16:creationId xmlns:a16="http://schemas.microsoft.com/office/drawing/2014/main" id="{D05357C6-721D-4893-BB26-0D9355359854}"/>
              </a:ext>
            </a:extLst>
          </p:cNvPr>
          <p:cNvSpPr/>
          <p:nvPr/>
        </p:nvSpPr>
        <p:spPr>
          <a:xfrm>
            <a:off x="323504" y="1210096"/>
            <a:ext cx="10297144" cy="369332"/>
          </a:xfrm>
          <a:prstGeom prst="rect">
            <a:avLst/>
          </a:prstGeom>
        </p:spPr>
        <p:txBody>
          <a:bodyPr wrap="square">
            <a:spAutoFit/>
          </a:bodyPr>
          <a:lstStyle/>
          <a:p>
            <a:r>
              <a:rPr lang="en-US" sz="1800" dirty="0">
                <a:latin typeface="Arial" panose="020B0604020202020204" pitchFamily="34" charset="0"/>
                <a:cs typeface="Arial" panose="020B0604020202020204" pitchFamily="34" charset="0"/>
              </a:rPr>
              <a:t>For more information, go to: </a:t>
            </a:r>
            <a:r>
              <a:rPr lang="en-US" sz="1800" dirty="0">
                <a:hlinkClick r:id="rId3"/>
              </a:rPr>
              <a:t>https://infineon.github.io/mtb-dsl-pse8xxgp/html/index.html</a:t>
            </a:r>
            <a:endParaRPr lang="en-US" sz="1800" dirty="0"/>
          </a:p>
        </p:txBody>
      </p:sp>
      <p:pic>
        <p:nvPicPr>
          <p:cNvPr id="4" name="Picture 3">
            <a:extLst>
              <a:ext uri="{FF2B5EF4-FFF2-40B4-BE49-F238E27FC236}">
                <a16:creationId xmlns:a16="http://schemas.microsoft.com/office/drawing/2014/main" id="{733D3EFF-8F02-4826-95D3-C5FC329298D4}"/>
              </a:ext>
            </a:extLst>
          </p:cNvPr>
          <p:cNvPicPr>
            <a:picLocks noChangeAspect="1"/>
          </p:cNvPicPr>
          <p:nvPr/>
        </p:nvPicPr>
        <p:blipFill>
          <a:blip r:embed="rId4"/>
          <a:stretch>
            <a:fillRect/>
          </a:stretch>
        </p:blipFill>
        <p:spPr>
          <a:xfrm>
            <a:off x="528326" y="1949806"/>
            <a:ext cx="8248811" cy="4298889"/>
          </a:xfrm>
          <a:prstGeom prst="rect">
            <a:avLst/>
          </a:prstGeom>
        </p:spPr>
      </p:pic>
    </p:spTree>
    <p:extLst>
      <p:ext uri="{BB962C8B-B14F-4D97-AF65-F5344CB8AC3E}">
        <p14:creationId xmlns:p14="http://schemas.microsoft.com/office/powerpoint/2010/main" val="4019175805"/>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0BC43CE-4861-6805-170E-8904CC1BA5AA}"/>
              </a:ext>
            </a:extLst>
          </p:cNvPr>
          <p:cNvGraphicFramePr>
            <a:graphicFrameLocks noGrp="1"/>
          </p:cNvGraphicFramePr>
          <p:nvPr>
            <p:extLst>
              <p:ext uri="{D42A27DB-BD31-4B8C-83A1-F6EECF244321}">
                <p14:modId xmlns:p14="http://schemas.microsoft.com/office/powerpoint/2010/main" val="2410781947"/>
              </p:ext>
            </p:extLst>
          </p:nvPr>
        </p:nvGraphicFramePr>
        <p:xfrm>
          <a:off x="335360" y="1276988"/>
          <a:ext cx="9505056" cy="5104340"/>
        </p:xfrm>
        <a:graphic>
          <a:graphicData uri="http://schemas.openxmlformats.org/drawingml/2006/table">
            <a:tbl>
              <a:tblPr firstRow="1" bandRow="1">
                <a:tableStyleId>{5940675A-B579-460E-94D1-54222C63F5DA}</a:tableStyleId>
              </a:tblPr>
              <a:tblGrid>
                <a:gridCol w="9505056">
                  <a:extLst>
                    <a:ext uri="{9D8B030D-6E8A-4147-A177-3AD203B41FA5}">
                      <a16:colId xmlns:a16="http://schemas.microsoft.com/office/drawing/2014/main" val="1034522424"/>
                    </a:ext>
                  </a:extLst>
                </a:gridCol>
              </a:tblGrid>
              <a:tr h="5104340">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3E11BC4A-48FD-4A54-9E27-E913B98DDBA7}"/>
              </a:ext>
            </a:extLst>
          </p:cNvPr>
          <p:cNvSpPr>
            <a:spLocks noGrp="1"/>
          </p:cNvSpPr>
          <p:nvPr>
            <p:ph type="title" hasCustomPrompt="1"/>
          </p:nvPr>
        </p:nvSpPr>
        <p:spPr/>
        <p:txBody>
          <a:bodyPr/>
          <a:lstStyle/>
          <a:p>
            <a:br>
              <a:rPr dirty="0"/>
            </a:br>
            <a:br>
              <a:rPr dirty="0"/>
            </a:br>
            <a:r>
              <a:rPr dirty="0" err="1"/>
              <a:t>FreeRTOS</a:t>
            </a:r>
            <a:r>
              <a:rPr dirty="0"/>
              <a:t> support with </a:t>
            </a:r>
            <a:r>
              <a:rPr dirty="0" err="1"/>
              <a:t>ModusToolbox</a:t>
            </a:r>
            <a:r>
              <a:rPr dirty="0"/>
              <a:t>™</a:t>
            </a:r>
          </a:p>
        </p:txBody>
      </p:sp>
      <p:grpSp>
        <p:nvGrpSpPr>
          <p:cNvPr id="4" name="Group 3">
            <a:extLst>
              <a:ext uri="{FF2B5EF4-FFF2-40B4-BE49-F238E27FC236}">
                <a16:creationId xmlns:a16="http://schemas.microsoft.com/office/drawing/2014/main" id="{3BBCF381-0942-E181-5F3F-E13857CB7A9F}"/>
              </a:ext>
            </a:extLst>
          </p:cNvPr>
          <p:cNvGrpSpPr/>
          <p:nvPr/>
        </p:nvGrpSpPr>
        <p:grpSpPr>
          <a:xfrm>
            <a:off x="571861" y="1507734"/>
            <a:ext cx="9032053" cy="4642848"/>
            <a:chOff x="545476" y="893412"/>
            <a:chExt cx="10807170" cy="5415908"/>
          </a:xfrm>
        </p:grpSpPr>
        <p:pic>
          <p:nvPicPr>
            <p:cNvPr id="2" name="Picture 1">
              <a:extLst>
                <a:ext uri="{FF2B5EF4-FFF2-40B4-BE49-F238E27FC236}">
                  <a16:creationId xmlns:a16="http://schemas.microsoft.com/office/drawing/2014/main" id="{9729709D-23DC-4AAB-ADDD-C8F6EC273FC1}"/>
                </a:ext>
              </a:extLst>
            </p:cNvPr>
            <p:cNvPicPr>
              <a:picLocks noChangeAspect="1"/>
            </p:cNvPicPr>
            <p:nvPr/>
          </p:nvPicPr>
          <p:blipFill>
            <a:blip r:embed="rId3"/>
            <a:stretch>
              <a:fillRect/>
            </a:stretch>
          </p:blipFill>
          <p:spPr>
            <a:xfrm>
              <a:off x="545476" y="893412"/>
              <a:ext cx="10807170" cy="5415908"/>
            </a:xfrm>
            <a:prstGeom prst="rect">
              <a:avLst/>
            </a:prstGeom>
          </p:spPr>
        </p:pic>
        <p:sp>
          <p:nvSpPr>
            <p:cNvPr id="9" name="Rectangle 8">
              <a:extLst>
                <a:ext uri="{FF2B5EF4-FFF2-40B4-BE49-F238E27FC236}">
                  <a16:creationId xmlns:a16="http://schemas.microsoft.com/office/drawing/2014/main" id="{59F07130-7E38-4445-86BA-B3E8D54CB107}"/>
                </a:ext>
              </a:extLst>
            </p:cNvPr>
            <p:cNvSpPr/>
            <p:nvPr/>
          </p:nvSpPr>
          <p:spPr bwMode="auto">
            <a:xfrm>
              <a:off x="594360" y="4191000"/>
              <a:ext cx="1615440" cy="157732"/>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5A490CCF-B560-4AB5-8FAC-CFB02E615E5E}"/>
                </a:ext>
              </a:extLst>
            </p:cNvPr>
            <p:cNvSpPr/>
            <p:nvPr/>
          </p:nvSpPr>
          <p:spPr bwMode="auto">
            <a:xfrm>
              <a:off x="3558540" y="4653136"/>
              <a:ext cx="487680" cy="155084"/>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0D3AF73E-88FC-4F63-AE65-AE126EE24C0D}"/>
                </a:ext>
              </a:extLst>
            </p:cNvPr>
            <p:cNvSpPr/>
            <p:nvPr/>
          </p:nvSpPr>
          <p:spPr bwMode="auto">
            <a:xfrm>
              <a:off x="4871864" y="2621280"/>
              <a:ext cx="2098509" cy="159648"/>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1EFA4E7E-7E9B-4DFB-8E67-C7A32CFAA446}"/>
                </a:ext>
              </a:extLst>
            </p:cNvPr>
            <p:cNvSpPr/>
            <p:nvPr/>
          </p:nvSpPr>
          <p:spPr bwMode="auto">
            <a:xfrm>
              <a:off x="9646920" y="5367799"/>
              <a:ext cx="434340" cy="126222"/>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3" name="Rectangle 12">
              <a:extLst>
                <a:ext uri="{FF2B5EF4-FFF2-40B4-BE49-F238E27FC236}">
                  <a16:creationId xmlns:a16="http://schemas.microsoft.com/office/drawing/2014/main" id="{DA18593A-A6A1-47E5-80F8-D41C39D6D7DF}"/>
                </a:ext>
              </a:extLst>
            </p:cNvPr>
            <p:cNvSpPr/>
            <p:nvPr/>
          </p:nvSpPr>
          <p:spPr bwMode="auto">
            <a:xfrm>
              <a:off x="10142221" y="5802879"/>
              <a:ext cx="441960" cy="155961"/>
            </a:xfrm>
            <a:prstGeom prst="rect">
              <a:avLst/>
            </a:prstGeom>
            <a:noFill/>
            <a:ln w="38100">
              <a:solidFill>
                <a:srgbClr val="0A8276"/>
              </a:solidFill>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grpSp>
    </p:spTree>
    <p:extLst>
      <p:ext uri="{BB962C8B-B14F-4D97-AF65-F5344CB8AC3E}">
        <p14:creationId xmlns:p14="http://schemas.microsoft.com/office/powerpoint/2010/main" val="3487991612"/>
      </p:ext>
    </p:extLst>
  </p:cSld>
  <p:clrMapOvr>
    <a:masterClrMapping/>
  </p:clrMapOvr>
  <p:transition spd="slow"/>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187589BC-335E-0E99-622A-65FC7441968A}"/>
              </a:ext>
            </a:extLst>
          </p:cNvPr>
          <p:cNvGraphicFramePr>
            <a:graphicFrameLocks noGrp="1"/>
          </p:cNvGraphicFramePr>
          <p:nvPr>
            <p:extLst>
              <p:ext uri="{D42A27DB-BD31-4B8C-83A1-F6EECF244321}">
                <p14:modId xmlns:p14="http://schemas.microsoft.com/office/powerpoint/2010/main" val="2402280702"/>
              </p:ext>
            </p:extLst>
          </p:nvPr>
        </p:nvGraphicFramePr>
        <p:xfrm>
          <a:off x="335360" y="1340768"/>
          <a:ext cx="11309610" cy="4968552"/>
        </p:xfrm>
        <a:graphic>
          <a:graphicData uri="http://schemas.openxmlformats.org/drawingml/2006/table">
            <a:tbl>
              <a:tblPr firstRow="1" bandRow="1">
                <a:tableStyleId>{5940675A-B579-460E-94D1-54222C63F5DA}</a:tableStyleId>
              </a:tblPr>
              <a:tblGrid>
                <a:gridCol w="11309610">
                  <a:extLst>
                    <a:ext uri="{9D8B030D-6E8A-4147-A177-3AD203B41FA5}">
                      <a16:colId xmlns:a16="http://schemas.microsoft.com/office/drawing/2014/main" val="1034522424"/>
                    </a:ext>
                  </a:extLst>
                </a:gridCol>
              </a:tblGrid>
              <a:tr h="4968552">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33BAB0FF-00AE-4927-ADE7-2AEA4AA35691}"/>
              </a:ext>
            </a:extLst>
          </p:cNvPr>
          <p:cNvSpPr>
            <a:spLocks noGrp="1"/>
          </p:cNvSpPr>
          <p:nvPr>
            <p:ph type="title" hasCustomPrompt="1"/>
          </p:nvPr>
        </p:nvSpPr>
        <p:spPr/>
        <p:txBody>
          <a:bodyPr/>
          <a:lstStyle/>
          <a:p>
            <a:r>
              <a:rPr dirty="0"/>
              <a:t>PSOC™ Edge E84 MCU development kit</a:t>
            </a:r>
            <a:r>
              <a:rPr lang="en-IN" dirty="0"/>
              <a:t>:</a:t>
            </a:r>
            <a:r>
              <a:rPr dirty="0"/>
              <a:t> Top </a:t>
            </a:r>
            <a:r>
              <a:rPr lang="en-IN" dirty="0"/>
              <a:t>v</a:t>
            </a:r>
            <a:r>
              <a:rPr dirty="0" err="1"/>
              <a:t>iew</a:t>
            </a:r>
            <a:r>
              <a:rPr dirty="0"/>
              <a:t> </a:t>
            </a:r>
          </a:p>
        </p:txBody>
      </p:sp>
      <p:graphicFrame>
        <p:nvGraphicFramePr>
          <p:cNvPr id="47" name="Object 46">
            <a:extLst>
              <a:ext uri="{FF2B5EF4-FFF2-40B4-BE49-F238E27FC236}">
                <a16:creationId xmlns:a16="http://schemas.microsoft.com/office/drawing/2014/main" id="{36842BBA-E5F9-70E1-133A-3FB478691282}"/>
              </a:ext>
            </a:extLst>
          </p:cNvPr>
          <p:cNvGraphicFramePr>
            <a:graphicFrameLocks noChangeAspect="1"/>
          </p:cNvGraphicFramePr>
          <p:nvPr>
            <p:extLst>
              <p:ext uri="{D42A27DB-BD31-4B8C-83A1-F6EECF244321}">
                <p14:modId xmlns:p14="http://schemas.microsoft.com/office/powerpoint/2010/main" val="1305936808"/>
              </p:ext>
            </p:extLst>
          </p:nvPr>
        </p:nvGraphicFramePr>
        <p:xfrm>
          <a:off x="335360" y="891183"/>
          <a:ext cx="8128000" cy="5418137"/>
        </p:xfrm>
        <a:graphic>
          <a:graphicData uri="http://schemas.openxmlformats.org/presentationml/2006/ole">
            <mc:AlternateContent xmlns:mc="http://schemas.openxmlformats.org/markup-compatibility/2006">
              <mc:Choice xmlns:v="urn:schemas-microsoft-com:vml" Requires="v">
                <p:oleObj name="PDF Document" r:id="rId3" imgW="0" imgH="0" progId="PowerPDF.Document">
                  <p:embed/>
                </p:oleObj>
              </mc:Choice>
              <mc:Fallback>
                <p:oleObj name="PDF Document" r:id="rId3" imgW="0" imgH="0" progId="PowerPDF.Document">
                  <p:embed/>
                  <p:pic>
                    <p:nvPicPr>
                      <p:cNvPr id="0" name=""/>
                      <p:cNvPicPr/>
                      <p:nvPr/>
                    </p:nvPicPr>
                    <p:blipFill/>
                    <p:spPr>
                      <a:xfrm>
                        <a:off x="335360" y="891183"/>
                        <a:ext cx="8128000" cy="5418137"/>
                      </a:xfrm>
                      <a:prstGeom prst="rect">
                        <a:avLst/>
                      </a:prstGeom>
                    </p:spPr>
                  </p:pic>
                </p:oleObj>
              </mc:Fallback>
            </mc:AlternateContent>
          </a:graphicData>
        </a:graphic>
      </p:graphicFrame>
      <p:graphicFrame>
        <p:nvGraphicFramePr>
          <p:cNvPr id="50" name="Object 49">
            <a:extLst>
              <a:ext uri="{FF2B5EF4-FFF2-40B4-BE49-F238E27FC236}">
                <a16:creationId xmlns:a16="http://schemas.microsoft.com/office/drawing/2014/main" id="{7233BD88-616F-22CC-0E50-ED46A44550A4}"/>
              </a:ext>
            </a:extLst>
          </p:cNvPr>
          <p:cNvGraphicFramePr>
            <a:graphicFrameLocks noChangeAspect="1"/>
          </p:cNvGraphicFramePr>
          <p:nvPr>
            <p:extLst>
              <p:ext uri="{D42A27DB-BD31-4B8C-83A1-F6EECF244321}">
                <p14:modId xmlns:p14="http://schemas.microsoft.com/office/powerpoint/2010/main" val="2359668568"/>
              </p:ext>
            </p:extLst>
          </p:nvPr>
        </p:nvGraphicFramePr>
        <p:xfrm>
          <a:off x="521134" y="1393035"/>
          <a:ext cx="10932841" cy="4864018"/>
        </p:xfrm>
        <a:graphic>
          <a:graphicData uri="http://schemas.openxmlformats.org/presentationml/2006/ole">
            <mc:AlternateContent xmlns:mc="http://schemas.openxmlformats.org/markup-compatibility/2006">
              <mc:Choice xmlns:v="urn:schemas-microsoft-com:vml" Requires="v">
                <p:oleObj name="PDF Document" r:id="rId4" imgW="23449680" imgH="10833480" progId="PowerPDF.Document">
                  <p:embed/>
                </p:oleObj>
              </mc:Choice>
              <mc:Fallback>
                <p:oleObj name="PDF Document" r:id="rId4" imgW="23449680" imgH="10833480" progId="PowerPDF.Document">
                  <p:embed/>
                  <p:pic>
                    <p:nvPicPr>
                      <p:cNvPr id="0" name=""/>
                      <p:cNvPicPr/>
                      <p:nvPr/>
                    </p:nvPicPr>
                    <p:blipFill>
                      <a:blip r:embed="rId5"/>
                      <a:stretch>
                        <a:fillRect/>
                      </a:stretch>
                    </p:blipFill>
                    <p:spPr>
                      <a:xfrm>
                        <a:off x="521134" y="1393035"/>
                        <a:ext cx="10932841" cy="4864018"/>
                      </a:xfrm>
                      <a:prstGeom prst="rect">
                        <a:avLst/>
                      </a:prstGeom>
                    </p:spPr>
                  </p:pic>
                </p:oleObj>
              </mc:Fallback>
            </mc:AlternateContent>
          </a:graphicData>
        </a:graphic>
      </p:graphicFrame>
    </p:spTree>
    <p:extLst>
      <p:ext uri="{BB962C8B-B14F-4D97-AF65-F5344CB8AC3E}">
        <p14:creationId xmlns:p14="http://schemas.microsoft.com/office/powerpoint/2010/main" val="259575721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B25FDBE-76F3-2773-0ACE-CAC0925DF958}"/>
              </a:ext>
            </a:extLst>
          </p:cNvPr>
          <p:cNvGraphicFramePr>
            <a:graphicFrameLocks noGrp="1"/>
          </p:cNvGraphicFramePr>
          <p:nvPr>
            <p:extLst>
              <p:ext uri="{D42A27DB-BD31-4B8C-83A1-F6EECF244321}">
                <p14:modId xmlns:p14="http://schemas.microsoft.com/office/powerpoint/2010/main" val="3340599331"/>
              </p:ext>
            </p:extLst>
          </p:nvPr>
        </p:nvGraphicFramePr>
        <p:xfrm>
          <a:off x="330046" y="1204766"/>
          <a:ext cx="10342265" cy="5320577"/>
        </p:xfrm>
        <a:graphic>
          <a:graphicData uri="http://schemas.openxmlformats.org/drawingml/2006/table">
            <a:tbl>
              <a:tblPr firstRow="1" bandRow="1">
                <a:tableStyleId>{5940675A-B579-460E-94D1-54222C63F5DA}</a:tableStyleId>
              </a:tblPr>
              <a:tblGrid>
                <a:gridCol w="10342265">
                  <a:extLst>
                    <a:ext uri="{9D8B030D-6E8A-4147-A177-3AD203B41FA5}">
                      <a16:colId xmlns:a16="http://schemas.microsoft.com/office/drawing/2014/main" val="1034522424"/>
                    </a:ext>
                  </a:extLst>
                </a:gridCol>
              </a:tblGrid>
              <a:tr h="5320577">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5AAF5378-2606-462C-A911-D975D3A2C553}"/>
              </a:ext>
            </a:extLst>
          </p:cNvPr>
          <p:cNvSpPr>
            <a:spLocks noGrp="1"/>
          </p:cNvSpPr>
          <p:nvPr>
            <p:ph type="title" hasCustomPrompt="1"/>
          </p:nvPr>
        </p:nvSpPr>
        <p:spPr/>
        <p:txBody>
          <a:bodyPr/>
          <a:lstStyle/>
          <a:p>
            <a:r>
              <a:rPr dirty="0"/>
              <a:t>PSOC™ Edge E84 MCU development kit</a:t>
            </a:r>
            <a:r>
              <a:rPr lang="en-IN" dirty="0"/>
              <a:t>:</a:t>
            </a:r>
            <a:r>
              <a:rPr dirty="0"/>
              <a:t> Back </a:t>
            </a:r>
            <a:r>
              <a:rPr lang="en-IN" dirty="0"/>
              <a:t>v</a:t>
            </a:r>
            <a:r>
              <a:rPr dirty="0" err="1"/>
              <a:t>iew</a:t>
            </a:r>
            <a:r>
              <a:rPr dirty="0"/>
              <a:t> </a:t>
            </a:r>
          </a:p>
        </p:txBody>
      </p:sp>
      <p:grpSp>
        <p:nvGrpSpPr>
          <p:cNvPr id="2" name="Group 1">
            <a:extLst>
              <a:ext uri="{FF2B5EF4-FFF2-40B4-BE49-F238E27FC236}">
                <a16:creationId xmlns:a16="http://schemas.microsoft.com/office/drawing/2014/main" id="{0DC31653-8F0E-6B09-9B6C-26B5D620B508}"/>
              </a:ext>
            </a:extLst>
          </p:cNvPr>
          <p:cNvGrpSpPr/>
          <p:nvPr/>
        </p:nvGrpSpPr>
        <p:grpSpPr>
          <a:xfrm>
            <a:off x="551384" y="1224425"/>
            <a:ext cx="10441013" cy="5114632"/>
            <a:chOff x="695547" y="906656"/>
            <a:chExt cx="10959004" cy="5544103"/>
          </a:xfrm>
        </p:grpSpPr>
        <p:pic>
          <p:nvPicPr>
            <p:cNvPr id="16" name="Picture 15">
              <a:extLst>
                <a:ext uri="{FF2B5EF4-FFF2-40B4-BE49-F238E27FC236}">
                  <a16:creationId xmlns:a16="http://schemas.microsoft.com/office/drawing/2014/main" id="{04A01EFA-4226-455A-8A68-A3C777608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1890" y="1128671"/>
              <a:ext cx="8715197" cy="5124536"/>
            </a:xfrm>
            <a:prstGeom prst="rect">
              <a:avLst/>
            </a:prstGeom>
          </p:spPr>
        </p:pic>
        <p:sp>
          <p:nvSpPr>
            <p:cNvPr id="5" name="Callout: Line with Accent Bar 4">
              <a:extLst>
                <a:ext uri="{FF2B5EF4-FFF2-40B4-BE49-F238E27FC236}">
                  <a16:creationId xmlns:a16="http://schemas.microsoft.com/office/drawing/2014/main" id="{6E4EB7B4-A5D3-46A8-A4E3-9AB041D3BBAF}"/>
                </a:ext>
              </a:extLst>
            </p:cNvPr>
            <p:cNvSpPr/>
            <p:nvPr/>
          </p:nvSpPr>
          <p:spPr bwMode="auto">
            <a:xfrm flipH="1">
              <a:off x="695547" y="1914254"/>
              <a:ext cx="1054051" cy="201921"/>
            </a:xfrm>
            <a:prstGeom prst="accentCallout1">
              <a:avLst>
                <a:gd name="adj1" fmla="val 48512"/>
                <a:gd name="adj2" fmla="val 200"/>
                <a:gd name="adj3" fmla="val 206650"/>
                <a:gd name="adj4" fmla="val -6723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SD Card Socket</a:t>
              </a:r>
              <a:endParaRPr lang="en-US" sz="1000" dirty="0">
                <a:latin typeface="+mn-lt"/>
              </a:endParaRPr>
            </a:p>
          </p:txBody>
        </p:sp>
        <p:sp>
          <p:nvSpPr>
            <p:cNvPr id="6" name="Callout: Line with Accent Bar 5">
              <a:extLst>
                <a:ext uri="{FF2B5EF4-FFF2-40B4-BE49-F238E27FC236}">
                  <a16:creationId xmlns:a16="http://schemas.microsoft.com/office/drawing/2014/main" id="{EE374BB4-387F-4999-9076-9A4FA105018C}"/>
                </a:ext>
              </a:extLst>
            </p:cNvPr>
            <p:cNvSpPr/>
            <p:nvPr/>
          </p:nvSpPr>
          <p:spPr bwMode="auto">
            <a:xfrm flipH="1">
              <a:off x="1234603" y="906656"/>
              <a:ext cx="527025" cy="201921"/>
            </a:xfrm>
            <a:prstGeom prst="accentCallout1">
              <a:avLst>
                <a:gd name="adj1" fmla="val 48512"/>
                <a:gd name="adj2" fmla="val 200"/>
                <a:gd name="adj3" fmla="val 327703"/>
                <a:gd name="adj4" fmla="val -1572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DMIC</a:t>
              </a:r>
            </a:p>
          </p:txBody>
        </p:sp>
        <p:sp>
          <p:nvSpPr>
            <p:cNvPr id="7" name="Callout: Line with Accent Bar 6">
              <a:extLst>
                <a:ext uri="{FF2B5EF4-FFF2-40B4-BE49-F238E27FC236}">
                  <a16:creationId xmlns:a16="http://schemas.microsoft.com/office/drawing/2014/main" id="{3B427E57-9617-4B14-AFA8-EEEDDF24837C}"/>
                </a:ext>
              </a:extLst>
            </p:cNvPr>
            <p:cNvSpPr/>
            <p:nvPr/>
          </p:nvSpPr>
          <p:spPr bwMode="auto">
            <a:xfrm flipH="1">
              <a:off x="2907352" y="995951"/>
              <a:ext cx="527025" cy="201921"/>
            </a:xfrm>
            <a:prstGeom prst="accentCallout1">
              <a:avLst>
                <a:gd name="adj1" fmla="val 48512"/>
                <a:gd name="adj2" fmla="val 200"/>
                <a:gd name="adj3" fmla="val 268837"/>
                <a:gd name="adj4" fmla="val -13961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8" name="Callout: Line with Accent Bar 7">
              <a:extLst>
                <a:ext uri="{FF2B5EF4-FFF2-40B4-BE49-F238E27FC236}">
                  <a16:creationId xmlns:a16="http://schemas.microsoft.com/office/drawing/2014/main" id="{78568C38-20AF-4298-9534-D0BCCC4C9BDF}"/>
                </a:ext>
              </a:extLst>
            </p:cNvPr>
            <p:cNvSpPr/>
            <p:nvPr/>
          </p:nvSpPr>
          <p:spPr bwMode="auto">
            <a:xfrm flipH="1">
              <a:off x="1213391" y="5543608"/>
              <a:ext cx="527025" cy="201921"/>
            </a:xfrm>
            <a:prstGeom prst="accentCallout1">
              <a:avLst>
                <a:gd name="adj1" fmla="val 48512"/>
                <a:gd name="adj2" fmla="val 200"/>
                <a:gd name="adj3" fmla="val 136734"/>
                <a:gd name="adj4" fmla="val -15715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latin typeface="+mn-lt"/>
                </a:rPr>
                <a:t>AMIC</a:t>
              </a:r>
            </a:p>
          </p:txBody>
        </p:sp>
        <p:sp>
          <p:nvSpPr>
            <p:cNvPr id="9" name="Callout: Line with Accent Bar 8">
              <a:extLst>
                <a:ext uri="{FF2B5EF4-FFF2-40B4-BE49-F238E27FC236}">
                  <a16:creationId xmlns:a16="http://schemas.microsoft.com/office/drawing/2014/main" id="{0306A303-56D0-4A0A-9A2F-705347A75B8F}"/>
                </a:ext>
              </a:extLst>
            </p:cNvPr>
            <p:cNvSpPr/>
            <p:nvPr/>
          </p:nvSpPr>
          <p:spPr bwMode="auto">
            <a:xfrm flipH="1">
              <a:off x="3065501" y="6234733"/>
              <a:ext cx="527025" cy="201921"/>
            </a:xfrm>
            <a:prstGeom prst="accentCallout1">
              <a:avLst>
                <a:gd name="adj1" fmla="val 48512"/>
                <a:gd name="adj2" fmla="val 200"/>
                <a:gd name="adj3" fmla="val -188737"/>
                <a:gd name="adj4" fmla="val -112140"/>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10" name="Callout: Line with Accent Bar 9">
              <a:extLst>
                <a:ext uri="{FF2B5EF4-FFF2-40B4-BE49-F238E27FC236}">
                  <a16:creationId xmlns:a16="http://schemas.microsoft.com/office/drawing/2014/main" id="{7F0CC399-106D-4FE4-92B4-26F12882C179}"/>
                </a:ext>
              </a:extLst>
            </p:cNvPr>
            <p:cNvSpPr/>
            <p:nvPr/>
          </p:nvSpPr>
          <p:spPr bwMode="auto">
            <a:xfrm>
              <a:off x="7309061" y="6248838"/>
              <a:ext cx="1402266" cy="201921"/>
            </a:xfrm>
            <a:prstGeom prst="accentCallout1">
              <a:avLst>
                <a:gd name="adj1" fmla="val 48512"/>
                <a:gd name="adj2" fmla="val 200"/>
                <a:gd name="adj3" fmla="val -329251"/>
                <a:gd name="adj4" fmla="val -5189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10” MIPI-DSI Display connector </a:t>
              </a:r>
            </a:p>
          </p:txBody>
        </p:sp>
        <p:sp>
          <p:nvSpPr>
            <p:cNvPr id="11" name="Callout: Line with Accent Bar 10">
              <a:extLst>
                <a:ext uri="{FF2B5EF4-FFF2-40B4-BE49-F238E27FC236}">
                  <a16:creationId xmlns:a16="http://schemas.microsoft.com/office/drawing/2014/main" id="{CC2F158E-3255-405D-99B0-0A16D4BF9CEA}"/>
                </a:ext>
              </a:extLst>
            </p:cNvPr>
            <p:cNvSpPr/>
            <p:nvPr/>
          </p:nvSpPr>
          <p:spPr bwMode="auto">
            <a:xfrm>
              <a:off x="10358407" y="2994375"/>
              <a:ext cx="1296144" cy="301622"/>
            </a:xfrm>
            <a:prstGeom prst="accentCallout1">
              <a:avLst>
                <a:gd name="adj1" fmla="val 48512"/>
                <a:gd name="adj2" fmla="val 200"/>
                <a:gd name="adj3" fmla="val 336410"/>
                <a:gd name="adj4" fmla="val -113165"/>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10” Display Touchpad connector </a:t>
              </a:r>
              <a:endParaRPr lang="en-US" sz="1000" dirty="0">
                <a:latin typeface="+mn-lt"/>
              </a:endParaRPr>
            </a:p>
          </p:txBody>
        </p:sp>
        <p:sp>
          <p:nvSpPr>
            <p:cNvPr id="12" name="Callout: Line with Accent Bar 11">
              <a:extLst>
                <a:ext uri="{FF2B5EF4-FFF2-40B4-BE49-F238E27FC236}">
                  <a16:creationId xmlns:a16="http://schemas.microsoft.com/office/drawing/2014/main" id="{4F18AEC1-D6FF-406C-893F-4591848BDA30}"/>
                </a:ext>
              </a:extLst>
            </p:cNvPr>
            <p:cNvSpPr/>
            <p:nvPr/>
          </p:nvSpPr>
          <p:spPr bwMode="auto">
            <a:xfrm>
              <a:off x="7910135" y="957766"/>
              <a:ext cx="1512168" cy="301622"/>
            </a:xfrm>
            <a:prstGeom prst="accentCallout1">
              <a:avLst>
                <a:gd name="adj1" fmla="val 48512"/>
                <a:gd name="adj2" fmla="val 200"/>
                <a:gd name="adj3" fmla="val 179057"/>
                <a:gd name="adj4" fmla="val -25079"/>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a:latin typeface="+mn-lt"/>
                </a:rPr>
                <a:t>Headphone Jack (DNI)</a:t>
              </a:r>
              <a:endParaRPr lang="en-US" sz="1000" dirty="0">
                <a:latin typeface="+mn-lt"/>
              </a:endParaRPr>
            </a:p>
          </p:txBody>
        </p:sp>
        <p:sp>
          <p:nvSpPr>
            <p:cNvPr id="13" name="Callout: Line with Accent Bar 12">
              <a:extLst>
                <a:ext uri="{FF2B5EF4-FFF2-40B4-BE49-F238E27FC236}">
                  <a16:creationId xmlns:a16="http://schemas.microsoft.com/office/drawing/2014/main" id="{606B7F89-7205-4F3D-B33D-4F4814393697}"/>
                </a:ext>
              </a:extLst>
            </p:cNvPr>
            <p:cNvSpPr/>
            <p:nvPr/>
          </p:nvSpPr>
          <p:spPr bwMode="auto">
            <a:xfrm>
              <a:off x="5461863" y="6184007"/>
              <a:ext cx="1683804" cy="201920"/>
            </a:xfrm>
            <a:prstGeom prst="accentCallout1">
              <a:avLst>
                <a:gd name="adj1" fmla="val 48512"/>
                <a:gd name="adj2" fmla="val 200"/>
                <a:gd name="adj3" fmla="val -1064947"/>
                <a:gd name="adj4" fmla="val -2989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latin typeface="+mn-lt"/>
                </a:rPr>
                <a:t>MIPI-DSI R-Pi Display connector </a:t>
              </a:r>
            </a:p>
          </p:txBody>
        </p:sp>
      </p:grpSp>
    </p:spTree>
    <p:extLst>
      <p:ext uri="{BB962C8B-B14F-4D97-AF65-F5344CB8AC3E}">
        <p14:creationId xmlns:p14="http://schemas.microsoft.com/office/powerpoint/2010/main" val="2932917552"/>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5103F017-6F41-F1BF-4DB2-D7CF457C8DC5}"/>
              </a:ext>
            </a:extLst>
          </p:cNvPr>
          <p:cNvGraphicFramePr>
            <a:graphicFrameLocks noGrp="1"/>
          </p:cNvGraphicFramePr>
          <p:nvPr>
            <p:extLst>
              <p:ext uri="{D42A27DB-BD31-4B8C-83A1-F6EECF244321}">
                <p14:modId xmlns:p14="http://schemas.microsoft.com/office/powerpoint/2010/main" val="2549580023"/>
              </p:ext>
            </p:extLst>
          </p:nvPr>
        </p:nvGraphicFramePr>
        <p:xfrm>
          <a:off x="335360" y="1268414"/>
          <a:ext cx="9613068" cy="4968898"/>
        </p:xfrm>
        <a:graphic>
          <a:graphicData uri="http://schemas.openxmlformats.org/drawingml/2006/table">
            <a:tbl>
              <a:tblPr firstRow="1" bandRow="1">
                <a:tableStyleId>{5940675A-B579-460E-94D1-54222C63F5DA}</a:tableStyleId>
              </a:tblPr>
              <a:tblGrid>
                <a:gridCol w="9613068">
                  <a:extLst>
                    <a:ext uri="{9D8B030D-6E8A-4147-A177-3AD203B41FA5}">
                      <a16:colId xmlns:a16="http://schemas.microsoft.com/office/drawing/2014/main" val="1034522424"/>
                    </a:ext>
                  </a:extLst>
                </a:gridCol>
              </a:tblGrid>
              <a:tr h="4968898">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A113D11-FD44-481E-B56B-0A08AA438C4A}"/>
              </a:ext>
            </a:extLst>
          </p:cNvPr>
          <p:cNvSpPr>
            <a:spLocks noGrp="1"/>
          </p:cNvSpPr>
          <p:nvPr>
            <p:ph type="title" hasCustomPrompt="1"/>
          </p:nvPr>
        </p:nvSpPr>
        <p:spPr/>
        <p:txBody>
          <a:bodyPr/>
          <a:lstStyle/>
          <a:p>
            <a:r>
              <a:rPr dirty="0"/>
              <a:t>PSOC™ Edge E84 MCU SOM </a:t>
            </a:r>
            <a:r>
              <a:rPr lang="en-IN" dirty="0"/>
              <a:t>: </a:t>
            </a:r>
            <a:r>
              <a:rPr dirty="0"/>
              <a:t>Top </a:t>
            </a:r>
            <a:r>
              <a:rPr lang="en-IN" dirty="0"/>
              <a:t>v</a:t>
            </a:r>
            <a:r>
              <a:rPr dirty="0" err="1"/>
              <a:t>iew</a:t>
            </a:r>
            <a:endParaRPr dirty="0"/>
          </a:p>
        </p:txBody>
      </p:sp>
      <p:grpSp>
        <p:nvGrpSpPr>
          <p:cNvPr id="2" name="Group 1">
            <a:extLst>
              <a:ext uri="{FF2B5EF4-FFF2-40B4-BE49-F238E27FC236}">
                <a16:creationId xmlns:a16="http://schemas.microsoft.com/office/drawing/2014/main" id="{24580D7F-C362-3FD7-827C-9C2F1BCB1CD1}"/>
              </a:ext>
            </a:extLst>
          </p:cNvPr>
          <p:cNvGrpSpPr/>
          <p:nvPr/>
        </p:nvGrpSpPr>
        <p:grpSpPr>
          <a:xfrm>
            <a:off x="458868" y="1455176"/>
            <a:ext cx="9613068" cy="4638120"/>
            <a:chOff x="1343472" y="1115124"/>
            <a:chExt cx="9267950" cy="4956251"/>
          </a:xfrm>
        </p:grpSpPr>
        <p:pic>
          <p:nvPicPr>
            <p:cNvPr id="4" name="Picture 3">
              <a:extLst>
                <a:ext uri="{FF2B5EF4-FFF2-40B4-BE49-F238E27FC236}">
                  <a16:creationId xmlns:a16="http://schemas.microsoft.com/office/drawing/2014/main" id="{E0474534-757F-42B3-A787-4C51F840C7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43472" y="1115124"/>
              <a:ext cx="8959856" cy="4956251"/>
            </a:xfrm>
            <a:prstGeom prst="rect">
              <a:avLst/>
            </a:prstGeom>
          </p:spPr>
        </p:pic>
        <p:sp>
          <p:nvSpPr>
            <p:cNvPr id="5" name="TextBox 4">
              <a:extLst>
                <a:ext uri="{FF2B5EF4-FFF2-40B4-BE49-F238E27FC236}">
                  <a16:creationId xmlns:a16="http://schemas.microsoft.com/office/drawing/2014/main" id="{80202991-840A-45B1-BF97-EA2198510850}"/>
                </a:ext>
              </a:extLst>
            </p:cNvPr>
            <p:cNvSpPr txBox="1"/>
            <p:nvPr/>
          </p:nvSpPr>
          <p:spPr bwMode="auto">
            <a:xfrm>
              <a:off x="5519936" y="5658864"/>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69.6mm</a:t>
              </a:r>
            </a:p>
          </p:txBody>
        </p:sp>
        <p:sp>
          <p:nvSpPr>
            <p:cNvPr id="7" name="TextBox 6">
              <a:extLst>
                <a:ext uri="{FF2B5EF4-FFF2-40B4-BE49-F238E27FC236}">
                  <a16:creationId xmlns:a16="http://schemas.microsoft.com/office/drawing/2014/main" id="{781390CD-687A-4E63-89EA-A52B9C78C149}"/>
                </a:ext>
              </a:extLst>
            </p:cNvPr>
            <p:cNvSpPr txBox="1"/>
            <p:nvPr/>
          </p:nvSpPr>
          <p:spPr bwMode="auto">
            <a:xfrm rot="16200000">
              <a:off x="1123601" y="3170049"/>
              <a:ext cx="93610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solidFill>
                    <a:schemeClr val="bg1"/>
                  </a:solidFill>
                  <a:latin typeface="+mn-lt"/>
                  <a:ea typeface="+mn-ea"/>
                  <a:cs typeface="+mn-cs"/>
                </a:rPr>
                <a:t>30mm</a:t>
              </a:r>
            </a:p>
          </p:txBody>
        </p:sp>
        <p:sp>
          <p:nvSpPr>
            <p:cNvPr id="9" name="Callout: Line with Accent Bar 8">
              <a:extLst>
                <a:ext uri="{FF2B5EF4-FFF2-40B4-BE49-F238E27FC236}">
                  <a16:creationId xmlns:a16="http://schemas.microsoft.com/office/drawing/2014/main" id="{5C057016-10D4-42B0-87CD-4EA964790532}"/>
                </a:ext>
              </a:extLst>
            </p:cNvPr>
            <p:cNvSpPr/>
            <p:nvPr/>
          </p:nvSpPr>
          <p:spPr bwMode="auto">
            <a:xfrm flipH="1">
              <a:off x="1343472" y="1513736"/>
              <a:ext cx="1327330" cy="201921"/>
            </a:xfrm>
            <a:prstGeom prst="accentCallout1">
              <a:avLst>
                <a:gd name="adj1" fmla="val 48512"/>
                <a:gd name="adj2" fmla="val 200"/>
                <a:gd name="adj3" fmla="val 653191"/>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PSOC™ Edge MCU (220-BGA) </a:t>
              </a:r>
            </a:p>
          </p:txBody>
        </p:sp>
        <p:sp>
          <p:nvSpPr>
            <p:cNvPr id="10" name="Callout: Line with Accent Bar 9">
              <a:extLst>
                <a:ext uri="{FF2B5EF4-FFF2-40B4-BE49-F238E27FC236}">
                  <a16:creationId xmlns:a16="http://schemas.microsoft.com/office/drawing/2014/main" id="{90212EAB-33C3-4766-B0FC-71043E093717}"/>
                </a:ext>
              </a:extLst>
            </p:cNvPr>
            <p:cNvSpPr/>
            <p:nvPr/>
          </p:nvSpPr>
          <p:spPr bwMode="auto">
            <a:xfrm flipH="1">
              <a:off x="2927648"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QSPI Flash</a:t>
              </a:r>
            </a:p>
          </p:txBody>
        </p:sp>
        <p:sp>
          <p:nvSpPr>
            <p:cNvPr id="12" name="Callout: Line with Accent Bar 11">
              <a:extLst>
                <a:ext uri="{FF2B5EF4-FFF2-40B4-BE49-F238E27FC236}">
                  <a16:creationId xmlns:a16="http://schemas.microsoft.com/office/drawing/2014/main" id="{A0E069CA-F22C-4CD9-AC7E-0D78BC1D2081}"/>
                </a:ext>
              </a:extLst>
            </p:cNvPr>
            <p:cNvSpPr/>
            <p:nvPr/>
          </p:nvSpPr>
          <p:spPr bwMode="auto">
            <a:xfrm>
              <a:off x="9244136" y="1412775"/>
              <a:ext cx="1367286" cy="201922"/>
            </a:xfrm>
            <a:prstGeom prst="accentCallout1">
              <a:avLst>
                <a:gd name="adj1" fmla="val 48512"/>
                <a:gd name="adj2" fmla="val 200"/>
                <a:gd name="adj3" fmla="val 412038"/>
                <a:gd name="adj4" fmla="val -38737"/>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eaLnBrk="0" hangingPunct="0"/>
              <a:r>
                <a:rPr lang="en-US" sz="1000" dirty="0">
                  <a:solidFill>
                    <a:schemeClr val="bg1"/>
                  </a:solidFill>
                  <a:latin typeface="+mn-lt"/>
                </a:rPr>
                <a:t>Antenna</a:t>
              </a:r>
            </a:p>
          </p:txBody>
        </p:sp>
        <p:sp>
          <p:nvSpPr>
            <p:cNvPr id="13" name="Callout: Line with Accent Bar 12">
              <a:extLst>
                <a:ext uri="{FF2B5EF4-FFF2-40B4-BE49-F238E27FC236}">
                  <a16:creationId xmlns:a16="http://schemas.microsoft.com/office/drawing/2014/main" id="{208448F2-E689-4217-8F4D-2069C21AAF34}"/>
                </a:ext>
              </a:extLst>
            </p:cNvPr>
            <p:cNvSpPr/>
            <p:nvPr/>
          </p:nvSpPr>
          <p:spPr bwMode="auto">
            <a:xfrm flipH="1">
              <a:off x="4726477" y="1409169"/>
              <a:ext cx="1327330" cy="201921"/>
            </a:xfrm>
            <a:prstGeom prst="accentCallout1">
              <a:avLst>
                <a:gd name="adj1" fmla="val 48512"/>
                <a:gd name="adj2" fmla="val 200"/>
                <a:gd name="adj3" fmla="val 614274"/>
                <a:gd name="adj4" fmla="val -50361"/>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rPr>
                <a:t>CYW55513 Radio Section</a:t>
              </a:r>
            </a:p>
          </p:txBody>
        </p:sp>
      </p:grpSp>
    </p:spTree>
    <p:extLst>
      <p:ext uri="{BB962C8B-B14F-4D97-AF65-F5344CB8AC3E}">
        <p14:creationId xmlns:p14="http://schemas.microsoft.com/office/powerpoint/2010/main" val="3085072512"/>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3916E11-DAB0-58AD-7E9E-682C16B229D4}"/>
              </a:ext>
            </a:extLst>
          </p:cNvPr>
          <p:cNvGraphicFramePr>
            <a:graphicFrameLocks noGrp="1"/>
          </p:cNvGraphicFramePr>
          <p:nvPr>
            <p:extLst>
              <p:ext uri="{D42A27DB-BD31-4B8C-83A1-F6EECF244321}">
                <p14:modId xmlns:p14="http://schemas.microsoft.com/office/powerpoint/2010/main" val="3080343220"/>
              </p:ext>
            </p:extLst>
          </p:nvPr>
        </p:nvGraphicFramePr>
        <p:xfrm>
          <a:off x="335360" y="1268414"/>
          <a:ext cx="10081120" cy="5040906"/>
        </p:xfrm>
        <a:graphic>
          <a:graphicData uri="http://schemas.openxmlformats.org/drawingml/2006/table">
            <a:tbl>
              <a:tblPr firstRow="1" bandRow="1">
                <a:tableStyleId>{5940675A-B579-460E-94D1-54222C63F5DA}</a:tableStyleId>
              </a:tblPr>
              <a:tblGrid>
                <a:gridCol w="10081120">
                  <a:extLst>
                    <a:ext uri="{9D8B030D-6E8A-4147-A177-3AD203B41FA5}">
                      <a16:colId xmlns:a16="http://schemas.microsoft.com/office/drawing/2014/main" val="1034522424"/>
                    </a:ext>
                  </a:extLst>
                </a:gridCol>
              </a:tblGrid>
              <a:tr h="504090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FA113D11-FD44-481E-B56B-0A08AA438C4A}"/>
              </a:ext>
            </a:extLst>
          </p:cNvPr>
          <p:cNvSpPr>
            <a:spLocks noGrp="1"/>
          </p:cNvSpPr>
          <p:nvPr>
            <p:ph type="title" hasCustomPrompt="1"/>
          </p:nvPr>
        </p:nvSpPr>
        <p:spPr/>
        <p:txBody>
          <a:bodyPr/>
          <a:lstStyle/>
          <a:p>
            <a:r>
              <a:rPr dirty="0"/>
              <a:t>PSOC™ Edge E84 MCU SOM</a:t>
            </a:r>
            <a:r>
              <a:rPr lang="en-IN" dirty="0"/>
              <a:t>:</a:t>
            </a:r>
            <a:r>
              <a:rPr dirty="0"/>
              <a:t> Bottom </a:t>
            </a:r>
            <a:r>
              <a:rPr lang="en-IN" dirty="0"/>
              <a:t>v</a:t>
            </a:r>
            <a:r>
              <a:rPr dirty="0" err="1"/>
              <a:t>iew</a:t>
            </a:r>
            <a:endParaRPr dirty="0"/>
          </a:p>
        </p:txBody>
      </p:sp>
      <p:grpSp>
        <p:nvGrpSpPr>
          <p:cNvPr id="2" name="Group 1">
            <a:extLst>
              <a:ext uri="{FF2B5EF4-FFF2-40B4-BE49-F238E27FC236}">
                <a16:creationId xmlns:a16="http://schemas.microsoft.com/office/drawing/2014/main" id="{1F5F5F35-338D-4EF4-E844-1ACD212EA37C}"/>
              </a:ext>
            </a:extLst>
          </p:cNvPr>
          <p:cNvGrpSpPr/>
          <p:nvPr/>
        </p:nvGrpSpPr>
        <p:grpSpPr>
          <a:xfrm>
            <a:off x="544160" y="1472212"/>
            <a:ext cx="9663520" cy="4621083"/>
            <a:chOff x="1437036" y="1268760"/>
            <a:chExt cx="9317928" cy="4977453"/>
          </a:xfrm>
        </p:grpSpPr>
        <p:pic>
          <p:nvPicPr>
            <p:cNvPr id="5" name="Picture 4">
              <a:extLst>
                <a:ext uri="{FF2B5EF4-FFF2-40B4-BE49-F238E27FC236}">
                  <a16:creationId xmlns:a16="http://schemas.microsoft.com/office/drawing/2014/main" id="{853C2B01-7118-441D-89D5-E46E6D95B5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7036" y="1268760"/>
              <a:ext cx="9317928" cy="4977453"/>
            </a:xfrm>
            <a:prstGeom prst="rect">
              <a:avLst/>
            </a:prstGeom>
          </p:spPr>
        </p:pic>
        <p:sp>
          <p:nvSpPr>
            <p:cNvPr id="6" name="Callout: Line with Accent Bar 5">
              <a:extLst>
                <a:ext uri="{FF2B5EF4-FFF2-40B4-BE49-F238E27FC236}">
                  <a16:creationId xmlns:a16="http://schemas.microsoft.com/office/drawing/2014/main" id="{1CEA1A2B-C8DA-4E7A-8B8A-790A5AD55951}"/>
                </a:ext>
              </a:extLst>
            </p:cNvPr>
            <p:cNvSpPr/>
            <p:nvPr/>
          </p:nvSpPr>
          <p:spPr bwMode="auto">
            <a:xfrm flipH="1">
              <a:off x="2711624" y="1549802"/>
              <a:ext cx="1327330" cy="201921"/>
            </a:xfrm>
            <a:prstGeom prst="accentCallout1">
              <a:avLst>
                <a:gd name="adj1" fmla="val 48512"/>
                <a:gd name="adj2" fmla="val 200"/>
                <a:gd name="adj3" fmla="val 1173262"/>
                <a:gd name="adj4" fmla="val -170918"/>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RAM</a:t>
              </a:r>
            </a:p>
          </p:txBody>
        </p:sp>
        <p:sp>
          <p:nvSpPr>
            <p:cNvPr id="7" name="Callout: Line with Accent Bar 6">
              <a:extLst>
                <a:ext uri="{FF2B5EF4-FFF2-40B4-BE49-F238E27FC236}">
                  <a16:creationId xmlns:a16="http://schemas.microsoft.com/office/drawing/2014/main" id="{2DC11996-DDDA-4DA9-94B4-7FDF7F7EA847}"/>
                </a:ext>
              </a:extLst>
            </p:cNvPr>
            <p:cNvSpPr/>
            <p:nvPr/>
          </p:nvSpPr>
          <p:spPr bwMode="auto">
            <a:xfrm flipH="1">
              <a:off x="4079776" y="1489879"/>
              <a:ext cx="1327330" cy="201921"/>
            </a:xfrm>
            <a:prstGeom prst="accentCallout1">
              <a:avLst>
                <a:gd name="adj1" fmla="val 48512"/>
                <a:gd name="adj2" fmla="val 200"/>
                <a:gd name="adj3" fmla="val 607199"/>
                <a:gd name="adj4" fmla="val -8534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dirty="0">
                  <a:solidFill>
                    <a:schemeClr val="bg1"/>
                  </a:solidFill>
                  <a:latin typeface="+mn-lt"/>
                </a:rPr>
                <a:t>Octal Flash</a:t>
              </a:r>
            </a:p>
          </p:txBody>
        </p:sp>
        <p:sp>
          <p:nvSpPr>
            <p:cNvPr id="8" name="Callout: Line with Accent Bar 7">
              <a:extLst>
                <a:ext uri="{FF2B5EF4-FFF2-40B4-BE49-F238E27FC236}">
                  <a16:creationId xmlns:a16="http://schemas.microsoft.com/office/drawing/2014/main" id="{D62E1AD9-34B9-4FCC-83F6-FDF0BF43FCCA}"/>
                </a:ext>
              </a:extLst>
            </p:cNvPr>
            <p:cNvSpPr/>
            <p:nvPr/>
          </p:nvSpPr>
          <p:spPr bwMode="auto">
            <a:xfrm flipH="1">
              <a:off x="6240016" y="1489879"/>
              <a:ext cx="1809830" cy="203033"/>
            </a:xfrm>
            <a:prstGeom prst="accentCallout1">
              <a:avLst>
                <a:gd name="adj1" fmla="val 48512"/>
                <a:gd name="adj2" fmla="val 200"/>
                <a:gd name="adj3" fmla="val 1413838"/>
                <a:gd name="adj4" fmla="val -72114"/>
              </a:avLst>
            </a:prstGeom>
            <a:noFill/>
            <a:ln w="12700" cap="flat" cmpd="sng" algn="ctr">
              <a:solidFill>
                <a:schemeClr val="accent5"/>
              </a:solidFill>
              <a:prstDash val="solid"/>
              <a:miter lim="800000"/>
              <a:headEnd type="none" w="med" len="med"/>
              <a:tailEnd type="none" w="med" len="med"/>
            </a:ln>
          </p:spPr>
          <p:txBody>
            <a:bodyPr wrap="square" lIns="72000" tIns="72000" rIns="72000" bIns="72000" rtlCol="0" anchor="ctr"/>
            <a:lstStyle/>
            <a:p>
              <a:pPr algn="r" eaLnBrk="0" hangingPunct="0"/>
              <a:r>
                <a:rPr lang="en-US" sz="1000">
                  <a:solidFill>
                    <a:schemeClr val="bg1"/>
                  </a:solidFill>
                  <a:latin typeface="+mn-lt"/>
                </a:rPr>
                <a:t>CAPSENSE™ </a:t>
              </a:r>
              <a:r>
                <a:rPr lang="en-US" sz="1000" dirty="0">
                  <a:solidFill>
                    <a:schemeClr val="bg1"/>
                  </a:solidFill>
                  <a:latin typeface="+mn-lt"/>
                </a:rPr>
                <a:t>Co-Processor</a:t>
              </a:r>
            </a:p>
          </p:txBody>
        </p:sp>
      </p:grpSp>
    </p:spTree>
    <p:extLst>
      <p:ext uri="{BB962C8B-B14F-4D97-AF65-F5344CB8AC3E}">
        <p14:creationId xmlns:p14="http://schemas.microsoft.com/office/powerpoint/2010/main" val="1808043221"/>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A7DB01-DE02-465E-8957-66125CBFA8FD}"/>
              </a:ext>
            </a:extLst>
          </p:cNvPr>
          <p:cNvSpPr>
            <a:spLocks noGrp="1"/>
          </p:cNvSpPr>
          <p:nvPr>
            <p:ph sz="quarter" idx="13" hasCustomPrompt="1"/>
          </p:nvPr>
        </p:nvSpPr>
        <p:spPr/>
        <p:txBody>
          <a:bodyPr/>
          <a:lstStyle/>
          <a:p>
            <a:pPr lvl="1">
              <a:lnSpc>
                <a:spcPct val="150000"/>
              </a:lnSpc>
            </a:pPr>
            <a:r>
              <a:rPr dirty="0"/>
              <a:t>Programming and Debugging PSOC™ Edge E84 MC</a:t>
            </a:r>
            <a:r>
              <a:rPr lang="en-US" dirty="0"/>
              <a:t>U</a:t>
            </a:r>
            <a:endParaRPr lang="en-US" sz="2800" b="1" dirty="0"/>
          </a:p>
          <a:p>
            <a:pPr lvl="2">
              <a:lnSpc>
                <a:spcPct val="150000"/>
              </a:lnSpc>
              <a:buFont typeface="Arial" panose="020B0604020202020204" pitchFamily="34" charset="0"/>
              <a:buChar char="‒"/>
            </a:pPr>
            <a:r>
              <a:rPr dirty="0"/>
              <a:t>Comes with a KitProg3 onboard programmer and debugge</a:t>
            </a:r>
            <a:r>
              <a:rPr lang="en-US" dirty="0"/>
              <a:t>r</a:t>
            </a:r>
            <a:endParaRPr dirty="0"/>
          </a:p>
          <a:p>
            <a:pPr lvl="2">
              <a:lnSpc>
                <a:spcPct val="150000"/>
              </a:lnSpc>
            </a:pPr>
            <a:r>
              <a:rPr dirty="0"/>
              <a:t>Supports</a:t>
            </a:r>
            <a:r>
              <a:rPr lang="en-IN" dirty="0"/>
              <a:t> Cortex Microcontroller Software Interface Standard – Debug Access Port</a:t>
            </a:r>
            <a:r>
              <a:rPr dirty="0"/>
              <a:t> CMSIS-DA</a:t>
            </a:r>
            <a:r>
              <a:rPr lang="en-US" dirty="0"/>
              <a:t>P</a:t>
            </a:r>
            <a:endParaRPr dirty="0"/>
          </a:p>
          <a:p>
            <a:pPr lvl="2">
              <a:lnSpc>
                <a:spcPct val="150000"/>
              </a:lnSpc>
              <a:buFont typeface="Arial" panose="020B0604020202020204" pitchFamily="34" charset="0"/>
              <a:buChar char="‒"/>
            </a:pPr>
            <a:r>
              <a:rPr dirty="0"/>
              <a:t>Supports</a:t>
            </a:r>
            <a:r>
              <a:rPr lang="en-IN" dirty="0"/>
              <a:t> Open On-Chip Debugger</a:t>
            </a:r>
            <a:r>
              <a:rPr dirty="0"/>
              <a:t> </a:t>
            </a:r>
            <a:r>
              <a:rPr lang="en-IN" dirty="0"/>
              <a:t>(</a:t>
            </a:r>
            <a:r>
              <a:rPr dirty="0" err="1"/>
              <a:t>OpenOCD</a:t>
            </a:r>
            <a:r>
              <a:rPr lang="en-IN" dirty="0"/>
              <a:t>)</a:t>
            </a:r>
            <a:r>
              <a:rPr dirty="0"/>
              <a:t> using a GDB server and the J-Link debug prob</a:t>
            </a:r>
            <a:r>
              <a:rPr lang="en-US" dirty="0"/>
              <a:t>e</a:t>
            </a:r>
            <a:endParaRPr dirty="0"/>
          </a:p>
          <a:p>
            <a:pPr lvl="2">
              <a:lnSpc>
                <a:spcPct val="150000"/>
              </a:lnSpc>
              <a:buFont typeface="Arial" panose="020B0604020202020204" pitchFamily="34" charset="0"/>
              <a:buChar char="‒"/>
            </a:pPr>
            <a:r>
              <a:rPr dirty="0"/>
              <a:t>Debug environment is IDE</a:t>
            </a:r>
            <a:r>
              <a:rPr lang="en-IN" dirty="0"/>
              <a:t>-</a:t>
            </a:r>
            <a:r>
              <a:rPr dirty="0"/>
              <a:t>specific – </a:t>
            </a:r>
            <a:r>
              <a:rPr lang="en-IN" dirty="0"/>
              <a:t>see</a:t>
            </a:r>
            <a:r>
              <a:rPr dirty="0"/>
              <a:t> t</a:t>
            </a:r>
            <a:r>
              <a:rPr lang="en-IN" dirty="0"/>
              <a:t>he</a:t>
            </a:r>
            <a:r>
              <a:rPr dirty="0">
                <a:hlinkClick r:id="rId3" action="ppaction://hlinksldjump"/>
              </a:rPr>
              <a:t> </a:t>
            </a:r>
            <a:r>
              <a:rPr lang="en-US" dirty="0" err="1">
                <a:hlinkClick r:id="rId3" action="ppaction://hlinksldjump"/>
              </a:rPr>
              <a:t>ModusToolbox</a:t>
            </a:r>
            <a:r>
              <a:rPr lang="en-US" dirty="0">
                <a:hlinkClick r:id="rId3" action="ppaction://hlinksldjump"/>
              </a:rPr>
              <a:t>™</a:t>
            </a:r>
            <a:r>
              <a:rPr dirty="0">
                <a:hlinkClick r:id="rId3" action="ppaction://hlinksldjump"/>
              </a:rPr>
              <a:t> documentation</a:t>
            </a:r>
            <a:endParaRPr dirty="0"/>
          </a:p>
          <a:p>
            <a:endParaRPr lang="en-US" dirty="0"/>
          </a:p>
        </p:txBody>
      </p:sp>
      <p:sp>
        <p:nvSpPr>
          <p:cNvPr id="3" name="Title 2">
            <a:extLst>
              <a:ext uri="{FF2B5EF4-FFF2-40B4-BE49-F238E27FC236}">
                <a16:creationId xmlns:a16="http://schemas.microsoft.com/office/drawing/2014/main" id="{435961A2-3561-413D-8657-C19CFDF581CC}"/>
              </a:ext>
            </a:extLst>
          </p:cNvPr>
          <p:cNvSpPr>
            <a:spLocks noGrp="1"/>
          </p:cNvSpPr>
          <p:nvPr>
            <p:ph type="title" hasCustomPrompt="1"/>
          </p:nvPr>
        </p:nvSpPr>
        <p:spPr/>
        <p:txBody>
          <a:bodyPr/>
          <a:lstStyle/>
          <a:p>
            <a:r>
              <a:rPr dirty="0"/>
              <a:t>Programming/debugging</a:t>
            </a:r>
          </a:p>
        </p:txBody>
      </p:sp>
    </p:spTree>
    <p:extLst>
      <p:ext uri="{BB962C8B-B14F-4D97-AF65-F5344CB8AC3E}">
        <p14:creationId xmlns:p14="http://schemas.microsoft.com/office/powerpoint/2010/main" val="4081343188"/>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DF7EEBEA-008C-1A17-9890-98957D4ECB87}"/>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0C05B0F0-FAAB-A9DB-7BCF-8E785A785534}"/>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85A8D17A-E875-8AC6-15E9-BF9E14B8C0F4}"/>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BF6D41D8-B60F-DBA1-3F56-C84611925131}"/>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39EE746C-B2D4-4C49-F02D-8969C3AACA6E}"/>
                </a:ext>
              </a:extLst>
            </p:cNvPr>
            <p:cNvSpPr>
              <a:spLocks/>
            </p:cNvSpPr>
            <p:nvPr>
              <p:custDataLst>
                <p:tags r:id="rId6"/>
              </p:custDataLst>
            </p:nvPr>
          </p:nvSpPr>
          <p:spPr>
            <a:xfrm>
              <a:off x="1235075" y="1844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1: Hello World + Blinky</a:t>
              </a:r>
              <a:endParaRPr lang="de-DE" sz="1800" b="1" dirty="0">
                <a:solidFill>
                  <a:schemeClr val="tx2"/>
                </a:solidFill>
                <a:latin typeface="+mn-lt"/>
              </a:endParaRPr>
            </a:p>
          </p:txBody>
        </p:sp>
        <p:sp>
          <p:nvSpPr>
            <p:cNvPr id="9" name="MIO_AGENDA_ELEMENT_ELEMENTNUMBER_2">
              <a:hlinkClick r:id="rId15" action="ppaction://hlinksldjump"/>
              <a:extLst>
                <a:ext uri="{FF2B5EF4-FFF2-40B4-BE49-F238E27FC236}">
                  <a16:creationId xmlns:a16="http://schemas.microsoft.com/office/drawing/2014/main" id="{A9387423-371F-5409-8696-8D6833685A20}"/>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11E0F0F3-B8F8-5995-1E91-3E37C777DDA8}"/>
                </a:ext>
              </a:extLst>
            </p:cNvPr>
            <p:cNvSpPr txBox="1">
              <a:spLocks/>
            </p:cNvSpPr>
            <p:nvPr>
              <p:custDataLst>
                <p:tags r:id="rId8"/>
              </p:custDataLst>
            </p:nvPr>
          </p:nvSpPr>
          <p:spPr>
            <a:xfrm>
              <a:off x="11026666" y="1844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46</a:t>
              </a:r>
              <a:endParaRPr lang="de-DE" sz="1800" b="1" dirty="0">
                <a:solidFill>
                  <a:schemeClr val="tx2"/>
                </a:solidFill>
                <a:latin typeface="+mn-lt"/>
                <a:cs typeface="Segoe UI Semibold" panose="020B0702040204020203" pitchFamily="34" charset="0"/>
              </a:endParaRPr>
            </a:p>
          </p:txBody>
        </p:sp>
        <p:sp>
          <p:nvSpPr>
            <p:cNvPr id="11" name="MIO_AGENDA_ELEMENT_TITEL_3">
              <a:hlinkClick r:id="rId16" action="ppaction://hlinksldjump"/>
              <a:extLst>
                <a:ext uri="{FF2B5EF4-FFF2-40B4-BE49-F238E27FC236}">
                  <a16:creationId xmlns:a16="http://schemas.microsoft.com/office/drawing/2014/main" id="{0976AD9B-4158-D671-DFF0-8BEEEBBD59B1}"/>
                </a:ext>
              </a:extLst>
            </p:cNvPr>
            <p:cNvSpPr>
              <a:spLocks/>
            </p:cNvSpPr>
            <p:nvPr>
              <p:custDataLst>
                <p:tags r:id="rId9"/>
              </p:custDataLst>
            </p:nvPr>
          </p:nvSpPr>
          <p:spPr>
            <a:xfrm>
              <a:off x="1235076" y="2420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2: IPC Semaphores using PDL API</a:t>
              </a:r>
              <a:endParaRPr lang="de-DE" sz="1800" dirty="0">
                <a:latin typeface="+mn-lt"/>
              </a:endParaRPr>
            </a:p>
          </p:txBody>
        </p:sp>
        <p:sp>
          <p:nvSpPr>
            <p:cNvPr id="12" name="MIO_AGENDA_ELEMENT_ELEMENTNUMBER_3">
              <a:hlinkClick r:id="rId16" action="ppaction://hlinksldjump"/>
              <a:extLst>
                <a:ext uri="{FF2B5EF4-FFF2-40B4-BE49-F238E27FC236}">
                  <a16:creationId xmlns:a16="http://schemas.microsoft.com/office/drawing/2014/main" id="{87DDBEF2-B6AD-0638-2A9E-00634EF23448}"/>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66FF7BA8-4AA7-6B19-2AFE-15BA1A231879}"/>
                </a:ext>
              </a:extLst>
            </p:cNvPr>
            <p:cNvSpPr txBox="1">
              <a:spLocks/>
            </p:cNvSpPr>
            <p:nvPr>
              <p:custDataLst>
                <p:tags r:id="rId11"/>
              </p:custDataLst>
            </p:nvPr>
          </p:nvSpPr>
          <p:spPr>
            <a:xfrm>
              <a:off x="11026666" y="2420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50</a:t>
              </a:r>
              <a:endParaRPr lang="de-DE" sz="1800" dirty="0">
                <a:latin typeface="+mn-lt"/>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3157943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623BFDC-03D4-4502-8B07-CD0159C6670F}"/>
              </a:ext>
            </a:extLst>
          </p:cNvPr>
          <p:cNvSpPr>
            <a:spLocks noGrp="1"/>
          </p:cNvSpPr>
          <p:nvPr>
            <p:ph type="title" hasCustomPrompt="1"/>
          </p:nvPr>
        </p:nvSpPr>
        <p:spPr>
          <a:xfrm>
            <a:off x="335360" y="2134800"/>
            <a:ext cx="8137525" cy="683369"/>
          </a:xfrm>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 1: Hello world + Blinky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B672CA3B-6CAB-4F97-B8A5-88FFA3230B9E}"/>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run a basic Hello World example</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Understanding the structure of PSOC™ Edge projects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rename pins using Device Configurator</a:t>
            </a:r>
          </a:p>
        </p:txBody>
      </p:sp>
    </p:spTree>
    <p:extLst>
      <p:ext uri="{BB962C8B-B14F-4D97-AF65-F5344CB8AC3E}">
        <p14:creationId xmlns:p14="http://schemas.microsoft.com/office/powerpoint/2010/main" val="2087981917"/>
      </p:ext>
    </p:extLst>
  </p:cSld>
  <p:clrMapOvr>
    <a:masterClrMapping/>
  </p:clrMapOvr>
  <p:transition spd="slow"/>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6CE46822-132A-84EE-2911-785DEAEDC9E9}"/>
              </a:ext>
            </a:extLst>
          </p:cNvPr>
          <p:cNvGraphicFramePr>
            <a:graphicFrameLocks noGrp="1"/>
          </p:cNvGraphicFramePr>
          <p:nvPr>
            <p:extLst>
              <p:ext uri="{D42A27DB-BD31-4B8C-83A1-F6EECF244321}">
                <p14:modId xmlns:p14="http://schemas.microsoft.com/office/powerpoint/2010/main" val="3870919823"/>
              </p:ext>
            </p:extLst>
          </p:nvPr>
        </p:nvGraphicFramePr>
        <p:xfrm>
          <a:off x="3431704" y="1273420"/>
          <a:ext cx="4537064" cy="4878156"/>
        </p:xfrm>
        <a:graphic>
          <a:graphicData uri="http://schemas.openxmlformats.org/drawingml/2006/table">
            <a:tbl>
              <a:tblPr firstRow="1" bandRow="1">
                <a:tableStyleId>{5940675A-B579-460E-94D1-54222C63F5DA}</a:tableStyleId>
              </a:tblPr>
              <a:tblGrid>
                <a:gridCol w="4537064">
                  <a:extLst>
                    <a:ext uri="{9D8B030D-6E8A-4147-A177-3AD203B41FA5}">
                      <a16:colId xmlns:a16="http://schemas.microsoft.com/office/drawing/2014/main" val="1034522424"/>
                    </a:ext>
                  </a:extLst>
                </a:gridCol>
              </a:tblGrid>
              <a:tr h="487815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hasCustomPrompt="1"/>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D7EB4136-58DF-4310-AAD1-0CD9303AE91D}"/>
              </a:ext>
            </a:extLst>
          </p:cNvPr>
          <p:cNvSpPr>
            <a:spLocks noGrp="1"/>
          </p:cNvSpPr>
          <p:nvPr>
            <p:ph type="title" hasCustomPrompt="1"/>
          </p:nvPr>
        </p:nvSpPr>
        <p:spPr/>
        <p:txBody>
          <a:bodyPr/>
          <a:lstStyle/>
          <a:p>
            <a:r>
              <a:t>Description of Hello World + Blinky example </a:t>
            </a:r>
          </a:p>
        </p:txBody>
      </p:sp>
      <p:pic>
        <p:nvPicPr>
          <p:cNvPr id="8" name="Picture 7">
            <a:extLst>
              <a:ext uri="{FF2B5EF4-FFF2-40B4-BE49-F238E27FC236}">
                <a16:creationId xmlns:a16="http://schemas.microsoft.com/office/drawing/2014/main" id="{6D03C31D-F10E-45F2-8887-95D56D50F3FE}"/>
              </a:ext>
            </a:extLst>
          </p:cNvPr>
          <p:cNvPicPr>
            <a:picLocks noChangeAspect="1"/>
          </p:cNvPicPr>
          <p:nvPr/>
        </p:nvPicPr>
        <p:blipFill>
          <a:blip r:embed="rId3"/>
          <a:stretch>
            <a:fillRect/>
          </a:stretch>
        </p:blipFill>
        <p:spPr>
          <a:xfrm>
            <a:off x="4008048" y="1355721"/>
            <a:ext cx="3384376" cy="4713553"/>
          </a:xfrm>
          <a:prstGeom prst="rect">
            <a:avLst/>
          </a:prstGeom>
        </p:spPr>
      </p:pic>
    </p:spTree>
    <p:extLst>
      <p:ext uri="{BB962C8B-B14F-4D97-AF65-F5344CB8AC3E}">
        <p14:creationId xmlns:p14="http://schemas.microsoft.com/office/powerpoint/2010/main" val="777369132"/>
      </p:ext>
    </p:extLst>
  </p:cSld>
  <p:clrMapOvr>
    <a:masterClrMapping/>
  </p:clrMapOvr>
  <p:transition spd="slow"/>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F31B0-7561-80D8-2F24-D4F261DDDB14}"/>
            </a:ext>
          </a:extLst>
        </p:cNvPr>
        <p:cNvGrpSpPr/>
        <p:nvPr/>
      </p:nvGrpSpPr>
      <p:grpSpPr>
        <a:xfrm>
          <a:off x="0" y="0"/>
          <a:ext cx="0" cy="0"/>
          <a:chOff x="0" y="0"/>
          <a:chExt cx="0" cy="0"/>
        </a:xfrm>
      </p:grpSpPr>
      <p:graphicFrame>
        <p:nvGraphicFramePr>
          <p:cNvPr id="7" name="Table 6">
            <a:extLst>
              <a:ext uri="{FF2B5EF4-FFF2-40B4-BE49-F238E27FC236}">
                <a16:creationId xmlns:a16="http://schemas.microsoft.com/office/drawing/2014/main" id="{877816BF-7F3B-7197-4A76-265FA950D93A}"/>
              </a:ext>
            </a:extLst>
          </p:cNvPr>
          <p:cNvGraphicFramePr>
            <a:graphicFrameLocks noGrp="1"/>
          </p:cNvGraphicFramePr>
          <p:nvPr>
            <p:extLst>
              <p:ext uri="{D42A27DB-BD31-4B8C-83A1-F6EECF244321}">
                <p14:modId xmlns:p14="http://schemas.microsoft.com/office/powerpoint/2010/main" val="2720655793"/>
              </p:ext>
            </p:extLst>
          </p:nvPr>
        </p:nvGraphicFramePr>
        <p:xfrm>
          <a:off x="6094800" y="1268414"/>
          <a:ext cx="5400597" cy="4680866"/>
        </p:xfrm>
        <a:graphic>
          <a:graphicData uri="http://schemas.openxmlformats.org/drawingml/2006/table">
            <a:tbl>
              <a:tblPr firstRow="1" bandRow="1">
                <a:tableStyleId>{5940675A-B579-460E-94D1-54222C63F5DA}</a:tableStyleId>
              </a:tblPr>
              <a:tblGrid>
                <a:gridCol w="5400597">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graphicFrame>
        <p:nvGraphicFramePr>
          <p:cNvPr id="6" name="Table 5">
            <a:extLst>
              <a:ext uri="{FF2B5EF4-FFF2-40B4-BE49-F238E27FC236}">
                <a16:creationId xmlns:a16="http://schemas.microsoft.com/office/drawing/2014/main" id="{58C73374-55BA-38C2-224B-1CCBD49D551C}"/>
              </a:ext>
            </a:extLst>
          </p:cNvPr>
          <p:cNvGraphicFramePr>
            <a:graphicFrameLocks noGrp="1"/>
          </p:cNvGraphicFramePr>
          <p:nvPr>
            <p:extLst>
              <p:ext uri="{D42A27DB-BD31-4B8C-83A1-F6EECF244321}">
                <p14:modId xmlns:p14="http://schemas.microsoft.com/office/powerpoint/2010/main" val="1906498729"/>
              </p:ext>
            </p:extLst>
          </p:nvPr>
        </p:nvGraphicFramePr>
        <p:xfrm>
          <a:off x="335363" y="1268414"/>
          <a:ext cx="5400597" cy="4680866"/>
        </p:xfrm>
        <a:graphic>
          <a:graphicData uri="http://schemas.openxmlformats.org/drawingml/2006/table">
            <a:tbl>
              <a:tblPr firstRow="1" bandRow="1">
                <a:tableStyleId>{5940675A-B579-460E-94D1-54222C63F5DA}</a:tableStyleId>
              </a:tblPr>
              <a:tblGrid>
                <a:gridCol w="5400597">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2" name="Content Placeholder 1">
            <a:extLst>
              <a:ext uri="{FF2B5EF4-FFF2-40B4-BE49-F238E27FC236}">
                <a16:creationId xmlns:a16="http://schemas.microsoft.com/office/drawing/2014/main" id="{61885A19-BE6A-C4AF-B510-6ECA0D94DB8A}"/>
              </a:ext>
            </a:extLst>
          </p:cNvPr>
          <p:cNvSpPr>
            <a:spLocks noGrp="1"/>
          </p:cNvSpPr>
          <p:nvPr>
            <p:ph sz="quarter" idx="13" hasCustomPrompt="1"/>
          </p:nvPr>
        </p:nvSpPr>
        <p:spPr/>
        <p:txBody>
          <a:bodyPr/>
          <a:lstStyle/>
          <a:p>
            <a:pPr>
              <a:buNone/>
            </a:pPr>
            <a:r>
              <a:rPr dirty="0">
                <a:solidFill>
                  <a:srgbClr val="1D1D1D"/>
                </a:solidFill>
              </a:rPr>
              <a:t> </a:t>
            </a:r>
          </a:p>
          <a:p>
            <a:pPr>
              <a:buNone/>
            </a:pPr>
            <a:endParaRPr lang="en-US" sz="2400" b="1" dirty="0">
              <a:solidFill>
                <a:srgbClr val="1D1D1D"/>
              </a:solidFill>
            </a:endParaRPr>
          </a:p>
        </p:txBody>
      </p:sp>
      <p:sp>
        <p:nvSpPr>
          <p:cNvPr id="3" name="Title 2">
            <a:extLst>
              <a:ext uri="{FF2B5EF4-FFF2-40B4-BE49-F238E27FC236}">
                <a16:creationId xmlns:a16="http://schemas.microsoft.com/office/drawing/2014/main" id="{B1CF05A7-5425-AD4A-883D-E94D419D8FF1}"/>
              </a:ext>
            </a:extLst>
          </p:cNvPr>
          <p:cNvSpPr>
            <a:spLocks noGrp="1"/>
          </p:cNvSpPr>
          <p:nvPr>
            <p:ph type="title" hasCustomPrompt="1"/>
          </p:nvPr>
        </p:nvSpPr>
        <p:spPr/>
        <p:txBody>
          <a:bodyPr/>
          <a:lstStyle/>
          <a:p>
            <a:r>
              <a:rPr lang="en-US" dirty="0"/>
              <a:t>Using Device Configurator</a:t>
            </a:r>
            <a:endParaRPr dirty="0"/>
          </a:p>
        </p:txBody>
      </p:sp>
      <p:pic>
        <p:nvPicPr>
          <p:cNvPr id="4" name="Picture 3" descr="A screenshot of a computer program&#10;&#10;AI-generated content may be incorrect.">
            <a:extLst>
              <a:ext uri="{FF2B5EF4-FFF2-40B4-BE49-F238E27FC236}">
                <a16:creationId xmlns:a16="http://schemas.microsoft.com/office/drawing/2014/main" id="{3011B46B-BFD5-805E-0F6F-961C4EB45C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5381" y="1390817"/>
            <a:ext cx="5040559" cy="4436059"/>
          </a:xfrm>
          <a:prstGeom prst="rect">
            <a:avLst/>
          </a:prstGeom>
        </p:spPr>
      </p:pic>
      <p:pic>
        <p:nvPicPr>
          <p:cNvPr id="5" name="Picture 4" descr="A screenshot of a computer program&#10;&#10;AI-generated content may be incorrect.">
            <a:extLst>
              <a:ext uri="{FF2B5EF4-FFF2-40B4-BE49-F238E27FC236}">
                <a16:creationId xmlns:a16="http://schemas.microsoft.com/office/drawing/2014/main" id="{D093CF74-2067-CD24-F984-5130317A4D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97011" y="1598310"/>
            <a:ext cx="5196173" cy="4021072"/>
          </a:xfrm>
          <a:prstGeom prst="rect">
            <a:avLst/>
          </a:prstGeom>
        </p:spPr>
      </p:pic>
    </p:spTree>
    <p:extLst>
      <p:ext uri="{BB962C8B-B14F-4D97-AF65-F5344CB8AC3E}">
        <p14:creationId xmlns:p14="http://schemas.microsoft.com/office/powerpoint/2010/main" val="3940096462"/>
      </p:ext>
    </p:extLst>
  </p:cSld>
  <p:clrMapOvr>
    <a:masterClrMapping/>
  </p:clrMapOvr>
  <p:transition spd="slow"/>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77963CBC-AA7A-14D6-FB90-50AF0CDDE6FC}"/>
              </a:ext>
            </a:extLst>
          </p:cNvPr>
          <p:cNvGrpSpPr/>
          <p:nvPr>
            <p:custDataLst>
              <p:tags r:id="rId1"/>
            </p:custDataLst>
          </p:nvPr>
        </p:nvGrpSpPr>
        <p:grpSpPr>
          <a:xfrm>
            <a:off x="334434" y="1268413"/>
            <a:ext cx="11521017" cy="1655999"/>
            <a:chOff x="334434" y="1268413"/>
            <a:chExt cx="11521017" cy="1655999"/>
          </a:xfrm>
        </p:grpSpPr>
        <p:sp>
          <p:nvSpPr>
            <p:cNvPr id="5" name="MIO_AGENDA_ELEMENT_TITEL_1">
              <a:hlinkClick r:id="rId14" action="ppaction://hlinksldjump"/>
              <a:extLst>
                <a:ext uri="{FF2B5EF4-FFF2-40B4-BE49-F238E27FC236}">
                  <a16:creationId xmlns:a16="http://schemas.microsoft.com/office/drawing/2014/main" id="{9221975E-429F-42D8-B761-EAD76D97A1E7}"/>
                </a:ext>
              </a:extLst>
            </p:cNvPr>
            <p:cNvSpPr>
              <a:spLocks/>
            </p:cNvSpPr>
            <p:nvPr>
              <p:custDataLst>
                <p:tags r:id="rId3"/>
              </p:custDataLst>
            </p:nvPr>
          </p:nvSpPr>
          <p:spPr>
            <a:xfrm>
              <a:off x="1235076" y="1268413"/>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Development ecosystem for PSOC™ Edge E84</a:t>
              </a:r>
              <a:endParaRPr lang="de-DE" sz="1800" dirty="0">
                <a:latin typeface="+mn-lt"/>
              </a:endParaRPr>
            </a:p>
          </p:txBody>
        </p:sp>
        <p:sp>
          <p:nvSpPr>
            <p:cNvPr id="6" name="MIO_AGENDA_ELEMENT_ELEMENTNUMBER_1">
              <a:hlinkClick r:id="rId14" action="ppaction://hlinksldjump"/>
              <a:extLst>
                <a:ext uri="{FF2B5EF4-FFF2-40B4-BE49-F238E27FC236}">
                  <a16:creationId xmlns:a16="http://schemas.microsoft.com/office/drawing/2014/main" id="{82F20012-F72F-C3C1-A4E7-2DFA35FDB1F4}"/>
                </a:ext>
              </a:extLst>
            </p:cNvPr>
            <p:cNvSpPr>
              <a:spLocks noChangeAspect="1"/>
            </p:cNvSpPr>
            <p:nvPr>
              <p:custDataLst>
                <p:tags r:id="rId4"/>
              </p:custDataLst>
            </p:nvPr>
          </p:nvSpPr>
          <p:spPr>
            <a:xfrm>
              <a:off x="334434" y="1268413"/>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1</a:t>
              </a:r>
              <a:endParaRPr lang="de-DE" b="1" dirty="0">
                <a:solidFill>
                  <a:schemeClr val="bg1"/>
                </a:solidFill>
                <a:latin typeface="+mn-lt"/>
                <a:cs typeface="Arial" panose="020B0604020202020204" pitchFamily="34" charset="0"/>
              </a:endParaRPr>
            </a:p>
          </p:txBody>
        </p:sp>
        <p:sp>
          <p:nvSpPr>
            <p:cNvPr id="7" name="MIO_AGENDA_ELEMENT_PAGENUMBER_1">
              <a:hlinkClick r:id="rId14" action="ppaction://hlinksldjump"/>
              <a:extLst>
                <a:ext uri="{FF2B5EF4-FFF2-40B4-BE49-F238E27FC236}">
                  <a16:creationId xmlns:a16="http://schemas.microsoft.com/office/drawing/2014/main" id="{DC7EA502-F26F-67BF-6A69-EE3D05B9471C}"/>
                </a:ext>
              </a:extLst>
            </p:cNvPr>
            <p:cNvSpPr txBox="1">
              <a:spLocks/>
            </p:cNvSpPr>
            <p:nvPr>
              <p:custDataLst>
                <p:tags r:id="rId5"/>
              </p:custDataLst>
            </p:nvPr>
          </p:nvSpPr>
          <p:spPr>
            <a:xfrm>
              <a:off x="11026666" y="1268413"/>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3</a:t>
              </a:r>
              <a:endParaRPr lang="de-DE" sz="1800" dirty="0">
                <a:latin typeface="+mn-lt"/>
              </a:endParaRPr>
            </a:p>
          </p:txBody>
        </p:sp>
        <p:sp>
          <p:nvSpPr>
            <p:cNvPr id="8" name="MIO_AGENDA_ELEMENT_TITEL_2">
              <a:hlinkClick r:id="rId15" action="ppaction://hlinksldjump"/>
              <a:extLst>
                <a:ext uri="{FF2B5EF4-FFF2-40B4-BE49-F238E27FC236}">
                  <a16:creationId xmlns:a16="http://schemas.microsoft.com/office/drawing/2014/main" id="{E2716B7F-955F-3303-58F3-EB7AD7D76603}"/>
                </a:ext>
              </a:extLst>
            </p:cNvPr>
            <p:cNvSpPr>
              <a:spLocks/>
            </p:cNvSpPr>
            <p:nvPr>
              <p:custDataLst>
                <p:tags r:id="rId6"/>
              </p:custDataLst>
            </p:nvPr>
          </p:nvSpPr>
          <p:spPr>
            <a:xfrm>
              <a:off x="1235076" y="1844412"/>
              <a:ext cx="9791589" cy="504000"/>
            </a:xfrm>
            <a:prstGeom prst="rect">
              <a:avLst/>
            </a:prstGeom>
            <a:noFill/>
            <a:extLst>
              <a:ext uri="{909E8E84-426E-40DD-AFC4-6F175D3DCCD1}">
                <a14:hiddenFill xmlns:a14="http://schemas.microsoft.com/office/drawing/2010/main">
                  <a:solidFill>
                    <a:srgbClr val="E9E6E6"/>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a:latin typeface="+mn-lt"/>
                </a:rPr>
                <a:t>Code Example 1: Hello World + Blinky</a:t>
              </a:r>
              <a:endParaRPr lang="de-DE" sz="1800" dirty="0">
                <a:latin typeface="+mn-lt"/>
              </a:endParaRPr>
            </a:p>
          </p:txBody>
        </p:sp>
        <p:sp>
          <p:nvSpPr>
            <p:cNvPr id="9" name="MIO_AGENDA_ELEMENT_ELEMENTNUMBER_2">
              <a:hlinkClick r:id="rId15" action="ppaction://hlinksldjump"/>
              <a:extLst>
                <a:ext uri="{FF2B5EF4-FFF2-40B4-BE49-F238E27FC236}">
                  <a16:creationId xmlns:a16="http://schemas.microsoft.com/office/drawing/2014/main" id="{DD8AC77A-8A98-4426-2074-3EF2FA540439}"/>
                </a:ext>
              </a:extLst>
            </p:cNvPr>
            <p:cNvSpPr>
              <a:spLocks noChangeAspect="1"/>
            </p:cNvSpPr>
            <p:nvPr>
              <p:custDataLst>
                <p:tags r:id="rId7"/>
              </p:custDataLst>
            </p:nvPr>
          </p:nvSpPr>
          <p:spPr>
            <a:xfrm>
              <a:off x="334434" y="1844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2</a:t>
              </a:r>
              <a:endParaRPr lang="de-DE" b="1" dirty="0">
                <a:solidFill>
                  <a:schemeClr val="bg1"/>
                </a:solidFill>
                <a:latin typeface="+mn-lt"/>
                <a:cs typeface="Arial" panose="020B0604020202020204" pitchFamily="34" charset="0"/>
              </a:endParaRPr>
            </a:p>
          </p:txBody>
        </p:sp>
        <p:sp>
          <p:nvSpPr>
            <p:cNvPr id="10" name="MIO_AGENDA_ELEMENT_PAGENUMBER_2">
              <a:hlinkClick r:id="rId15" action="ppaction://hlinksldjump"/>
              <a:extLst>
                <a:ext uri="{FF2B5EF4-FFF2-40B4-BE49-F238E27FC236}">
                  <a16:creationId xmlns:a16="http://schemas.microsoft.com/office/drawing/2014/main" id="{DA212472-E2D6-3215-D90B-0CCCAF998CD4}"/>
                </a:ext>
              </a:extLst>
            </p:cNvPr>
            <p:cNvSpPr txBox="1">
              <a:spLocks/>
            </p:cNvSpPr>
            <p:nvPr>
              <p:custDataLst>
                <p:tags r:id="rId8"/>
              </p:custDataLst>
            </p:nvPr>
          </p:nvSpPr>
          <p:spPr>
            <a:xfrm>
              <a:off x="11026666" y="1844412"/>
              <a:ext cx="828785" cy="504000"/>
            </a:xfrm>
            <a:prstGeom prst="rect">
              <a:avLst/>
            </a:prstGeom>
            <a:noFill/>
          </p:spPr>
          <p:txBody>
            <a:bodyPr vert="horz" wrap="none" lIns="0" tIns="36000" rIns="216000" bIns="36000" rtlCol="0" anchor="ctr">
              <a:normAutofit/>
            </a:bodyPr>
            <a:lstStyle>
              <a:defPPr>
                <a:defRPr lang="en-US"/>
              </a:defPPr>
              <a:lvl1pPr algn="l" rtl="0" fontAlgn="auto">
                <a:spcBef>
                  <a:spcPts val="0"/>
                </a:spcBef>
                <a:spcAft>
                  <a:spcPts val="0"/>
                </a:spcAft>
                <a:buClr>
                  <a:schemeClr val="accent1"/>
                </a:buClr>
                <a:buSzPct val="100000"/>
                <a:defRPr sz="20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marL="0" lvl="1" algn="r"/>
              <a:r>
                <a:rPr lang="de-DE" sz="1800">
                  <a:latin typeface="+mn-lt"/>
                </a:rPr>
                <a:t>46</a:t>
              </a:r>
              <a:endParaRPr lang="de-DE" sz="1800" dirty="0">
                <a:latin typeface="+mn-lt"/>
              </a:endParaRPr>
            </a:p>
          </p:txBody>
        </p:sp>
        <p:sp>
          <p:nvSpPr>
            <p:cNvPr id="11" name="MIO_AGENDA_ELEMENT_TITEL_3">
              <a:hlinkClick r:id="rId16" action="ppaction://hlinksldjump"/>
              <a:extLst>
                <a:ext uri="{FF2B5EF4-FFF2-40B4-BE49-F238E27FC236}">
                  <a16:creationId xmlns:a16="http://schemas.microsoft.com/office/drawing/2014/main" id="{5D1F8710-5D4D-9652-D0A5-AED9AE535F2C}"/>
                </a:ext>
              </a:extLst>
            </p:cNvPr>
            <p:cNvSpPr>
              <a:spLocks/>
            </p:cNvSpPr>
            <p:nvPr>
              <p:custDataLst>
                <p:tags r:id="rId9"/>
              </p:custDataLst>
            </p:nvPr>
          </p:nvSpPr>
          <p:spPr>
            <a:xfrm>
              <a:off x="1235075" y="2420412"/>
              <a:ext cx="9791589" cy="504000"/>
            </a:xfrm>
            <a:prstGeom prst="rect">
              <a:avLst/>
            </a:prstGeom>
            <a:noFill/>
            <a:extLst>
              <a:ext uri="{909E8E84-426E-40DD-AFC4-6F175D3DCCD1}">
                <a14:hiddenFill xmlns:a14="http://schemas.microsoft.com/office/drawing/2010/main">
                  <a:solidFill>
                    <a:schemeClr val="bg2"/>
                  </a:solidFill>
                </a14:hiddenFill>
              </a:ext>
            </a:extLst>
          </p:spPr>
          <p:txBody>
            <a:bodyPr vert="horz" wrap="none" lIns="0" tIns="36000" rIns="3600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defTabSz="576000" fontAlgn="auto">
                <a:spcBef>
                  <a:spcPts val="0"/>
                </a:spcBef>
                <a:spcAft>
                  <a:spcPts val="0"/>
                </a:spcAft>
                <a:buClr>
                  <a:schemeClr val="accent1"/>
                </a:buClr>
                <a:buSzPct val="100000"/>
                <a:buFont typeface="Arial" panose="020B0604020202020204" pitchFamily="34" charset="0"/>
                <a:buNone/>
              </a:pPr>
              <a:r>
                <a:rPr lang="en-US" sz="1800" b="1">
                  <a:solidFill>
                    <a:schemeClr val="tx2"/>
                  </a:solidFill>
                  <a:latin typeface="+mn-lt"/>
                </a:rPr>
                <a:t>Code Example 2: IPC Semaphores using PDL API</a:t>
              </a:r>
              <a:endParaRPr lang="de-DE" sz="1800" b="1" dirty="0">
                <a:solidFill>
                  <a:schemeClr val="tx2"/>
                </a:solidFill>
                <a:latin typeface="+mn-lt"/>
              </a:endParaRPr>
            </a:p>
          </p:txBody>
        </p:sp>
        <p:sp>
          <p:nvSpPr>
            <p:cNvPr id="12" name="MIO_AGENDA_ELEMENT_ELEMENTNUMBER_3">
              <a:hlinkClick r:id="rId16" action="ppaction://hlinksldjump"/>
              <a:extLst>
                <a:ext uri="{FF2B5EF4-FFF2-40B4-BE49-F238E27FC236}">
                  <a16:creationId xmlns:a16="http://schemas.microsoft.com/office/drawing/2014/main" id="{273A54EF-6FD0-AF6C-58C7-12E18E83AB6A}"/>
                </a:ext>
              </a:extLst>
            </p:cNvPr>
            <p:cNvSpPr>
              <a:spLocks noChangeAspect="1"/>
            </p:cNvSpPr>
            <p:nvPr>
              <p:custDataLst>
                <p:tags r:id="rId10"/>
              </p:custDataLst>
            </p:nvPr>
          </p:nvSpPr>
          <p:spPr>
            <a:xfrm>
              <a:off x="334434" y="2420412"/>
              <a:ext cx="503937" cy="504000"/>
            </a:xfrm>
            <a:prstGeom prst="ellipse">
              <a:avLst/>
            </a:prstGeom>
            <a:solidFill>
              <a:schemeClr val="accent1"/>
            </a:solidFill>
          </p:spPr>
          <p:txBody>
            <a:bodyPr vert="horz" wrap="none" lIns="0" tIns="36000" rIns="0" bIns="36000" rtlCol="0" anchor="ctr">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ctr" fontAlgn="auto">
                <a:spcBef>
                  <a:spcPts val="0"/>
                </a:spcBef>
                <a:spcAft>
                  <a:spcPts val="0"/>
                </a:spcAft>
                <a:buClr>
                  <a:schemeClr val="accent1"/>
                </a:buClr>
                <a:buSzPct val="100000"/>
              </a:pPr>
              <a:r>
                <a:rPr lang="de-DE" b="1">
                  <a:solidFill>
                    <a:schemeClr val="bg1"/>
                  </a:solidFill>
                  <a:latin typeface="+mn-lt"/>
                  <a:cs typeface="Arial" panose="020B0604020202020204" pitchFamily="34" charset="0"/>
                </a:rPr>
                <a:t>3</a:t>
              </a:r>
              <a:endParaRPr lang="de-DE" b="1" dirty="0">
                <a:solidFill>
                  <a:schemeClr val="bg1"/>
                </a:solidFill>
                <a:latin typeface="+mn-lt"/>
                <a:cs typeface="Arial" panose="020B0604020202020204" pitchFamily="34" charset="0"/>
              </a:endParaRPr>
            </a:p>
          </p:txBody>
        </p:sp>
        <p:sp>
          <p:nvSpPr>
            <p:cNvPr id="13" name="MIO_AGENDA_ELEMENT_PAGENUMBER_3">
              <a:hlinkClick r:id="rId16" action="ppaction://hlinksldjump"/>
              <a:extLst>
                <a:ext uri="{FF2B5EF4-FFF2-40B4-BE49-F238E27FC236}">
                  <a16:creationId xmlns:a16="http://schemas.microsoft.com/office/drawing/2014/main" id="{311BD87B-73E0-8C34-CAC1-B291BF3A7DED}"/>
                </a:ext>
              </a:extLst>
            </p:cNvPr>
            <p:cNvSpPr txBox="1">
              <a:spLocks/>
            </p:cNvSpPr>
            <p:nvPr>
              <p:custDataLst>
                <p:tags r:id="rId11"/>
              </p:custDataLst>
            </p:nvPr>
          </p:nvSpPr>
          <p:spPr>
            <a:xfrm>
              <a:off x="11026666" y="2420412"/>
              <a:ext cx="828785" cy="504000"/>
            </a:xfrm>
            <a:prstGeom prst="rect">
              <a:avLst/>
            </a:prstGeom>
            <a:noFill/>
          </p:spPr>
          <p:txBody>
            <a:bodyPr wrap="none" lIns="0" tIns="36000" rIns="216000" bIns="36000" rtlCol="0" anchor="ctr" anchorCtr="0">
              <a:normAutofit/>
            </a:bodyPr>
            <a:ls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a:lstStyle>
            <a:p>
              <a:pPr algn="r"/>
              <a:r>
                <a:rPr lang="de-DE" sz="1800" b="1">
                  <a:solidFill>
                    <a:schemeClr val="tx2"/>
                  </a:solidFill>
                  <a:latin typeface="+mn-lt"/>
                  <a:cs typeface="Segoe UI Semibold" panose="020B0702040204020203" pitchFamily="34" charset="0"/>
                </a:rPr>
                <a:t>50</a:t>
              </a:r>
              <a:endParaRPr lang="de-DE" sz="1800" b="1" dirty="0">
                <a:solidFill>
                  <a:schemeClr val="tx2"/>
                </a:solidFill>
                <a:latin typeface="+mn-lt"/>
                <a:cs typeface="Segoe UI Semibold" panose="020B0702040204020203" pitchFamily="34" charset="0"/>
              </a:endParaRPr>
            </a:p>
          </p:txBody>
        </p:sp>
      </p:grpSp>
      <p:sp>
        <p:nvSpPr>
          <p:cNvPr id="2" name="Title 1">
            <a:extLst>
              <a:ext uri="{FF2B5EF4-FFF2-40B4-BE49-F238E27FC236}">
                <a16:creationId xmlns:a16="http://schemas.microsoft.com/office/drawing/2014/main" id="{1B9D3E51-79D1-EC9C-5637-DEBD85274371}"/>
              </a:ext>
            </a:extLst>
          </p:cNvPr>
          <p:cNvSpPr>
            <a:spLocks noGrp="1"/>
          </p:cNvSpPr>
          <p:nvPr>
            <p:ph type="title"/>
            <p:custDataLst>
              <p:tags r:id="rId2"/>
            </p:custDataLst>
          </p:nvPr>
        </p:nvSpPr>
        <p:spPr/>
        <p:txBody>
          <a:bodyPr/>
          <a:lstStyle/>
          <a:p>
            <a:r>
              <a:rPr lang="en-IN"/>
              <a:t>Table of contents</a:t>
            </a:r>
          </a:p>
        </p:txBody>
      </p:sp>
    </p:spTree>
    <p:extLst>
      <p:ext uri="{BB962C8B-B14F-4D97-AF65-F5344CB8AC3E}">
        <p14:creationId xmlns:p14="http://schemas.microsoft.com/office/powerpoint/2010/main" val="6383377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3CEDC-6294-FF4B-FD7B-B55098D0C0B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0341DBE-BF30-84E7-0A83-A9A1D32924BF}"/>
              </a:ext>
            </a:extLst>
          </p:cNvPr>
          <p:cNvSpPr>
            <a:spLocks noGrp="1"/>
          </p:cNvSpPr>
          <p:nvPr>
            <p:ph type="title" hasCustomPrompt="1"/>
          </p:nvPr>
        </p:nvSpPr>
        <p:spPr>
          <a:xfrm>
            <a:off x="335360" y="2134800"/>
            <a:ext cx="8137525" cy="683369"/>
          </a:xfrm>
          <a:noFill/>
          <a:ln/>
          <a:extLst>
            <a:ext uri="{909E8E84-426E-40DD-AFC4-6F175D3DCCD1}">
              <a14:hiddenFill xmlns:a14="http://schemas.microsoft.com/office/drawing/2010/main">
                <a:solidFill>
                  <a:srgbClr val="FFFFFF">
                    <a:alpha val="0"/>
                  </a:srgbClr>
                </a:solidFill>
              </a14:hiddenFill>
            </a:ext>
          </a:extLst>
        </p:spPr>
        <p:txBody>
          <a:bodyPr lIns="0" tIns="0" rIns="0" bIns="0" anchor="b">
            <a:noAutofit/>
          </a:bodyPr>
          <a:lstStyle/>
          <a:p>
            <a:r>
              <a:rPr lang="en-US" dirty="0">
                <a:solidFill>
                  <a:srgbClr val="FFFFFF"/>
                </a:solidFill>
                <a:latin typeface="Arial" panose="020B0604020202020204" pitchFamily="34" charset="0"/>
              </a:rPr>
              <a:t>LAB2: </a:t>
            </a:r>
            <a:r>
              <a:rPr lang="en-US" dirty="0"/>
              <a:t>IPC Semaphores using PDL</a:t>
            </a:r>
            <a:r>
              <a:rPr lang="en-US" dirty="0">
                <a:solidFill>
                  <a:srgbClr val="FFFFFF"/>
                </a:solidFill>
                <a:latin typeface="Arial" panose="020B0604020202020204" pitchFamily="34" charset="0"/>
              </a:rPr>
              <a:t> </a:t>
            </a:r>
            <a:br>
              <a:rPr lang="en-US" dirty="0">
                <a:solidFill>
                  <a:srgbClr val="FFFFFF"/>
                </a:solidFill>
                <a:latin typeface="Arial" panose="020B0604020202020204" pitchFamily="34" charset="0"/>
              </a:rPr>
            </a:br>
            <a:endParaRPr lang="en-US" dirty="0">
              <a:solidFill>
                <a:srgbClr val="FFFFFF"/>
              </a:solidFill>
              <a:latin typeface="Arial" panose="020B0604020202020204" pitchFamily="34" charset="0"/>
            </a:endParaRPr>
          </a:p>
        </p:txBody>
      </p:sp>
      <p:sp>
        <p:nvSpPr>
          <p:cNvPr id="4" name="TextBox 3">
            <a:extLst>
              <a:ext uri="{FF2B5EF4-FFF2-40B4-BE49-F238E27FC236}">
                <a16:creationId xmlns:a16="http://schemas.microsoft.com/office/drawing/2014/main" id="{0AF05BBF-3793-5E93-7103-A0DD93BEF7FD}"/>
              </a:ext>
            </a:extLst>
          </p:cNvPr>
          <p:cNvSpPr txBox="1"/>
          <p:nvPr/>
        </p:nvSpPr>
        <p:spPr bwMode="auto">
          <a:xfrm>
            <a:off x="335360" y="2501619"/>
            <a:ext cx="8569349" cy="12990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rgbClr val="FFFFFF"/>
              </a:buClr>
              <a:buSzTx/>
              <a:tabLst/>
            </a:pPr>
            <a:r>
              <a:rPr lang="en-US" sz="1800" b="1" kern="0" baseline="0" dirty="0">
                <a:solidFill>
                  <a:schemeClr val="bg1"/>
                </a:solidFill>
                <a:latin typeface="+mn-lt"/>
              </a:rPr>
              <a:t>What will you learn ?</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the Library Manager in ModusToolbox™</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share a resource between CPUs</a:t>
            </a:r>
          </a:p>
          <a:p>
            <a:pPr marL="895335" lvl="1" indent="-285750" defTabSz="576000" eaLnBrk="0" fontAlgn="auto" hangingPunct="0">
              <a:lnSpc>
                <a:spcPct val="120000"/>
              </a:lnSpc>
              <a:spcBef>
                <a:spcPts val="0"/>
              </a:spcBef>
              <a:spcAft>
                <a:spcPts val="0"/>
              </a:spcAft>
              <a:buClr>
                <a:srgbClr val="FFFFFF"/>
              </a:buClr>
              <a:buFont typeface="Arial" panose="020B0604020202020204" pitchFamily="34" charset="0"/>
              <a:buChar char="‒"/>
            </a:pPr>
            <a:r>
              <a:rPr lang="en-US" sz="1800" kern="0" dirty="0">
                <a:solidFill>
                  <a:schemeClr val="bg1"/>
                </a:solidFill>
                <a:latin typeface="+mn-lt"/>
              </a:rPr>
              <a:t>How to use IPC semaphores to synchronize a shared resource</a:t>
            </a:r>
          </a:p>
        </p:txBody>
      </p:sp>
    </p:spTree>
    <p:extLst>
      <p:ext uri="{BB962C8B-B14F-4D97-AF65-F5344CB8AC3E}">
        <p14:creationId xmlns:p14="http://schemas.microsoft.com/office/powerpoint/2010/main" val="3183326158"/>
      </p:ext>
    </p:extLst>
  </p:cSld>
  <p:clrMapOvr>
    <a:masterClrMapping/>
  </p:clrMapOvr>
  <p:transition spd="slow"/>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3715B761-83DC-C9ED-DF42-31C9835EB450}"/>
              </a:ext>
            </a:extLst>
          </p:cNvPr>
          <p:cNvSpPr>
            <a:spLocks noGrp="1"/>
          </p:cNvSpPr>
          <p:nvPr>
            <p:ph sz="quarter" idx="13" hasCustomPrompt="1"/>
          </p:nvPr>
        </p:nvSpPr>
        <p:spPr>
          <a:xfrm>
            <a:off x="334799" y="1189156"/>
            <a:ext cx="5580741" cy="5113337"/>
          </a:xfrm>
        </p:spPr>
        <p:txBody>
          <a:bodyPr/>
          <a:lstStyle/>
          <a:p>
            <a:pPr>
              <a:lnSpc>
                <a:spcPct val="150000"/>
              </a:lnSpc>
            </a:pPr>
            <a:r>
              <a:rPr sz="1600" dirty="0"/>
              <a:t>Supports </a:t>
            </a:r>
            <a:r>
              <a:rPr lang="en-IN" sz="1600" dirty="0"/>
              <a:t>sixteen</a:t>
            </a:r>
            <a:r>
              <a:rPr sz="1600" dirty="0"/>
              <a:t> communication channels</a:t>
            </a:r>
            <a:endParaRPr lang="en-US" sz="1050" dirty="0"/>
          </a:p>
          <a:p>
            <a:pPr>
              <a:lnSpc>
                <a:spcPct val="150000"/>
              </a:lnSpc>
            </a:pPr>
            <a:r>
              <a:rPr sz="1600" dirty="0"/>
              <a:t>Supports </a:t>
            </a:r>
            <a:r>
              <a:rPr lang="en-IN" sz="1600" dirty="0"/>
              <a:t>sixteen </a:t>
            </a:r>
            <a:r>
              <a:rPr sz="1600" dirty="0"/>
              <a:t>interrupt structures</a:t>
            </a:r>
          </a:p>
          <a:p>
            <a:pPr>
              <a:lnSpc>
                <a:spcPct val="150000"/>
              </a:lnSpc>
              <a:buNone/>
            </a:pPr>
            <a:endParaRPr lang="en-US" sz="1000" dirty="0"/>
          </a:p>
          <a:p>
            <a:pPr>
              <a:lnSpc>
                <a:spcPct val="150000"/>
              </a:lnSpc>
            </a:pPr>
            <a:r>
              <a:rPr lang="en-IN" sz="1600" dirty="0"/>
              <a:t> Inter-processor</a:t>
            </a:r>
            <a:r>
              <a:rPr sz="1600" dirty="0"/>
              <a:t> communication methods</a:t>
            </a:r>
          </a:p>
          <a:p>
            <a:pPr lvl="1">
              <a:lnSpc>
                <a:spcPct val="150000"/>
              </a:lnSpc>
            </a:pPr>
            <a:r>
              <a:rPr sz="1400" dirty="0"/>
              <a:t>Half-duplex with shared event handling</a:t>
            </a:r>
          </a:p>
          <a:p>
            <a:pPr lvl="1">
              <a:lnSpc>
                <a:spcPct val="150000"/>
              </a:lnSpc>
            </a:pPr>
            <a:r>
              <a:rPr sz="1400" dirty="0"/>
              <a:t>Half-duplex with independent event handling</a:t>
            </a:r>
          </a:p>
          <a:p>
            <a:pPr lvl="1">
              <a:lnSpc>
                <a:spcPct val="150000"/>
              </a:lnSpc>
            </a:pPr>
            <a:r>
              <a:rPr sz="1400" dirty="0"/>
              <a:t>Full-duplex communication</a:t>
            </a:r>
          </a:p>
          <a:p>
            <a:pPr lvl="1">
              <a:lnSpc>
                <a:spcPct val="150000"/>
              </a:lnSpc>
            </a:pPr>
            <a:endParaRPr lang="en-US" sz="1050" dirty="0"/>
          </a:p>
          <a:p>
            <a:pPr>
              <a:lnSpc>
                <a:spcPct val="150000"/>
              </a:lnSpc>
            </a:pPr>
            <a:r>
              <a:rPr sz="1600" dirty="0"/>
              <a:t>IPC is available in CPU active power mode only</a:t>
            </a:r>
          </a:p>
          <a:p>
            <a:endParaRPr lang="en-US" dirty="0"/>
          </a:p>
        </p:txBody>
      </p:sp>
      <p:sp>
        <p:nvSpPr>
          <p:cNvPr id="3" name="Titel 2">
            <a:extLst>
              <a:ext uri="{FF2B5EF4-FFF2-40B4-BE49-F238E27FC236}">
                <a16:creationId xmlns:a16="http://schemas.microsoft.com/office/drawing/2014/main" id="{AE92E142-CF5A-B9C7-ADBE-AAD6B1E5F96E}"/>
              </a:ext>
            </a:extLst>
          </p:cNvPr>
          <p:cNvSpPr>
            <a:spLocks noGrp="1"/>
          </p:cNvSpPr>
          <p:nvPr>
            <p:ph type="title" hasCustomPrompt="1"/>
          </p:nvPr>
        </p:nvSpPr>
        <p:spPr/>
        <p:txBody>
          <a:bodyPr anchor="b">
            <a:normAutofit/>
          </a:bodyPr>
          <a:lstStyle/>
          <a:p>
            <a:r>
              <a:rPr dirty="0"/>
              <a:t>Overview of IPC </a:t>
            </a:r>
          </a:p>
        </p:txBody>
      </p:sp>
      <p:sp>
        <p:nvSpPr>
          <p:cNvPr id="9" name="Rectangle 2">
            <a:extLst>
              <a:ext uri="{FF2B5EF4-FFF2-40B4-BE49-F238E27FC236}">
                <a16:creationId xmlns:a16="http://schemas.microsoft.com/office/drawing/2014/main" id="{1C8E1E52-64D8-4161-7243-306B7553210B}"/>
              </a:ext>
            </a:extLst>
          </p:cNvPr>
          <p:cNvSpPr>
            <a:spLocks noChangeArrowheads="1"/>
          </p:cNvSpPr>
          <p:nvPr/>
        </p:nvSpPr>
        <p:spPr bwMode="auto">
          <a:xfrm>
            <a:off x="6096000" y="25289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1D1D1D"/>
              </a:solidFill>
              <a:effectLst/>
              <a:uLnTx/>
              <a:uFillTx/>
              <a:latin typeface="Arial" charset="0"/>
              <a:cs typeface="Arial"/>
            </a:endParaRPr>
          </a:p>
        </p:txBody>
      </p:sp>
      <p:sp>
        <p:nvSpPr>
          <p:cNvPr id="15" name="Arrow: Right 14">
            <a:extLst>
              <a:ext uri="{FF2B5EF4-FFF2-40B4-BE49-F238E27FC236}">
                <a16:creationId xmlns:a16="http://schemas.microsoft.com/office/drawing/2014/main" id="{3DF95B02-FF97-EC43-987D-DD85596AB8B6}"/>
              </a:ext>
            </a:extLst>
          </p:cNvPr>
          <p:cNvSpPr/>
          <p:nvPr/>
        </p:nvSpPr>
        <p:spPr bwMode="auto">
          <a:xfrm>
            <a:off x="6129222" y="1446007"/>
            <a:ext cx="1119419" cy="360031"/>
          </a:xfrm>
          <a:prstGeom prst="rightArrow">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slave </a:t>
            </a:r>
          </a:p>
        </p:txBody>
      </p:sp>
      <p:sp>
        <p:nvSpPr>
          <p:cNvPr id="12" name="Rectangle 11">
            <a:extLst>
              <a:ext uri="{FF2B5EF4-FFF2-40B4-BE49-F238E27FC236}">
                <a16:creationId xmlns:a16="http://schemas.microsoft.com/office/drawing/2014/main" id="{76C030B5-F48B-4937-1B3D-37D4E327B4AD}"/>
              </a:ext>
            </a:extLst>
          </p:cNvPr>
          <p:cNvSpPr/>
          <p:nvPr/>
        </p:nvSpPr>
        <p:spPr bwMode="auto">
          <a:xfrm>
            <a:off x="7247066" y="1445194"/>
            <a:ext cx="4119019" cy="337373"/>
          </a:xfrm>
          <a:prstGeom prst="rect">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a:t>
            </a:r>
            <a:r>
              <a:rPr kumimoji="0" lang="en-US" sz="1200" b="0" i="0" u="none" strike="noStrike" kern="1200" cap="none" spc="0" normalizeH="0" baseline="0" noProof="0" dirty="0">
                <a:ln>
                  <a:noFill/>
                </a:ln>
                <a:solidFill>
                  <a:srgbClr val="FFFFFF"/>
                </a:solidFill>
                <a:effectLst/>
                <a:uLnTx/>
                <a:uFillTx/>
                <a:latin typeface="Arial"/>
                <a:cs typeface="Arial"/>
              </a:rPr>
              <a:t>Slave interface</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cxnSp>
        <p:nvCxnSpPr>
          <p:cNvPr id="17" name="Straight Arrow Connector 16">
            <a:extLst>
              <a:ext uri="{FF2B5EF4-FFF2-40B4-BE49-F238E27FC236}">
                <a16:creationId xmlns:a16="http://schemas.microsoft.com/office/drawing/2014/main" id="{5EE2A517-0AF7-D630-6123-DE9B98FA7A89}"/>
              </a:ext>
            </a:extLst>
          </p:cNvPr>
          <p:cNvCxnSpPr>
            <a:cxnSpLocks/>
            <a:stCxn id="16" idx="0"/>
          </p:cNvCxnSpPr>
          <p:nvPr/>
        </p:nvCxnSpPr>
        <p:spPr>
          <a:xfrm flipH="1" flipV="1">
            <a:off x="8285264" y="1782567"/>
            <a:ext cx="7418" cy="924254"/>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1" name="Straight Arrow Connector 20">
            <a:extLst>
              <a:ext uri="{FF2B5EF4-FFF2-40B4-BE49-F238E27FC236}">
                <a16:creationId xmlns:a16="http://schemas.microsoft.com/office/drawing/2014/main" id="{48B9AD1A-DCB5-88FC-A381-00F0C8FC2191}"/>
              </a:ext>
            </a:extLst>
          </p:cNvPr>
          <p:cNvCxnSpPr>
            <a:cxnSpLocks/>
          </p:cNvCxnSpPr>
          <p:nvPr/>
        </p:nvCxnSpPr>
        <p:spPr>
          <a:xfrm>
            <a:off x="8852035" y="3778748"/>
            <a:ext cx="1276413" cy="0"/>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4" name="Connector: Elbow 23">
            <a:extLst>
              <a:ext uri="{FF2B5EF4-FFF2-40B4-BE49-F238E27FC236}">
                <a16:creationId xmlns:a16="http://schemas.microsoft.com/office/drawing/2014/main" id="{DF333D89-A9D8-2C2F-59ED-63AD3905D597}"/>
              </a:ext>
            </a:extLst>
          </p:cNvPr>
          <p:cNvCxnSpPr>
            <a:cxnSpLocks/>
          </p:cNvCxnSpPr>
          <p:nvPr/>
        </p:nvCxnSpPr>
        <p:spPr>
          <a:xfrm rot="16200000" flipH="1">
            <a:off x="10603518" y="4575880"/>
            <a:ext cx="720080" cy="522058"/>
          </a:xfrm>
          <a:prstGeom prst="bentConnector3">
            <a:avLst>
              <a:gd name="adj1" fmla="val 99736"/>
            </a:avLst>
          </a:prstGeom>
          <a:ln w="38100"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28" name="TextBox 27">
            <a:extLst>
              <a:ext uri="{FF2B5EF4-FFF2-40B4-BE49-F238E27FC236}">
                <a16:creationId xmlns:a16="http://schemas.microsoft.com/office/drawing/2014/main" id="{D8F7D7A2-B55E-DE99-C331-CAC2C90A6EF8}"/>
              </a:ext>
            </a:extLst>
          </p:cNvPr>
          <p:cNvSpPr txBox="1"/>
          <p:nvPr/>
        </p:nvSpPr>
        <p:spPr bwMode="auto">
          <a:xfrm>
            <a:off x="10702529" y="5225988"/>
            <a:ext cx="768661" cy="234744"/>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1400" b="0" i="0" u="none" strike="noStrike" kern="0" cap="none" spc="0" normalizeH="0" baseline="0" noProof="0" dirty="0">
                <a:ln>
                  <a:noFill/>
                </a:ln>
                <a:solidFill>
                  <a:srgbClr val="1D1D1D"/>
                </a:solidFill>
                <a:effectLst/>
                <a:uLnTx/>
                <a:uFillTx/>
                <a:latin typeface="Arial"/>
                <a:cs typeface="Arial"/>
              </a:rPr>
              <a:t>Interrupts</a:t>
            </a:r>
            <a:endParaRPr kumimoji="0" lang="en-US" sz="1400" b="0" i="0" u="none" strike="noStrike" kern="0" cap="none" spc="0" normalizeH="0" baseline="0" noProof="0" dirty="0">
              <a:ln>
                <a:noFill/>
              </a:ln>
              <a:solidFill>
                <a:srgbClr val="1D1D1D"/>
              </a:solidFill>
              <a:effectLst/>
              <a:uLnTx/>
              <a:uFillTx/>
              <a:latin typeface="Arial"/>
              <a:ea typeface="+mn-ea"/>
              <a:cs typeface="Arial"/>
            </a:endParaRPr>
          </a:p>
        </p:txBody>
      </p:sp>
      <p:cxnSp>
        <p:nvCxnSpPr>
          <p:cNvPr id="11" name="Connector: Elbow 10">
            <a:extLst>
              <a:ext uri="{FF2B5EF4-FFF2-40B4-BE49-F238E27FC236}">
                <a16:creationId xmlns:a16="http://schemas.microsoft.com/office/drawing/2014/main" id="{0540DD36-BEFE-9C28-ABD1-B40FDB338964}"/>
              </a:ext>
            </a:extLst>
          </p:cNvPr>
          <p:cNvCxnSpPr>
            <a:cxnSpLocks/>
            <a:stCxn id="46" idx="3"/>
          </p:cNvCxnSpPr>
          <p:nvPr/>
        </p:nvCxnSpPr>
        <p:spPr>
          <a:xfrm flipV="1">
            <a:off x="7083850" y="1779316"/>
            <a:ext cx="378473" cy="436029"/>
          </a:xfrm>
          <a:prstGeom prst="bentConnector2">
            <a:avLst/>
          </a:prstGeom>
          <a:ln w="28575"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graphicFrame>
        <p:nvGraphicFramePr>
          <p:cNvPr id="16" name="Table 18">
            <a:extLst>
              <a:ext uri="{FF2B5EF4-FFF2-40B4-BE49-F238E27FC236}">
                <a16:creationId xmlns:a16="http://schemas.microsoft.com/office/drawing/2014/main" id="{3A0F305F-B2BC-E13F-93B4-1EE05DEE4D63}"/>
              </a:ext>
            </a:extLst>
          </p:cNvPr>
          <p:cNvGraphicFramePr>
            <a:graphicFrameLocks noGrp="1"/>
          </p:cNvGraphicFramePr>
          <p:nvPr/>
        </p:nvGraphicFramePr>
        <p:xfrm>
          <a:off x="7733330" y="2706821"/>
          <a:ext cx="1118705" cy="187128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295008">
                <a:tc>
                  <a:txBody>
                    <a:bodyPr/>
                    <a:lstStyle/>
                    <a:p>
                      <a:pPr algn="ctr"/>
                      <a:r>
                        <a:rPr lang="en-US" sz="1000" dirty="0"/>
                        <a:t>IPC </a:t>
                      </a:r>
                    </a:p>
                    <a:p>
                      <a:pPr algn="ctr"/>
                      <a:r>
                        <a:rPr lang="en-US" sz="1000" dirty="0"/>
                        <a:t>Structure</a:t>
                      </a:r>
                    </a:p>
                  </a:txBody>
                  <a:tcPr/>
                </a:tc>
                <a:extLst>
                  <a:ext uri="{0D108BD9-81ED-4DB2-BD59-A6C34878D82A}">
                    <a16:rowId xmlns:a16="http://schemas.microsoft.com/office/drawing/2014/main" val="747986202"/>
                  </a:ext>
                </a:extLst>
              </a:tr>
              <a:tr h="295008">
                <a:tc>
                  <a:txBody>
                    <a:bodyPr/>
                    <a:lstStyle/>
                    <a:p>
                      <a:pPr algn="ctr"/>
                      <a:r>
                        <a:rPr lang="en-US" sz="1000" b="0" dirty="0"/>
                        <a:t>ACQUIRE*</a:t>
                      </a:r>
                    </a:p>
                  </a:txBody>
                  <a:tcPr anchor="ctr">
                    <a:solidFill>
                      <a:srgbClr val="B8DEDA"/>
                    </a:solidFill>
                  </a:tcPr>
                </a:tc>
                <a:extLst>
                  <a:ext uri="{0D108BD9-81ED-4DB2-BD59-A6C34878D82A}">
                    <a16:rowId xmlns:a16="http://schemas.microsoft.com/office/drawing/2014/main" val="820000739"/>
                  </a:ext>
                </a:extLst>
              </a:tr>
              <a:tr h="295008">
                <a:tc>
                  <a:txBody>
                    <a:bodyPr/>
                    <a:lstStyle/>
                    <a:p>
                      <a:pPr algn="ctr"/>
                      <a:r>
                        <a:rPr lang="en-US" sz="1000" dirty="0"/>
                        <a:t>NOTIFY</a:t>
                      </a:r>
                    </a:p>
                  </a:txBody>
                  <a:tcPr anchor="ctr">
                    <a:solidFill>
                      <a:srgbClr val="B8DEDA"/>
                    </a:solidFill>
                  </a:tcPr>
                </a:tc>
                <a:extLst>
                  <a:ext uri="{0D108BD9-81ED-4DB2-BD59-A6C34878D82A}">
                    <a16:rowId xmlns:a16="http://schemas.microsoft.com/office/drawing/2014/main" val="428968837"/>
                  </a:ext>
                </a:extLst>
              </a:tr>
              <a:tr h="295008">
                <a:tc>
                  <a:txBody>
                    <a:bodyPr/>
                    <a:lstStyle/>
                    <a:p>
                      <a:pPr algn="ctr"/>
                      <a:r>
                        <a:rPr lang="en-US" sz="1000" dirty="0"/>
                        <a:t>RELEASE </a:t>
                      </a:r>
                    </a:p>
                  </a:txBody>
                  <a:tcPr anchor="ctr">
                    <a:solidFill>
                      <a:srgbClr val="B8DEDA"/>
                    </a:solidFill>
                  </a:tcPr>
                </a:tc>
                <a:extLst>
                  <a:ext uri="{0D108BD9-81ED-4DB2-BD59-A6C34878D82A}">
                    <a16:rowId xmlns:a16="http://schemas.microsoft.com/office/drawing/2014/main" val="728456935"/>
                  </a:ext>
                </a:extLst>
              </a:tr>
              <a:tr h="295008">
                <a:tc>
                  <a:txBody>
                    <a:bodyPr/>
                    <a:lstStyle/>
                    <a:p>
                      <a:pPr algn="ctr"/>
                      <a:r>
                        <a:rPr lang="en-US" sz="1000" dirty="0"/>
                        <a:t>DATA</a:t>
                      </a:r>
                    </a:p>
                  </a:txBody>
                  <a:tcPr anchor="ctr">
                    <a:solidFill>
                      <a:srgbClr val="B8DEDA"/>
                    </a:solidFill>
                  </a:tcPr>
                </a:tc>
                <a:extLst>
                  <a:ext uri="{0D108BD9-81ED-4DB2-BD59-A6C34878D82A}">
                    <a16:rowId xmlns:a16="http://schemas.microsoft.com/office/drawing/2014/main" val="1956340948"/>
                  </a:ext>
                </a:extLst>
              </a:tr>
              <a:tr h="295008">
                <a:tc>
                  <a:txBody>
                    <a:bodyPr/>
                    <a:lstStyle/>
                    <a:p>
                      <a:pPr algn="ctr"/>
                      <a:r>
                        <a:rPr lang="en-US" sz="1000" dirty="0"/>
                        <a:t>STATUS</a:t>
                      </a:r>
                    </a:p>
                  </a:txBody>
                  <a:tcPr anchor="ctr">
                    <a:solidFill>
                      <a:srgbClr val="B8DEDA"/>
                    </a:solidFill>
                  </a:tcPr>
                </a:tc>
                <a:extLst>
                  <a:ext uri="{0D108BD9-81ED-4DB2-BD59-A6C34878D82A}">
                    <a16:rowId xmlns:a16="http://schemas.microsoft.com/office/drawing/2014/main" val="1575484724"/>
                  </a:ext>
                </a:extLst>
              </a:tr>
            </a:tbl>
          </a:graphicData>
        </a:graphic>
      </p:graphicFrame>
      <p:graphicFrame>
        <p:nvGraphicFramePr>
          <p:cNvPr id="25" name="Table 18">
            <a:extLst>
              <a:ext uri="{FF2B5EF4-FFF2-40B4-BE49-F238E27FC236}">
                <a16:creationId xmlns:a16="http://schemas.microsoft.com/office/drawing/2014/main" id="{3EFAAB74-D561-7F30-BC7E-4D2F10257638}"/>
              </a:ext>
            </a:extLst>
          </p:cNvPr>
          <p:cNvGraphicFramePr>
            <a:graphicFrameLocks noGrp="1"/>
          </p:cNvGraphicFramePr>
          <p:nvPr/>
        </p:nvGraphicFramePr>
        <p:xfrm>
          <a:off x="10136158" y="2648122"/>
          <a:ext cx="1118705" cy="191559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445436">
                <a:tc>
                  <a:txBody>
                    <a:bodyPr/>
                    <a:lstStyle/>
                    <a:p>
                      <a:pPr algn="ctr"/>
                      <a:r>
                        <a:rPr lang="en-US" sz="1000" dirty="0"/>
                        <a:t>Interrupt Structure</a:t>
                      </a:r>
                    </a:p>
                  </a:txBody>
                  <a:tcPr/>
                </a:tc>
                <a:extLst>
                  <a:ext uri="{0D108BD9-81ED-4DB2-BD59-A6C34878D82A}">
                    <a16:rowId xmlns:a16="http://schemas.microsoft.com/office/drawing/2014/main" val="747986202"/>
                  </a:ext>
                </a:extLst>
              </a:tr>
              <a:tr h="735077">
                <a:tc>
                  <a:txBody>
                    <a:bodyPr/>
                    <a:lstStyle/>
                    <a:p>
                      <a:pPr algn="ctr"/>
                      <a:r>
                        <a:rPr lang="en-US" sz="1000" b="0" dirty="0"/>
                        <a:t>NOTIFY</a:t>
                      </a:r>
                    </a:p>
                  </a:txBody>
                  <a:tcPr anchor="ctr">
                    <a:solidFill>
                      <a:srgbClr val="B8DEDA"/>
                    </a:solidFill>
                  </a:tcPr>
                </a:tc>
                <a:extLst>
                  <a:ext uri="{0D108BD9-81ED-4DB2-BD59-A6C34878D82A}">
                    <a16:rowId xmlns:a16="http://schemas.microsoft.com/office/drawing/2014/main" val="820000739"/>
                  </a:ext>
                </a:extLst>
              </a:tr>
              <a:tr h="735077">
                <a:tc>
                  <a:txBody>
                    <a:bodyPr/>
                    <a:lstStyle/>
                    <a:p>
                      <a:pPr algn="ctr"/>
                      <a:r>
                        <a:rPr lang="en-US" sz="1000" dirty="0"/>
                        <a:t>RELEASE</a:t>
                      </a:r>
                    </a:p>
                  </a:txBody>
                  <a:tcPr anchor="ctr">
                    <a:solidFill>
                      <a:srgbClr val="B8DEDA"/>
                    </a:solidFill>
                  </a:tcPr>
                </a:tc>
                <a:extLst>
                  <a:ext uri="{0D108BD9-81ED-4DB2-BD59-A6C34878D82A}">
                    <a16:rowId xmlns:a16="http://schemas.microsoft.com/office/drawing/2014/main" val="428968837"/>
                  </a:ext>
                </a:extLst>
              </a:tr>
            </a:tbl>
          </a:graphicData>
        </a:graphic>
      </p:graphicFrame>
      <p:cxnSp>
        <p:nvCxnSpPr>
          <p:cNvPr id="31" name="Straight Arrow Connector 30">
            <a:extLst>
              <a:ext uri="{FF2B5EF4-FFF2-40B4-BE49-F238E27FC236}">
                <a16:creationId xmlns:a16="http://schemas.microsoft.com/office/drawing/2014/main" id="{4BEA39A8-EFE8-0838-B7B0-197B68C20C04}"/>
              </a:ext>
            </a:extLst>
          </p:cNvPr>
          <p:cNvCxnSpPr>
            <a:cxnSpLocks/>
          </p:cNvCxnSpPr>
          <p:nvPr/>
        </p:nvCxnSpPr>
        <p:spPr>
          <a:xfrm flipV="1">
            <a:off x="10695510" y="1782567"/>
            <a:ext cx="0" cy="865556"/>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83DB3C59-D8CA-10AF-EC76-A0575574B3D7}"/>
              </a:ext>
            </a:extLst>
          </p:cNvPr>
          <p:cNvSpPr/>
          <p:nvPr/>
        </p:nvSpPr>
        <p:spPr bwMode="auto">
          <a:xfrm>
            <a:off x="6136641" y="1909311"/>
            <a:ext cx="947209" cy="612068"/>
          </a:xfrm>
          <a:prstGeom prst="rect">
            <a:avLst/>
          </a:prstGeom>
          <a:solidFill>
            <a:srgbClr val="9BBA43"/>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cs typeface="Arial"/>
              </a:rPr>
              <a:t>SRSS</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sp>
        <p:nvSpPr>
          <p:cNvPr id="2" name="TextBox 1">
            <a:extLst>
              <a:ext uri="{FF2B5EF4-FFF2-40B4-BE49-F238E27FC236}">
                <a16:creationId xmlns:a16="http://schemas.microsoft.com/office/drawing/2014/main" id="{8AF6E6E7-2E17-A662-0F27-C6FDE88BB72D}"/>
              </a:ext>
            </a:extLst>
          </p:cNvPr>
          <p:cNvSpPr txBox="1"/>
          <p:nvPr/>
        </p:nvSpPr>
        <p:spPr bwMode="auto">
          <a:xfrm>
            <a:off x="335360" y="6182880"/>
            <a:ext cx="3384376" cy="134139"/>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800" b="0" i="0" u="none" strike="noStrike" kern="0" cap="none" spc="0" normalizeH="0" baseline="0" noProof="0" dirty="0">
                <a:ln>
                  <a:noFill/>
                </a:ln>
                <a:solidFill>
                  <a:srgbClr val="1D1D1D"/>
                </a:solidFill>
                <a:effectLst/>
                <a:uLnTx/>
                <a:uFillTx/>
                <a:latin typeface="Arial"/>
                <a:ea typeface="+mn-ea"/>
                <a:cs typeface="Arial"/>
              </a:rPr>
              <a:t>* MS </a:t>
            </a:r>
            <a:r>
              <a:rPr lang="en-US" sz="800" kern="0" dirty="0">
                <a:solidFill>
                  <a:srgbClr val="1D1D1D"/>
                </a:solidFill>
                <a:latin typeface="Arial"/>
                <a:cs typeface="Arial"/>
              </a:rPr>
              <a:t>field</a:t>
            </a:r>
            <a:r>
              <a:rPr kumimoji="0" lang="en-US" sz="800" b="0" i="0" u="none" strike="noStrike" kern="0" cap="none" spc="0" normalizeH="0" baseline="0" noProof="0" dirty="0">
                <a:ln>
                  <a:noFill/>
                </a:ln>
                <a:solidFill>
                  <a:srgbClr val="1D1D1D"/>
                </a:solidFill>
                <a:effectLst/>
                <a:uLnTx/>
                <a:uFillTx/>
                <a:latin typeface="Arial"/>
                <a:ea typeface="+mn-ea"/>
                <a:cs typeface="Arial"/>
              </a:rPr>
              <a:t> of the Acquire register width has been expanded to 8 bits</a:t>
            </a:r>
          </a:p>
        </p:txBody>
      </p:sp>
      <p:graphicFrame>
        <p:nvGraphicFramePr>
          <p:cNvPr id="26" name="Table 25">
            <a:extLst>
              <a:ext uri="{FF2B5EF4-FFF2-40B4-BE49-F238E27FC236}">
                <a16:creationId xmlns:a16="http://schemas.microsoft.com/office/drawing/2014/main" id="{BD25838F-6459-8924-B246-4CE9EB19B6B2}"/>
              </a:ext>
            </a:extLst>
          </p:cNvPr>
          <p:cNvGraphicFramePr>
            <a:graphicFrameLocks noGrp="1"/>
          </p:cNvGraphicFramePr>
          <p:nvPr>
            <p:extLst>
              <p:ext uri="{D42A27DB-BD31-4B8C-83A1-F6EECF244321}">
                <p14:modId xmlns:p14="http://schemas.microsoft.com/office/powerpoint/2010/main" val="1339159805"/>
              </p:ext>
            </p:extLst>
          </p:nvPr>
        </p:nvGraphicFramePr>
        <p:xfrm>
          <a:off x="6070593" y="1189156"/>
          <a:ext cx="5472637" cy="4412578"/>
        </p:xfrm>
        <a:graphic>
          <a:graphicData uri="http://schemas.openxmlformats.org/drawingml/2006/table">
            <a:tbl>
              <a:tblPr firstRow="1" bandRow="1">
                <a:tableStyleId>{5940675A-B579-460E-94D1-54222C63F5DA}</a:tableStyleId>
              </a:tblPr>
              <a:tblGrid>
                <a:gridCol w="5472637">
                  <a:extLst>
                    <a:ext uri="{9D8B030D-6E8A-4147-A177-3AD203B41FA5}">
                      <a16:colId xmlns:a16="http://schemas.microsoft.com/office/drawing/2014/main" val="1034522424"/>
                    </a:ext>
                  </a:extLst>
                </a:gridCol>
              </a:tblGrid>
              <a:tr h="4412578">
                <a:tc>
                  <a:txBody>
                    <a:bodyPr/>
                    <a:lstStyle/>
                    <a:p>
                      <a:endParaRPr lang="en-IN" dirty="0"/>
                    </a:p>
                  </a:txBody>
                  <a:tcPr/>
                </a:tc>
                <a:extLst>
                  <a:ext uri="{0D108BD9-81ED-4DB2-BD59-A6C34878D82A}">
                    <a16:rowId xmlns:a16="http://schemas.microsoft.com/office/drawing/2014/main" val="2790378329"/>
                  </a:ext>
                </a:extLst>
              </a:tr>
            </a:tbl>
          </a:graphicData>
        </a:graphic>
      </p:graphicFrame>
    </p:spTree>
    <p:extLst>
      <p:ext uri="{BB962C8B-B14F-4D97-AF65-F5344CB8AC3E}">
        <p14:creationId xmlns:p14="http://schemas.microsoft.com/office/powerpoint/2010/main" val="4041782035"/>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B3DCD2-C182-4270-932C-829EDBA9AC06}"/>
              </a:ext>
            </a:extLst>
          </p:cNvPr>
          <p:cNvSpPr>
            <a:spLocks noGrp="1"/>
          </p:cNvSpPr>
          <p:nvPr>
            <p:ph type="title" hasCustomPrompt="1"/>
          </p:nvPr>
        </p:nvSpPr>
        <p:spPr/>
        <p:txBody>
          <a:bodyPr/>
          <a:lstStyle/>
          <a:p>
            <a:r>
              <a:rPr dirty="0"/>
              <a:t>Block </a:t>
            </a:r>
            <a:r>
              <a:rPr lang="en-IN" dirty="0"/>
              <a:t>d</a:t>
            </a:r>
            <a:r>
              <a:rPr dirty="0" err="1"/>
              <a:t>iagram</a:t>
            </a:r>
            <a:r>
              <a:rPr dirty="0"/>
              <a:t> of IPC PDL</a:t>
            </a:r>
          </a:p>
        </p:txBody>
      </p:sp>
      <p:pic>
        <p:nvPicPr>
          <p:cNvPr id="6" name="Picture 5">
            <a:extLst>
              <a:ext uri="{FF2B5EF4-FFF2-40B4-BE49-F238E27FC236}">
                <a16:creationId xmlns:a16="http://schemas.microsoft.com/office/drawing/2014/main" id="{CAB8A0A0-39B7-4839-8732-C2537E1C5A44}"/>
              </a:ext>
            </a:extLst>
          </p:cNvPr>
          <p:cNvPicPr>
            <a:picLocks noChangeAspect="1"/>
          </p:cNvPicPr>
          <p:nvPr/>
        </p:nvPicPr>
        <p:blipFill>
          <a:blip r:embed="rId3">
            <a:extLst>
              <a:ext uri="{28A0092B-C50C-407E-A947-70E740481C1C}">
                <a14:useLocalDpi xmlns:a14="http://schemas.microsoft.com/office/drawing/2010/main" val="0"/>
              </a:ext>
            </a:extLst>
          </a:blip>
          <a:srcRect l="2103" t="3263" r="2176" b="3734"/>
          <a:stretch>
            <a:fillRect/>
          </a:stretch>
        </p:blipFill>
        <p:spPr>
          <a:xfrm>
            <a:off x="2099556" y="1420958"/>
            <a:ext cx="7200800" cy="4664155"/>
          </a:xfrm>
          <a:prstGeom prst="rect">
            <a:avLst/>
          </a:prstGeom>
          <a:ln>
            <a:solidFill>
              <a:schemeClr val="bg1"/>
            </a:solidFill>
          </a:ln>
        </p:spPr>
      </p:pic>
      <p:sp>
        <p:nvSpPr>
          <p:cNvPr id="2" name="Rectangle 1">
            <a:extLst>
              <a:ext uri="{FF2B5EF4-FFF2-40B4-BE49-F238E27FC236}">
                <a16:creationId xmlns:a16="http://schemas.microsoft.com/office/drawing/2014/main" id="{0FAC51F8-AECF-0C13-FEEC-8DF63B0ED448}"/>
              </a:ext>
            </a:extLst>
          </p:cNvPr>
          <p:cNvSpPr/>
          <p:nvPr/>
        </p:nvSpPr>
        <p:spPr bwMode="auto">
          <a:xfrm>
            <a:off x="335360" y="1268760"/>
            <a:ext cx="11233248" cy="4968552"/>
          </a:xfrm>
          <a:prstGeom prst="rect">
            <a:avLst/>
          </a:prstGeom>
          <a:no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IN" sz="1600" baseline="0" dirty="0">
              <a:solidFill>
                <a:schemeClr val="bg1"/>
              </a:solidFill>
              <a:latin typeface="+mn-lt"/>
              <a:ea typeface="+mn-ea"/>
              <a:cs typeface="+mn-cs"/>
            </a:endParaRPr>
          </a:p>
        </p:txBody>
      </p:sp>
    </p:spTree>
    <p:extLst>
      <p:ext uri="{BB962C8B-B14F-4D97-AF65-F5344CB8AC3E}">
        <p14:creationId xmlns:p14="http://schemas.microsoft.com/office/powerpoint/2010/main" val="2723937463"/>
      </p:ext>
    </p:extLst>
  </p:cSld>
  <p:clrMapOvr>
    <a:masterClrMapping/>
  </p:clrMapOvr>
  <p:transition spd="slow"/>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B91A6E6-D0D7-17DF-DD83-EBB244F868A7}"/>
              </a:ext>
            </a:extLst>
          </p:cNvPr>
          <p:cNvGraphicFramePr>
            <a:graphicFrameLocks noGrp="1"/>
          </p:cNvGraphicFramePr>
          <p:nvPr>
            <p:extLst>
              <p:ext uri="{D42A27DB-BD31-4B8C-83A1-F6EECF244321}">
                <p14:modId xmlns:p14="http://schemas.microsoft.com/office/powerpoint/2010/main" val="1618454647"/>
              </p:ext>
            </p:extLst>
          </p:nvPr>
        </p:nvGraphicFramePr>
        <p:xfrm>
          <a:off x="335360" y="1268414"/>
          <a:ext cx="11305256" cy="4680866"/>
        </p:xfrm>
        <a:graphic>
          <a:graphicData uri="http://schemas.openxmlformats.org/drawingml/2006/table">
            <a:tbl>
              <a:tblPr firstRow="1" bandRow="1">
                <a:tableStyleId>{5940675A-B579-460E-94D1-54222C63F5DA}</a:tableStyleId>
              </a:tblPr>
              <a:tblGrid>
                <a:gridCol w="11305256">
                  <a:extLst>
                    <a:ext uri="{9D8B030D-6E8A-4147-A177-3AD203B41FA5}">
                      <a16:colId xmlns:a16="http://schemas.microsoft.com/office/drawing/2014/main" val="1034522424"/>
                    </a:ext>
                  </a:extLst>
                </a:gridCol>
              </a:tblGrid>
              <a:tr h="4680866">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4" name="Titel 3">
            <a:extLst>
              <a:ext uri="{FF2B5EF4-FFF2-40B4-BE49-F238E27FC236}">
                <a16:creationId xmlns:a16="http://schemas.microsoft.com/office/drawing/2014/main" id="{6F534964-88F1-3188-966D-D25A9D6C5664}"/>
              </a:ext>
            </a:extLst>
          </p:cNvPr>
          <p:cNvSpPr>
            <a:spLocks noGrp="1"/>
          </p:cNvSpPr>
          <p:nvPr>
            <p:ph type="title" hasCustomPrompt="1"/>
          </p:nvPr>
        </p:nvSpPr>
        <p:spPr/>
        <p:txBody>
          <a:bodyPr/>
          <a:lstStyle/>
          <a:p>
            <a:r>
              <a:rPr dirty="0"/>
              <a:t>IPC PDL (Peripheral </a:t>
            </a:r>
            <a:r>
              <a:rPr lang="en-IN" dirty="0"/>
              <a:t>a</a:t>
            </a:r>
            <a:r>
              <a:rPr dirty="0" err="1"/>
              <a:t>bstraction</a:t>
            </a:r>
            <a:r>
              <a:rPr dirty="0"/>
              <a:t> </a:t>
            </a:r>
            <a:r>
              <a:rPr lang="en-IN" dirty="0"/>
              <a:t>l</a:t>
            </a:r>
            <a:r>
              <a:rPr dirty="0" err="1"/>
              <a:t>ayer</a:t>
            </a:r>
            <a:r>
              <a:rPr dirty="0"/>
              <a:t>) </a:t>
            </a:r>
            <a:r>
              <a:rPr lang="en-IN" dirty="0"/>
              <a:t>f</a:t>
            </a:r>
            <a:r>
              <a:rPr dirty="0" err="1"/>
              <a:t>unctions</a:t>
            </a:r>
            <a:endParaRPr dirty="0"/>
          </a:p>
        </p:txBody>
      </p:sp>
      <p:pic>
        <p:nvPicPr>
          <p:cNvPr id="3" name="Picture 2">
            <a:extLst>
              <a:ext uri="{FF2B5EF4-FFF2-40B4-BE49-F238E27FC236}">
                <a16:creationId xmlns:a16="http://schemas.microsoft.com/office/drawing/2014/main" id="{2BF7EFB4-3F59-4B63-91F0-59479CE69A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95597" y="1377699"/>
            <a:ext cx="6874434" cy="4438920"/>
          </a:xfrm>
          <a:prstGeom prst="rect">
            <a:avLst/>
          </a:prstGeom>
        </p:spPr>
      </p:pic>
    </p:spTree>
    <p:extLst>
      <p:ext uri="{BB962C8B-B14F-4D97-AF65-F5344CB8AC3E}">
        <p14:creationId xmlns:p14="http://schemas.microsoft.com/office/powerpoint/2010/main" val="2758840824"/>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17A4487-F1E4-5FF1-298F-403EADDA1CC0}"/>
              </a:ext>
            </a:extLst>
          </p:cNvPr>
          <p:cNvGraphicFramePr>
            <a:graphicFrameLocks noGrp="1"/>
          </p:cNvGraphicFramePr>
          <p:nvPr>
            <p:extLst>
              <p:ext uri="{D42A27DB-BD31-4B8C-83A1-F6EECF244321}">
                <p14:modId xmlns:p14="http://schemas.microsoft.com/office/powerpoint/2010/main" val="2884155635"/>
              </p:ext>
            </p:extLst>
          </p:nvPr>
        </p:nvGraphicFramePr>
        <p:xfrm>
          <a:off x="407368" y="1196752"/>
          <a:ext cx="11377264" cy="5256584"/>
        </p:xfrm>
        <a:graphic>
          <a:graphicData uri="http://schemas.openxmlformats.org/drawingml/2006/table">
            <a:tbl>
              <a:tblPr firstRow="1" bandRow="1">
                <a:tableStyleId>{5940675A-B579-460E-94D1-54222C63F5DA}</a:tableStyleId>
              </a:tblPr>
              <a:tblGrid>
                <a:gridCol w="11377264">
                  <a:extLst>
                    <a:ext uri="{9D8B030D-6E8A-4147-A177-3AD203B41FA5}">
                      <a16:colId xmlns:a16="http://schemas.microsoft.com/office/drawing/2014/main" val="1034522424"/>
                    </a:ext>
                  </a:extLst>
                </a:gridCol>
              </a:tblGrid>
              <a:tr h="5256584">
                <a:tc>
                  <a:txBody>
                    <a:bodyPr/>
                    <a:lstStyle/>
                    <a:p>
                      <a:endParaRPr lang="en-IN" dirty="0"/>
                    </a:p>
                  </a:txBody>
                  <a:tcPr/>
                </a:tc>
                <a:extLst>
                  <a:ext uri="{0D108BD9-81ED-4DB2-BD59-A6C34878D82A}">
                    <a16:rowId xmlns:a16="http://schemas.microsoft.com/office/drawing/2014/main" val="2790378329"/>
                  </a:ext>
                </a:extLst>
              </a:tr>
            </a:tbl>
          </a:graphicData>
        </a:graphic>
      </p:graphicFrame>
      <p:sp>
        <p:nvSpPr>
          <p:cNvPr id="3" name="Title 2">
            <a:extLst>
              <a:ext uri="{FF2B5EF4-FFF2-40B4-BE49-F238E27FC236}">
                <a16:creationId xmlns:a16="http://schemas.microsoft.com/office/drawing/2014/main" id="{70E69A7F-6AD6-4D9A-84EE-3B60C2DCE841}"/>
              </a:ext>
            </a:extLst>
          </p:cNvPr>
          <p:cNvSpPr>
            <a:spLocks noGrp="1"/>
          </p:cNvSpPr>
          <p:nvPr>
            <p:ph type="title" hasCustomPrompt="1"/>
          </p:nvPr>
        </p:nvSpPr>
        <p:spPr/>
        <p:txBody>
          <a:bodyPr/>
          <a:lstStyle/>
          <a:p>
            <a:r>
              <a:t>Flow chart </a:t>
            </a:r>
          </a:p>
        </p:txBody>
      </p:sp>
      <p:pic>
        <p:nvPicPr>
          <p:cNvPr id="7" name="Picture 6">
            <a:extLst>
              <a:ext uri="{FF2B5EF4-FFF2-40B4-BE49-F238E27FC236}">
                <a16:creationId xmlns:a16="http://schemas.microsoft.com/office/drawing/2014/main" id="{3A7D33B1-6C96-EBB8-27C3-141AD0ED6E9E}"/>
              </a:ext>
            </a:extLst>
          </p:cNvPr>
          <p:cNvPicPr>
            <a:picLocks noChangeAspect="1"/>
          </p:cNvPicPr>
          <p:nvPr/>
        </p:nvPicPr>
        <p:blipFill>
          <a:blip r:embed="rId3"/>
          <a:stretch>
            <a:fillRect/>
          </a:stretch>
        </p:blipFill>
        <p:spPr>
          <a:xfrm>
            <a:off x="3580904" y="1268760"/>
            <a:ext cx="4896544" cy="5112568"/>
          </a:xfrm>
          <a:prstGeom prst="rect">
            <a:avLst/>
          </a:prstGeom>
        </p:spPr>
      </p:pic>
    </p:spTree>
    <p:extLst>
      <p:ext uri="{BB962C8B-B14F-4D97-AF65-F5344CB8AC3E}">
        <p14:creationId xmlns:p14="http://schemas.microsoft.com/office/powerpoint/2010/main" val="110235114"/>
      </p:ext>
    </p:extLst>
  </p:cSld>
  <p:clrMapOvr>
    <a:masterClrMapping/>
  </p:clrMapOvr>
  <p:transition spd="slow"/>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tle 3"/>
          <p:cNvSpPr>
            <a:spLocks noGrp="1"/>
          </p:cNvSpPr>
          <p:nvPr>
            <p:ph type="title"/>
          </p:nvPr>
        </p:nvSpPr>
        <p:spPr/>
        <p:txBody>
          <a:bodyPr/>
          <a:lstStyle/>
          <a:p>
            <a:r>
              <a:rPr lang="en-US" altLang="ko-KR" dirty="0"/>
              <a:t>Revision history</a:t>
            </a:r>
            <a:endParaRPr lang="ja-JP" altLang="ja-JP" dirty="0"/>
          </a:p>
        </p:txBody>
      </p:sp>
      <p:graphicFrame>
        <p:nvGraphicFramePr>
          <p:cNvPr id="5" name="表 3">
            <a:extLst>
              <a:ext uri="{FF2B5EF4-FFF2-40B4-BE49-F238E27FC236}">
                <a16:creationId xmlns:a16="http://schemas.microsoft.com/office/drawing/2014/main" id="{050FC971-11DF-1845-5616-1F1F59CBEED2}"/>
              </a:ext>
            </a:extLst>
          </p:cNvPr>
          <p:cNvGraphicFramePr>
            <a:graphicFrameLocks noGrp="1"/>
          </p:cNvGraphicFramePr>
          <p:nvPr>
            <p:extLst>
              <p:ext uri="{D42A27DB-BD31-4B8C-83A1-F6EECF244321}">
                <p14:modId xmlns:p14="http://schemas.microsoft.com/office/powerpoint/2010/main" val="1496779236"/>
              </p:ext>
            </p:extLst>
          </p:nvPr>
        </p:nvGraphicFramePr>
        <p:xfrm>
          <a:off x="331992" y="1484784"/>
          <a:ext cx="11521017" cy="1151250"/>
        </p:xfrm>
        <a:graphic>
          <a:graphicData uri="http://schemas.openxmlformats.org/drawingml/2006/table">
            <a:tbl>
              <a:tblPr firstRow="1" bandRow="1">
                <a:tableStyleId>{5C22544A-7EE6-4342-B048-85BDC9FD1C3A}</a:tableStyleId>
              </a:tblPr>
              <a:tblGrid>
                <a:gridCol w="1597805">
                  <a:extLst>
                    <a:ext uri="{9D8B030D-6E8A-4147-A177-3AD203B41FA5}">
                      <a16:colId xmlns:a16="http://schemas.microsoft.com/office/drawing/2014/main" val="1239718747"/>
                    </a:ext>
                  </a:extLst>
                </a:gridCol>
                <a:gridCol w="1765995">
                  <a:extLst>
                    <a:ext uri="{9D8B030D-6E8A-4147-A177-3AD203B41FA5}">
                      <a16:colId xmlns:a16="http://schemas.microsoft.com/office/drawing/2014/main" val="3210263253"/>
                    </a:ext>
                  </a:extLst>
                </a:gridCol>
                <a:gridCol w="8157217">
                  <a:extLst>
                    <a:ext uri="{9D8B030D-6E8A-4147-A177-3AD203B41FA5}">
                      <a16:colId xmlns:a16="http://schemas.microsoft.com/office/drawing/2014/main" val="3488215586"/>
                    </a:ext>
                  </a:extLst>
                </a:gridCol>
              </a:tblGrid>
              <a:tr h="219398">
                <a:tc>
                  <a:txBody>
                    <a:bodyPr/>
                    <a:lstStyle/>
                    <a:p>
                      <a:r>
                        <a:rPr kumimoji="1" lang="en-US" altLang="ja-JP" sz="1400" dirty="0">
                          <a:solidFill>
                            <a:schemeClr val="bg1"/>
                          </a:solidFill>
                        </a:rPr>
                        <a:t>Document revision</a:t>
                      </a:r>
                      <a:endParaRPr kumimoji="1" lang="ja-JP" altLang="en-US" sz="1400" dirty="0">
                        <a:solidFill>
                          <a:schemeClr val="bg1"/>
                        </a:solidFill>
                      </a:endParaRPr>
                    </a:p>
                  </a:txBody>
                  <a:tcPr/>
                </a:tc>
                <a:tc>
                  <a:txBody>
                    <a:bodyPr/>
                    <a:lstStyle/>
                    <a:p>
                      <a:r>
                        <a:rPr kumimoji="1" lang="en-US" altLang="ja-JP" sz="1400" dirty="0">
                          <a:solidFill>
                            <a:schemeClr val="bg1"/>
                          </a:solidFill>
                        </a:rPr>
                        <a:t>Date</a:t>
                      </a:r>
                      <a:endParaRPr kumimoji="1" lang="ja-JP" altLang="en-US" sz="1400" dirty="0">
                        <a:solidFill>
                          <a:schemeClr val="bg1"/>
                        </a:solidFill>
                      </a:endParaRPr>
                    </a:p>
                  </a:txBody>
                  <a:tcPr/>
                </a:tc>
                <a:tc>
                  <a:txBody>
                    <a:bodyPr/>
                    <a:lstStyle/>
                    <a:p>
                      <a:r>
                        <a:rPr kumimoji="1" lang="en-US" altLang="ja-JP" sz="1400" dirty="0">
                          <a:solidFill>
                            <a:schemeClr val="bg1"/>
                          </a:solidFill>
                        </a:rPr>
                        <a:t>Description</a:t>
                      </a:r>
                      <a:r>
                        <a:rPr kumimoji="1" lang="en-US" altLang="ja-JP" sz="1400" baseline="0" dirty="0">
                          <a:solidFill>
                            <a:schemeClr val="bg1"/>
                          </a:solidFill>
                        </a:rPr>
                        <a:t> of change</a:t>
                      </a:r>
                      <a:endParaRPr kumimoji="1" lang="ja-JP" altLang="en-US" sz="1400" dirty="0">
                        <a:solidFill>
                          <a:schemeClr val="bg1"/>
                        </a:solidFill>
                      </a:endParaRPr>
                    </a:p>
                  </a:txBody>
                  <a:tcPr/>
                </a:tc>
                <a:extLst>
                  <a:ext uri="{0D108BD9-81ED-4DB2-BD59-A6C34878D82A}">
                    <a16:rowId xmlns:a16="http://schemas.microsoft.com/office/drawing/2014/main" val="1299302294"/>
                  </a:ext>
                </a:extLst>
              </a:tr>
              <a:tr h="316545">
                <a:tc>
                  <a:txBody>
                    <a:bodyPr/>
                    <a:lstStyle/>
                    <a:p>
                      <a:r>
                        <a:rPr kumimoji="1" lang="en-US" altLang="ja-JP" sz="1200" dirty="0"/>
                        <a:t>**</a:t>
                      </a:r>
                      <a:endParaRPr kumimoji="1" lang="ja-JP" altLang="en-US" sz="1200" dirty="0"/>
                    </a:p>
                  </a:txBody>
                  <a:tcPr/>
                </a:tc>
                <a:tc>
                  <a:txBody>
                    <a:bodyPr/>
                    <a:lstStyle/>
                    <a:p>
                      <a:r>
                        <a:rPr lang="en-US" altLang="ja-JP" sz="1200" dirty="0"/>
                        <a:t>2025-11-25</a:t>
                      </a:r>
                    </a:p>
                  </a:txBody>
                  <a:tcPr/>
                </a:tc>
                <a:tc>
                  <a:txBody>
                    <a:bodyPr/>
                    <a:lstStyle/>
                    <a:p>
                      <a:r>
                        <a:rPr lang="en-IN" altLang="ja-JP" sz="1200" dirty="0"/>
                        <a:t>Initial release.</a:t>
                      </a:r>
                    </a:p>
                  </a:txBody>
                  <a:tcPr/>
                </a:tc>
                <a:extLst>
                  <a:ext uri="{0D108BD9-81ED-4DB2-BD59-A6C34878D82A}">
                    <a16:rowId xmlns:a16="http://schemas.microsoft.com/office/drawing/2014/main" val="2175987029"/>
                  </a:ext>
                </a:extLst>
              </a:tr>
              <a:tr h="316545">
                <a:tc>
                  <a:txBody>
                    <a:bodyPr/>
                    <a:lstStyle/>
                    <a:p>
                      <a:r>
                        <a:rPr kumimoji="1" lang="en-IN" altLang="ja-JP" sz="1200" dirty="0"/>
                        <a:t>*A</a:t>
                      </a:r>
                      <a:endParaRPr kumimoji="1" lang="ja-JP" altLang="en-US" sz="1200" dirty="0"/>
                    </a:p>
                  </a:txBody>
                  <a:tcPr/>
                </a:tc>
                <a:tc>
                  <a:txBody>
                    <a:bodyPr/>
                    <a:lstStyle/>
                    <a:p>
                      <a:r>
                        <a:rPr lang="en-US" altLang="ja-JP" sz="1200" dirty="0"/>
                        <a:t>2026-03-15</a:t>
                      </a:r>
                    </a:p>
                  </a:txBody>
                  <a:tcPr/>
                </a:tc>
                <a:tc>
                  <a:txBody>
                    <a:bodyPr/>
                    <a:lstStyle/>
                    <a:p>
                      <a:r>
                        <a:rPr lang="en-US" sz="1200" b="0" i="0" u="none" strike="noStrike" kern="1200" baseline="0" dirty="0">
                          <a:solidFill>
                            <a:schemeClr val="dk1"/>
                          </a:solidFill>
                          <a:latin typeface="+mn-lt"/>
                          <a:ea typeface="+mn-ea"/>
                          <a:cs typeface="+mn-cs"/>
                        </a:rPr>
                        <a:t>Migrated to the latest empower training presentation template.</a:t>
                      </a:r>
                      <a:endParaRPr lang="en-IN" altLang="ja-JP" sz="1200" dirty="0"/>
                    </a:p>
                  </a:txBody>
                  <a:tcPr/>
                </a:tc>
                <a:extLst>
                  <a:ext uri="{0D108BD9-81ED-4DB2-BD59-A6C34878D82A}">
                    <a16:rowId xmlns:a16="http://schemas.microsoft.com/office/drawing/2014/main" val="2629041960"/>
                  </a:ext>
                </a:extLst>
              </a:tr>
            </a:tbl>
          </a:graphicData>
        </a:graphic>
      </p:graphicFrame>
    </p:spTree>
    <p:extLst>
      <p:ext uri="{BB962C8B-B14F-4D97-AF65-F5344CB8AC3E}">
        <p14:creationId xmlns:p14="http://schemas.microsoft.com/office/powerpoint/2010/main" val="1599162577"/>
      </p:ext>
    </p:extLst>
  </p:cSld>
  <p:clrMapOvr>
    <a:masterClrMapping/>
  </p:clrMapOvr>
  <p:transition spd="slow"/>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3695029"/>
      </p:ext>
    </p:extLst>
  </p:cSld>
  <p:clrMapOvr>
    <a:masterClrMapping/>
  </p:clrMapOvr>
  <p:transition spd="slow"/>
</p:sld>
</file>

<file path=ppt/tags/tag1.xml><?xml version="1.0" encoding="utf-8"?>
<p:tagLst xmlns:a="http://schemas.openxmlformats.org/drawingml/2006/main" xmlns:r="http://schemas.openxmlformats.org/officeDocument/2006/relationships" xmlns:p="http://schemas.openxmlformats.org/presentationml/2006/main">
  <p:tag name="INCLMASTER" val="0"/>
  <p:tag name="SLIDESPERROW" val="4"/>
  <p:tag name="THUMBWIDTH" val="220"/>
  <p:tag name="INFINEON_CATEGORY" val="{&quot;CategoryList&quot;:[],&quot;CategoryDictionary&quot;:{}}"/>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wQASwwAAAAAAAAAAAAAIAD///////////////8AAAD///////////////8DAAAAAgD///////////////////////////////////////////////////////////////////////////////////////////////////////////////////////////////////////////////////////////////////////////////////////////////////////////////////////////////////////////////////////////////////////////////////////////////////////////////////////////////////////////////////////////////////////////////////////////////////////////////////////////////////////////////////////////////////////////////////////////////////////////////8BACAA////////////////AAAO////////AwAAAAMA////////////////////////////////////////////////////////////////////////////////////////////////////////////////////////////////////////////////////////////////////////////////////////////////////////////////////////////////////////////////////////////////////////////////////////////////////////////////////////////////////////////////////////////////////////////////////////////////////////////////////////////////////////////////////////////////////////////////////////////////////////////////////////AgABAP///////wQAAAACABAAC10GBAEGmsRCrWeMKWDzcgcFAAAAAAADAAAAAAADAAAAAwADAAEA////////BAAAAAMAEAALVNGgrCHzak+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PALAAAAAAAAAAAAACAB////////////////AAAA////////////////BAAAAAMA////////BAAAAAMA////////BAAAAAMA////////BAAAAAMA////////BAAAAAMA////////BAAAAAMA////////////////////////////////////////////////////////////////////////////////////////////////////////////////////////////////////////////////////////////////////////////////////////////////////////////////////////////////////////////////////////////////////////////////////////////////////////////////////////////////////////////////////////////////////////////////////////////////////////////////////////////////AQAgAf///////////////wAADv///////wQAAAACAP///////////////////////////////////////////////////////////////////////////////////////////////////////////////////////////////////////////////////////////////////////////////////////////////////////////////////////////////////////////////////////////////////////////////////////////////////////////////////////////////////////////////////////////////////////////////////////////////////////////////////////////////////////////////////////////////////////////////////////////////////////////////////////wIAAQEDAAAAAgD///////8aAAZMaW5rZWRTaGFwZXNEYXRhUHJvcGVydHlfMAUAAAAAAAQAAAADAAQAAAABAAMABgEDAAAAAwD///////8lAAZMaW5rZWRTaGFwZVByZXNlbnRhdGlvblNldHRpbmdzRGF0YV8wBQAAAAEABAAAAAAABAAAAAIABAAAAAAA////////BAAAAAAA////////BAAAAAAA////////BAAA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F0GBAEGmsRCrWeMKWDzcgcDRGF0YQAbAAAABExpbmtlZFNoYXBlRGF0YQAFAAAAAAACTmFtZQAZAAAATGlua2VkU2hhcGVzRGF0YVByb3BlcnR5ABBWZXJzaW9uAAAAAAAJTGFzdFdyaXRlAEHvOgOCAQAAAAEA/////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EMPOWER.INTEGRATIONS.LOCALMASTER" val="{&quot;path&quot;:null,&quot;elementId&quot;:&quot;f8120ca7-cceb-428f-a7d0-f20ce9397e1b&quot;,&quot;elementName&quot;:null,&quot;databaseId&quot;:&quot;FDE84254-54DB-49E3-9A0E-CDE72035D530&quot;,&quot;timeStamp&quot;:&quot;2025-06-26T13:03:05&quot;}"/>
</p:tagLst>
</file>

<file path=ppt/tags/tag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DBID" val="FDE84254-54DB-49E3-9A0E-CDE72035D530"/>
  <p:tag name="MIO_FALLBACK_LAYOUT" val="4"/>
  <p:tag name="MIO_SHOW_DATE" val="False"/>
  <p:tag name="MIO_SHOW_FOOTER" val="False"/>
  <p:tag name="MIO_SHOW_PAGENUMBER" val="False"/>
  <p:tag name="MIO_AVOID_BLANK_LAYOUT" val="False"/>
  <p:tag name="MIO_CD_LAYOUT_VALID_AREA" val="False"/>
  <p:tag name="MIO_EMBED_FONT" val="False"/>
  <p:tag name="MIO_MATCH_COLOR_SCHEME" val="True"/>
  <p:tag name="MIO_NUMBER_OF_VALID_LAYOUTS" val="18"/>
  <p:tag name="MIO_EKGUID" val="700428a0-4560-4b7a-9776-301bdf1be51a"/>
  <p:tag name="MIO_OBJECTNAME" val="Infineon Memory Solutions 16:9"/>
  <p:tag name="MIO_VERSION" val="20.01.2025 09:14:31"/>
  <p:tag name="MIO_LASTDOWNLOADED" val="26.11.2025 15:08:39.793"/>
  <p:tag name="MIO_CONTENTTAG" val="Rgi3+Ts4CEuv+/WeGhftRA=="/>
  <p:tag name="MIO_CDID" val="e2fc2f9e-d5cf-4311-b3a1-0559b8fd1ab8"/>
</p:tagLst>
</file>

<file path=ppt/tags/tag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1.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6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1.xml><?xml version="1.0" encoding="utf-8"?>
<p:tagLst xmlns:a="http://schemas.openxmlformats.org/drawingml/2006/main" xmlns:r="http://schemas.openxmlformats.org/officeDocument/2006/relationships" xmlns:p="http://schemas.openxmlformats.org/presentationml/2006/main">
  <p:tag name="MIO_AGENDA_ELEMENTNAME" val="MIO_AGENDA_OVERVIEW_SLIDE"/>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6e802132-6cea-42b5-aa8a-ccfe80b95a11"/>
  <p:tag name="MIO_VERSION" val="31.12.9999 23:59:59"/>
  <p:tag name="MIO_DBID" val="fde84254-54db-49e3-9a0e-cde72035d530"/>
  <p:tag name="MIO_LASTDOWNLOADED" val="04.03.2026 11:55:33.621"/>
  <p:tag name="MIO_UPDATE" val="False"/>
</p:tagLst>
</file>

<file path=ppt/tags/tag92.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93.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94.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95.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96.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97.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98.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99.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00.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01.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02.xml><?xml version="1.0" encoding="utf-8"?>
<p:tagLst xmlns:a="http://schemas.openxmlformats.org/drawingml/2006/main" xmlns:r="http://schemas.openxmlformats.org/officeDocument/2006/relationships" xmlns:p="http://schemas.openxmlformats.org/presentationml/2006/main">
  <p:tag name="MIO_AGENDA_LEVEL_STRING" val="1"/>
  <p:tag name="MIO_AGENDA_ELEMENTNAME" val="Development ecosystem for PSOC™ Edge E84"/>
  <p:tag name="MIO_AGENDA_EXPLICIT_ITEM_LEVEL_TAG" val="0"/>
  <p:tag name="MIO_AGENDA_NUMBER_STRING_TAG" val="1"/>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bdecddfb-563f-4c3e-90cf-1218f0762252"/>
  <p:tag name="MIO_VERSION" val="31.12.9999 23:59:59"/>
  <p:tag name="MIO_DBID" val="fde84254-54db-49e3-9a0e-cde72035d530"/>
  <p:tag name="MIO_LASTDOWNLOADED" val="04.03.2026 11:55:33.806"/>
  <p:tag name="MIO_UPDATE" val="False"/>
</p:tagLst>
</file>

<file path=ppt/tags/tag103.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04.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05.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06.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107.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08.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09.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10.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11.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12.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13.xml><?xml version="1.0" encoding="utf-8"?>
<p:tagLst xmlns:a="http://schemas.openxmlformats.org/drawingml/2006/main" xmlns:r="http://schemas.openxmlformats.org/officeDocument/2006/relationships" xmlns:p="http://schemas.openxmlformats.org/presentationml/2006/main">
  <p:tag name="MIO_AGENDA_LEVEL_STRING" val="2"/>
  <p:tag name="MIO_AGENDA_ELEMENTNAME" val="Code Example 1: Hello World + Blinky"/>
  <p:tag name="MIO_AGENDA_EXPLICIT_ITEM_LEVEL_TAG" val="0"/>
  <p:tag name="MIO_AGENDA_NUMBER_STRING_TAG" val="2"/>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4e20ff19-fc1a-46c1-a15c-5fdcff837e3e"/>
  <p:tag name="MIO_VERSION" val="31.12.9999 23:59:59"/>
  <p:tag name="MIO_DBID" val="fde84254-54db-49e3-9a0e-cde72035d530"/>
  <p:tag name="MIO_LASTDOWNLOADED" val="04.03.2026 11:55:33.957"/>
  <p:tag name="MIO_UPDATE" val="False"/>
</p:tagLst>
</file>

<file path=ppt/tags/tag114.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15.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16.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17.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18.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19.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20.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ags/tag121.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22.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23.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24.xml><?xml version="1.0" encoding="utf-8"?>
<p:tagLst xmlns:a="http://schemas.openxmlformats.org/drawingml/2006/main" xmlns:r="http://schemas.openxmlformats.org/officeDocument/2006/relationships" xmlns:p="http://schemas.openxmlformats.org/presentationml/2006/main">
  <p:tag name="MIO_AGENDA_LEVEL_STRING" val="3"/>
  <p:tag name="MIO_AGENDA_ELEMENTNAME" val="Code Example 2: IPC Semaphores using PDL API"/>
  <p:tag name="MIO_AGENDA_EXPLICIT_ITEM_LEVEL_TAG" val="0"/>
  <p:tag name="MIO_AGENDA_NUMBER_STRING_TAG" val="3"/>
  <p:tag name="MIO_AGENDA_SHOW_SUBITEMS_LEVEL2_TAG" val="True"/>
  <p:tag name="MIO_AGENDA_SCALEMODE_FIT_TO_SLIDE_TAG" val="True"/>
  <p:tag name="MIO_AGENDA_CREATE_AGENDA_SLIDENUMBERS_TAG" val="True"/>
  <p:tag name="MIO_AGENDA_AUTOMATIC_UPDATE_TAG" val="True"/>
  <p:tag name="MIO_AGENDA_CREATE_SECTIONS_TAG" val="True"/>
  <p:tag name="MIO_EKGUID" val="d9b0a732-6d6c-4fe3-b9e8-6a4a78dae162"/>
  <p:tag name="MIO_GUID" val="0d51b95f-598d-484f-91cc-dd066b27a078"/>
  <p:tag name="MIO_VERSION" val="31.12.9999 23:59:59"/>
  <p:tag name="MIO_DBID" val="fde84254-54db-49e3-9a0e-cde72035d530"/>
  <p:tag name="MIO_LASTDOWNLOADED" val="04.03.2026 11:55:34.081"/>
  <p:tag name="MIO_UPDATE" val="False"/>
</p:tagLst>
</file>

<file path=ppt/tags/tag125.xml><?xml version="1.0" encoding="utf-8"?>
<p:tagLst xmlns:a="http://schemas.openxmlformats.org/drawingml/2006/main" xmlns:r="http://schemas.openxmlformats.org/officeDocument/2006/relationships" xmlns:p="http://schemas.openxmlformats.org/presentationml/2006/main">
  <p:tag name="MIO_SHAPETYPES_AGENDA" val="MIO_AGENDA_TITLE"/>
</p:tagLst>
</file>

<file path=ppt/tags/tag126.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27.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28.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29.xml><?xml version="1.0" encoding="utf-8"?>
<p:tagLst xmlns:a="http://schemas.openxmlformats.org/drawingml/2006/main" xmlns:r="http://schemas.openxmlformats.org/officeDocument/2006/relationships" xmlns:p="http://schemas.openxmlformats.org/presentationml/2006/main">
  <p:tag name="MIO_SHAPETYPES_AGENDA" val="MIO_AGENDA_FIRSTELEMENT"/>
</p:tagLst>
</file>

<file path=ppt/tags/tag130.xml><?xml version="1.0" encoding="utf-8"?>
<p:tagLst xmlns:a="http://schemas.openxmlformats.org/drawingml/2006/main" xmlns:r="http://schemas.openxmlformats.org/officeDocument/2006/relationships" xmlns:p="http://schemas.openxmlformats.org/presentationml/2006/main">
  <p:tag name="MIO_SHAPETYPES_AGENDA" val="MIO_AGENDA_FIRSTELEMENT_NUMBER"/>
</p:tagLst>
</file>

<file path=ppt/tags/tag131.xml><?xml version="1.0" encoding="utf-8"?>
<p:tagLst xmlns:a="http://schemas.openxmlformats.org/drawingml/2006/main" xmlns:r="http://schemas.openxmlformats.org/officeDocument/2006/relationships" xmlns:p="http://schemas.openxmlformats.org/presentationml/2006/main">
  <p:tag name="MIO_SHAPETYPES_AGENDA" val="MIO_AGENDA_FIRSTELEMENT_PAGENUMBER"/>
</p:tagLst>
</file>

<file path=ppt/tags/tag132.xml><?xml version="1.0" encoding="utf-8"?>
<p:tagLst xmlns:a="http://schemas.openxmlformats.org/drawingml/2006/main" xmlns:r="http://schemas.openxmlformats.org/officeDocument/2006/relationships" xmlns:p="http://schemas.openxmlformats.org/presentationml/2006/main">
  <p:tag name="MIO_SHAPETYPES_AGENDA" val="MIO_AGENDA_HIGHLIGHT"/>
</p:tagLst>
</file>

<file path=ppt/tags/tag133.xml><?xml version="1.0" encoding="utf-8"?>
<p:tagLst xmlns:a="http://schemas.openxmlformats.org/drawingml/2006/main" xmlns:r="http://schemas.openxmlformats.org/officeDocument/2006/relationships" xmlns:p="http://schemas.openxmlformats.org/presentationml/2006/main">
  <p:tag name="MIO_SHAPETYPES_AGENDA" val="MIO_AGENDA_HIGHLIGHT_NUMBER"/>
</p:tagLst>
</file>

<file path=ppt/tags/tag134.xml><?xml version="1.0" encoding="utf-8"?>
<p:tagLst xmlns:a="http://schemas.openxmlformats.org/drawingml/2006/main" xmlns:r="http://schemas.openxmlformats.org/officeDocument/2006/relationships" xmlns:p="http://schemas.openxmlformats.org/presentationml/2006/main">
  <p:tag name="MIO_SHAPETYPES_AGENDA" val="MIO_AGENDA_HIGHLIGHT_PAGENUMBER"/>
</p:tagLst>
</file>

<file path=ppt/theme/theme1.xml><?xml version="1.0" encoding="utf-8"?>
<a:theme xmlns:a="http://schemas.openxmlformats.org/drawingml/2006/main" name="Infineon 16:9">
  <a:themeElements>
    <a:clrScheme name="Infineon 2023 - 2">
      <a:dk1>
        <a:srgbClr val="1D1D1D"/>
      </a:dk1>
      <a:lt1>
        <a:srgbClr val="FFFFFF"/>
      </a:lt1>
      <a:dk2>
        <a:srgbClr val="0A8276"/>
      </a:dk2>
      <a:lt2>
        <a:srgbClr val="8D8786"/>
      </a:lt2>
      <a:accent1>
        <a:srgbClr val="0A8276"/>
      </a:accent1>
      <a:accent2>
        <a:srgbClr val="575352"/>
      </a:accent2>
      <a:accent3>
        <a:srgbClr val="F97414"/>
      </a:accent3>
      <a:accent4>
        <a:srgbClr val="9BBA43"/>
      </a:accent4>
      <a:accent5>
        <a:srgbClr val="FCD442"/>
      </a:accent5>
      <a:accent6>
        <a:srgbClr val="9C216E"/>
      </a:accent6>
      <a:hlink>
        <a:srgbClr val="0A8276"/>
      </a:hlink>
      <a:folHlink>
        <a:srgbClr val="0A8276"/>
      </a:folHlink>
    </a:clrScheme>
    <a:fontScheme name="Infineon">
      <a:majorFont>
        <a:latin typeface="Arial"/>
        <a:ea typeface="Arial Unicode MS"/>
        <a:cs typeface="Arial"/>
      </a:majorFont>
      <a:minorFont>
        <a:latin typeface="Arial"/>
        <a:ea typeface="Arial Unicode MS"/>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2"/>
        </a:solidFill>
        <a:ln w="9525">
          <a:noFill/>
          <a:miter lim="800000"/>
          <a:headEnd/>
          <a:tailEnd/>
        </a:ln>
      </a:spPr>
      <a:bodyPr wrap="square" lIns="72000" tIns="72000" rIns="72000" bIns="72000" rtlCol="0" anchor="ctr"/>
      <a:lstStyle>
        <a:defPPr algn="ctr" defTabSz="576000" eaLnBrk="0" hangingPunct="0">
          <a:lnSpc>
            <a:spcPct val="120000"/>
          </a:lnSpc>
          <a:defRPr sz="1600" baseline="0" dirty="0">
            <a:solidFill>
              <a:schemeClr val="bg1"/>
            </a:solidFill>
            <a:latin typeface="+mn-lt"/>
            <a:ea typeface="+mn-ea"/>
            <a:cs typeface="+mn-cs"/>
          </a:defRPr>
        </a:defPPr>
      </a:lstStyle>
    </a:spDef>
    <a:lnDef>
      <a:spPr>
        <a:ln w="9525">
          <a:solidFill>
            <a:schemeClr val="bg2"/>
          </a:solidFill>
          <a:tailEnd type="none"/>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effectLst/>
      </a:spPr>
      <a:bodyPr wrap="square" lIns="0" tIns="0" rIns="0" bIns="0" rtlCol="0" anchor="t" anchorCtr="0">
        <a:spAutoFit/>
      </a:bodyPr>
      <a:lstStyle>
        <a:defPPr marL="252000" marR="0" indent="-252000" algn="l" defTabSz="576000" eaLnBrk="0" fontAlgn="auto" latinLnBrk="0" hangingPunct="0">
          <a:lnSpc>
            <a:spcPct val="120000"/>
          </a:lnSpc>
          <a:spcBef>
            <a:spcPts val="0"/>
          </a:spcBef>
          <a:spcAft>
            <a:spcPts val="0"/>
          </a:spcAft>
          <a:buClr>
            <a:schemeClr val="tx2"/>
          </a:buClr>
          <a:buSzTx/>
          <a:buFont typeface="Arial" panose="020B0604020202020204" pitchFamily="34" charset="0"/>
          <a:buChar char="‒"/>
          <a:tabLst/>
          <a:defRPr sz="1800" kern="0" baseline="0" dirty="0">
            <a:latin typeface="+mn-lt"/>
            <a:ea typeface="+mn-ea"/>
            <a:cs typeface="+mn-cs"/>
          </a:defRPr>
        </a:defPPr>
      </a:lstStyle>
    </a:txDef>
  </a:objectDefaults>
  <a:extraClrSchemeLst/>
  <a:custClrLst>
    <a:custClr name="Ocean 100">
      <a:srgbClr val="0A8276"/>
    </a:custClr>
    <a:custClr name="Ocean 80">
      <a:srgbClr val="3B9B91"/>
    </a:custClr>
    <a:custClr name="Ocean 60">
      <a:srgbClr val="6CB4AD"/>
    </a:custClr>
    <a:custClr name="Ocean 40">
      <a:srgbClr val="B8DEDA"/>
    </a:custClr>
    <a:custClr name="White">
      <a:srgbClr val="FFFFFF"/>
    </a:custClr>
    <a:custClr name="White">
      <a:srgbClr val="FFFFFF"/>
    </a:custClr>
    <a:custClr name="White ">
      <a:srgbClr val="FFFFFF"/>
    </a:custClr>
    <a:custClr name="White ">
      <a:srgbClr val="FFFFFF"/>
    </a:custClr>
    <a:custClr name="White ">
      <a:srgbClr val="FFFFFF"/>
    </a:custClr>
    <a:custClr name="White ">
      <a:srgbClr val="FFFFFF"/>
    </a:custClr>
    <a:custClr name="Lawn Main">
      <a:srgbClr val="9BBA43"/>
    </a:custClr>
    <a:custClr name="Berry Main">
      <a:srgbClr val="9C216E"/>
    </a:custClr>
    <a:custClr name="Engineering Main">
      <a:srgbClr val="575352"/>
    </a:custClr>
    <a:custClr name="Sun Main">
      <a:srgbClr val="F97414"/>
    </a:custClr>
    <a:custClr name="Sand Main">
      <a:srgbClr val="FCD442"/>
    </a:custClr>
    <a:custClr name="White">
      <a:srgbClr val="FFFFFF"/>
    </a:custClr>
    <a:custClr name="White ">
      <a:srgbClr val="FFFFFF"/>
    </a:custClr>
    <a:custClr name="White ">
      <a:srgbClr val="FFFFFF"/>
    </a:custClr>
    <a:custClr name="White ">
      <a:srgbClr val="FFFFFF"/>
    </a:custClr>
    <a:custClr name="White ">
      <a:srgbClr val="FFFFFF"/>
    </a:custClr>
    <a:custClr name="Lawn Light">
      <a:srgbClr val="B9D257"/>
    </a:custClr>
    <a:custClr name="Berry Light">
      <a:srgbClr val="BE3283"/>
    </a:custClr>
    <a:custClr name="Engineering Light">
      <a:srgbClr val="8D8786"/>
    </a:custClr>
    <a:custClr name="Sun Light">
      <a:srgbClr val="FF9737"/>
    </a:custClr>
    <a:custClr name="Sand Light">
      <a:srgbClr val="FBE273"/>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Grey 300 ">
      <a:srgbClr val="DCD5D7"/>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name="Default Theme" id="{C21EDCC5-9554-4396-8A1F-E6CB63A5C47B}" vid="{D4180EAC-3F32-4BC4-A428-C84CC11F67AE}"/>
    </a:ext>
  </a:extLst>
</a:theme>
</file>

<file path=ppt/theme/theme2.xml><?xml version="1.0" encoding="utf-8"?>
<a:theme xmlns:a="http://schemas.openxmlformats.org/drawingml/2006/main" name="Larissa-Design">
  <a:themeElements>
    <a:clrScheme name="Infineon">
      <a:dk1>
        <a:srgbClr val="000000"/>
      </a:dk1>
      <a:lt1>
        <a:srgbClr val="FFFFFF"/>
      </a:lt1>
      <a:dk2>
        <a:srgbClr val="FFE054"/>
      </a:dk2>
      <a:lt2>
        <a:srgbClr val="E9E6E6"/>
      </a:lt2>
      <a:accent1>
        <a:srgbClr val="E30034"/>
      </a:accent1>
      <a:accent2>
        <a:srgbClr val="928285"/>
      </a:accent2>
      <a:accent3>
        <a:srgbClr val="84B6A7"/>
      </a:accent3>
      <a:accent4>
        <a:srgbClr val="AEC067"/>
      </a:accent4>
      <a:accent5>
        <a:srgbClr val="EE813C"/>
      </a:accent5>
      <a:accent6>
        <a:srgbClr val="AB377A"/>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Infineon_ColorTheme_2012">
      <a:dk1>
        <a:srgbClr val="00214A"/>
      </a:dk1>
      <a:lt1>
        <a:srgbClr val="FFFFFF"/>
      </a:lt1>
      <a:dk2>
        <a:srgbClr val="00214A"/>
      </a:dk2>
      <a:lt2>
        <a:srgbClr val="C8D8E6"/>
      </a:lt2>
      <a:accent1>
        <a:srgbClr val="B70D28"/>
      </a:accent1>
      <a:accent2>
        <a:srgbClr val="E3EBF2"/>
      </a:accent2>
      <a:accent3>
        <a:srgbClr val="005DA9"/>
      </a:accent3>
      <a:accent4>
        <a:srgbClr val="969696"/>
      </a:accent4>
      <a:accent5>
        <a:srgbClr val="FDC400"/>
      </a:accent5>
      <a:accent6>
        <a:srgbClr val="009651"/>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0347378EA1C7B40B791B4A9FAEBC72E" ma:contentTypeVersion="1" ma:contentTypeDescription="Create a new document." ma:contentTypeScope="" ma:versionID="dac419b5e4b08ef6434e405bf3dae512">
  <xsd:schema xmlns:xsd="http://www.w3.org/2001/XMLSchema" xmlns:xs="http://www.w3.org/2001/XMLSchema" xmlns:p="http://schemas.microsoft.com/office/2006/metadata/properties" xmlns:ns2="0ff2502a-f5fc-4900-8b9d-01d591984867" targetNamespace="http://schemas.microsoft.com/office/2006/metadata/properties" ma:root="true" ma:fieldsID="8df1d2d8bf6da93316c8b7386a9c82fd" ns2:_="">
    <xsd:import namespace="0ff2502a-f5fc-4900-8b9d-01d591984867"/>
    <xsd:element name="properties">
      <xsd:complexType>
        <xsd:sequence>
          <xsd:element name="documentManagement">
            <xsd:complexType>
              <xsd:all>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f2502a-f5fc-4900-8b9d-01d59198486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A3D29AE-A8A3-402F-BC9A-4FB49B8660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f2502a-f5fc-4900-8b9d-01d5919848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C6748B-B74E-4BE1-834C-AEBB9BCA18FB}">
  <ds:schemaRefs>
    <ds:schemaRef ds:uri="http://schemas.microsoft.com/sharepoint/v3/contenttype/forms"/>
  </ds:schemaRefs>
</ds:datastoreItem>
</file>

<file path=customXml/itemProps3.xml><?xml version="1.0" encoding="utf-8"?>
<ds:datastoreItem xmlns:ds="http://schemas.openxmlformats.org/officeDocument/2006/customXml" ds:itemID="{D299A1D5-F553-4264-9022-E0136C61CE27}">
  <ds:schemaRefs>
    <ds:schemaRef ds:uri="http://www.w3.org/XML/1998/namespace"/>
    <ds:schemaRef ds:uri="http://schemas.microsoft.com/office/2006/documentManagement/types"/>
    <ds:schemaRef ds:uri="0ff2502a-f5fc-4900-8b9d-01d591984867"/>
    <ds:schemaRef ds:uri="http://purl.org/dc/elements/1.1/"/>
    <ds:schemaRef ds:uri="http://schemas.openxmlformats.org/package/2006/metadata/core-properties"/>
    <ds:schemaRef ds:uri="http://purl.org/dc/terms/"/>
    <ds:schemaRef ds:uri="http://purl.org/dc/dcmitype/"/>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56324211-5033-4782-8e72-c0d1146c3a50}" enabled="1" method="Privileged" siteId="{eeb8d0e8-3544-41d3-aac6-934c309faf5a}" contentBits="0" removed="0"/>
</clbl:labelList>
</file>

<file path=docProps/app.xml><?xml version="1.0" encoding="utf-8"?>
<Properties xmlns="http://schemas.openxmlformats.org/officeDocument/2006/extended-properties" xmlns:vt="http://schemas.openxmlformats.org/officeDocument/2006/docPropsVTypes">
  <Template/>
  <TotalTime>49310</TotalTime>
  <Words>8720</Words>
  <Application>Microsoft Office PowerPoint</Application>
  <PresentationFormat>Widescreen</PresentationFormat>
  <Paragraphs>681</Paragraphs>
  <Slides>47</Slides>
  <Notes>46</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5" baseType="lpstr">
      <vt:lpstr>Arial</vt:lpstr>
      <vt:lpstr>Calibri</vt:lpstr>
      <vt:lpstr>Cambria Math</vt:lpstr>
      <vt:lpstr>Source Sans Pro</vt:lpstr>
      <vt:lpstr>Verdana</vt:lpstr>
      <vt:lpstr>Wingdings</vt:lpstr>
      <vt:lpstr>Infineon 16:9</vt:lpstr>
      <vt:lpstr>PDF Document</vt:lpstr>
      <vt:lpstr>E2 - Getting started with the development ecosystem for PSOC™ Edge E84    Customer training workshop (CTW)  March 2026</vt:lpstr>
      <vt:lpstr>Table of contents</vt:lpstr>
      <vt:lpstr>Table of contents</vt:lpstr>
      <vt:lpstr>PSOC™ Edge E84 resources </vt:lpstr>
      <vt:lpstr>Firmware/application development</vt:lpstr>
      <vt:lpstr>Support for IDEs</vt:lpstr>
      <vt:lpstr>Understanding ModusToolbox™ and Zephyr</vt:lpstr>
      <vt:lpstr>Overview of DEEPCRAFT™ Studio and ModusToolbox™ workflow</vt:lpstr>
      <vt:lpstr>Code Examples with DEEPCRAFT™ and ModusToolbox™ </vt:lpstr>
      <vt:lpstr>DEEPCRAFT™ Studio model code generation</vt:lpstr>
      <vt:lpstr>Installation support within ModusToolbox™ setup</vt:lpstr>
      <vt:lpstr>Tools utilized in this presentation</vt:lpstr>
      <vt:lpstr>Project Creator </vt:lpstr>
      <vt:lpstr>Understanding the application structure </vt:lpstr>
      <vt:lpstr>Library Manager </vt:lpstr>
      <vt:lpstr>BSP configurators </vt:lpstr>
      <vt:lpstr>QSPI configurator</vt:lpstr>
      <vt:lpstr>SMART I/O configurator</vt:lpstr>
      <vt:lpstr>Application booting sequence</vt:lpstr>
      <vt:lpstr>Device lifecycle and provisioning</vt:lpstr>
      <vt:lpstr>Secure and non-secure operating modes</vt:lpstr>
      <vt:lpstr>Security domain assignment</vt:lpstr>
      <vt:lpstr>Edge protect configurator </vt:lpstr>
      <vt:lpstr>PSOC™ Edge memory architecture</vt:lpstr>
      <vt:lpstr>Linker scripts </vt:lpstr>
      <vt:lpstr>Firmware/application development :Software resources (1/4)</vt:lpstr>
      <vt:lpstr>Firmware / application development: Software resources (2/4)</vt:lpstr>
      <vt:lpstr>Firmware / application development : Software resources (3/4)</vt:lpstr>
      <vt:lpstr>Firmware/application development : Software resources (4/4)</vt:lpstr>
      <vt:lpstr>  FreeRTOS support with ModusToolbox™</vt:lpstr>
      <vt:lpstr>PSOC™ Edge E84 MCU development kit: Top view </vt:lpstr>
      <vt:lpstr>PSOC™ Edge E84 MCU development kit: Back view </vt:lpstr>
      <vt:lpstr>PSOC™ Edge E84 MCU SOM : Top view</vt:lpstr>
      <vt:lpstr>PSOC™ Edge E84 MCU SOM: Bottom view</vt:lpstr>
      <vt:lpstr>Programming/debugging</vt:lpstr>
      <vt:lpstr>Table of contents</vt:lpstr>
      <vt:lpstr>Lab 1: Hello world + Blinky  </vt:lpstr>
      <vt:lpstr>Description of Hello World + Blinky example </vt:lpstr>
      <vt:lpstr>Using Device Configurator</vt:lpstr>
      <vt:lpstr>Table of contents</vt:lpstr>
      <vt:lpstr>LAB2: IPC Semaphores using PDL  </vt:lpstr>
      <vt:lpstr>Overview of IPC </vt:lpstr>
      <vt:lpstr>Block diagram of IPC PDL</vt:lpstr>
      <vt:lpstr>IPC PDL (Peripheral abstraction layer) functions</vt:lpstr>
      <vt:lpstr>Flow chart </vt:lpstr>
      <vt:lpstr>Revision history</vt:lpstr>
      <vt:lpstr>PowerPoint Presentation</vt:lpstr>
    </vt:vector>
  </TitlesOfParts>
  <Company>Infineon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E2- Getting started with the Development ecosystem for PSOC™ Edge E84 Customer training workshop (CTW)</dc:title>
  <dc:subject>Customer training workshop (CTW)</dc:subject>
  <dc:creator>Infineon Technologies AG</dc:creator>
  <cp:keywords>PSOC Edge, ModusToolbox, Deepcraft</cp:keywords>
  <cp:lastModifiedBy>Balthillaya Nikitha (DCI DCP TP 2)</cp:lastModifiedBy>
  <cp:revision>1141</cp:revision>
  <cp:lastPrinted>2023-10-09T12:24:17Z</cp:lastPrinted>
  <dcterms:created xsi:type="dcterms:W3CDTF">2023-08-09T08:50:02Z</dcterms:created>
  <dcterms:modified xsi:type="dcterms:W3CDTF">2026-03-15T15:24:39Z</dcterms:modified>
  <cp:category>ctw</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D">
    <vt:lpwstr/>
  </property>
  <property fmtid="{D5CDD505-2E9C-101B-9397-08002B2CF9AE}" pid="3" name="DocumentVersion">
    <vt:lpwstr/>
  </property>
  <property fmtid="{D5CDD505-2E9C-101B-9397-08002B2CF9AE}" pid="4" name="Proprietary">
    <vt:lpwstr/>
  </property>
  <property fmtid="{D5CDD505-2E9C-101B-9397-08002B2CF9AE}" pid="5" name="ConfidentialityMarking">
    <vt:lpwstr>public</vt:lpwstr>
  </property>
  <property fmtid="{D5CDD505-2E9C-101B-9397-08002B2CF9AE}" pid="6" name="AdditionalMarking">
    <vt:lpwstr/>
  </property>
  <property fmtid="{D5CDD505-2E9C-101B-9397-08002B2CF9AE}" pid="7" name="TemplateCompany">
    <vt:lpwstr>IFX</vt:lpwstr>
  </property>
  <property fmtid="{D5CDD505-2E9C-101B-9397-08002B2CF9AE}" pid="8" name="ContentTypeId">
    <vt:lpwstr>0x01010030347378EA1C7B40B791B4A9FAEBC72E</vt:lpwstr>
  </property>
  <property fmtid="{D5CDD505-2E9C-101B-9397-08002B2CF9AE}" pid="9" name="empower.integration.Classification.DocumentId">
    <vt:lpwstr/>
  </property>
  <property fmtid="{D5CDD505-2E9C-101B-9397-08002B2CF9AE}" pid="10" name="empower.integration.Classification.DocumentVersion">
    <vt:lpwstr/>
  </property>
  <property fmtid="{D5CDD505-2E9C-101B-9397-08002B2CF9AE}" pid="11" name="empower.integration.Classification.DocumentOwner">
    <vt:lpwstr/>
  </property>
  <property fmtid="{D5CDD505-2E9C-101B-9397-08002B2CF9AE}" pid="12" name="empower.integration.Classification.ShowFooter">
    <vt:bool>true</vt:bool>
  </property>
  <property fmtid="{D5CDD505-2E9C-101B-9397-08002B2CF9AE}" pid="13" name="empower.integration.Classification.RestrictionLevel">
    <vt:i4>-1</vt:i4>
  </property>
  <property fmtid="{D5CDD505-2E9C-101B-9397-08002B2CF9AE}" pid="14" name="empower.integration.Classification.FooterDate">
    <vt:filetime>2026-03-15T15:18:59Z</vt:filetime>
  </property>
  <property fmtid="{D5CDD505-2E9C-101B-9397-08002B2CF9AE}" pid="15" name="empower.integration.Classification.DateFormat">
    <vt:lpwstr>yyyy-MM-dd</vt:lpwstr>
  </property>
  <property fmtid="{D5CDD505-2E9C-101B-9397-08002B2CF9AE}" pid="16" name="empower.integration.Classification.IsDraft">
    <vt:bool>false</vt:bool>
  </property>
  <property fmtid="{D5CDD505-2E9C-101B-9397-08002B2CF9AE}" pid="17" name="empower.integration.Classification.IsProprietary">
    <vt:bool>false</vt:bool>
  </property>
  <property fmtid="{D5CDD505-2E9C-101B-9397-08002B2CF9AE}" pid="18" name="empower.integration.Classification.HasAdditionalMarking">
    <vt:bool>true</vt:bool>
  </property>
  <property fmtid="{D5CDD505-2E9C-101B-9397-08002B2CF9AE}" pid="19" name="empower.integration.Classification.AdditionalMarking">
    <vt:lpwstr>                                                                                                                                                                                                                                         002-42402 Rev.*A</vt:lpwstr>
  </property>
  <property fmtid="{D5CDD505-2E9C-101B-9397-08002B2CF9AE}" pid="20" name="empower.integration.Classification.IsEmpowerClassified">
    <vt:bool>true</vt:bool>
  </property>
  <property fmtid="{D5CDD505-2E9C-101B-9397-08002B2CF9AE}" pid="21" name="empower_migrated_document">
    <vt:lpwstr>true</vt:lpwstr>
  </property>
  <property fmtid="{D5CDD505-2E9C-101B-9397-08002B2CF9AE}" pid="22" name="MSIP_Label_56324211-5033-4782-8e72-c0d1146c3a50_Enabled">
    <vt:bool>true</vt:bool>
  </property>
  <property fmtid="{D5CDD505-2E9C-101B-9397-08002B2CF9AE}" pid="23" name="MSIP_Label_56324211-5033-4782-8e72-c0d1146c3a50_SetDate">
    <vt:lpwstr>2026-03-15 15:19:02Z</vt:lpwstr>
  </property>
  <property fmtid="{D5CDD505-2E9C-101B-9397-08002B2CF9AE}" pid="24" name="MSIP_Label_56324211-5033-4782-8e72-c0d1146c3a50_Method">
    <vt:lpwstr>Privileged</vt:lpwstr>
  </property>
  <property fmtid="{D5CDD505-2E9C-101B-9397-08002B2CF9AE}" pid="25" name="MSIP_Label_56324211-5033-4782-8e72-c0d1146c3a50_Name">
    <vt:lpwstr>56324211-5033-4782-8e72-c0d1146c3a50</vt:lpwstr>
  </property>
  <property fmtid="{D5CDD505-2E9C-101B-9397-08002B2CF9AE}" pid="26" name="MSIP_Label_56324211-5033-4782-8e72-c0d1146c3a50_SiteId">
    <vt:lpwstr>eeb8d0e8-3544-41d3-aac6-934c309faf5a</vt:lpwstr>
  </property>
  <property fmtid="{D5CDD505-2E9C-101B-9397-08002B2CF9AE}" pid="27" name="MSIP_Label_56324211-5033-4782-8e72-c0d1146c3a50_ActionId">
    <vt:lpwstr>ad084d2d-0d26-4ea4-901d-799fdded839d</vt:lpwstr>
  </property>
  <property fmtid="{D5CDD505-2E9C-101B-9397-08002B2CF9AE}" pid="28" name="MSIP_Label_56324211-5033-4782-8e72-c0d1146c3a50_ContentBits">
    <vt:lpwstr>0</vt:lpwstr>
  </property>
  <property fmtid="{D5CDD505-2E9C-101B-9397-08002B2CF9AE}" pid="29" name="Date completed">
    <vt:filetime>2025-10-12T10:00:00Z</vt:filetime>
  </property>
</Properties>
</file>